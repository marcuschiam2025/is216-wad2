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6" r:id="rId9"/>
    <p:sldId id="267" r:id="rId10"/>
    <p:sldId id="263" r:id="rId11"/>
    <p:sldId id="268" r:id="rId12"/>
    <p:sldId id="269" r:id="rId13"/>
    <p:sldId id="270" r:id="rId14"/>
    <p:sldId id="271" r:id="rId15"/>
    <p:sldId id="272" r:id="rId16"/>
    <p:sldId id="273" r:id="rId17"/>
    <p:sldId id="274" r:id="rId18"/>
    <p:sldId id="275" r:id="rId19"/>
    <p:sldId id="276" r:id="rId20"/>
    <p:sldId id="302" r:id="rId21"/>
    <p:sldId id="277" r:id="rId22"/>
    <p:sldId id="278" r:id="rId23"/>
    <p:sldId id="279" r:id="rId24"/>
    <p:sldId id="280" r:id="rId25"/>
    <p:sldId id="281" r:id="rId26"/>
    <p:sldId id="283" r:id="rId27"/>
    <p:sldId id="284" r:id="rId28"/>
    <p:sldId id="286" r:id="rId29"/>
    <p:sldId id="288" r:id="rId30"/>
    <p:sldId id="301" r:id="rId31"/>
    <p:sldId id="289" r:id="rId32"/>
    <p:sldId id="290" r:id="rId33"/>
    <p:sldId id="303" r:id="rId34"/>
    <p:sldId id="291" r:id="rId35"/>
    <p:sldId id="294" r:id="rId36"/>
    <p:sldId id="295" r:id="rId37"/>
    <p:sldId id="292" r:id="rId38"/>
    <p:sldId id="300" r:id="rId39"/>
    <p:sldId id="293" r:id="rId40"/>
    <p:sldId id="296" r:id="rId41"/>
    <p:sldId id="298" r:id="rId42"/>
    <p:sldId id="304" r:id="rId43"/>
    <p:sldId id="305" r:id="rId44"/>
    <p:sldId id="306" r:id="rId45"/>
    <p:sldId id="307" r:id="rId46"/>
    <p:sldId id="308" r:id="rId47"/>
    <p:sldId id="309" r:id="rId48"/>
    <p:sldId id="310" r:id="rId49"/>
    <p:sldId id="299" r:id="rId5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52" roundtripDataSignature="AMtx7mghOQz3N+IJLEEDvca6E4sM8UT8q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A34A"/>
    <a:srgbClr val="7C3AED"/>
    <a:srgbClr val="0891B2"/>
    <a:srgbClr val="DC2626"/>
    <a:srgbClr val="EA58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E2BF14-2E7F-AEB5-3497-88B23C66B973}" v="7" dt="2026-08-13T03:17:03.335"/>
  </p1510:revLst>
</p1510:revInfo>
</file>

<file path=ppt/tableStyles.xml><?xml version="1.0" encoding="utf-8"?>
<a:tblStyleLst xmlns:a="http://schemas.openxmlformats.org/drawingml/2006/main" def="{9457DA4B-BAC7-4D48-AA5B-6CF8F0DF2040}">
  <a:tblStyle styleId="{9457DA4B-BAC7-4D48-AA5B-6CF8F0DF2040}"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53"/>
    <p:restoredTop sz="94592"/>
  </p:normalViewPr>
  <p:slideViewPr>
    <p:cSldViewPr snapToGrid="0">
      <p:cViewPr varScale="1">
        <p:scale>
          <a:sx n="130" d="100"/>
          <a:sy n="130" d="100"/>
        </p:scale>
        <p:origin x="344"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WA Hua Leong" userId="73fbda70-d7c9-490d-b806-ae7c5938f604" providerId="ADAL" clId="{6143CF2D-0398-47CE-8586-AF234596B5BB}"/>
    <pc:docChg chg="custSel addSld modSld">
      <pc:chgData name="FWA Hua Leong" userId="73fbda70-d7c9-490d-b806-ae7c5938f604" providerId="ADAL" clId="{6143CF2D-0398-47CE-8586-AF234596B5BB}" dt="2026-08-13T01:39:32.489" v="566" actId="20577"/>
      <pc:docMkLst>
        <pc:docMk/>
      </pc:docMkLst>
      <pc:sldChg chg="addSp modSp mod">
        <pc:chgData name="FWA Hua Leong" userId="73fbda70-d7c9-490d-b806-ae7c5938f604" providerId="ADAL" clId="{6143CF2D-0398-47CE-8586-AF234596B5BB}" dt="2026-07-28T06:51:23.936" v="34" actId="1076"/>
        <pc:sldMkLst>
          <pc:docMk/>
          <pc:sldMk cId="0" sldId="291"/>
        </pc:sldMkLst>
        <pc:spChg chg="add mod">
          <ac:chgData name="FWA Hua Leong" userId="73fbda70-d7c9-490d-b806-ae7c5938f604" providerId="ADAL" clId="{6143CF2D-0398-47CE-8586-AF234596B5BB}" dt="2026-07-28T06:51:23.936" v="34" actId="1076"/>
          <ac:spMkLst>
            <pc:docMk/>
            <pc:sldMk cId="0" sldId="291"/>
            <ac:spMk id="4" creationId="{BF1F9330-4CE2-8B5D-FDA0-25BA1514B64D}"/>
          </ac:spMkLst>
        </pc:spChg>
      </pc:sldChg>
      <pc:sldChg chg="addSp delSp modSp new mod">
        <pc:chgData name="FWA Hua Leong" userId="73fbda70-d7c9-490d-b806-ae7c5938f604" providerId="ADAL" clId="{6143CF2D-0398-47CE-8586-AF234596B5BB}" dt="2026-08-13T01:39:32.489" v="566" actId="20577"/>
        <pc:sldMkLst>
          <pc:docMk/>
          <pc:sldMk cId="1139630814" sldId="310"/>
        </pc:sldMkLst>
        <pc:spChg chg="mod">
          <ac:chgData name="FWA Hua Leong" userId="73fbda70-d7c9-490d-b806-ae7c5938f604" providerId="ADAL" clId="{6143CF2D-0398-47CE-8586-AF234596B5BB}" dt="2026-08-13T01:33:24.234" v="66" actId="20577"/>
          <ac:spMkLst>
            <pc:docMk/>
            <pc:sldMk cId="1139630814" sldId="310"/>
            <ac:spMk id="2" creationId="{C555F9C8-053C-89FB-2C77-2ED1E409ED88}"/>
          </ac:spMkLst>
        </pc:spChg>
        <pc:spChg chg="mod">
          <ac:chgData name="FWA Hua Leong" userId="73fbda70-d7c9-490d-b806-ae7c5938f604" providerId="ADAL" clId="{6143CF2D-0398-47CE-8586-AF234596B5BB}" dt="2026-08-13T01:39:32.489" v="566" actId="20577"/>
          <ac:spMkLst>
            <pc:docMk/>
            <pc:sldMk cId="1139630814" sldId="310"/>
            <ac:spMk id="3" creationId="{B9649516-551C-ABED-711E-6448B08EA607}"/>
          </ac:spMkLst>
        </pc:spChg>
        <pc:spChg chg="del">
          <ac:chgData name="FWA Hua Leong" userId="73fbda70-d7c9-490d-b806-ae7c5938f604" providerId="ADAL" clId="{6143CF2D-0398-47CE-8586-AF234596B5BB}" dt="2026-08-13T01:33:41.889" v="67" actId="478"/>
          <ac:spMkLst>
            <pc:docMk/>
            <pc:sldMk cId="1139630814" sldId="310"/>
            <ac:spMk id="4" creationId="{3FB08276-CBD7-7D5E-B725-31868AD5F976}"/>
          </ac:spMkLst>
        </pc:spChg>
        <pc:spChg chg="add del">
          <ac:chgData name="FWA Hua Leong" userId="73fbda70-d7c9-490d-b806-ae7c5938f604" providerId="ADAL" clId="{6143CF2D-0398-47CE-8586-AF234596B5BB}" dt="2026-08-13T01:37:24.681" v="227" actId="21"/>
          <ac:spMkLst>
            <pc:docMk/>
            <pc:sldMk cId="1139630814" sldId="310"/>
            <ac:spMk id="8" creationId="{C76D228B-A6BB-5AB1-17D7-71A02FFC6324}"/>
          </ac:spMkLst>
        </pc:spChg>
        <pc:picChg chg="add mod">
          <ac:chgData name="FWA Hua Leong" userId="73fbda70-d7c9-490d-b806-ae7c5938f604" providerId="ADAL" clId="{6143CF2D-0398-47CE-8586-AF234596B5BB}" dt="2026-08-13T01:34:35.828" v="71" actId="14100"/>
          <ac:picMkLst>
            <pc:docMk/>
            <pc:sldMk cId="1139630814" sldId="310"/>
            <ac:picMk id="6" creationId="{1C226768-5546-66BD-8019-064663C6C0B0}"/>
          </ac:picMkLst>
        </pc:picChg>
      </pc:sldChg>
    </pc:docChg>
  </pc:docChgLst>
  <pc:docChgLst>
    <pc:chgData name="SHAR Lwin Khin" userId="S::lkshar@smu.edu.sg::33cb3c8a-ae33-4f55-be34-306cbe5b6d67" providerId="AD" clId="Web-{3DE2BF14-2E7F-AEB5-3497-88B23C66B973}"/>
    <pc:docChg chg="modSld">
      <pc:chgData name="SHAR Lwin Khin" userId="S::lkshar@smu.edu.sg::33cb3c8a-ae33-4f55-be34-306cbe5b6d67" providerId="AD" clId="Web-{3DE2BF14-2E7F-AEB5-3497-88B23C66B973}" dt="2026-08-13T03:17:01.476" v="2" actId="20577"/>
      <pc:docMkLst>
        <pc:docMk/>
      </pc:docMkLst>
      <pc:sldChg chg="modSp">
        <pc:chgData name="SHAR Lwin Khin" userId="S::lkshar@smu.edu.sg::33cb3c8a-ae33-4f55-be34-306cbe5b6d67" providerId="AD" clId="Web-{3DE2BF14-2E7F-AEB5-3497-88B23C66B973}" dt="2026-08-13T03:17:01.476" v="2" actId="20577"/>
        <pc:sldMkLst>
          <pc:docMk/>
          <pc:sldMk cId="0" sldId="259"/>
        </pc:sldMkLst>
        <pc:spChg chg="mod">
          <ac:chgData name="SHAR Lwin Khin" userId="S::lkshar@smu.edu.sg::33cb3c8a-ae33-4f55-be34-306cbe5b6d67" providerId="AD" clId="Web-{3DE2BF14-2E7F-AEB5-3497-88B23C66B973}" dt="2026-08-13T03:17:01.476" v="2" actId="20577"/>
          <ac:spMkLst>
            <pc:docMk/>
            <pc:sldMk cId="0" sldId="259"/>
            <ac:spMk id="9" creationId="{F5E7E684-6F63-ACAB-0178-74BC75C5F82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9" name="Google Shape;159;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 name="Google Shape;19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D1E314BE-C2A7-FCE3-914F-C15099816D16}"/>
            </a:ext>
          </a:extLst>
        </p:cNvPr>
        <p:cNvGrpSpPr/>
        <p:nvPr/>
      </p:nvGrpSpPr>
      <p:grpSpPr>
        <a:xfrm>
          <a:off x="0" y="0"/>
          <a:ext cx="0" cy="0"/>
          <a:chOff x="0" y="0"/>
          <a:chExt cx="0" cy="0"/>
        </a:xfrm>
      </p:grpSpPr>
      <p:sp>
        <p:nvSpPr>
          <p:cNvPr id="200" name="Google Shape;200;p22:notes">
            <a:extLst>
              <a:ext uri="{FF2B5EF4-FFF2-40B4-BE49-F238E27FC236}">
                <a16:creationId xmlns:a16="http://schemas.microsoft.com/office/drawing/2014/main" id="{95CAB407-4FF7-4A06-5C88-CCF0D918E7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p22:notes">
            <a:extLst>
              <a:ext uri="{FF2B5EF4-FFF2-40B4-BE49-F238E27FC236}">
                <a16:creationId xmlns:a16="http://schemas.microsoft.com/office/drawing/2014/main" id="{C80789D0-3763-240B-AA6A-3AC9330C558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061917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9" name="Google Shape;249;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margin : auto -&gt; </a:t>
            </a:r>
            <a:r>
              <a:rPr lang="en-SG" sz="1100" b="0" i="0" u="none" strike="noStrike" cap="none">
                <a:solidFill>
                  <a:srgbClr val="000000"/>
                </a:solidFill>
                <a:effectLst/>
                <a:latin typeface="Arial"/>
                <a:ea typeface="Arial"/>
                <a:cs typeface="Arial"/>
                <a:sym typeface="Arial"/>
              </a:rPr>
              <a:t>the browser calculates the margin</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7" name="Google Shape;257;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3" name="Google Shape;273;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 name="Google Shape;288;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6" name="Google Shape;296;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1" name="Google Shape;311;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2" name="Google Shape;332;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9" name="Google Shape;339;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8" name="Google Shape;318;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5" name="Google Shape;325;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6" name="Google Shape;346;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0" name="Google Shape;360;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9" name="Google Shape;369;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47"/>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SG"/>
          </a:p>
        </p:txBody>
      </p:sp>
      <p:sp>
        <p:nvSpPr>
          <p:cNvPr id="11" name="Google Shape;11;p47"/>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SG"/>
          </a:p>
        </p:txBody>
      </p:sp>
      <p:sp>
        <p:nvSpPr>
          <p:cNvPr id="12" name="Google Shape;12;p47"/>
          <p:cNvSpPr txBox="1">
            <a:spLocks noGrp="1"/>
          </p:cNvSpPr>
          <p:nvPr>
            <p:ph type="ctrTitle"/>
          </p:nvPr>
        </p:nvSpPr>
        <p:spPr>
          <a:xfrm>
            <a:off x="3044700" y="1444255"/>
            <a:ext cx="3054600" cy="1537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13" name="Google Shape;13;p47"/>
          <p:cNvSpPr txBox="1">
            <a:spLocks noGrp="1"/>
          </p:cNvSpPr>
          <p:nvPr>
            <p:ph type="subTitle" idx="1"/>
          </p:nvPr>
        </p:nvSpPr>
        <p:spPr>
          <a:xfrm>
            <a:off x="3044700" y="3116580"/>
            <a:ext cx="3054600" cy="701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Arial"/>
              <a:buNone/>
              <a:defRPr sz="2100">
                <a:latin typeface="Arial"/>
                <a:ea typeface="Arial"/>
                <a:cs typeface="Arial"/>
                <a:sym typeface="Arial"/>
              </a:defRPr>
            </a:lvl1pPr>
            <a:lvl2pPr lvl="1" algn="ctr">
              <a:lnSpc>
                <a:spcPct val="100000"/>
              </a:lnSpc>
              <a:spcBef>
                <a:spcPts val="0"/>
              </a:spcBef>
              <a:spcAft>
                <a:spcPts val="0"/>
              </a:spcAft>
              <a:buSzPts val="2100"/>
              <a:buFont typeface="Arial"/>
              <a:buNone/>
              <a:defRPr sz="2100">
                <a:latin typeface="Arial"/>
                <a:ea typeface="Arial"/>
                <a:cs typeface="Arial"/>
                <a:sym typeface="Arial"/>
              </a:defRPr>
            </a:lvl2pPr>
            <a:lvl3pPr lvl="2" algn="ctr">
              <a:lnSpc>
                <a:spcPct val="100000"/>
              </a:lnSpc>
              <a:spcBef>
                <a:spcPts val="0"/>
              </a:spcBef>
              <a:spcAft>
                <a:spcPts val="0"/>
              </a:spcAft>
              <a:buSzPts val="2100"/>
              <a:buFont typeface="Arial"/>
              <a:buNone/>
              <a:defRPr sz="2100">
                <a:latin typeface="Arial"/>
                <a:ea typeface="Arial"/>
                <a:cs typeface="Arial"/>
                <a:sym typeface="Arial"/>
              </a:defRPr>
            </a:lvl3pPr>
            <a:lvl4pPr lvl="3" algn="ctr">
              <a:lnSpc>
                <a:spcPct val="100000"/>
              </a:lnSpc>
              <a:spcBef>
                <a:spcPts val="0"/>
              </a:spcBef>
              <a:spcAft>
                <a:spcPts val="0"/>
              </a:spcAft>
              <a:buSzPts val="2100"/>
              <a:buFont typeface="Arial"/>
              <a:buNone/>
              <a:defRPr sz="2100">
                <a:latin typeface="Arial"/>
                <a:ea typeface="Arial"/>
                <a:cs typeface="Arial"/>
                <a:sym typeface="Arial"/>
              </a:defRPr>
            </a:lvl4pPr>
            <a:lvl5pPr lvl="4" algn="ctr">
              <a:lnSpc>
                <a:spcPct val="100000"/>
              </a:lnSpc>
              <a:spcBef>
                <a:spcPts val="0"/>
              </a:spcBef>
              <a:spcAft>
                <a:spcPts val="0"/>
              </a:spcAft>
              <a:buSzPts val="2100"/>
              <a:buFont typeface="Arial"/>
              <a:buNone/>
              <a:defRPr sz="2100">
                <a:latin typeface="Arial"/>
                <a:ea typeface="Arial"/>
                <a:cs typeface="Arial"/>
                <a:sym typeface="Arial"/>
              </a:defRPr>
            </a:lvl5pPr>
            <a:lvl6pPr lvl="5" algn="ctr">
              <a:lnSpc>
                <a:spcPct val="100000"/>
              </a:lnSpc>
              <a:spcBef>
                <a:spcPts val="0"/>
              </a:spcBef>
              <a:spcAft>
                <a:spcPts val="0"/>
              </a:spcAft>
              <a:buSzPts val="2100"/>
              <a:buFont typeface="Arial"/>
              <a:buNone/>
              <a:defRPr sz="2100">
                <a:latin typeface="Arial"/>
                <a:ea typeface="Arial"/>
                <a:cs typeface="Arial"/>
                <a:sym typeface="Arial"/>
              </a:defRPr>
            </a:lvl6pPr>
            <a:lvl7pPr lvl="6" algn="ctr">
              <a:lnSpc>
                <a:spcPct val="100000"/>
              </a:lnSpc>
              <a:spcBef>
                <a:spcPts val="0"/>
              </a:spcBef>
              <a:spcAft>
                <a:spcPts val="0"/>
              </a:spcAft>
              <a:buSzPts val="2100"/>
              <a:buFont typeface="Arial"/>
              <a:buNone/>
              <a:defRPr sz="2100">
                <a:latin typeface="Arial"/>
                <a:ea typeface="Arial"/>
                <a:cs typeface="Arial"/>
                <a:sym typeface="Arial"/>
              </a:defRPr>
            </a:lvl7pPr>
            <a:lvl8pPr lvl="7" algn="ctr">
              <a:lnSpc>
                <a:spcPct val="100000"/>
              </a:lnSpc>
              <a:spcBef>
                <a:spcPts val="0"/>
              </a:spcBef>
              <a:spcAft>
                <a:spcPts val="0"/>
              </a:spcAft>
              <a:buSzPts val="2100"/>
              <a:buFont typeface="Arial"/>
              <a:buNone/>
              <a:defRPr sz="2100">
                <a:latin typeface="Arial"/>
                <a:ea typeface="Arial"/>
                <a:cs typeface="Arial"/>
                <a:sym typeface="Arial"/>
              </a:defRPr>
            </a:lvl8pPr>
            <a:lvl9pPr lvl="8" algn="ctr">
              <a:lnSpc>
                <a:spcPct val="100000"/>
              </a:lnSpc>
              <a:spcBef>
                <a:spcPts val="0"/>
              </a:spcBef>
              <a:spcAft>
                <a:spcPts val="0"/>
              </a:spcAft>
              <a:buSzPts val="2100"/>
              <a:buFont typeface="Arial"/>
              <a:buNone/>
              <a:defRPr sz="2100">
                <a:latin typeface="Arial"/>
                <a:ea typeface="Arial"/>
                <a:cs typeface="Arial"/>
                <a:sym typeface="Arial"/>
              </a:defRPr>
            </a:lvl9pPr>
          </a:lstStyle>
          <a:p>
            <a:endParaRPr/>
          </a:p>
        </p:txBody>
      </p:sp>
      <p:sp>
        <p:nvSpPr>
          <p:cNvPr id="14" name="Google Shape;14;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4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18" name="Google Shape;18;p48"/>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19" name="Google Shape;19;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4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22" name="Google Shape;22;p49"/>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3" name="Google Shape;23;p49"/>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24" name="Google Shape;24;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50"/>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27" name="Google Shape;27;p50"/>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28" name="Google Shape;28;p50"/>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29" name="Google Shape;29;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32" name="Google Shape;32;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52"/>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5" name="Google Shape;35;p52"/>
          <p:cNvSpPr txBox="1">
            <a:spLocks noGrp="1"/>
          </p:cNvSpPr>
          <p:nvPr>
            <p:ph type="body" idx="1"/>
          </p:nvPr>
        </p:nvSpPr>
        <p:spPr>
          <a:xfrm>
            <a:off x="311700" y="1399400"/>
            <a:ext cx="2808000" cy="27849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6" name="Google Shape;36;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53"/>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53"/>
          <p:cNvSpPr txBox="1">
            <a:spLocks noGrp="1"/>
          </p:cNvSpPr>
          <p:nvPr>
            <p:ph type="title"/>
          </p:nvPr>
        </p:nvSpPr>
        <p:spPr>
          <a:xfrm>
            <a:off x="490250" y="450150"/>
            <a:ext cx="5878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0" name="Google Shape;40;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54"/>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3" name="Google Shape;43;p54"/>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54"/>
          <p:cNvSpPr txBox="1">
            <a:spLocks noGrp="1"/>
          </p:cNvSpPr>
          <p:nvPr>
            <p:ph type="title"/>
          </p:nvPr>
        </p:nvSpPr>
        <p:spPr>
          <a:xfrm>
            <a:off x="265500" y="929275"/>
            <a:ext cx="4045200" cy="1786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a:endParaRPr/>
          </a:p>
        </p:txBody>
      </p:sp>
      <p:sp>
        <p:nvSpPr>
          <p:cNvPr id="45" name="Google Shape;45;p54"/>
          <p:cNvSpPr txBox="1">
            <a:spLocks noGrp="1"/>
          </p:cNvSpPr>
          <p:nvPr>
            <p:ph type="subTitle" idx="1"/>
          </p:nvPr>
        </p:nvSpPr>
        <p:spPr>
          <a:xfrm>
            <a:off x="265500" y="2769001"/>
            <a:ext cx="4045200" cy="1574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Arial"/>
              <a:buNone/>
              <a:defRPr sz="2400">
                <a:latin typeface="Arial"/>
                <a:ea typeface="Arial"/>
                <a:cs typeface="Arial"/>
                <a:sym typeface="Arial"/>
              </a:defRPr>
            </a:lvl1pPr>
            <a:lvl2pPr lvl="1" algn="ctr">
              <a:lnSpc>
                <a:spcPct val="100000"/>
              </a:lnSpc>
              <a:spcBef>
                <a:spcPts val="0"/>
              </a:spcBef>
              <a:spcAft>
                <a:spcPts val="0"/>
              </a:spcAft>
              <a:buSzPts val="2400"/>
              <a:buFont typeface="Arial"/>
              <a:buNone/>
              <a:defRPr sz="2400">
                <a:latin typeface="Arial"/>
                <a:ea typeface="Arial"/>
                <a:cs typeface="Arial"/>
                <a:sym typeface="Arial"/>
              </a:defRPr>
            </a:lvl2pPr>
            <a:lvl3pPr lvl="2" algn="ctr">
              <a:lnSpc>
                <a:spcPct val="100000"/>
              </a:lnSpc>
              <a:spcBef>
                <a:spcPts val="0"/>
              </a:spcBef>
              <a:spcAft>
                <a:spcPts val="0"/>
              </a:spcAft>
              <a:buSzPts val="2400"/>
              <a:buFont typeface="Arial"/>
              <a:buNone/>
              <a:defRPr sz="2400">
                <a:latin typeface="Arial"/>
                <a:ea typeface="Arial"/>
                <a:cs typeface="Arial"/>
                <a:sym typeface="Arial"/>
              </a:defRPr>
            </a:lvl3pPr>
            <a:lvl4pPr lvl="3" algn="ctr">
              <a:lnSpc>
                <a:spcPct val="100000"/>
              </a:lnSpc>
              <a:spcBef>
                <a:spcPts val="0"/>
              </a:spcBef>
              <a:spcAft>
                <a:spcPts val="0"/>
              </a:spcAft>
              <a:buSzPts val="2400"/>
              <a:buFont typeface="Arial"/>
              <a:buNone/>
              <a:defRPr sz="2400">
                <a:latin typeface="Arial"/>
                <a:ea typeface="Arial"/>
                <a:cs typeface="Arial"/>
                <a:sym typeface="Arial"/>
              </a:defRPr>
            </a:lvl4pPr>
            <a:lvl5pPr lvl="4" algn="ctr">
              <a:lnSpc>
                <a:spcPct val="100000"/>
              </a:lnSpc>
              <a:spcBef>
                <a:spcPts val="0"/>
              </a:spcBef>
              <a:spcAft>
                <a:spcPts val="0"/>
              </a:spcAft>
              <a:buSzPts val="2400"/>
              <a:buFont typeface="Arial"/>
              <a:buNone/>
              <a:defRPr sz="2400">
                <a:latin typeface="Arial"/>
                <a:ea typeface="Arial"/>
                <a:cs typeface="Arial"/>
                <a:sym typeface="Arial"/>
              </a:defRPr>
            </a:lvl5pPr>
            <a:lvl6pPr lvl="5" algn="ctr">
              <a:lnSpc>
                <a:spcPct val="100000"/>
              </a:lnSpc>
              <a:spcBef>
                <a:spcPts val="0"/>
              </a:spcBef>
              <a:spcAft>
                <a:spcPts val="0"/>
              </a:spcAft>
              <a:buSzPts val="2400"/>
              <a:buFont typeface="Arial"/>
              <a:buNone/>
              <a:defRPr sz="2400">
                <a:latin typeface="Arial"/>
                <a:ea typeface="Arial"/>
                <a:cs typeface="Arial"/>
                <a:sym typeface="Arial"/>
              </a:defRPr>
            </a:lvl6pPr>
            <a:lvl7pPr lvl="6" algn="ctr">
              <a:lnSpc>
                <a:spcPct val="100000"/>
              </a:lnSpc>
              <a:spcBef>
                <a:spcPts val="0"/>
              </a:spcBef>
              <a:spcAft>
                <a:spcPts val="0"/>
              </a:spcAft>
              <a:buSzPts val="2400"/>
              <a:buFont typeface="Arial"/>
              <a:buNone/>
              <a:defRPr sz="2400">
                <a:latin typeface="Arial"/>
                <a:ea typeface="Arial"/>
                <a:cs typeface="Arial"/>
                <a:sym typeface="Arial"/>
              </a:defRPr>
            </a:lvl7pPr>
            <a:lvl8pPr lvl="7" algn="ctr">
              <a:lnSpc>
                <a:spcPct val="100000"/>
              </a:lnSpc>
              <a:spcBef>
                <a:spcPts val="0"/>
              </a:spcBef>
              <a:spcAft>
                <a:spcPts val="0"/>
              </a:spcAft>
              <a:buSzPts val="2400"/>
              <a:buFont typeface="Arial"/>
              <a:buNone/>
              <a:defRPr sz="2400">
                <a:latin typeface="Arial"/>
                <a:ea typeface="Arial"/>
                <a:cs typeface="Arial"/>
                <a:sym typeface="Arial"/>
              </a:defRPr>
            </a:lvl8pPr>
            <a:lvl9pPr lvl="8" algn="ctr">
              <a:lnSpc>
                <a:spcPct val="100000"/>
              </a:lnSpc>
              <a:spcBef>
                <a:spcPts val="0"/>
              </a:spcBef>
              <a:spcAft>
                <a:spcPts val="0"/>
              </a:spcAft>
              <a:buSzPts val="2400"/>
              <a:buFont typeface="Arial"/>
              <a:buNone/>
              <a:defRPr sz="2400">
                <a:latin typeface="Arial"/>
                <a:ea typeface="Arial"/>
                <a:cs typeface="Arial"/>
                <a:sym typeface="Arial"/>
              </a:defRPr>
            </a:lvl9pPr>
          </a:lstStyle>
          <a:p>
            <a:endParaRPr/>
          </a:p>
        </p:txBody>
      </p:sp>
      <p:sp>
        <p:nvSpPr>
          <p:cNvPr id="46" name="Google Shape;46;p54"/>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600"/>
              </a:spcBef>
              <a:spcAft>
                <a:spcPts val="0"/>
              </a:spcAft>
              <a:buClr>
                <a:schemeClr val="lt1"/>
              </a:buClr>
              <a:buSzPts val="1400"/>
              <a:buChar char="○"/>
              <a:defRPr>
                <a:solidFill>
                  <a:schemeClr val="lt1"/>
                </a:solidFill>
              </a:defRPr>
            </a:lvl2pPr>
            <a:lvl3pPr marL="1371600" lvl="2" indent="-317500" algn="l">
              <a:lnSpc>
                <a:spcPct val="115000"/>
              </a:lnSpc>
              <a:spcBef>
                <a:spcPts val="1600"/>
              </a:spcBef>
              <a:spcAft>
                <a:spcPts val="0"/>
              </a:spcAft>
              <a:buClr>
                <a:schemeClr val="lt1"/>
              </a:buClr>
              <a:buSzPts val="1400"/>
              <a:buChar char="■"/>
              <a:defRPr>
                <a:solidFill>
                  <a:schemeClr val="lt1"/>
                </a:solidFill>
              </a:defRPr>
            </a:lvl3pPr>
            <a:lvl4pPr marL="1828800" lvl="3" indent="-317500" algn="l">
              <a:lnSpc>
                <a:spcPct val="115000"/>
              </a:lnSpc>
              <a:spcBef>
                <a:spcPts val="1600"/>
              </a:spcBef>
              <a:spcAft>
                <a:spcPts val="0"/>
              </a:spcAft>
              <a:buClr>
                <a:schemeClr val="lt1"/>
              </a:buClr>
              <a:buSzPts val="1400"/>
              <a:buChar char="●"/>
              <a:defRPr>
                <a:solidFill>
                  <a:schemeClr val="lt1"/>
                </a:solidFill>
              </a:defRPr>
            </a:lvl4pPr>
            <a:lvl5pPr marL="2286000" lvl="4" indent="-317500" algn="l">
              <a:lnSpc>
                <a:spcPct val="115000"/>
              </a:lnSpc>
              <a:spcBef>
                <a:spcPts val="1600"/>
              </a:spcBef>
              <a:spcAft>
                <a:spcPts val="0"/>
              </a:spcAft>
              <a:buClr>
                <a:schemeClr val="lt1"/>
              </a:buClr>
              <a:buSzPts val="1400"/>
              <a:buChar char="○"/>
              <a:defRPr>
                <a:solidFill>
                  <a:schemeClr val="lt1"/>
                </a:solidFill>
              </a:defRPr>
            </a:lvl5pPr>
            <a:lvl6pPr marL="2743200" lvl="5" indent="-317500" algn="l">
              <a:lnSpc>
                <a:spcPct val="115000"/>
              </a:lnSpc>
              <a:spcBef>
                <a:spcPts val="1600"/>
              </a:spcBef>
              <a:spcAft>
                <a:spcPts val="0"/>
              </a:spcAft>
              <a:buClr>
                <a:schemeClr val="lt1"/>
              </a:buClr>
              <a:buSzPts val="1400"/>
              <a:buChar char="■"/>
              <a:defRPr>
                <a:solidFill>
                  <a:schemeClr val="lt1"/>
                </a:solidFill>
              </a:defRPr>
            </a:lvl6pPr>
            <a:lvl7pPr marL="3200400" lvl="6" indent="-317500" algn="l">
              <a:lnSpc>
                <a:spcPct val="115000"/>
              </a:lnSpc>
              <a:spcBef>
                <a:spcPts val="1600"/>
              </a:spcBef>
              <a:spcAft>
                <a:spcPts val="0"/>
              </a:spcAft>
              <a:buClr>
                <a:schemeClr val="lt1"/>
              </a:buClr>
              <a:buSzPts val="1400"/>
              <a:buChar char="●"/>
              <a:defRPr>
                <a:solidFill>
                  <a:schemeClr val="lt1"/>
                </a:solidFill>
              </a:defRPr>
            </a:lvl7pPr>
            <a:lvl8pPr marL="3657600" lvl="7" indent="-317500" algn="l">
              <a:lnSpc>
                <a:spcPct val="115000"/>
              </a:lnSpc>
              <a:spcBef>
                <a:spcPts val="1600"/>
              </a:spcBef>
              <a:spcAft>
                <a:spcPts val="0"/>
              </a:spcAft>
              <a:buClr>
                <a:schemeClr val="lt1"/>
              </a:buClr>
              <a:buSzPts val="1400"/>
              <a:buChar char="○"/>
              <a:defRPr>
                <a:solidFill>
                  <a:schemeClr val="lt1"/>
                </a:solidFill>
              </a:defRPr>
            </a:lvl8pPr>
            <a:lvl9pPr marL="4114800" lvl="8" indent="-317500" algn="l">
              <a:lnSpc>
                <a:spcPct val="115000"/>
              </a:lnSpc>
              <a:spcBef>
                <a:spcPts val="1600"/>
              </a:spcBef>
              <a:spcAft>
                <a:spcPts val="1600"/>
              </a:spcAft>
              <a:buClr>
                <a:schemeClr val="lt1"/>
              </a:buClr>
              <a:buSzPts val="1400"/>
              <a:buChar char="■"/>
              <a:defRPr>
                <a:solidFill>
                  <a:schemeClr val="lt1"/>
                </a:solidFill>
              </a:defRPr>
            </a:lvl9pPr>
          </a:lstStyle>
          <a:p>
            <a:endParaRPr/>
          </a:p>
        </p:txBody>
      </p:sp>
      <p:sp>
        <p:nvSpPr>
          <p:cNvPr id="47" name="Google Shape;47;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55"/>
          <p:cNvSpPr txBox="1">
            <a:spLocks noGrp="1"/>
          </p:cNvSpPr>
          <p:nvPr>
            <p:ph type="body" idx="1"/>
          </p:nvPr>
        </p:nvSpPr>
        <p:spPr>
          <a:xfrm>
            <a:off x="319500" y="4218925"/>
            <a:ext cx="5998800" cy="5988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2400"/>
              <a:buFont typeface="Arial"/>
              <a:buNone/>
              <a:defRPr sz="2400">
                <a:latin typeface="Arial"/>
                <a:ea typeface="Arial"/>
                <a:cs typeface="Arial"/>
                <a:sym typeface="Arial"/>
              </a:defRPr>
            </a:lvl1pPr>
          </a:lstStyle>
          <a:p>
            <a:endParaRPr/>
          </a:p>
        </p:txBody>
      </p:sp>
      <p:sp>
        <p:nvSpPr>
          <p:cNvPr id="50" name="Google Shape;50;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56"/>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56"/>
          <p:cNvSpPr txBox="1">
            <a:spLocks noGrp="1"/>
          </p:cNvSpPr>
          <p:nvPr>
            <p:ph type="title" hasCustomPrompt="1"/>
          </p:nvPr>
        </p:nvSpPr>
        <p:spPr>
          <a:xfrm>
            <a:off x="311700" y="957125"/>
            <a:ext cx="8520600" cy="2128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54" name="Google Shape;54;p56"/>
          <p:cNvSpPr txBox="1">
            <a:spLocks noGrp="1"/>
          </p:cNvSpPr>
          <p:nvPr>
            <p:ph type="body" idx="1"/>
          </p:nvPr>
        </p:nvSpPr>
        <p:spPr>
          <a:xfrm>
            <a:off x="311700" y="3162000"/>
            <a:ext cx="8520600" cy="10716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55" name="Google Shape;55;p5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4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9pPr>
          </a:lstStyle>
          <a:p>
            <a:endParaRPr/>
          </a:p>
        </p:txBody>
      </p:sp>
      <p:sp>
        <p:nvSpPr>
          <p:cNvPr id="7" name="Google Shape;7;p46"/>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1pPr>
            <a:lvl2pPr marL="914400" marR="0" lvl="1"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115000"/>
              </a:lnSpc>
              <a:spcBef>
                <a:spcPts val="16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Google Shape;8;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3" name="TextBox 2">
            <a:extLst>
              <a:ext uri="{FF2B5EF4-FFF2-40B4-BE49-F238E27FC236}">
                <a16:creationId xmlns:a16="http://schemas.microsoft.com/office/drawing/2014/main" id="{B70C2744-4397-A48F-24D5-AD3E78C92B78}"/>
              </a:ext>
            </a:extLst>
          </p:cNvPr>
          <p:cNvSpPr txBox="1"/>
          <p:nvPr userDrawn="1">
            <p:extLst>
              <p:ext uri="{1162E1C5-73C7-4A58-AE30-91384D911F3F}">
                <p184:classification xmlns:p184="http://schemas.microsoft.com/office/powerpoint/2018/4/main" val="hdr"/>
              </p:ext>
            </p:extLst>
          </p:nvPr>
        </p:nvSpPr>
        <p:spPr>
          <a:xfrm>
            <a:off x="3956050" y="0"/>
            <a:ext cx="1254125" cy="121920"/>
          </a:xfrm>
          <a:prstGeom prst="rect">
            <a:avLst/>
          </a:prstGeom>
        </p:spPr>
        <p:txBody>
          <a:bodyPr horzOverflow="overflow" lIns="0" tIns="0" rIns="0" bIns="0">
            <a:spAutoFit/>
          </a:bodyPr>
          <a:lstStyle/>
          <a:p>
            <a:pPr algn="ctr"/>
            <a:r>
              <a:rPr lang="en-US" sz="800">
                <a:solidFill>
                  <a:srgbClr val="000000"/>
                </a:solidFill>
                <a:latin typeface="Calibri" panose="020F0502020204030204" pitchFamily="34" charset="0"/>
                <a:cs typeface="Calibri" panose="020F0502020204030204" pitchFamily="34" charset="0"/>
              </a:rPr>
              <a:t>SMU Classification: Restricted</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hyperlink" Target="https://www.w3schools.com/cssref/css_selectors.asp"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hyperlink" Target="https://www.w3schools.com/cssref/" TargetMode="External"/><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hyperlink" Target="https://www.loom.com/share/7536f2d4cb6f4974a610a1b40e352e59?sid=5bd4b026-e9f1-4ab6-81ca-1e51f07b217f" TargetMode="Externa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2" Type="http://schemas.openxmlformats.org/officeDocument/2006/relationships/hyperlink" Target="https://www.loom.com/share/546862ab687340cea7bcb1b3ad0374a4?sid=3b2f3af8-0995-4980-89a2-fc6e58034d8c" TargetMode="Externa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hyperlink" Target="https://www.w3schools.com/cssref/tryit.asp?filename=trycss_list-style-image" TargetMode="External"/><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hyperlink" Target="https://www.loom.com/share/311d90dc8c644c3d85ec589de394b759?sid=95e7be19-cc62-4876-b4c3-20e0ddaefd25" TargetMode="Externa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hyperlink" Target="https://www.w3schools.com/cssref/tryit.asp?filename=trycss_anim_z-index" TargetMode="External"/><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3.xml"/><Relationship Id="rId5" Type="http://schemas.openxmlformats.org/officeDocument/2006/relationships/image" Target="../media/image42.png"/><Relationship Id="rId4" Type="http://schemas.openxmlformats.org/officeDocument/2006/relationships/image" Target="../media/image41.png"/></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8.xml"/><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xml"/><Relationship Id="rId5" Type="http://schemas.openxmlformats.org/officeDocument/2006/relationships/image" Target="../media/image49.png"/><Relationship Id="rId4" Type="http://schemas.openxmlformats.org/officeDocument/2006/relationships/image" Target="../media/image4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
          <p:cNvSpPr txBox="1">
            <a:spLocks noGrp="1"/>
          </p:cNvSpPr>
          <p:nvPr>
            <p:ph type="ctrTitle"/>
          </p:nvPr>
        </p:nvSpPr>
        <p:spPr>
          <a:xfrm>
            <a:off x="2668780" y="396240"/>
            <a:ext cx="4006340" cy="2585215"/>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1100"/>
              <a:buFont typeface="Arial"/>
              <a:buNone/>
            </a:pPr>
            <a:r>
              <a:rPr lang="en"/>
              <a:t>Web Application Development II</a:t>
            </a:r>
            <a:endParaRPr/>
          </a:p>
        </p:txBody>
      </p:sp>
      <p:sp>
        <p:nvSpPr>
          <p:cNvPr id="63" name="Google Shape;63;p1"/>
          <p:cNvSpPr txBox="1">
            <a:spLocks noGrp="1"/>
          </p:cNvSpPr>
          <p:nvPr>
            <p:ph type="subTitle" idx="1"/>
          </p:nvPr>
        </p:nvSpPr>
        <p:spPr>
          <a:xfrm>
            <a:off x="3044700" y="3116580"/>
            <a:ext cx="3054600" cy="701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100"/>
              <a:buNone/>
            </a:pPr>
            <a:r>
              <a:rPr lang="en"/>
              <a:t>Week 2: CSS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3"/>
          <p:cNvSpPr txBox="1">
            <a:spLocks noGrp="1"/>
          </p:cNvSpPr>
          <p:nvPr>
            <p:ph type="title"/>
          </p:nvPr>
        </p:nvSpPr>
        <p:spPr>
          <a:xfrm>
            <a:off x="822960" y="222303"/>
            <a:ext cx="7396070" cy="493151"/>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SG" sz="2800"/>
              <a:t>Agenda</a:t>
            </a:r>
          </a:p>
        </p:txBody>
      </p:sp>
      <p:pic>
        <p:nvPicPr>
          <p:cNvPr id="70" name="Google Shape;70;p3"/>
          <p:cNvPicPr preferRelativeResize="0"/>
          <p:nvPr/>
        </p:nvPicPr>
        <p:blipFill rotWithShape="1">
          <a:blip r:embed="rId3">
            <a:alphaModFix/>
          </a:blip>
          <a:srcRect/>
          <a:stretch/>
        </p:blipFill>
        <p:spPr>
          <a:xfrm>
            <a:off x="356305" y="197095"/>
            <a:ext cx="430389" cy="543569"/>
          </a:xfrm>
          <a:prstGeom prst="rect">
            <a:avLst/>
          </a:prstGeom>
          <a:noFill/>
          <a:ln>
            <a:noFill/>
          </a:ln>
        </p:spPr>
      </p:pic>
      <p:sp>
        <p:nvSpPr>
          <p:cNvPr id="3" name="Shape 2">
            <a:extLst>
              <a:ext uri="{FF2B5EF4-FFF2-40B4-BE49-F238E27FC236}">
                <a16:creationId xmlns:a16="http://schemas.microsoft.com/office/drawing/2014/main" id="{82B087E8-7059-51D0-F51E-99C1693E4E33}"/>
              </a:ext>
            </a:extLst>
          </p:cNvPr>
          <p:cNvSpPr/>
          <p:nvPr/>
        </p:nvSpPr>
        <p:spPr>
          <a:xfrm>
            <a:off x="296103" y="996197"/>
            <a:ext cx="4206240" cy="1207008"/>
          </a:xfrm>
          <a:prstGeom prst="rect">
            <a:avLst/>
          </a:prstGeom>
          <a:solidFill>
            <a:srgbClr val="F1F5F9"/>
          </a:solidFill>
          <a:ln w="12700">
            <a:solidFill>
              <a:srgbClr val="E2E8F0"/>
            </a:solidFill>
            <a:prstDash val="solid"/>
          </a:ln>
        </p:spPr>
        <p:txBody>
          <a:bodyPr/>
          <a:lstStyle/>
          <a:p>
            <a:endParaRPr lang="en-SG"/>
          </a:p>
        </p:txBody>
      </p:sp>
      <p:sp>
        <p:nvSpPr>
          <p:cNvPr id="4" name="Shape 3">
            <a:extLst>
              <a:ext uri="{FF2B5EF4-FFF2-40B4-BE49-F238E27FC236}">
                <a16:creationId xmlns:a16="http://schemas.microsoft.com/office/drawing/2014/main" id="{422FC25E-2965-0B35-7E0C-08F0D5FAB9E5}"/>
              </a:ext>
            </a:extLst>
          </p:cNvPr>
          <p:cNvSpPr/>
          <p:nvPr/>
        </p:nvSpPr>
        <p:spPr>
          <a:xfrm>
            <a:off x="296103" y="996197"/>
            <a:ext cx="502920" cy="1207008"/>
          </a:xfrm>
          <a:prstGeom prst="rect">
            <a:avLst/>
          </a:prstGeom>
          <a:solidFill>
            <a:srgbClr val="2563EB"/>
          </a:solidFill>
          <a:ln/>
        </p:spPr>
        <p:txBody>
          <a:bodyPr/>
          <a:lstStyle/>
          <a:p>
            <a:endParaRPr lang="en-SG"/>
          </a:p>
        </p:txBody>
      </p:sp>
      <p:sp>
        <p:nvSpPr>
          <p:cNvPr id="5" name="Text 4">
            <a:extLst>
              <a:ext uri="{FF2B5EF4-FFF2-40B4-BE49-F238E27FC236}">
                <a16:creationId xmlns:a16="http://schemas.microsoft.com/office/drawing/2014/main" id="{15EC2E17-5FED-235F-10CC-5618BCD282C7}"/>
              </a:ext>
            </a:extLst>
          </p:cNvPr>
          <p:cNvSpPr/>
          <p:nvPr/>
        </p:nvSpPr>
        <p:spPr>
          <a:xfrm>
            <a:off x="296103" y="996197"/>
            <a:ext cx="502920" cy="1207008"/>
          </a:xfrm>
          <a:prstGeom prst="rect">
            <a:avLst/>
          </a:prstGeom>
          <a:noFill/>
          <a:ln/>
        </p:spPr>
        <p:txBody>
          <a:bodyPr wrap="square"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01</a:t>
            </a:r>
            <a:endParaRPr lang="en-US" sz="1800"/>
          </a:p>
        </p:txBody>
      </p:sp>
      <p:sp>
        <p:nvSpPr>
          <p:cNvPr id="6" name="Text 5">
            <a:extLst>
              <a:ext uri="{FF2B5EF4-FFF2-40B4-BE49-F238E27FC236}">
                <a16:creationId xmlns:a16="http://schemas.microsoft.com/office/drawing/2014/main" id="{E32F3276-5E26-1E77-D5EB-C06C911D338D}"/>
              </a:ext>
            </a:extLst>
          </p:cNvPr>
          <p:cNvSpPr/>
          <p:nvPr/>
        </p:nvSpPr>
        <p:spPr>
          <a:xfrm>
            <a:off x="890463" y="1105925"/>
            <a:ext cx="3520440" cy="347472"/>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What is CSS?</a:t>
            </a:r>
            <a:endParaRPr lang="en-US" sz="1300"/>
          </a:p>
        </p:txBody>
      </p:sp>
      <p:sp>
        <p:nvSpPr>
          <p:cNvPr id="7" name="Text 6">
            <a:extLst>
              <a:ext uri="{FF2B5EF4-FFF2-40B4-BE49-F238E27FC236}">
                <a16:creationId xmlns:a16="http://schemas.microsoft.com/office/drawing/2014/main" id="{DC7E632E-0DCB-F9B5-A773-5A9075EE78FB}"/>
              </a:ext>
            </a:extLst>
          </p:cNvPr>
          <p:cNvSpPr/>
          <p:nvPr/>
        </p:nvSpPr>
        <p:spPr>
          <a:xfrm>
            <a:off x="890463" y="1489973"/>
            <a:ext cx="3520440" cy="548640"/>
          </a:xfrm>
          <a:prstGeom prst="rect">
            <a:avLst/>
          </a:prstGeom>
          <a:noFill/>
          <a:ln/>
        </p:spPr>
        <p:txBody>
          <a:bodyPr wrap="square" rtlCol="0" anchor="ctr"/>
          <a:lstStyle/>
          <a:p>
            <a:pPr marL="0" indent="0">
              <a:buNone/>
            </a:pPr>
            <a:r>
              <a:rPr lang="en-US" sz="1000">
                <a:solidFill>
                  <a:srgbClr val="64748B"/>
                </a:solidFill>
                <a:latin typeface="Calibri" pitchFamily="34" charset="0"/>
                <a:ea typeface="Calibri" pitchFamily="34" charset="-122"/>
                <a:cs typeface="Calibri" pitchFamily="34" charset="-120"/>
              </a:rPr>
              <a:t>Role of CSS in web development, separation of concerns</a:t>
            </a:r>
            <a:endParaRPr lang="en-US" sz="1000"/>
          </a:p>
        </p:txBody>
      </p:sp>
      <p:sp>
        <p:nvSpPr>
          <p:cNvPr id="8" name="Shape 7">
            <a:extLst>
              <a:ext uri="{FF2B5EF4-FFF2-40B4-BE49-F238E27FC236}">
                <a16:creationId xmlns:a16="http://schemas.microsoft.com/office/drawing/2014/main" id="{B8DC7974-78DE-4BFA-DAF1-3CC563883F21}"/>
              </a:ext>
            </a:extLst>
          </p:cNvPr>
          <p:cNvSpPr/>
          <p:nvPr/>
        </p:nvSpPr>
        <p:spPr>
          <a:xfrm>
            <a:off x="4730943" y="996197"/>
            <a:ext cx="4206240" cy="1207008"/>
          </a:xfrm>
          <a:prstGeom prst="rect">
            <a:avLst/>
          </a:prstGeom>
          <a:solidFill>
            <a:srgbClr val="F1F5F9"/>
          </a:solidFill>
          <a:ln w="12700">
            <a:solidFill>
              <a:srgbClr val="E2E8F0"/>
            </a:solidFill>
            <a:prstDash val="solid"/>
          </a:ln>
        </p:spPr>
        <p:txBody>
          <a:bodyPr/>
          <a:lstStyle/>
          <a:p>
            <a:endParaRPr lang="en-SG"/>
          </a:p>
        </p:txBody>
      </p:sp>
      <p:sp>
        <p:nvSpPr>
          <p:cNvPr id="9" name="Shape 8">
            <a:extLst>
              <a:ext uri="{FF2B5EF4-FFF2-40B4-BE49-F238E27FC236}">
                <a16:creationId xmlns:a16="http://schemas.microsoft.com/office/drawing/2014/main" id="{97D34669-199D-360D-53A9-383C9431AC53}"/>
              </a:ext>
            </a:extLst>
          </p:cNvPr>
          <p:cNvSpPr/>
          <p:nvPr/>
        </p:nvSpPr>
        <p:spPr>
          <a:xfrm>
            <a:off x="4730943" y="996197"/>
            <a:ext cx="502920" cy="1207008"/>
          </a:xfrm>
          <a:prstGeom prst="rect">
            <a:avLst/>
          </a:prstGeom>
          <a:solidFill>
            <a:srgbClr val="0891B2"/>
          </a:solidFill>
          <a:ln/>
        </p:spPr>
        <p:txBody>
          <a:bodyPr/>
          <a:lstStyle/>
          <a:p>
            <a:endParaRPr lang="en-SG"/>
          </a:p>
        </p:txBody>
      </p:sp>
      <p:sp>
        <p:nvSpPr>
          <p:cNvPr id="10" name="Text 9">
            <a:extLst>
              <a:ext uri="{FF2B5EF4-FFF2-40B4-BE49-F238E27FC236}">
                <a16:creationId xmlns:a16="http://schemas.microsoft.com/office/drawing/2014/main" id="{4E6F1C94-8EA7-7984-5757-E238BA991DF5}"/>
              </a:ext>
            </a:extLst>
          </p:cNvPr>
          <p:cNvSpPr/>
          <p:nvPr/>
        </p:nvSpPr>
        <p:spPr>
          <a:xfrm>
            <a:off x="4730943" y="996197"/>
            <a:ext cx="502920" cy="1207008"/>
          </a:xfrm>
          <a:prstGeom prst="rect">
            <a:avLst/>
          </a:prstGeom>
          <a:noFill/>
          <a:ln/>
        </p:spPr>
        <p:txBody>
          <a:bodyPr wrap="square"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02</a:t>
            </a:r>
            <a:endParaRPr lang="en-US" sz="1800"/>
          </a:p>
        </p:txBody>
      </p:sp>
      <p:sp>
        <p:nvSpPr>
          <p:cNvPr id="11" name="Text 10">
            <a:extLst>
              <a:ext uri="{FF2B5EF4-FFF2-40B4-BE49-F238E27FC236}">
                <a16:creationId xmlns:a16="http://schemas.microsoft.com/office/drawing/2014/main" id="{AF066BCE-AB28-2C83-63B0-75724E9EFB0E}"/>
              </a:ext>
            </a:extLst>
          </p:cNvPr>
          <p:cNvSpPr/>
          <p:nvPr/>
        </p:nvSpPr>
        <p:spPr>
          <a:xfrm>
            <a:off x="5325303" y="1105925"/>
            <a:ext cx="3520440" cy="347472"/>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Three Ways to Use CSS</a:t>
            </a:r>
            <a:endParaRPr lang="en-US" sz="1300"/>
          </a:p>
        </p:txBody>
      </p:sp>
      <p:sp>
        <p:nvSpPr>
          <p:cNvPr id="12" name="Text 11">
            <a:extLst>
              <a:ext uri="{FF2B5EF4-FFF2-40B4-BE49-F238E27FC236}">
                <a16:creationId xmlns:a16="http://schemas.microsoft.com/office/drawing/2014/main" id="{4EC40C46-F512-7865-AED0-D6680A49661E}"/>
              </a:ext>
            </a:extLst>
          </p:cNvPr>
          <p:cNvSpPr/>
          <p:nvPr/>
        </p:nvSpPr>
        <p:spPr>
          <a:xfrm>
            <a:off x="5325303" y="1489973"/>
            <a:ext cx="3520440" cy="548640"/>
          </a:xfrm>
          <a:prstGeom prst="rect">
            <a:avLst/>
          </a:prstGeom>
          <a:noFill/>
          <a:ln/>
        </p:spPr>
        <p:txBody>
          <a:bodyPr wrap="square" rtlCol="0" anchor="ctr"/>
          <a:lstStyle/>
          <a:p>
            <a:pPr marL="0" indent="0">
              <a:buNone/>
            </a:pPr>
            <a:r>
              <a:rPr lang="en-US" sz="1000">
                <a:solidFill>
                  <a:srgbClr val="64748B"/>
                </a:solidFill>
                <a:latin typeface="Calibri" pitchFamily="34" charset="0"/>
                <a:ea typeface="Calibri" pitchFamily="34" charset="-122"/>
                <a:cs typeface="Calibri" pitchFamily="34" charset="-120"/>
              </a:rPr>
              <a:t>Inline, Internal style sheet, External style sheet</a:t>
            </a:r>
            <a:endParaRPr lang="en-US" sz="1000"/>
          </a:p>
        </p:txBody>
      </p:sp>
      <p:sp>
        <p:nvSpPr>
          <p:cNvPr id="13" name="Shape 12">
            <a:extLst>
              <a:ext uri="{FF2B5EF4-FFF2-40B4-BE49-F238E27FC236}">
                <a16:creationId xmlns:a16="http://schemas.microsoft.com/office/drawing/2014/main" id="{14A9BEE7-94C0-C93F-B9A4-66592D2BC519}"/>
              </a:ext>
            </a:extLst>
          </p:cNvPr>
          <p:cNvSpPr/>
          <p:nvPr/>
        </p:nvSpPr>
        <p:spPr>
          <a:xfrm>
            <a:off x="296103" y="2367797"/>
            <a:ext cx="4206240" cy="1207008"/>
          </a:xfrm>
          <a:prstGeom prst="rect">
            <a:avLst/>
          </a:prstGeom>
          <a:solidFill>
            <a:srgbClr val="F1F5F9"/>
          </a:solidFill>
          <a:ln w="12700">
            <a:solidFill>
              <a:srgbClr val="E2E8F0"/>
            </a:solidFill>
            <a:prstDash val="solid"/>
          </a:ln>
        </p:spPr>
        <p:txBody>
          <a:bodyPr/>
          <a:lstStyle/>
          <a:p>
            <a:endParaRPr lang="en-SG"/>
          </a:p>
        </p:txBody>
      </p:sp>
      <p:sp>
        <p:nvSpPr>
          <p:cNvPr id="14" name="Shape 13">
            <a:extLst>
              <a:ext uri="{FF2B5EF4-FFF2-40B4-BE49-F238E27FC236}">
                <a16:creationId xmlns:a16="http://schemas.microsoft.com/office/drawing/2014/main" id="{A3BD9AF7-C6CC-9086-CE5C-B9749B678357}"/>
              </a:ext>
            </a:extLst>
          </p:cNvPr>
          <p:cNvSpPr/>
          <p:nvPr/>
        </p:nvSpPr>
        <p:spPr>
          <a:xfrm>
            <a:off x="296103" y="2367797"/>
            <a:ext cx="502920" cy="1207008"/>
          </a:xfrm>
          <a:prstGeom prst="rect">
            <a:avLst/>
          </a:prstGeom>
          <a:solidFill>
            <a:srgbClr val="16A34A"/>
          </a:solidFill>
          <a:ln/>
        </p:spPr>
        <p:txBody>
          <a:bodyPr/>
          <a:lstStyle/>
          <a:p>
            <a:endParaRPr lang="en-SG"/>
          </a:p>
        </p:txBody>
      </p:sp>
      <p:sp>
        <p:nvSpPr>
          <p:cNvPr id="15" name="Text 14">
            <a:extLst>
              <a:ext uri="{FF2B5EF4-FFF2-40B4-BE49-F238E27FC236}">
                <a16:creationId xmlns:a16="http://schemas.microsoft.com/office/drawing/2014/main" id="{80EA652F-E21C-9E97-15DE-D46A9E1A8E4F}"/>
              </a:ext>
            </a:extLst>
          </p:cNvPr>
          <p:cNvSpPr/>
          <p:nvPr/>
        </p:nvSpPr>
        <p:spPr>
          <a:xfrm>
            <a:off x="296103" y="2367797"/>
            <a:ext cx="502920" cy="1207008"/>
          </a:xfrm>
          <a:prstGeom prst="rect">
            <a:avLst/>
          </a:prstGeom>
          <a:noFill/>
          <a:ln/>
        </p:spPr>
        <p:txBody>
          <a:bodyPr wrap="square"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03</a:t>
            </a:r>
            <a:endParaRPr lang="en-US" sz="1800"/>
          </a:p>
        </p:txBody>
      </p:sp>
      <p:sp>
        <p:nvSpPr>
          <p:cNvPr id="16" name="Text 15">
            <a:extLst>
              <a:ext uri="{FF2B5EF4-FFF2-40B4-BE49-F238E27FC236}">
                <a16:creationId xmlns:a16="http://schemas.microsoft.com/office/drawing/2014/main" id="{CF17358A-AB4A-8068-776C-F0FDBB310EA6}"/>
              </a:ext>
            </a:extLst>
          </p:cNvPr>
          <p:cNvSpPr/>
          <p:nvPr/>
        </p:nvSpPr>
        <p:spPr>
          <a:xfrm>
            <a:off x="890463" y="2477525"/>
            <a:ext cx="3520440" cy="347472"/>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CSS Syntax &amp; Selectors</a:t>
            </a:r>
            <a:endParaRPr lang="en-US" sz="1300"/>
          </a:p>
        </p:txBody>
      </p:sp>
      <p:sp>
        <p:nvSpPr>
          <p:cNvPr id="17" name="Text 16">
            <a:extLst>
              <a:ext uri="{FF2B5EF4-FFF2-40B4-BE49-F238E27FC236}">
                <a16:creationId xmlns:a16="http://schemas.microsoft.com/office/drawing/2014/main" id="{1B611F47-7DEE-716C-FDAB-30AFE2DA8857}"/>
              </a:ext>
            </a:extLst>
          </p:cNvPr>
          <p:cNvSpPr/>
          <p:nvPr/>
        </p:nvSpPr>
        <p:spPr>
          <a:xfrm>
            <a:off x="890463" y="2861573"/>
            <a:ext cx="3520440" cy="548640"/>
          </a:xfrm>
          <a:prstGeom prst="rect">
            <a:avLst/>
          </a:prstGeom>
          <a:noFill/>
          <a:ln/>
        </p:spPr>
        <p:txBody>
          <a:bodyPr wrap="square" rtlCol="0" anchor="ctr"/>
          <a:lstStyle/>
          <a:p>
            <a:pPr marL="0" indent="0">
              <a:buNone/>
            </a:pPr>
            <a:r>
              <a:rPr lang="en-US" sz="1000">
                <a:solidFill>
                  <a:srgbClr val="64748B"/>
                </a:solidFill>
                <a:latin typeface="Calibri" pitchFamily="34" charset="0"/>
                <a:ea typeface="Calibri" pitchFamily="34" charset="-122"/>
                <a:cs typeface="Calibri" pitchFamily="34" charset="-120"/>
              </a:rPr>
              <a:t>Rules, cascading, properties &amp; values</a:t>
            </a:r>
            <a:endParaRPr lang="en-US" sz="1000"/>
          </a:p>
        </p:txBody>
      </p:sp>
      <p:sp>
        <p:nvSpPr>
          <p:cNvPr id="18" name="Shape 17">
            <a:extLst>
              <a:ext uri="{FF2B5EF4-FFF2-40B4-BE49-F238E27FC236}">
                <a16:creationId xmlns:a16="http://schemas.microsoft.com/office/drawing/2014/main" id="{2B132FE9-DFBA-DA2B-DFAA-C8946D01EFD4}"/>
              </a:ext>
            </a:extLst>
          </p:cNvPr>
          <p:cNvSpPr/>
          <p:nvPr/>
        </p:nvSpPr>
        <p:spPr>
          <a:xfrm>
            <a:off x="4730943" y="2367797"/>
            <a:ext cx="4206240" cy="1207008"/>
          </a:xfrm>
          <a:prstGeom prst="rect">
            <a:avLst/>
          </a:prstGeom>
          <a:solidFill>
            <a:srgbClr val="F1F5F9"/>
          </a:solidFill>
          <a:ln w="12700">
            <a:solidFill>
              <a:srgbClr val="E2E8F0"/>
            </a:solidFill>
            <a:prstDash val="solid"/>
          </a:ln>
        </p:spPr>
        <p:txBody>
          <a:bodyPr/>
          <a:lstStyle/>
          <a:p>
            <a:endParaRPr lang="en-SG"/>
          </a:p>
        </p:txBody>
      </p:sp>
      <p:sp>
        <p:nvSpPr>
          <p:cNvPr id="19" name="Shape 18">
            <a:extLst>
              <a:ext uri="{FF2B5EF4-FFF2-40B4-BE49-F238E27FC236}">
                <a16:creationId xmlns:a16="http://schemas.microsoft.com/office/drawing/2014/main" id="{84B0A46D-03AF-0FE6-91AA-C4DF01C4C2B6}"/>
              </a:ext>
            </a:extLst>
          </p:cNvPr>
          <p:cNvSpPr/>
          <p:nvPr/>
        </p:nvSpPr>
        <p:spPr>
          <a:xfrm>
            <a:off x="4730943" y="2367797"/>
            <a:ext cx="502920" cy="1207008"/>
          </a:xfrm>
          <a:prstGeom prst="rect">
            <a:avLst/>
          </a:prstGeom>
          <a:solidFill>
            <a:srgbClr val="EA580C"/>
          </a:solidFill>
          <a:ln/>
        </p:spPr>
        <p:txBody>
          <a:bodyPr/>
          <a:lstStyle/>
          <a:p>
            <a:endParaRPr lang="en-SG"/>
          </a:p>
        </p:txBody>
      </p:sp>
      <p:sp>
        <p:nvSpPr>
          <p:cNvPr id="20" name="Text 19">
            <a:extLst>
              <a:ext uri="{FF2B5EF4-FFF2-40B4-BE49-F238E27FC236}">
                <a16:creationId xmlns:a16="http://schemas.microsoft.com/office/drawing/2014/main" id="{4B08E593-1947-8AE5-4691-8F743A91EB69}"/>
              </a:ext>
            </a:extLst>
          </p:cNvPr>
          <p:cNvSpPr/>
          <p:nvPr/>
        </p:nvSpPr>
        <p:spPr>
          <a:xfrm>
            <a:off x="4730943" y="2367797"/>
            <a:ext cx="502920" cy="1207008"/>
          </a:xfrm>
          <a:prstGeom prst="rect">
            <a:avLst/>
          </a:prstGeom>
          <a:noFill/>
          <a:ln/>
        </p:spPr>
        <p:txBody>
          <a:bodyPr wrap="square"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04</a:t>
            </a:r>
            <a:endParaRPr lang="en-US" sz="1800"/>
          </a:p>
        </p:txBody>
      </p:sp>
      <p:sp>
        <p:nvSpPr>
          <p:cNvPr id="21" name="Text 20">
            <a:extLst>
              <a:ext uri="{FF2B5EF4-FFF2-40B4-BE49-F238E27FC236}">
                <a16:creationId xmlns:a16="http://schemas.microsoft.com/office/drawing/2014/main" id="{2B32217E-C2C8-44AE-24D1-D006C92D04A6}"/>
              </a:ext>
            </a:extLst>
          </p:cNvPr>
          <p:cNvSpPr/>
          <p:nvPr/>
        </p:nvSpPr>
        <p:spPr>
          <a:xfrm>
            <a:off x="5325303" y="2477525"/>
            <a:ext cx="3520440" cy="347472"/>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The Box Model</a:t>
            </a:r>
            <a:endParaRPr lang="en-US" sz="1300"/>
          </a:p>
        </p:txBody>
      </p:sp>
      <p:sp>
        <p:nvSpPr>
          <p:cNvPr id="22" name="Text 21">
            <a:extLst>
              <a:ext uri="{FF2B5EF4-FFF2-40B4-BE49-F238E27FC236}">
                <a16:creationId xmlns:a16="http://schemas.microsoft.com/office/drawing/2014/main" id="{851069E7-D917-83AF-4236-C65F2DD72D48}"/>
              </a:ext>
            </a:extLst>
          </p:cNvPr>
          <p:cNvSpPr/>
          <p:nvPr/>
        </p:nvSpPr>
        <p:spPr>
          <a:xfrm>
            <a:off x="5325303" y="2861573"/>
            <a:ext cx="3520440" cy="548640"/>
          </a:xfrm>
          <a:prstGeom prst="rect">
            <a:avLst/>
          </a:prstGeom>
          <a:noFill/>
          <a:ln/>
        </p:spPr>
        <p:txBody>
          <a:bodyPr wrap="square" rtlCol="0" anchor="ctr"/>
          <a:lstStyle/>
          <a:p>
            <a:pPr marL="0" indent="0">
              <a:buNone/>
            </a:pPr>
            <a:r>
              <a:rPr lang="en-US" sz="1000">
                <a:solidFill>
                  <a:srgbClr val="64748B"/>
                </a:solidFill>
                <a:latin typeface="Calibri" pitchFamily="34" charset="0"/>
                <a:ea typeface="Calibri" pitchFamily="34" charset="-122"/>
                <a:cs typeface="Calibri" pitchFamily="34" charset="-120"/>
              </a:rPr>
              <a:t>Content, padding, border, margin</a:t>
            </a:r>
            <a:endParaRPr lang="en-US" sz="1000"/>
          </a:p>
        </p:txBody>
      </p:sp>
      <p:sp>
        <p:nvSpPr>
          <p:cNvPr id="23" name="Shape 22">
            <a:extLst>
              <a:ext uri="{FF2B5EF4-FFF2-40B4-BE49-F238E27FC236}">
                <a16:creationId xmlns:a16="http://schemas.microsoft.com/office/drawing/2014/main" id="{0FB73716-B743-ECB0-3AF8-5040594D730B}"/>
              </a:ext>
            </a:extLst>
          </p:cNvPr>
          <p:cNvSpPr/>
          <p:nvPr/>
        </p:nvSpPr>
        <p:spPr>
          <a:xfrm>
            <a:off x="296103" y="3739397"/>
            <a:ext cx="4206240" cy="1207008"/>
          </a:xfrm>
          <a:prstGeom prst="rect">
            <a:avLst/>
          </a:prstGeom>
          <a:solidFill>
            <a:srgbClr val="F1F5F9"/>
          </a:solidFill>
          <a:ln w="12700">
            <a:solidFill>
              <a:srgbClr val="E2E8F0"/>
            </a:solidFill>
            <a:prstDash val="solid"/>
          </a:ln>
        </p:spPr>
        <p:txBody>
          <a:bodyPr/>
          <a:lstStyle/>
          <a:p>
            <a:endParaRPr lang="en-SG"/>
          </a:p>
        </p:txBody>
      </p:sp>
      <p:sp>
        <p:nvSpPr>
          <p:cNvPr id="24" name="Shape 23">
            <a:extLst>
              <a:ext uri="{FF2B5EF4-FFF2-40B4-BE49-F238E27FC236}">
                <a16:creationId xmlns:a16="http://schemas.microsoft.com/office/drawing/2014/main" id="{A5CF6348-E8A6-08EA-E6C8-476FFFCC0A35}"/>
              </a:ext>
            </a:extLst>
          </p:cNvPr>
          <p:cNvSpPr/>
          <p:nvPr/>
        </p:nvSpPr>
        <p:spPr>
          <a:xfrm>
            <a:off x="296103" y="3739397"/>
            <a:ext cx="502920" cy="1207008"/>
          </a:xfrm>
          <a:prstGeom prst="rect">
            <a:avLst/>
          </a:prstGeom>
          <a:solidFill>
            <a:srgbClr val="7C3AED"/>
          </a:solidFill>
          <a:ln/>
        </p:spPr>
        <p:txBody>
          <a:bodyPr/>
          <a:lstStyle/>
          <a:p>
            <a:endParaRPr lang="en-SG"/>
          </a:p>
        </p:txBody>
      </p:sp>
      <p:sp>
        <p:nvSpPr>
          <p:cNvPr id="25" name="Text 24">
            <a:extLst>
              <a:ext uri="{FF2B5EF4-FFF2-40B4-BE49-F238E27FC236}">
                <a16:creationId xmlns:a16="http://schemas.microsoft.com/office/drawing/2014/main" id="{29FEB686-0C5E-2027-1327-7990E1BFA529}"/>
              </a:ext>
            </a:extLst>
          </p:cNvPr>
          <p:cNvSpPr/>
          <p:nvPr/>
        </p:nvSpPr>
        <p:spPr>
          <a:xfrm>
            <a:off x="296103" y="3739397"/>
            <a:ext cx="502920" cy="1207008"/>
          </a:xfrm>
          <a:prstGeom prst="rect">
            <a:avLst/>
          </a:prstGeom>
          <a:noFill/>
          <a:ln/>
        </p:spPr>
        <p:txBody>
          <a:bodyPr wrap="square"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05</a:t>
            </a:r>
            <a:endParaRPr lang="en-US" sz="1800"/>
          </a:p>
        </p:txBody>
      </p:sp>
      <p:sp>
        <p:nvSpPr>
          <p:cNvPr id="26" name="Text 25">
            <a:extLst>
              <a:ext uri="{FF2B5EF4-FFF2-40B4-BE49-F238E27FC236}">
                <a16:creationId xmlns:a16="http://schemas.microsoft.com/office/drawing/2014/main" id="{E2ABC9D1-2D30-0A41-7263-A1A50012F83B}"/>
              </a:ext>
            </a:extLst>
          </p:cNvPr>
          <p:cNvSpPr/>
          <p:nvPr/>
        </p:nvSpPr>
        <p:spPr>
          <a:xfrm>
            <a:off x="890463" y="3849125"/>
            <a:ext cx="3520440" cy="347472"/>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Flexbox Layout</a:t>
            </a:r>
            <a:endParaRPr lang="en-US" sz="1300"/>
          </a:p>
        </p:txBody>
      </p:sp>
      <p:sp>
        <p:nvSpPr>
          <p:cNvPr id="27" name="Text 26">
            <a:extLst>
              <a:ext uri="{FF2B5EF4-FFF2-40B4-BE49-F238E27FC236}">
                <a16:creationId xmlns:a16="http://schemas.microsoft.com/office/drawing/2014/main" id="{A521C858-4376-3DE6-C8EB-552AF23F555E}"/>
              </a:ext>
            </a:extLst>
          </p:cNvPr>
          <p:cNvSpPr/>
          <p:nvPr/>
        </p:nvSpPr>
        <p:spPr>
          <a:xfrm>
            <a:off x="890463" y="4233173"/>
            <a:ext cx="3520440" cy="548640"/>
          </a:xfrm>
          <a:prstGeom prst="rect">
            <a:avLst/>
          </a:prstGeom>
          <a:noFill/>
          <a:ln/>
        </p:spPr>
        <p:txBody>
          <a:bodyPr wrap="square" rtlCol="0" anchor="ctr"/>
          <a:lstStyle/>
          <a:p>
            <a:pPr marL="0" indent="0">
              <a:buNone/>
            </a:pPr>
            <a:r>
              <a:rPr lang="en-US" sz="1000">
                <a:solidFill>
                  <a:srgbClr val="64748B"/>
                </a:solidFill>
                <a:latin typeface="Calibri" pitchFamily="34" charset="0"/>
                <a:ea typeface="Calibri" pitchFamily="34" charset="-122"/>
                <a:cs typeface="Calibri" pitchFamily="34" charset="-120"/>
              </a:rPr>
              <a:t>One-dimensional flexible layouts</a:t>
            </a:r>
            <a:endParaRPr lang="en-US" sz="1000"/>
          </a:p>
        </p:txBody>
      </p:sp>
      <p:sp>
        <p:nvSpPr>
          <p:cNvPr id="28" name="Shape 27">
            <a:extLst>
              <a:ext uri="{FF2B5EF4-FFF2-40B4-BE49-F238E27FC236}">
                <a16:creationId xmlns:a16="http://schemas.microsoft.com/office/drawing/2014/main" id="{3ACEC531-164F-82C8-76B8-475F12F37789}"/>
              </a:ext>
            </a:extLst>
          </p:cNvPr>
          <p:cNvSpPr/>
          <p:nvPr/>
        </p:nvSpPr>
        <p:spPr>
          <a:xfrm>
            <a:off x="4730943" y="3739397"/>
            <a:ext cx="4206240" cy="1207008"/>
          </a:xfrm>
          <a:prstGeom prst="rect">
            <a:avLst/>
          </a:prstGeom>
          <a:solidFill>
            <a:srgbClr val="F1F5F9"/>
          </a:solidFill>
          <a:ln w="12700">
            <a:solidFill>
              <a:srgbClr val="E2E8F0"/>
            </a:solidFill>
            <a:prstDash val="solid"/>
          </a:ln>
        </p:spPr>
        <p:txBody>
          <a:bodyPr/>
          <a:lstStyle/>
          <a:p>
            <a:endParaRPr lang="en-SG"/>
          </a:p>
        </p:txBody>
      </p:sp>
      <p:sp>
        <p:nvSpPr>
          <p:cNvPr id="29" name="Shape 28">
            <a:extLst>
              <a:ext uri="{FF2B5EF4-FFF2-40B4-BE49-F238E27FC236}">
                <a16:creationId xmlns:a16="http://schemas.microsoft.com/office/drawing/2014/main" id="{B5CCBD4A-8735-302B-60FC-AD79239E75AC}"/>
              </a:ext>
            </a:extLst>
          </p:cNvPr>
          <p:cNvSpPr/>
          <p:nvPr/>
        </p:nvSpPr>
        <p:spPr>
          <a:xfrm>
            <a:off x="4730943" y="3739397"/>
            <a:ext cx="502920" cy="1207008"/>
          </a:xfrm>
          <a:prstGeom prst="rect">
            <a:avLst/>
          </a:prstGeom>
          <a:solidFill>
            <a:srgbClr val="DC2626"/>
          </a:solidFill>
          <a:ln/>
        </p:spPr>
        <p:txBody>
          <a:bodyPr/>
          <a:lstStyle/>
          <a:p>
            <a:endParaRPr lang="en-SG"/>
          </a:p>
        </p:txBody>
      </p:sp>
      <p:sp>
        <p:nvSpPr>
          <p:cNvPr id="30" name="Text 29">
            <a:extLst>
              <a:ext uri="{FF2B5EF4-FFF2-40B4-BE49-F238E27FC236}">
                <a16:creationId xmlns:a16="http://schemas.microsoft.com/office/drawing/2014/main" id="{FBD72A7C-6E16-31D7-2070-23A9D64B104D}"/>
              </a:ext>
            </a:extLst>
          </p:cNvPr>
          <p:cNvSpPr/>
          <p:nvPr/>
        </p:nvSpPr>
        <p:spPr>
          <a:xfrm>
            <a:off x="4730943" y="3739397"/>
            <a:ext cx="502920" cy="1207008"/>
          </a:xfrm>
          <a:prstGeom prst="rect">
            <a:avLst/>
          </a:prstGeom>
          <a:noFill/>
          <a:ln/>
        </p:spPr>
        <p:txBody>
          <a:bodyPr wrap="square"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06</a:t>
            </a:r>
            <a:endParaRPr lang="en-US" sz="1800"/>
          </a:p>
        </p:txBody>
      </p:sp>
      <p:sp>
        <p:nvSpPr>
          <p:cNvPr id="31" name="Text 30">
            <a:extLst>
              <a:ext uri="{FF2B5EF4-FFF2-40B4-BE49-F238E27FC236}">
                <a16:creationId xmlns:a16="http://schemas.microsoft.com/office/drawing/2014/main" id="{716CB74E-7B9B-E91D-62B2-E1DB81A934E3}"/>
              </a:ext>
            </a:extLst>
          </p:cNvPr>
          <p:cNvSpPr/>
          <p:nvPr/>
        </p:nvSpPr>
        <p:spPr>
          <a:xfrm>
            <a:off x="5325303" y="3849125"/>
            <a:ext cx="3520440" cy="347472"/>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CSS Grid Layout</a:t>
            </a:r>
            <a:endParaRPr lang="en-US" sz="1300"/>
          </a:p>
        </p:txBody>
      </p:sp>
      <p:sp>
        <p:nvSpPr>
          <p:cNvPr id="32" name="Text 31">
            <a:extLst>
              <a:ext uri="{FF2B5EF4-FFF2-40B4-BE49-F238E27FC236}">
                <a16:creationId xmlns:a16="http://schemas.microsoft.com/office/drawing/2014/main" id="{1232B529-5824-A818-3025-F498FEB09004}"/>
              </a:ext>
            </a:extLst>
          </p:cNvPr>
          <p:cNvSpPr/>
          <p:nvPr/>
        </p:nvSpPr>
        <p:spPr>
          <a:xfrm>
            <a:off x="5325303" y="4233173"/>
            <a:ext cx="3520440" cy="548640"/>
          </a:xfrm>
          <a:prstGeom prst="rect">
            <a:avLst/>
          </a:prstGeom>
          <a:noFill/>
          <a:ln/>
        </p:spPr>
        <p:txBody>
          <a:bodyPr wrap="square" rtlCol="0" anchor="ctr"/>
          <a:lstStyle/>
          <a:p>
            <a:pPr marL="0" indent="0">
              <a:buNone/>
            </a:pPr>
            <a:r>
              <a:rPr lang="en-US" sz="1000">
                <a:solidFill>
                  <a:srgbClr val="64748B"/>
                </a:solidFill>
                <a:latin typeface="Calibri" pitchFamily="34" charset="0"/>
                <a:ea typeface="Calibri" pitchFamily="34" charset="-122"/>
                <a:cs typeface="Calibri" pitchFamily="34" charset="-120"/>
              </a:rPr>
              <a:t>Two-dimensional grid systems</a:t>
            </a:r>
            <a:endParaRPr 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What is CSS?</a:t>
            </a:r>
            <a:endParaRPr/>
          </a:p>
        </p:txBody>
      </p:sp>
      <p:sp>
        <p:nvSpPr>
          <p:cNvPr id="4" name="Shape 2">
            <a:extLst>
              <a:ext uri="{FF2B5EF4-FFF2-40B4-BE49-F238E27FC236}">
                <a16:creationId xmlns:a16="http://schemas.microsoft.com/office/drawing/2014/main" id="{E0F5F07B-EDEE-63ED-6CF0-56BCF2B8ED2F}"/>
              </a:ext>
            </a:extLst>
          </p:cNvPr>
          <p:cNvSpPr/>
          <p:nvPr/>
        </p:nvSpPr>
        <p:spPr>
          <a:xfrm>
            <a:off x="311700" y="1147225"/>
            <a:ext cx="2606040" cy="1920240"/>
          </a:xfrm>
          <a:prstGeom prst="rect">
            <a:avLst/>
          </a:prstGeom>
          <a:solidFill>
            <a:srgbClr val="FFF7ED"/>
          </a:solidFill>
          <a:ln w="25400">
            <a:solidFill>
              <a:srgbClr val="EA580C"/>
            </a:solidFill>
            <a:prstDash val="solid"/>
          </a:ln>
        </p:spPr>
        <p:txBody>
          <a:bodyPr/>
          <a:lstStyle/>
          <a:p>
            <a:endParaRPr lang="en-SG"/>
          </a:p>
        </p:txBody>
      </p:sp>
      <p:sp>
        <p:nvSpPr>
          <p:cNvPr id="5" name="Text 3">
            <a:extLst>
              <a:ext uri="{FF2B5EF4-FFF2-40B4-BE49-F238E27FC236}">
                <a16:creationId xmlns:a16="http://schemas.microsoft.com/office/drawing/2014/main" id="{036FC3BD-D4AB-76BD-B12A-C2E16920D6E2}"/>
              </a:ext>
            </a:extLst>
          </p:cNvPr>
          <p:cNvSpPr/>
          <p:nvPr/>
        </p:nvSpPr>
        <p:spPr>
          <a:xfrm>
            <a:off x="311700" y="1192945"/>
            <a:ext cx="2606040" cy="640080"/>
          </a:xfrm>
          <a:prstGeom prst="rect">
            <a:avLst/>
          </a:prstGeom>
          <a:noFill/>
          <a:ln/>
        </p:spPr>
        <p:txBody>
          <a:bodyPr wrap="square" rtlCol="0" anchor="ctr"/>
          <a:lstStyle/>
          <a:p>
            <a:pPr marL="0" indent="0" algn="ctr">
              <a:buNone/>
            </a:pPr>
            <a:r>
              <a:rPr lang="en-US" sz="2400" b="1">
                <a:solidFill>
                  <a:srgbClr val="EA580C"/>
                </a:solidFill>
                <a:latin typeface="Courier New" pitchFamily="34" charset="0"/>
                <a:ea typeface="Courier New" pitchFamily="34" charset="-122"/>
                <a:cs typeface="Courier New" pitchFamily="34" charset="-120"/>
              </a:rPr>
              <a:t>&lt; &gt;</a:t>
            </a:r>
            <a:endParaRPr lang="en-US" sz="2400"/>
          </a:p>
        </p:txBody>
      </p:sp>
      <p:sp>
        <p:nvSpPr>
          <p:cNvPr id="6" name="Text 4">
            <a:extLst>
              <a:ext uri="{FF2B5EF4-FFF2-40B4-BE49-F238E27FC236}">
                <a16:creationId xmlns:a16="http://schemas.microsoft.com/office/drawing/2014/main" id="{8C71D83C-DE73-E21A-D81A-2D412725E13C}"/>
              </a:ext>
            </a:extLst>
          </p:cNvPr>
          <p:cNvSpPr/>
          <p:nvPr/>
        </p:nvSpPr>
        <p:spPr>
          <a:xfrm>
            <a:off x="311700" y="1833025"/>
            <a:ext cx="2606040" cy="457200"/>
          </a:xfrm>
          <a:prstGeom prst="rect">
            <a:avLst/>
          </a:prstGeom>
          <a:noFill/>
          <a:ln/>
        </p:spPr>
        <p:txBody>
          <a:bodyPr wrap="square" rtlCol="0" anchor="ctr"/>
          <a:lstStyle/>
          <a:p>
            <a:pPr marL="0" indent="0" algn="ctr">
              <a:buNone/>
            </a:pPr>
            <a:r>
              <a:rPr lang="en-US" sz="1800" b="1">
                <a:solidFill>
                  <a:srgbClr val="EA580C"/>
                </a:solidFill>
                <a:latin typeface="Calibri" pitchFamily="34" charset="0"/>
                <a:ea typeface="Calibri" pitchFamily="34" charset="-122"/>
                <a:cs typeface="Calibri" pitchFamily="34" charset="-120"/>
              </a:rPr>
              <a:t>HTML</a:t>
            </a:r>
            <a:endParaRPr lang="en-US" sz="1800"/>
          </a:p>
        </p:txBody>
      </p:sp>
      <p:sp>
        <p:nvSpPr>
          <p:cNvPr id="7" name="Text 5">
            <a:extLst>
              <a:ext uri="{FF2B5EF4-FFF2-40B4-BE49-F238E27FC236}">
                <a16:creationId xmlns:a16="http://schemas.microsoft.com/office/drawing/2014/main" id="{CA0D826E-55ED-C01D-08E9-2395C8C82D02}"/>
              </a:ext>
            </a:extLst>
          </p:cNvPr>
          <p:cNvSpPr/>
          <p:nvPr/>
        </p:nvSpPr>
        <p:spPr>
          <a:xfrm>
            <a:off x="311700" y="2317657"/>
            <a:ext cx="2606040" cy="457200"/>
          </a:xfrm>
          <a:prstGeom prst="rect">
            <a:avLst/>
          </a:prstGeom>
          <a:noFill/>
          <a:ln/>
        </p:spPr>
        <p:txBody>
          <a:bodyPr wrap="square" rtlCol="0" anchor="ctr"/>
          <a:lstStyle/>
          <a:p>
            <a:pPr marL="0" indent="0" algn="ctr">
              <a:buNone/>
            </a:pPr>
            <a:r>
              <a:rPr lang="en-US" sz="1100">
                <a:solidFill>
                  <a:srgbClr val="64748B"/>
                </a:solidFill>
                <a:latin typeface="Calibri" pitchFamily="34" charset="0"/>
                <a:ea typeface="Calibri" pitchFamily="34" charset="-122"/>
                <a:cs typeface="Calibri" pitchFamily="34" charset="-120"/>
              </a:rPr>
              <a:t>Content — nouns</a:t>
            </a:r>
            <a:endParaRPr lang="en-US" sz="1100"/>
          </a:p>
        </p:txBody>
      </p:sp>
      <p:sp>
        <p:nvSpPr>
          <p:cNvPr id="8" name="Shape 6">
            <a:extLst>
              <a:ext uri="{FF2B5EF4-FFF2-40B4-BE49-F238E27FC236}">
                <a16:creationId xmlns:a16="http://schemas.microsoft.com/office/drawing/2014/main" id="{D48049B5-107D-2E52-6651-B517B15DE91B}"/>
              </a:ext>
            </a:extLst>
          </p:cNvPr>
          <p:cNvSpPr/>
          <p:nvPr/>
        </p:nvSpPr>
        <p:spPr>
          <a:xfrm>
            <a:off x="3146340" y="1147225"/>
            <a:ext cx="2606040" cy="1920240"/>
          </a:xfrm>
          <a:prstGeom prst="rect">
            <a:avLst/>
          </a:prstGeom>
          <a:solidFill>
            <a:srgbClr val="DBEAFE"/>
          </a:solidFill>
          <a:ln w="25400">
            <a:solidFill>
              <a:srgbClr val="2563EB"/>
            </a:solidFill>
            <a:prstDash val="solid"/>
          </a:ln>
        </p:spPr>
        <p:txBody>
          <a:bodyPr/>
          <a:lstStyle/>
          <a:p>
            <a:endParaRPr lang="en-SG"/>
          </a:p>
        </p:txBody>
      </p:sp>
      <p:sp>
        <p:nvSpPr>
          <p:cNvPr id="9" name="Text 7">
            <a:extLst>
              <a:ext uri="{FF2B5EF4-FFF2-40B4-BE49-F238E27FC236}">
                <a16:creationId xmlns:a16="http://schemas.microsoft.com/office/drawing/2014/main" id="{0125B8F3-C66E-8D8B-C13A-9A956BFD7D3F}"/>
              </a:ext>
            </a:extLst>
          </p:cNvPr>
          <p:cNvSpPr/>
          <p:nvPr/>
        </p:nvSpPr>
        <p:spPr>
          <a:xfrm>
            <a:off x="3146340" y="1192945"/>
            <a:ext cx="2606040" cy="640080"/>
          </a:xfrm>
          <a:prstGeom prst="rect">
            <a:avLst/>
          </a:prstGeom>
          <a:noFill/>
          <a:ln/>
        </p:spPr>
        <p:txBody>
          <a:bodyPr wrap="square" rtlCol="0" anchor="ctr"/>
          <a:lstStyle/>
          <a:p>
            <a:pPr marL="0" indent="0" algn="ctr">
              <a:buNone/>
            </a:pPr>
            <a:r>
              <a:rPr lang="en-US" sz="2400" b="1">
                <a:solidFill>
                  <a:srgbClr val="2563EB"/>
                </a:solidFill>
                <a:latin typeface="Courier New" pitchFamily="34" charset="0"/>
                <a:ea typeface="Courier New" pitchFamily="34" charset="-122"/>
                <a:cs typeface="Courier New" pitchFamily="34" charset="-120"/>
              </a:rPr>
              <a:t>{ }</a:t>
            </a:r>
            <a:endParaRPr lang="en-US" sz="2400"/>
          </a:p>
        </p:txBody>
      </p:sp>
      <p:sp>
        <p:nvSpPr>
          <p:cNvPr id="10" name="Text 8">
            <a:extLst>
              <a:ext uri="{FF2B5EF4-FFF2-40B4-BE49-F238E27FC236}">
                <a16:creationId xmlns:a16="http://schemas.microsoft.com/office/drawing/2014/main" id="{58778F31-788C-CE24-0B4D-4C3CFE785F59}"/>
              </a:ext>
            </a:extLst>
          </p:cNvPr>
          <p:cNvSpPr/>
          <p:nvPr/>
        </p:nvSpPr>
        <p:spPr>
          <a:xfrm>
            <a:off x="3146340" y="1833025"/>
            <a:ext cx="2606040" cy="457200"/>
          </a:xfrm>
          <a:prstGeom prst="rect">
            <a:avLst/>
          </a:prstGeom>
          <a:noFill/>
          <a:ln/>
        </p:spPr>
        <p:txBody>
          <a:bodyPr wrap="square" rtlCol="0" anchor="ctr"/>
          <a:lstStyle/>
          <a:p>
            <a:pPr marL="0" indent="0" algn="ctr">
              <a:buNone/>
            </a:pPr>
            <a:r>
              <a:rPr lang="en-US" sz="1800" b="1">
                <a:solidFill>
                  <a:srgbClr val="2563EB"/>
                </a:solidFill>
                <a:latin typeface="Calibri" pitchFamily="34" charset="0"/>
                <a:ea typeface="Calibri" pitchFamily="34" charset="-122"/>
                <a:cs typeface="Calibri" pitchFamily="34" charset="-120"/>
              </a:rPr>
              <a:t>CSS</a:t>
            </a:r>
            <a:endParaRPr lang="en-US" sz="1800"/>
          </a:p>
        </p:txBody>
      </p:sp>
      <p:sp>
        <p:nvSpPr>
          <p:cNvPr id="11" name="Text 9">
            <a:extLst>
              <a:ext uri="{FF2B5EF4-FFF2-40B4-BE49-F238E27FC236}">
                <a16:creationId xmlns:a16="http://schemas.microsoft.com/office/drawing/2014/main" id="{529A45CB-C325-D8EA-109E-19825CE54F78}"/>
              </a:ext>
            </a:extLst>
          </p:cNvPr>
          <p:cNvSpPr/>
          <p:nvPr/>
        </p:nvSpPr>
        <p:spPr>
          <a:xfrm>
            <a:off x="3146340" y="2317657"/>
            <a:ext cx="2606040" cy="457200"/>
          </a:xfrm>
          <a:prstGeom prst="rect">
            <a:avLst/>
          </a:prstGeom>
          <a:noFill/>
          <a:ln/>
        </p:spPr>
        <p:txBody>
          <a:bodyPr wrap="square" rtlCol="0" anchor="ctr"/>
          <a:lstStyle/>
          <a:p>
            <a:pPr marL="0" indent="0" algn="ctr">
              <a:buNone/>
            </a:pPr>
            <a:r>
              <a:rPr lang="en-US" sz="1100">
                <a:solidFill>
                  <a:srgbClr val="64748B"/>
                </a:solidFill>
                <a:latin typeface="Calibri" pitchFamily="34" charset="0"/>
                <a:ea typeface="Calibri" pitchFamily="34" charset="-122"/>
                <a:cs typeface="Calibri" pitchFamily="34" charset="-120"/>
              </a:rPr>
              <a:t>Presentation — adjectives</a:t>
            </a:r>
            <a:endParaRPr lang="en-US" sz="1100"/>
          </a:p>
        </p:txBody>
      </p:sp>
      <p:sp>
        <p:nvSpPr>
          <p:cNvPr id="12" name="Shape 10">
            <a:extLst>
              <a:ext uri="{FF2B5EF4-FFF2-40B4-BE49-F238E27FC236}">
                <a16:creationId xmlns:a16="http://schemas.microsoft.com/office/drawing/2014/main" id="{5909622A-B0FD-AF95-552E-DAC22E401AF8}"/>
              </a:ext>
            </a:extLst>
          </p:cNvPr>
          <p:cNvSpPr/>
          <p:nvPr/>
        </p:nvSpPr>
        <p:spPr>
          <a:xfrm>
            <a:off x="5980980" y="1147225"/>
            <a:ext cx="2606040" cy="1920240"/>
          </a:xfrm>
          <a:prstGeom prst="rect">
            <a:avLst/>
          </a:prstGeom>
          <a:solidFill>
            <a:srgbClr val="DCFCE7"/>
          </a:solidFill>
          <a:ln w="25400">
            <a:solidFill>
              <a:srgbClr val="16A34A"/>
            </a:solidFill>
            <a:prstDash val="solid"/>
          </a:ln>
        </p:spPr>
        <p:txBody>
          <a:bodyPr/>
          <a:lstStyle/>
          <a:p>
            <a:endParaRPr lang="en-SG"/>
          </a:p>
        </p:txBody>
      </p:sp>
      <p:sp>
        <p:nvSpPr>
          <p:cNvPr id="13" name="Text 11">
            <a:extLst>
              <a:ext uri="{FF2B5EF4-FFF2-40B4-BE49-F238E27FC236}">
                <a16:creationId xmlns:a16="http://schemas.microsoft.com/office/drawing/2014/main" id="{405801D2-E2C5-58FF-C2E8-D4155037B235}"/>
              </a:ext>
            </a:extLst>
          </p:cNvPr>
          <p:cNvSpPr/>
          <p:nvPr/>
        </p:nvSpPr>
        <p:spPr>
          <a:xfrm>
            <a:off x="5980980" y="1192945"/>
            <a:ext cx="2606040" cy="640080"/>
          </a:xfrm>
          <a:prstGeom prst="rect">
            <a:avLst/>
          </a:prstGeom>
          <a:noFill/>
          <a:ln/>
        </p:spPr>
        <p:txBody>
          <a:bodyPr wrap="square" rtlCol="0" anchor="ctr"/>
          <a:lstStyle/>
          <a:p>
            <a:pPr marL="0" indent="0" algn="ctr">
              <a:buNone/>
            </a:pPr>
            <a:r>
              <a:rPr lang="en-US" sz="2400" b="1">
                <a:solidFill>
                  <a:srgbClr val="16A34A"/>
                </a:solidFill>
                <a:latin typeface="Courier New" pitchFamily="34" charset="0"/>
                <a:ea typeface="Courier New" pitchFamily="34" charset="-122"/>
                <a:cs typeface="Courier New" pitchFamily="34" charset="-120"/>
              </a:rPr>
              <a:t>ƒ()</a:t>
            </a:r>
            <a:endParaRPr lang="en-US" sz="2400"/>
          </a:p>
        </p:txBody>
      </p:sp>
      <p:sp>
        <p:nvSpPr>
          <p:cNvPr id="14" name="Text 12">
            <a:extLst>
              <a:ext uri="{FF2B5EF4-FFF2-40B4-BE49-F238E27FC236}">
                <a16:creationId xmlns:a16="http://schemas.microsoft.com/office/drawing/2014/main" id="{0BDADFCA-C104-00BF-0E36-C7BC85BD5D5B}"/>
              </a:ext>
            </a:extLst>
          </p:cNvPr>
          <p:cNvSpPr/>
          <p:nvPr/>
        </p:nvSpPr>
        <p:spPr>
          <a:xfrm>
            <a:off x="5980980" y="1833025"/>
            <a:ext cx="2606040" cy="457200"/>
          </a:xfrm>
          <a:prstGeom prst="rect">
            <a:avLst/>
          </a:prstGeom>
          <a:noFill/>
          <a:ln/>
        </p:spPr>
        <p:txBody>
          <a:bodyPr wrap="square" rtlCol="0" anchor="ctr"/>
          <a:lstStyle/>
          <a:p>
            <a:pPr marL="0" indent="0" algn="ctr">
              <a:buNone/>
            </a:pPr>
            <a:r>
              <a:rPr lang="en-US" sz="1800" b="1">
                <a:solidFill>
                  <a:srgbClr val="16A34A"/>
                </a:solidFill>
                <a:latin typeface="Calibri" pitchFamily="34" charset="0"/>
                <a:ea typeface="Calibri" pitchFamily="34" charset="-122"/>
                <a:cs typeface="Calibri" pitchFamily="34" charset="-120"/>
              </a:rPr>
              <a:t>JS</a:t>
            </a:r>
            <a:endParaRPr lang="en-US" sz="1800"/>
          </a:p>
        </p:txBody>
      </p:sp>
      <p:sp>
        <p:nvSpPr>
          <p:cNvPr id="15" name="Text 13">
            <a:extLst>
              <a:ext uri="{FF2B5EF4-FFF2-40B4-BE49-F238E27FC236}">
                <a16:creationId xmlns:a16="http://schemas.microsoft.com/office/drawing/2014/main" id="{8B7BF0D2-C128-2206-B8A6-DA46D3F95B71}"/>
              </a:ext>
            </a:extLst>
          </p:cNvPr>
          <p:cNvSpPr/>
          <p:nvPr/>
        </p:nvSpPr>
        <p:spPr>
          <a:xfrm>
            <a:off x="5980980" y="2317657"/>
            <a:ext cx="2606040" cy="457200"/>
          </a:xfrm>
          <a:prstGeom prst="rect">
            <a:avLst/>
          </a:prstGeom>
          <a:noFill/>
          <a:ln/>
        </p:spPr>
        <p:txBody>
          <a:bodyPr wrap="square" rtlCol="0" anchor="ctr"/>
          <a:lstStyle/>
          <a:p>
            <a:pPr marL="0" indent="0" algn="ctr">
              <a:buNone/>
            </a:pPr>
            <a:r>
              <a:rPr lang="en-US" sz="1100">
                <a:solidFill>
                  <a:srgbClr val="64748B"/>
                </a:solidFill>
                <a:latin typeface="Calibri" pitchFamily="34" charset="0"/>
                <a:ea typeface="Calibri" pitchFamily="34" charset="-122"/>
                <a:cs typeface="Calibri" pitchFamily="34" charset="-120"/>
              </a:rPr>
              <a:t>Behaviour — verbs</a:t>
            </a:r>
            <a:endParaRPr lang="en-US" sz="1100"/>
          </a:p>
        </p:txBody>
      </p:sp>
      <p:sp>
        <p:nvSpPr>
          <p:cNvPr id="18" name="Text 15">
            <a:extLst>
              <a:ext uri="{FF2B5EF4-FFF2-40B4-BE49-F238E27FC236}">
                <a16:creationId xmlns:a16="http://schemas.microsoft.com/office/drawing/2014/main" id="{49287C42-E80F-9FA4-4061-222DECFEF046}"/>
              </a:ext>
            </a:extLst>
          </p:cNvPr>
          <p:cNvSpPr/>
          <p:nvPr/>
        </p:nvSpPr>
        <p:spPr>
          <a:xfrm>
            <a:off x="2364944" y="3405942"/>
            <a:ext cx="4414111" cy="1089225"/>
          </a:xfrm>
          <a:prstGeom prst="rect">
            <a:avLst/>
          </a:prstGeom>
          <a:noFill/>
          <a:ln/>
        </p:spPr>
        <p:txBody>
          <a:bodyPr wrap="square" rtlCol="0" anchor="ctr"/>
          <a:lstStyle/>
          <a:p>
            <a:pPr marL="285750" indent="-285750">
              <a:buFont typeface="Wingdings" panose="05000000000000000000" pitchFamily="2" charset="2"/>
              <a:buChar char="Ø"/>
            </a:pPr>
            <a:r>
              <a:rPr lang="en-US" sz="1300">
                <a:solidFill>
                  <a:srgbClr val="0F172A"/>
                </a:solidFill>
                <a:latin typeface="Calibri" pitchFamily="34" charset="0"/>
                <a:ea typeface="Calibri" pitchFamily="34" charset="-122"/>
                <a:cs typeface="Calibri" pitchFamily="34" charset="-120"/>
              </a:rPr>
              <a:t>Separates content from presentation (format &amp; styling)</a:t>
            </a:r>
            <a:br>
              <a:rPr lang="en-US" sz="1300">
                <a:solidFill>
                  <a:srgbClr val="0F172A"/>
                </a:solidFill>
                <a:latin typeface="Calibri" pitchFamily="34" charset="0"/>
                <a:ea typeface="Calibri" pitchFamily="34" charset="-122"/>
                <a:cs typeface="Calibri" pitchFamily="34" charset="-120"/>
              </a:rPr>
            </a:br>
            <a:endParaRPr lang="en-US" sz="1300">
              <a:solidFill>
                <a:srgbClr val="0F172A"/>
              </a:solidFill>
              <a:latin typeface="Calibri" pitchFamily="34" charset="0"/>
              <a:ea typeface="Calibri" pitchFamily="34" charset="-122"/>
              <a:cs typeface="Calibri" pitchFamily="34" charset="-120"/>
            </a:endParaRPr>
          </a:p>
          <a:p>
            <a:pPr marL="285750" indent="-285750">
              <a:buFont typeface="Wingdings" panose="05000000000000000000" pitchFamily="2" charset="2"/>
              <a:buChar char="Ø"/>
            </a:pPr>
            <a:r>
              <a:rPr lang="en-US" sz="1300">
                <a:solidFill>
                  <a:srgbClr val="0F172A"/>
                </a:solidFill>
                <a:latin typeface="Calibri" pitchFamily="34" charset="0"/>
                <a:ea typeface="Calibri" pitchFamily="34" charset="-122"/>
                <a:cs typeface="Calibri" pitchFamily="34" charset="-120"/>
              </a:rPr>
              <a:t>Makes all pages look similar and consistent site-wide</a:t>
            </a:r>
            <a:br>
              <a:rPr lang="en-US" sz="1300">
                <a:solidFill>
                  <a:srgbClr val="0F172A"/>
                </a:solidFill>
                <a:latin typeface="Calibri" pitchFamily="34" charset="0"/>
                <a:ea typeface="Calibri" pitchFamily="34" charset="-122"/>
                <a:cs typeface="Calibri" pitchFamily="34" charset="-120"/>
              </a:rPr>
            </a:br>
            <a:endParaRPr lang="en-US" sz="1300">
              <a:solidFill>
                <a:srgbClr val="0F172A"/>
              </a:solidFill>
              <a:latin typeface="Calibri" pitchFamily="34" charset="0"/>
              <a:ea typeface="Calibri" pitchFamily="34" charset="-122"/>
              <a:cs typeface="Calibri" pitchFamily="34" charset="-120"/>
            </a:endParaRPr>
          </a:p>
          <a:p>
            <a:pPr marL="285750" indent="-285750">
              <a:buFont typeface="Wingdings" panose="05000000000000000000" pitchFamily="2" charset="2"/>
              <a:buChar char="Ø"/>
            </a:pPr>
            <a:r>
              <a:rPr lang="en-US" sz="1300">
                <a:solidFill>
                  <a:srgbClr val="0F172A"/>
                </a:solidFill>
                <a:latin typeface="Calibri" pitchFamily="34" charset="0"/>
                <a:ea typeface="Calibri" pitchFamily="34" charset="-122"/>
                <a:cs typeface="Calibri" pitchFamily="34" charset="-120"/>
              </a:rPr>
              <a:t>Enables site-wide changes via a single file edit</a:t>
            </a:r>
            <a:endParaRPr lang="en-US" sz="1300"/>
          </a:p>
        </p:txBody>
      </p:sp>
      <p:sp>
        <p:nvSpPr>
          <p:cNvPr id="19" name="Text 17">
            <a:extLst>
              <a:ext uri="{FF2B5EF4-FFF2-40B4-BE49-F238E27FC236}">
                <a16:creationId xmlns:a16="http://schemas.microsoft.com/office/drawing/2014/main" id="{163573F6-A305-FA8F-D7EB-332603172942}"/>
              </a:ext>
            </a:extLst>
          </p:cNvPr>
          <p:cNvSpPr/>
          <p:nvPr/>
        </p:nvSpPr>
        <p:spPr>
          <a:xfrm>
            <a:off x="2364944" y="3798985"/>
            <a:ext cx="4414111" cy="411480"/>
          </a:xfrm>
          <a:prstGeom prst="rect">
            <a:avLst/>
          </a:prstGeom>
          <a:noFill/>
          <a:ln/>
        </p:spPr>
        <p:txBody>
          <a:bodyPr wrap="square" rtlCol="0" anchor="ctr"/>
          <a:lstStyle/>
          <a:p>
            <a:pPr marL="285750" indent="-285750">
              <a:buFont typeface="Arial" panose="020B0604020202020204" pitchFamily="34" charset="0"/>
              <a:buChar char="•"/>
            </a:pPr>
            <a:endParaRPr lang="en-US" sz="13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What is CSS?</a:t>
            </a:r>
            <a:endParaRPr/>
          </a:p>
        </p:txBody>
      </p:sp>
      <p:sp>
        <p:nvSpPr>
          <p:cNvPr id="9" name="TextBox 8">
            <a:extLst>
              <a:ext uri="{FF2B5EF4-FFF2-40B4-BE49-F238E27FC236}">
                <a16:creationId xmlns:a16="http://schemas.microsoft.com/office/drawing/2014/main" id="{F5E7E684-6F63-ACAB-0178-74BC75C5F820}"/>
              </a:ext>
            </a:extLst>
          </p:cNvPr>
          <p:cNvSpPr txBox="1"/>
          <p:nvPr/>
        </p:nvSpPr>
        <p:spPr>
          <a:xfrm>
            <a:off x="428476" y="1324218"/>
            <a:ext cx="4572000" cy="307777"/>
          </a:xfrm>
          <a:prstGeom prst="rect">
            <a:avLst/>
          </a:prstGeom>
          <a:noFill/>
        </p:spPr>
        <p:txBody>
          <a:bodyPr wrap="square" lIns="91440" tIns="45720" rIns="91440" bIns="45720" anchor="t">
            <a:spAutoFit/>
          </a:bodyPr>
          <a:lstStyle/>
          <a:p>
            <a:r>
              <a:rPr lang="en" i="1"/>
              <a:t>wk2example1.html with </a:t>
            </a:r>
            <a:r>
              <a:rPr lang="en" i="1">
                <a:solidFill>
                  <a:srgbClr val="0070C0"/>
                </a:solidFill>
              </a:rPr>
              <a:t>wk2mystyle1.css </a:t>
            </a:r>
            <a:r>
              <a:rPr lang="en" i="1">
                <a:solidFill>
                  <a:schemeClr val="tx1"/>
                </a:solidFill>
              </a:rPr>
              <a:t>applied</a:t>
            </a:r>
            <a:endParaRPr lang="en-SG">
              <a:solidFill>
                <a:schemeClr val="tx1"/>
              </a:solidFill>
            </a:endParaRPr>
          </a:p>
        </p:txBody>
      </p:sp>
      <p:sp>
        <p:nvSpPr>
          <p:cNvPr id="10" name="TextBox 9">
            <a:extLst>
              <a:ext uri="{FF2B5EF4-FFF2-40B4-BE49-F238E27FC236}">
                <a16:creationId xmlns:a16="http://schemas.microsoft.com/office/drawing/2014/main" id="{BF57F45E-6AC9-156D-E10F-4A77CCE0DCE6}"/>
              </a:ext>
            </a:extLst>
          </p:cNvPr>
          <p:cNvSpPr txBox="1"/>
          <p:nvPr/>
        </p:nvSpPr>
        <p:spPr>
          <a:xfrm>
            <a:off x="428476" y="2870417"/>
            <a:ext cx="4572000" cy="307777"/>
          </a:xfrm>
          <a:prstGeom prst="rect">
            <a:avLst/>
          </a:prstGeom>
          <a:noFill/>
        </p:spPr>
        <p:txBody>
          <a:bodyPr wrap="square">
            <a:spAutoFit/>
          </a:bodyPr>
          <a:lstStyle/>
          <a:p>
            <a:r>
              <a:rPr lang="en" i="1"/>
              <a:t>wk2example1.html with </a:t>
            </a:r>
            <a:r>
              <a:rPr lang="en" i="1">
                <a:solidFill>
                  <a:srgbClr val="0070C0"/>
                </a:solidFill>
              </a:rPr>
              <a:t>wk2mystyle2.css </a:t>
            </a:r>
            <a:r>
              <a:rPr lang="en" i="1">
                <a:solidFill>
                  <a:schemeClr val="tx1"/>
                </a:solidFill>
              </a:rPr>
              <a:t>applied</a:t>
            </a:r>
            <a:endParaRPr lang="en-SG">
              <a:solidFill>
                <a:srgbClr val="0070C0"/>
              </a:solidFill>
            </a:endParaRPr>
          </a:p>
        </p:txBody>
      </p:sp>
      <p:pic>
        <p:nvPicPr>
          <p:cNvPr id="12" name="Picture 11">
            <a:extLst>
              <a:ext uri="{FF2B5EF4-FFF2-40B4-BE49-F238E27FC236}">
                <a16:creationId xmlns:a16="http://schemas.microsoft.com/office/drawing/2014/main" id="{9689DA4B-F0C5-EB7A-6B40-B44E07609196}"/>
              </a:ext>
            </a:extLst>
          </p:cNvPr>
          <p:cNvPicPr>
            <a:picLocks noChangeAspect="1"/>
          </p:cNvPicPr>
          <p:nvPr/>
        </p:nvPicPr>
        <p:blipFill>
          <a:blip r:embed="rId3"/>
          <a:stretch>
            <a:fillRect/>
          </a:stretch>
        </p:blipFill>
        <p:spPr>
          <a:xfrm>
            <a:off x="5582791" y="1741373"/>
            <a:ext cx="1722175" cy="679806"/>
          </a:xfrm>
          <a:prstGeom prst="rect">
            <a:avLst/>
          </a:prstGeom>
        </p:spPr>
      </p:pic>
      <p:sp>
        <p:nvSpPr>
          <p:cNvPr id="14" name="TextBox 13">
            <a:extLst>
              <a:ext uri="{FF2B5EF4-FFF2-40B4-BE49-F238E27FC236}">
                <a16:creationId xmlns:a16="http://schemas.microsoft.com/office/drawing/2014/main" id="{85525C30-665E-0797-AC2C-BBF218BF0476}"/>
              </a:ext>
            </a:extLst>
          </p:cNvPr>
          <p:cNvSpPr txBox="1"/>
          <p:nvPr/>
        </p:nvSpPr>
        <p:spPr>
          <a:xfrm>
            <a:off x="5582791" y="1410492"/>
            <a:ext cx="1722175" cy="307777"/>
          </a:xfrm>
          <a:prstGeom prst="rect">
            <a:avLst/>
          </a:prstGeom>
          <a:noFill/>
        </p:spPr>
        <p:txBody>
          <a:bodyPr wrap="square">
            <a:spAutoFit/>
          </a:bodyPr>
          <a:lstStyle/>
          <a:p>
            <a:r>
              <a:rPr lang="en-SG" i="1">
                <a:solidFill>
                  <a:srgbClr val="0070C0"/>
                </a:solidFill>
              </a:rPr>
              <a:t>w</a:t>
            </a:r>
            <a:r>
              <a:rPr lang="en" i="1">
                <a:solidFill>
                  <a:srgbClr val="0070C0"/>
                </a:solidFill>
              </a:rPr>
              <a:t>k2mystyle1.css</a:t>
            </a:r>
            <a:endParaRPr lang="en-SG"/>
          </a:p>
        </p:txBody>
      </p:sp>
      <p:sp>
        <p:nvSpPr>
          <p:cNvPr id="16" name="TextBox 15">
            <a:extLst>
              <a:ext uri="{FF2B5EF4-FFF2-40B4-BE49-F238E27FC236}">
                <a16:creationId xmlns:a16="http://schemas.microsoft.com/office/drawing/2014/main" id="{9FD0CF2F-0909-6E39-2F69-A15A501F94EF}"/>
              </a:ext>
            </a:extLst>
          </p:cNvPr>
          <p:cNvSpPr txBox="1"/>
          <p:nvPr/>
        </p:nvSpPr>
        <p:spPr>
          <a:xfrm>
            <a:off x="5582791" y="3077525"/>
            <a:ext cx="1722175" cy="307777"/>
          </a:xfrm>
          <a:prstGeom prst="rect">
            <a:avLst/>
          </a:prstGeom>
          <a:noFill/>
        </p:spPr>
        <p:txBody>
          <a:bodyPr wrap="square">
            <a:spAutoFit/>
          </a:bodyPr>
          <a:lstStyle/>
          <a:p>
            <a:r>
              <a:rPr lang="en-SG" i="1">
                <a:solidFill>
                  <a:srgbClr val="0070C0"/>
                </a:solidFill>
              </a:rPr>
              <a:t>w</a:t>
            </a:r>
            <a:r>
              <a:rPr lang="en" i="1">
                <a:solidFill>
                  <a:srgbClr val="0070C0"/>
                </a:solidFill>
              </a:rPr>
              <a:t>k2mystyle2.css</a:t>
            </a:r>
            <a:endParaRPr lang="en-SG"/>
          </a:p>
        </p:txBody>
      </p:sp>
      <p:pic>
        <p:nvPicPr>
          <p:cNvPr id="18" name="Picture 17">
            <a:extLst>
              <a:ext uri="{FF2B5EF4-FFF2-40B4-BE49-F238E27FC236}">
                <a16:creationId xmlns:a16="http://schemas.microsoft.com/office/drawing/2014/main" id="{B3C35AC6-9FAA-C11E-2E0D-F2491FF5099A}"/>
              </a:ext>
            </a:extLst>
          </p:cNvPr>
          <p:cNvPicPr>
            <a:picLocks noChangeAspect="1"/>
          </p:cNvPicPr>
          <p:nvPr/>
        </p:nvPicPr>
        <p:blipFill>
          <a:blip r:embed="rId4"/>
          <a:stretch>
            <a:fillRect/>
          </a:stretch>
        </p:blipFill>
        <p:spPr>
          <a:xfrm>
            <a:off x="5582791" y="3385302"/>
            <a:ext cx="2244665" cy="1178316"/>
          </a:xfrm>
          <a:prstGeom prst="rect">
            <a:avLst/>
          </a:prstGeom>
        </p:spPr>
      </p:pic>
      <p:sp>
        <p:nvSpPr>
          <p:cNvPr id="19" name="Shape 7">
            <a:extLst>
              <a:ext uri="{FF2B5EF4-FFF2-40B4-BE49-F238E27FC236}">
                <a16:creationId xmlns:a16="http://schemas.microsoft.com/office/drawing/2014/main" id="{D75BDD0C-CDBC-B57A-725E-7E4830020844}"/>
              </a:ext>
            </a:extLst>
          </p:cNvPr>
          <p:cNvSpPr/>
          <p:nvPr/>
        </p:nvSpPr>
        <p:spPr>
          <a:xfrm>
            <a:off x="744207" y="1644598"/>
            <a:ext cx="3429000" cy="1116837"/>
          </a:xfrm>
          <a:prstGeom prst="rect">
            <a:avLst/>
          </a:prstGeom>
          <a:solidFill>
            <a:srgbClr val="FFFFFF"/>
          </a:solidFill>
          <a:ln w="19050">
            <a:solidFill>
              <a:srgbClr val="CBD5E1"/>
            </a:solidFill>
            <a:prstDash val="solid"/>
          </a:ln>
        </p:spPr>
        <p:txBody>
          <a:bodyPr/>
          <a:lstStyle/>
          <a:p>
            <a:endParaRPr lang="en-SG"/>
          </a:p>
        </p:txBody>
      </p:sp>
      <p:sp>
        <p:nvSpPr>
          <p:cNvPr id="20" name="Text 9">
            <a:extLst>
              <a:ext uri="{FF2B5EF4-FFF2-40B4-BE49-F238E27FC236}">
                <a16:creationId xmlns:a16="http://schemas.microsoft.com/office/drawing/2014/main" id="{E3FFE5C6-3FA3-E2A6-D08C-866E14E9B8BE}"/>
              </a:ext>
            </a:extLst>
          </p:cNvPr>
          <p:cNvSpPr/>
          <p:nvPr/>
        </p:nvSpPr>
        <p:spPr>
          <a:xfrm>
            <a:off x="835647" y="1662886"/>
            <a:ext cx="3246120" cy="201168"/>
          </a:xfrm>
          <a:prstGeom prst="rect">
            <a:avLst/>
          </a:prstGeom>
          <a:noFill/>
          <a:ln/>
        </p:spPr>
        <p:txBody>
          <a:bodyPr wrap="square" rtlCol="0" anchor="ctr"/>
          <a:lstStyle/>
          <a:p>
            <a:pPr marL="0" indent="0">
              <a:buNone/>
            </a:pPr>
            <a:r>
              <a:rPr lang="en-US" sz="800">
                <a:solidFill>
                  <a:srgbClr val="94A3B8"/>
                </a:solidFill>
                <a:latin typeface="Calibri" pitchFamily="34" charset="0"/>
                <a:ea typeface="Calibri" pitchFamily="34" charset="-122"/>
                <a:cs typeface="Calibri" pitchFamily="34" charset="-120"/>
              </a:rPr>
              <a:t>● ● ●  Browser Preview</a:t>
            </a:r>
            <a:endParaRPr lang="en-US" sz="800"/>
          </a:p>
        </p:txBody>
      </p:sp>
      <p:pic>
        <p:nvPicPr>
          <p:cNvPr id="5" name="Picture 4">
            <a:extLst>
              <a:ext uri="{FF2B5EF4-FFF2-40B4-BE49-F238E27FC236}">
                <a16:creationId xmlns:a16="http://schemas.microsoft.com/office/drawing/2014/main" id="{432CD6FB-F08B-D61E-73AA-B43C4FE66FF1}"/>
              </a:ext>
            </a:extLst>
          </p:cNvPr>
          <p:cNvPicPr>
            <a:picLocks noChangeAspect="1"/>
          </p:cNvPicPr>
          <p:nvPr/>
        </p:nvPicPr>
        <p:blipFill>
          <a:blip r:embed="rId5"/>
          <a:stretch>
            <a:fillRect/>
          </a:stretch>
        </p:blipFill>
        <p:spPr>
          <a:xfrm>
            <a:off x="835647" y="1882342"/>
            <a:ext cx="2515557" cy="879093"/>
          </a:xfrm>
          <a:prstGeom prst="rect">
            <a:avLst/>
          </a:prstGeom>
        </p:spPr>
      </p:pic>
      <p:sp>
        <p:nvSpPr>
          <p:cNvPr id="21" name="Shape 7">
            <a:extLst>
              <a:ext uri="{FF2B5EF4-FFF2-40B4-BE49-F238E27FC236}">
                <a16:creationId xmlns:a16="http://schemas.microsoft.com/office/drawing/2014/main" id="{60E64197-A487-3E82-59F8-518421931EEE}"/>
              </a:ext>
            </a:extLst>
          </p:cNvPr>
          <p:cNvSpPr/>
          <p:nvPr/>
        </p:nvSpPr>
        <p:spPr>
          <a:xfrm>
            <a:off x="744207" y="3385302"/>
            <a:ext cx="3429000" cy="1234440"/>
          </a:xfrm>
          <a:prstGeom prst="rect">
            <a:avLst/>
          </a:prstGeom>
          <a:solidFill>
            <a:srgbClr val="FFFFFF"/>
          </a:solidFill>
          <a:ln w="19050">
            <a:solidFill>
              <a:srgbClr val="CBD5E1"/>
            </a:solidFill>
            <a:prstDash val="solid"/>
          </a:ln>
        </p:spPr>
        <p:txBody>
          <a:bodyPr/>
          <a:lstStyle/>
          <a:p>
            <a:endParaRPr lang="en-SG"/>
          </a:p>
        </p:txBody>
      </p:sp>
      <p:sp>
        <p:nvSpPr>
          <p:cNvPr id="22" name="Text 9">
            <a:extLst>
              <a:ext uri="{FF2B5EF4-FFF2-40B4-BE49-F238E27FC236}">
                <a16:creationId xmlns:a16="http://schemas.microsoft.com/office/drawing/2014/main" id="{ECB187ED-E73E-88E5-8F37-7DE312718B4C}"/>
              </a:ext>
            </a:extLst>
          </p:cNvPr>
          <p:cNvSpPr/>
          <p:nvPr/>
        </p:nvSpPr>
        <p:spPr>
          <a:xfrm>
            <a:off x="835647" y="3403590"/>
            <a:ext cx="3246120" cy="201168"/>
          </a:xfrm>
          <a:prstGeom prst="rect">
            <a:avLst/>
          </a:prstGeom>
          <a:noFill/>
          <a:ln/>
        </p:spPr>
        <p:txBody>
          <a:bodyPr wrap="square" rtlCol="0" anchor="ctr"/>
          <a:lstStyle/>
          <a:p>
            <a:pPr marL="0" indent="0">
              <a:buNone/>
            </a:pPr>
            <a:r>
              <a:rPr lang="en-US" sz="800">
                <a:solidFill>
                  <a:srgbClr val="94A3B8"/>
                </a:solidFill>
                <a:latin typeface="Calibri" pitchFamily="34" charset="0"/>
                <a:ea typeface="Calibri" pitchFamily="34" charset="-122"/>
                <a:cs typeface="Calibri" pitchFamily="34" charset="-120"/>
              </a:rPr>
              <a:t>● ● ●  Browser Preview</a:t>
            </a:r>
            <a:endParaRPr lang="en-US" sz="800"/>
          </a:p>
        </p:txBody>
      </p:sp>
      <p:pic>
        <p:nvPicPr>
          <p:cNvPr id="3" name="Picture 2">
            <a:extLst>
              <a:ext uri="{FF2B5EF4-FFF2-40B4-BE49-F238E27FC236}">
                <a16:creationId xmlns:a16="http://schemas.microsoft.com/office/drawing/2014/main" id="{F6BF5783-C58C-D944-2FDE-DC40A4D263A1}"/>
              </a:ext>
            </a:extLst>
          </p:cNvPr>
          <p:cNvPicPr>
            <a:picLocks noChangeAspect="1"/>
          </p:cNvPicPr>
          <p:nvPr/>
        </p:nvPicPr>
        <p:blipFill>
          <a:blip r:embed="rId6"/>
          <a:stretch>
            <a:fillRect/>
          </a:stretch>
        </p:blipFill>
        <p:spPr>
          <a:xfrm>
            <a:off x="927407" y="3729193"/>
            <a:ext cx="2831031" cy="76611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Using CSS</a:t>
            </a:r>
            <a:endParaRPr/>
          </a:p>
        </p:txBody>
      </p:sp>
      <p:sp>
        <p:nvSpPr>
          <p:cNvPr id="90" name="Google Shape;90;p6"/>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800"/>
              <a:buNone/>
            </a:pPr>
            <a:r>
              <a:rPr lang="en" b="1"/>
              <a:t>Three ways </a:t>
            </a:r>
            <a:endParaRPr b="1"/>
          </a:p>
          <a:p>
            <a:pPr marL="0" marR="0" lvl="0" indent="0" algn="l" rtl="0">
              <a:lnSpc>
                <a:spcPct val="115000"/>
              </a:lnSpc>
              <a:spcBef>
                <a:spcPts val="1600"/>
              </a:spcBef>
              <a:spcAft>
                <a:spcPts val="0"/>
              </a:spcAft>
              <a:buSzPts val="1800"/>
              <a:buNone/>
            </a:pPr>
            <a:r>
              <a:rPr lang="en" i="1">
                <a:solidFill>
                  <a:srgbClr val="0070C0"/>
                </a:solidFill>
              </a:rPr>
              <a:t>Inline style</a:t>
            </a:r>
            <a:r>
              <a:rPr lang="en"/>
              <a:t>: </a:t>
            </a:r>
            <a:r>
              <a:rPr lang="en">
                <a:latin typeface="Arial"/>
                <a:ea typeface="Arial"/>
                <a:cs typeface="Arial"/>
                <a:sym typeface="Arial"/>
              </a:rPr>
              <a:t>CSS code is placed directly into an HTML element within the &lt;body&gt; section of a web page.</a:t>
            </a:r>
            <a:r>
              <a:rPr lang="en"/>
              <a:t> </a:t>
            </a:r>
            <a:endParaRPr/>
          </a:p>
          <a:p>
            <a:pPr marL="0" marR="0" lvl="0" indent="0" algn="l" rtl="0">
              <a:lnSpc>
                <a:spcPct val="115000"/>
              </a:lnSpc>
              <a:spcBef>
                <a:spcPts val="1600"/>
              </a:spcBef>
              <a:spcAft>
                <a:spcPts val="0"/>
              </a:spcAft>
              <a:buSzPts val="1800"/>
              <a:buNone/>
            </a:pPr>
            <a:r>
              <a:rPr lang="en" i="1">
                <a:solidFill>
                  <a:srgbClr val="0070C0"/>
                </a:solidFill>
              </a:rPr>
              <a:t>Internal style sheet</a:t>
            </a:r>
            <a:r>
              <a:rPr lang="en"/>
              <a:t>: </a:t>
            </a:r>
            <a:r>
              <a:rPr lang="en">
                <a:latin typeface="Arial"/>
                <a:ea typeface="Arial"/>
                <a:cs typeface="Arial"/>
                <a:sym typeface="Arial"/>
              </a:rPr>
              <a:t>CSS code is placed into a separate, dedicated area within the &lt;head&gt; section of a Web page.</a:t>
            </a:r>
            <a:endParaRPr/>
          </a:p>
          <a:p>
            <a:pPr marL="0" marR="0" lvl="0" indent="0" algn="l" rtl="0">
              <a:lnSpc>
                <a:spcPct val="115000"/>
              </a:lnSpc>
              <a:spcBef>
                <a:spcPts val="1600"/>
              </a:spcBef>
              <a:spcAft>
                <a:spcPts val="0"/>
              </a:spcAft>
              <a:buSzPts val="1800"/>
              <a:buNone/>
            </a:pPr>
            <a:r>
              <a:rPr lang="en" i="1">
                <a:solidFill>
                  <a:srgbClr val="0070C0"/>
                </a:solidFill>
              </a:rPr>
              <a:t>External style sheet</a:t>
            </a:r>
            <a:r>
              <a:rPr lang="en"/>
              <a:t>: </a:t>
            </a:r>
            <a:r>
              <a:rPr lang="en">
                <a:latin typeface="Arial"/>
                <a:ea typeface="Arial"/>
                <a:cs typeface="Arial"/>
                <a:sym typeface="Arial"/>
              </a:rPr>
              <a:t>CSS code is placed into a separate file and then linked to a web page.</a:t>
            </a:r>
            <a:endParaRPr>
              <a:latin typeface="Arial"/>
              <a:ea typeface="Arial"/>
              <a:cs typeface="Arial"/>
              <a:sym typeface="Arial"/>
            </a:endParaRPr>
          </a:p>
          <a:p>
            <a:pPr marL="0" marR="0" lvl="0" indent="0" algn="l" rtl="0">
              <a:lnSpc>
                <a:spcPct val="115000"/>
              </a:lnSpc>
              <a:spcBef>
                <a:spcPts val="1600"/>
              </a:spcBef>
              <a:spcAft>
                <a:spcPts val="1600"/>
              </a:spcAft>
              <a:buSzPts val="1800"/>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CSS: Inline Style</a:t>
            </a:r>
            <a:endParaRPr/>
          </a:p>
        </p:txBody>
      </p:sp>
      <p:sp>
        <p:nvSpPr>
          <p:cNvPr id="2" name="Shape 5">
            <a:extLst>
              <a:ext uri="{FF2B5EF4-FFF2-40B4-BE49-F238E27FC236}">
                <a16:creationId xmlns:a16="http://schemas.microsoft.com/office/drawing/2014/main" id="{79395A89-CB96-9D21-7FE0-B43B980C6B1B}"/>
              </a:ext>
            </a:extLst>
          </p:cNvPr>
          <p:cNvSpPr/>
          <p:nvPr/>
        </p:nvSpPr>
        <p:spPr>
          <a:xfrm>
            <a:off x="320040" y="1414889"/>
            <a:ext cx="4711554" cy="959466"/>
          </a:xfrm>
          <a:prstGeom prst="rect">
            <a:avLst/>
          </a:prstGeom>
          <a:solidFill>
            <a:srgbClr val="1E293B"/>
          </a:solidFill>
          <a:ln w="12700">
            <a:solidFill>
              <a:srgbClr val="334155"/>
            </a:solidFill>
            <a:prstDash val="solid"/>
          </a:ln>
        </p:spPr>
        <p:txBody>
          <a:bodyPr/>
          <a:lstStyle/>
          <a:p>
            <a:endParaRPr lang="en-SG"/>
          </a:p>
        </p:txBody>
      </p:sp>
      <p:sp>
        <p:nvSpPr>
          <p:cNvPr id="3" name="Text 6">
            <a:extLst>
              <a:ext uri="{FF2B5EF4-FFF2-40B4-BE49-F238E27FC236}">
                <a16:creationId xmlns:a16="http://schemas.microsoft.com/office/drawing/2014/main" id="{4A5656E4-492B-82C0-11A3-3C202A99C0BE}"/>
              </a:ext>
            </a:extLst>
          </p:cNvPr>
          <p:cNvSpPr/>
          <p:nvPr/>
        </p:nvSpPr>
        <p:spPr>
          <a:xfrm>
            <a:off x="426704" y="1520344"/>
            <a:ext cx="4791456" cy="1088136"/>
          </a:xfrm>
          <a:prstGeom prst="rect">
            <a:avLst/>
          </a:prstGeom>
          <a:noFill/>
          <a:ln/>
        </p:spPr>
        <p:txBody>
          <a:bodyPr wrap="square" rtlCol="0" anchor="t"/>
          <a:lstStyle/>
          <a:p>
            <a:pPr marL="0" indent="0">
              <a:buNone/>
            </a:pPr>
            <a:r>
              <a:rPr lang="en-US" sz="1000">
                <a:solidFill>
                  <a:srgbClr val="E2E8F0"/>
                </a:solidFill>
                <a:latin typeface="Courier New" pitchFamily="34" charset="0"/>
                <a:ea typeface="Courier New" pitchFamily="34" charset="-122"/>
                <a:cs typeface="Courier New" pitchFamily="34" charset="-120"/>
              </a:rPr>
              <a:t>&lt;body&gt;</a:t>
            </a:r>
            <a:endParaRPr lang="en-US" sz="1000"/>
          </a:p>
          <a:p>
            <a:pPr marL="0" indent="0">
              <a:buNone/>
            </a:pPr>
            <a:r>
              <a:rPr lang="en-US" sz="1000">
                <a:solidFill>
                  <a:srgbClr val="FDE68A"/>
                </a:solidFill>
                <a:latin typeface="Courier New" pitchFamily="34" charset="0"/>
                <a:ea typeface="Courier New" pitchFamily="34" charset="-122"/>
                <a:cs typeface="Courier New" pitchFamily="34" charset="-120"/>
              </a:rPr>
              <a:t>  &lt;h2 style="color:red;"&gt;CAUTION: Icy Road Conditions&lt;/h2&gt;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&lt;h2&gt;Please Slow Down!&lt;/h2&gt;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&lt;/body&gt;</a:t>
            </a:r>
            <a:endParaRPr lang="en-US" sz="1000"/>
          </a:p>
        </p:txBody>
      </p:sp>
      <p:sp>
        <p:nvSpPr>
          <p:cNvPr id="4" name="Shape 7">
            <a:extLst>
              <a:ext uri="{FF2B5EF4-FFF2-40B4-BE49-F238E27FC236}">
                <a16:creationId xmlns:a16="http://schemas.microsoft.com/office/drawing/2014/main" id="{B48D832E-AB49-258B-0E55-4D6C61F40D35}"/>
              </a:ext>
            </a:extLst>
          </p:cNvPr>
          <p:cNvSpPr/>
          <p:nvPr/>
        </p:nvSpPr>
        <p:spPr>
          <a:xfrm>
            <a:off x="5440680" y="1143000"/>
            <a:ext cx="3429000" cy="1234440"/>
          </a:xfrm>
          <a:prstGeom prst="rect">
            <a:avLst/>
          </a:prstGeom>
          <a:solidFill>
            <a:srgbClr val="FFFFFF"/>
          </a:solidFill>
          <a:ln w="19050">
            <a:solidFill>
              <a:srgbClr val="CBD5E1"/>
            </a:solidFill>
            <a:prstDash val="solid"/>
          </a:ln>
        </p:spPr>
        <p:txBody>
          <a:bodyPr/>
          <a:lstStyle/>
          <a:p>
            <a:endParaRPr lang="en-SG"/>
          </a:p>
        </p:txBody>
      </p:sp>
      <p:sp>
        <p:nvSpPr>
          <p:cNvPr id="5" name="Shape 8">
            <a:extLst>
              <a:ext uri="{FF2B5EF4-FFF2-40B4-BE49-F238E27FC236}">
                <a16:creationId xmlns:a16="http://schemas.microsoft.com/office/drawing/2014/main" id="{4474E420-B705-71F2-6B44-93F1BCE04355}"/>
              </a:ext>
            </a:extLst>
          </p:cNvPr>
          <p:cNvSpPr/>
          <p:nvPr/>
        </p:nvSpPr>
        <p:spPr>
          <a:xfrm>
            <a:off x="5440680" y="1143000"/>
            <a:ext cx="3429000" cy="256032"/>
          </a:xfrm>
          <a:prstGeom prst="rect">
            <a:avLst/>
          </a:prstGeom>
          <a:solidFill>
            <a:srgbClr val="E2E8F0"/>
          </a:solidFill>
          <a:ln/>
        </p:spPr>
        <p:txBody>
          <a:bodyPr/>
          <a:lstStyle/>
          <a:p>
            <a:endParaRPr lang="en-SG"/>
          </a:p>
        </p:txBody>
      </p:sp>
      <p:sp>
        <p:nvSpPr>
          <p:cNvPr id="6" name="Text 9">
            <a:extLst>
              <a:ext uri="{FF2B5EF4-FFF2-40B4-BE49-F238E27FC236}">
                <a16:creationId xmlns:a16="http://schemas.microsoft.com/office/drawing/2014/main" id="{8F68D845-505E-FE45-BE83-106FE9346CA8}"/>
              </a:ext>
            </a:extLst>
          </p:cNvPr>
          <p:cNvSpPr/>
          <p:nvPr/>
        </p:nvSpPr>
        <p:spPr>
          <a:xfrm>
            <a:off x="5532120" y="1161288"/>
            <a:ext cx="3246120" cy="201168"/>
          </a:xfrm>
          <a:prstGeom prst="rect">
            <a:avLst/>
          </a:prstGeom>
          <a:noFill/>
          <a:ln/>
        </p:spPr>
        <p:txBody>
          <a:bodyPr wrap="square" rtlCol="0" anchor="ctr"/>
          <a:lstStyle/>
          <a:p>
            <a:pPr marL="0" indent="0">
              <a:buNone/>
            </a:pPr>
            <a:r>
              <a:rPr lang="en-US" sz="800">
                <a:solidFill>
                  <a:srgbClr val="94A3B8"/>
                </a:solidFill>
                <a:latin typeface="Calibri" pitchFamily="34" charset="0"/>
                <a:ea typeface="Calibri" pitchFamily="34" charset="-122"/>
                <a:cs typeface="Calibri" pitchFamily="34" charset="-120"/>
              </a:rPr>
              <a:t>● ● ●  Browser Preview</a:t>
            </a:r>
            <a:endParaRPr lang="en-US" sz="800"/>
          </a:p>
        </p:txBody>
      </p:sp>
      <p:sp>
        <p:nvSpPr>
          <p:cNvPr id="7" name="Text 10">
            <a:extLst>
              <a:ext uri="{FF2B5EF4-FFF2-40B4-BE49-F238E27FC236}">
                <a16:creationId xmlns:a16="http://schemas.microsoft.com/office/drawing/2014/main" id="{FF290B33-F842-6E2B-D6D4-964E59ACAC1A}"/>
              </a:ext>
            </a:extLst>
          </p:cNvPr>
          <p:cNvSpPr/>
          <p:nvPr/>
        </p:nvSpPr>
        <p:spPr>
          <a:xfrm>
            <a:off x="5532120" y="1463040"/>
            <a:ext cx="3246120" cy="320040"/>
          </a:xfrm>
          <a:prstGeom prst="rect">
            <a:avLst/>
          </a:prstGeom>
          <a:noFill/>
          <a:ln/>
        </p:spPr>
        <p:txBody>
          <a:bodyPr wrap="square" rtlCol="0" anchor="ctr"/>
          <a:lstStyle/>
          <a:p>
            <a:pPr marL="0" indent="0">
              <a:buNone/>
            </a:pPr>
            <a:r>
              <a:rPr lang="en-US" sz="1400" b="1">
                <a:solidFill>
                  <a:srgbClr val="CC0000"/>
                </a:solidFill>
                <a:latin typeface="Calibri" pitchFamily="34" charset="0"/>
                <a:ea typeface="Calibri" pitchFamily="34" charset="-122"/>
                <a:cs typeface="Calibri" pitchFamily="34" charset="-120"/>
              </a:rPr>
              <a:t>CAUTION: Icy Road Conditions</a:t>
            </a:r>
            <a:endParaRPr lang="en-US" sz="1400"/>
          </a:p>
        </p:txBody>
      </p:sp>
      <p:sp>
        <p:nvSpPr>
          <p:cNvPr id="8" name="Text 11">
            <a:extLst>
              <a:ext uri="{FF2B5EF4-FFF2-40B4-BE49-F238E27FC236}">
                <a16:creationId xmlns:a16="http://schemas.microsoft.com/office/drawing/2014/main" id="{B1C3CEA0-2DBA-20CA-C37B-6E2D18054E7C}"/>
              </a:ext>
            </a:extLst>
          </p:cNvPr>
          <p:cNvSpPr/>
          <p:nvPr/>
        </p:nvSpPr>
        <p:spPr>
          <a:xfrm>
            <a:off x="5532120" y="1792224"/>
            <a:ext cx="3246120" cy="320040"/>
          </a:xfrm>
          <a:prstGeom prst="rect">
            <a:avLst/>
          </a:prstGeom>
          <a:noFill/>
          <a:ln/>
        </p:spPr>
        <p:txBody>
          <a:bodyPr wrap="square" rtlCol="0" anchor="ctr"/>
          <a:lstStyle/>
          <a:p>
            <a:pPr marL="0" indent="0">
              <a:buNone/>
            </a:pPr>
            <a:r>
              <a:rPr lang="en-US" sz="1400">
                <a:solidFill>
                  <a:srgbClr val="0F172A"/>
                </a:solidFill>
                <a:latin typeface="Calibri" pitchFamily="34" charset="0"/>
                <a:ea typeface="Calibri" pitchFamily="34" charset="-122"/>
                <a:cs typeface="Calibri" pitchFamily="34" charset="-120"/>
              </a:rPr>
              <a:t>Please Slow Down!</a:t>
            </a:r>
            <a:endParaRPr lang="en-US" sz="1400"/>
          </a:p>
        </p:txBody>
      </p:sp>
      <p:grpSp>
        <p:nvGrpSpPr>
          <p:cNvPr id="19" name="Group 18">
            <a:extLst>
              <a:ext uri="{FF2B5EF4-FFF2-40B4-BE49-F238E27FC236}">
                <a16:creationId xmlns:a16="http://schemas.microsoft.com/office/drawing/2014/main" id="{C2D10FA9-0698-4242-5280-9EDD9FDBF63E}"/>
              </a:ext>
            </a:extLst>
          </p:cNvPr>
          <p:cNvGrpSpPr/>
          <p:nvPr/>
        </p:nvGrpSpPr>
        <p:grpSpPr>
          <a:xfrm>
            <a:off x="5440680" y="3531762"/>
            <a:ext cx="3429000" cy="711652"/>
            <a:chOff x="4203499" y="3260647"/>
            <a:chExt cx="4297680" cy="1005840"/>
          </a:xfrm>
        </p:grpSpPr>
        <p:sp>
          <p:nvSpPr>
            <p:cNvPr id="14" name="Shape 16">
              <a:extLst>
                <a:ext uri="{FF2B5EF4-FFF2-40B4-BE49-F238E27FC236}">
                  <a16:creationId xmlns:a16="http://schemas.microsoft.com/office/drawing/2014/main" id="{2CF0C5AF-7C85-2E99-9F30-E330F237F9BF}"/>
                </a:ext>
              </a:extLst>
            </p:cNvPr>
            <p:cNvSpPr/>
            <p:nvPr/>
          </p:nvSpPr>
          <p:spPr>
            <a:xfrm>
              <a:off x="4203499" y="3260647"/>
              <a:ext cx="4297680" cy="1005840"/>
            </a:xfrm>
            <a:prstGeom prst="rect">
              <a:avLst/>
            </a:prstGeom>
            <a:solidFill>
              <a:srgbClr val="FEF2F2"/>
            </a:solidFill>
            <a:ln w="12700">
              <a:solidFill>
                <a:srgbClr val="EF4444"/>
              </a:solidFill>
              <a:prstDash val="solid"/>
            </a:ln>
          </p:spPr>
          <p:txBody>
            <a:bodyPr/>
            <a:lstStyle/>
            <a:p>
              <a:endParaRPr lang="en-SG"/>
            </a:p>
          </p:txBody>
        </p:sp>
        <p:sp>
          <p:nvSpPr>
            <p:cNvPr id="15" name="Text 17">
              <a:extLst>
                <a:ext uri="{FF2B5EF4-FFF2-40B4-BE49-F238E27FC236}">
                  <a16:creationId xmlns:a16="http://schemas.microsoft.com/office/drawing/2014/main" id="{9D92F0AA-C2B2-9B4C-52F4-1F759D8F1011}"/>
                </a:ext>
              </a:extLst>
            </p:cNvPr>
            <p:cNvSpPr/>
            <p:nvPr/>
          </p:nvSpPr>
          <p:spPr>
            <a:xfrm>
              <a:off x="4301574" y="3345576"/>
              <a:ext cx="4023361" cy="256032"/>
            </a:xfrm>
            <a:prstGeom prst="rect">
              <a:avLst/>
            </a:prstGeom>
            <a:noFill/>
            <a:ln/>
          </p:spPr>
          <p:txBody>
            <a:bodyPr wrap="square" rtlCol="0" anchor="ctr"/>
            <a:lstStyle/>
            <a:p>
              <a:pPr marL="0" indent="0">
                <a:buNone/>
              </a:pPr>
              <a:r>
                <a:rPr lang="en-US" sz="1100" b="1">
                  <a:solidFill>
                    <a:srgbClr val="DC2626"/>
                  </a:solidFill>
                  <a:latin typeface="Calibri" pitchFamily="34" charset="0"/>
                  <a:ea typeface="Calibri" pitchFamily="34" charset="-122"/>
                  <a:cs typeface="Calibri" pitchFamily="34" charset="-120"/>
                </a:rPr>
                <a:t>✗  Cons</a:t>
              </a:r>
              <a:endParaRPr lang="en-US" sz="1100"/>
            </a:p>
          </p:txBody>
        </p:sp>
        <p:sp>
          <p:nvSpPr>
            <p:cNvPr id="16" name="Text 18">
              <a:extLst>
                <a:ext uri="{FF2B5EF4-FFF2-40B4-BE49-F238E27FC236}">
                  <a16:creationId xmlns:a16="http://schemas.microsoft.com/office/drawing/2014/main" id="{B6D84643-34EA-BB45-B096-25DB8AEC5140}"/>
                </a:ext>
              </a:extLst>
            </p:cNvPr>
            <p:cNvSpPr/>
            <p:nvPr/>
          </p:nvSpPr>
          <p:spPr>
            <a:xfrm>
              <a:off x="4301574" y="3601609"/>
              <a:ext cx="4023361" cy="640081"/>
            </a:xfrm>
            <a:prstGeom prst="rect">
              <a:avLst/>
            </a:prstGeom>
            <a:noFill/>
            <a:ln/>
          </p:spPr>
          <p:txBody>
            <a:bodyPr wrap="square" rtlCol="0" anchor="ctr"/>
            <a:lstStyle/>
            <a:p>
              <a:pPr marL="0" indent="0">
                <a:buNone/>
              </a:pPr>
              <a:r>
                <a:rPr lang="en-US" sz="1000">
                  <a:solidFill>
                    <a:srgbClr val="0F172A"/>
                  </a:solidFill>
                  <a:latin typeface="Calibri" pitchFamily="34" charset="0"/>
                  <a:ea typeface="Calibri" pitchFamily="34" charset="-122"/>
                  <a:cs typeface="Calibri" pitchFamily="34" charset="-120"/>
                </a:rPr>
                <a:t>Only affects one tag — hard to maintain</a:t>
              </a:r>
              <a:endParaRPr lang="en-US" sz="1000"/>
            </a:p>
            <a:p>
              <a:pPr marL="0" indent="0">
                <a:buNone/>
              </a:pPr>
              <a:r>
                <a:rPr lang="en-US" sz="1000">
                  <a:solidFill>
                    <a:srgbClr val="0F172A"/>
                  </a:solidFill>
                  <a:latin typeface="Calibri" pitchFamily="34" charset="0"/>
                  <a:ea typeface="Calibri" pitchFamily="34" charset="-122"/>
                  <a:cs typeface="Calibri" pitchFamily="34" charset="-120"/>
                </a:rPr>
                <a:t>Mixes content and presentation</a:t>
              </a:r>
              <a:endParaRPr lang="en-US" sz="1000"/>
            </a:p>
          </p:txBody>
        </p:sp>
      </p:grpSp>
      <p:sp>
        <p:nvSpPr>
          <p:cNvPr id="17" name="Shape 19">
            <a:extLst>
              <a:ext uri="{FF2B5EF4-FFF2-40B4-BE49-F238E27FC236}">
                <a16:creationId xmlns:a16="http://schemas.microsoft.com/office/drawing/2014/main" id="{057DCCDD-1F80-037F-5D1F-2FE6CBD9D46D}"/>
              </a:ext>
            </a:extLst>
          </p:cNvPr>
          <p:cNvSpPr/>
          <p:nvPr/>
        </p:nvSpPr>
        <p:spPr>
          <a:xfrm>
            <a:off x="320040" y="4393692"/>
            <a:ext cx="8549640" cy="502920"/>
          </a:xfrm>
          <a:prstGeom prst="rect">
            <a:avLst/>
          </a:prstGeom>
          <a:solidFill>
            <a:srgbClr val="DBEAFE"/>
          </a:solidFill>
          <a:ln w="12700">
            <a:solidFill>
              <a:srgbClr val="2563EB"/>
            </a:solidFill>
            <a:prstDash val="solid"/>
          </a:ln>
        </p:spPr>
        <p:txBody>
          <a:bodyPr/>
          <a:lstStyle/>
          <a:p>
            <a:endParaRPr lang="en-SG"/>
          </a:p>
        </p:txBody>
      </p:sp>
      <p:sp>
        <p:nvSpPr>
          <p:cNvPr id="18" name="Text 20">
            <a:extLst>
              <a:ext uri="{FF2B5EF4-FFF2-40B4-BE49-F238E27FC236}">
                <a16:creationId xmlns:a16="http://schemas.microsoft.com/office/drawing/2014/main" id="{F8A834BF-0404-9C03-379C-C9FB6A9566E2}"/>
              </a:ext>
            </a:extLst>
          </p:cNvPr>
          <p:cNvSpPr/>
          <p:nvPr/>
        </p:nvSpPr>
        <p:spPr>
          <a:xfrm>
            <a:off x="480060" y="4462272"/>
            <a:ext cx="8321040" cy="365760"/>
          </a:xfrm>
          <a:prstGeom prst="rect">
            <a:avLst/>
          </a:prstGeom>
          <a:noFill/>
          <a:ln/>
        </p:spPr>
        <p:txBody>
          <a:bodyPr wrap="square" rtlCol="0" anchor="ctr"/>
          <a:lstStyle/>
          <a:p>
            <a:pPr marL="0" indent="0">
              <a:buNone/>
            </a:pPr>
            <a:r>
              <a:rPr lang="en-US" sz="1100">
                <a:solidFill>
                  <a:srgbClr val="2563EB"/>
                </a:solidFill>
                <a:latin typeface="Calibri" pitchFamily="34" charset="0"/>
                <a:ea typeface="Calibri" pitchFamily="34" charset="-122"/>
                <a:cs typeface="Calibri" pitchFamily="34" charset="-120"/>
              </a:rPr>
              <a:t>💡  Use sparingly — inline style overrides everything else (highest priority).</a:t>
            </a:r>
            <a:endParaRPr lang="en-US" sz="1100"/>
          </a:p>
        </p:txBody>
      </p:sp>
      <p:grpSp>
        <p:nvGrpSpPr>
          <p:cNvPr id="23" name="Group 22">
            <a:extLst>
              <a:ext uri="{FF2B5EF4-FFF2-40B4-BE49-F238E27FC236}">
                <a16:creationId xmlns:a16="http://schemas.microsoft.com/office/drawing/2014/main" id="{9AFD53CA-8196-A993-84DF-84291D61B372}"/>
              </a:ext>
            </a:extLst>
          </p:cNvPr>
          <p:cNvGrpSpPr/>
          <p:nvPr/>
        </p:nvGrpSpPr>
        <p:grpSpPr>
          <a:xfrm>
            <a:off x="5440680" y="2673485"/>
            <a:ext cx="3429000" cy="711652"/>
            <a:chOff x="320040" y="2788920"/>
            <a:chExt cx="4114800" cy="1005840"/>
          </a:xfrm>
        </p:grpSpPr>
        <p:sp>
          <p:nvSpPr>
            <p:cNvPr id="20" name="Shape 13">
              <a:extLst>
                <a:ext uri="{FF2B5EF4-FFF2-40B4-BE49-F238E27FC236}">
                  <a16:creationId xmlns:a16="http://schemas.microsoft.com/office/drawing/2014/main" id="{F5F93163-C201-3CEF-7F46-1F61EE0C49B4}"/>
                </a:ext>
              </a:extLst>
            </p:cNvPr>
            <p:cNvSpPr/>
            <p:nvPr/>
          </p:nvSpPr>
          <p:spPr>
            <a:xfrm>
              <a:off x="320040" y="2788920"/>
              <a:ext cx="4114800" cy="1005840"/>
            </a:xfrm>
            <a:prstGeom prst="rect">
              <a:avLst/>
            </a:prstGeom>
            <a:solidFill>
              <a:srgbClr val="DCFCE7"/>
            </a:solidFill>
            <a:ln w="12700">
              <a:solidFill>
                <a:srgbClr val="16A34A"/>
              </a:solidFill>
              <a:prstDash val="solid"/>
            </a:ln>
          </p:spPr>
          <p:txBody>
            <a:bodyPr/>
            <a:lstStyle/>
            <a:p>
              <a:endParaRPr lang="en-SG"/>
            </a:p>
          </p:txBody>
        </p:sp>
        <p:sp>
          <p:nvSpPr>
            <p:cNvPr id="21" name="Text 14">
              <a:extLst>
                <a:ext uri="{FF2B5EF4-FFF2-40B4-BE49-F238E27FC236}">
                  <a16:creationId xmlns:a16="http://schemas.microsoft.com/office/drawing/2014/main" id="{54F1EAC0-141E-BC8A-E5BC-C2A3A7A16E8F}"/>
                </a:ext>
              </a:extLst>
            </p:cNvPr>
            <p:cNvSpPr/>
            <p:nvPr/>
          </p:nvSpPr>
          <p:spPr>
            <a:xfrm>
              <a:off x="457200" y="2834640"/>
              <a:ext cx="3840480" cy="256032"/>
            </a:xfrm>
            <a:prstGeom prst="rect">
              <a:avLst/>
            </a:prstGeom>
            <a:noFill/>
            <a:ln/>
          </p:spPr>
          <p:txBody>
            <a:bodyPr wrap="square" rtlCol="0" anchor="ctr"/>
            <a:lstStyle/>
            <a:p>
              <a:pPr marL="0" indent="0">
                <a:buNone/>
              </a:pPr>
              <a:r>
                <a:rPr lang="en-US" sz="1100" b="1">
                  <a:solidFill>
                    <a:srgbClr val="16A34A"/>
                  </a:solidFill>
                  <a:latin typeface="Calibri" pitchFamily="34" charset="0"/>
                  <a:ea typeface="Calibri" pitchFamily="34" charset="-122"/>
                  <a:cs typeface="Calibri" pitchFamily="34" charset="-120"/>
                </a:rPr>
                <a:t>✔  Pros</a:t>
              </a:r>
              <a:endParaRPr lang="en-US" sz="1100"/>
            </a:p>
          </p:txBody>
        </p:sp>
        <p:sp>
          <p:nvSpPr>
            <p:cNvPr id="22" name="Text 15">
              <a:extLst>
                <a:ext uri="{FF2B5EF4-FFF2-40B4-BE49-F238E27FC236}">
                  <a16:creationId xmlns:a16="http://schemas.microsoft.com/office/drawing/2014/main" id="{CC64BD0A-A6BB-64C7-1C4E-D59D5CE7D798}"/>
                </a:ext>
              </a:extLst>
            </p:cNvPr>
            <p:cNvSpPr/>
            <p:nvPr/>
          </p:nvSpPr>
          <p:spPr>
            <a:xfrm>
              <a:off x="457200" y="3090672"/>
              <a:ext cx="3840480" cy="640080"/>
            </a:xfrm>
            <a:prstGeom prst="rect">
              <a:avLst/>
            </a:prstGeom>
            <a:noFill/>
            <a:ln/>
          </p:spPr>
          <p:txBody>
            <a:bodyPr wrap="square" rtlCol="0" anchor="ctr"/>
            <a:lstStyle/>
            <a:p>
              <a:pPr marL="0" indent="0">
                <a:buNone/>
              </a:pPr>
              <a:r>
                <a:rPr lang="en-US" sz="1000">
                  <a:solidFill>
                    <a:srgbClr val="0F172A"/>
                  </a:solidFill>
                  <a:latin typeface="Calibri" pitchFamily="34" charset="0"/>
                  <a:ea typeface="Calibri" pitchFamily="34" charset="-122"/>
                  <a:cs typeface="Calibri" pitchFamily="34" charset="-120"/>
                </a:rPr>
                <a:t>Quick for one-off overrides</a:t>
              </a:r>
              <a:endParaRPr lang="en-US" sz="1000"/>
            </a:p>
            <a:p>
              <a:pPr marL="0" indent="0">
                <a:buNone/>
              </a:pPr>
              <a:r>
                <a:rPr lang="en-US" sz="1000">
                  <a:solidFill>
                    <a:srgbClr val="0F172A"/>
                  </a:solidFill>
                  <a:latin typeface="Calibri" pitchFamily="34" charset="0"/>
                  <a:ea typeface="Calibri" pitchFamily="34" charset="-122"/>
                  <a:cs typeface="Calibri" pitchFamily="34" charset="-120"/>
                </a:rPr>
                <a:t>No extra files needed</a:t>
              </a:r>
              <a:endParaRPr lang="en-US" sz="1000"/>
            </a:p>
          </p:txBody>
        </p:sp>
      </p:grpSp>
      <p:sp>
        <p:nvSpPr>
          <p:cNvPr id="27" name="TextBox 26">
            <a:extLst>
              <a:ext uri="{FF2B5EF4-FFF2-40B4-BE49-F238E27FC236}">
                <a16:creationId xmlns:a16="http://schemas.microsoft.com/office/drawing/2014/main" id="{A106B0D1-B3C6-5D4B-33F6-23AE8F49894F}"/>
              </a:ext>
            </a:extLst>
          </p:cNvPr>
          <p:cNvSpPr txBox="1"/>
          <p:nvPr/>
        </p:nvSpPr>
        <p:spPr>
          <a:xfrm>
            <a:off x="320040" y="2683619"/>
            <a:ext cx="4711554" cy="1472647"/>
          </a:xfrm>
          <a:prstGeom prst="rect">
            <a:avLst/>
          </a:prstGeom>
          <a:noFill/>
        </p:spPr>
        <p:txBody>
          <a:bodyPr wrap="square">
            <a:spAutoFit/>
          </a:bodyPr>
          <a:lstStyle/>
          <a:p>
            <a:pPr marL="0" marR="0" lvl="0" indent="0" algn="l" rtl="0">
              <a:lnSpc>
                <a:spcPct val="115000"/>
              </a:lnSpc>
              <a:spcBef>
                <a:spcPts val="1600"/>
              </a:spcBef>
              <a:spcAft>
                <a:spcPts val="0"/>
              </a:spcAft>
              <a:buSzPts val="1400"/>
              <a:buNone/>
            </a:pPr>
            <a:r>
              <a:rPr lang="en">
                <a:latin typeface="Arial"/>
                <a:ea typeface="Arial"/>
                <a:cs typeface="Arial"/>
                <a:sym typeface="Arial"/>
              </a:rPr>
              <a:t>CSS code is </a:t>
            </a:r>
          </a:p>
          <a:p>
            <a:pPr marL="0" marR="0" lvl="0" indent="0" algn="l" rtl="0">
              <a:lnSpc>
                <a:spcPct val="115000"/>
              </a:lnSpc>
              <a:spcBef>
                <a:spcPts val="1600"/>
              </a:spcBef>
              <a:spcAft>
                <a:spcPts val="0"/>
              </a:spcAft>
              <a:buSzPts val="1400"/>
              <a:buNone/>
            </a:pPr>
            <a:r>
              <a:rPr lang="en">
                <a:solidFill>
                  <a:srgbClr val="0070C0"/>
                </a:solidFill>
              </a:rPr>
              <a:t>- </a:t>
            </a:r>
            <a:r>
              <a:rPr lang="en">
                <a:solidFill>
                  <a:srgbClr val="0070C0"/>
                </a:solidFill>
                <a:latin typeface="Arial"/>
                <a:ea typeface="Arial"/>
                <a:cs typeface="Arial"/>
                <a:sym typeface="Arial"/>
              </a:rPr>
              <a:t>placed directly into an HTML element</a:t>
            </a:r>
            <a:endParaRPr lang="en-US"/>
          </a:p>
          <a:p>
            <a:pPr marL="0" lvl="0" indent="0" algn="l" rtl="0">
              <a:lnSpc>
                <a:spcPct val="115000"/>
              </a:lnSpc>
              <a:spcBef>
                <a:spcPts val="1600"/>
              </a:spcBef>
              <a:spcAft>
                <a:spcPts val="0"/>
              </a:spcAft>
              <a:buClr>
                <a:schemeClr val="dk1"/>
              </a:buClr>
              <a:buSzPts val="1100"/>
              <a:buFont typeface="Arial"/>
              <a:buNone/>
            </a:pPr>
            <a:r>
              <a:rPr lang="en-US">
                <a:latin typeface="Arial"/>
                <a:ea typeface="Arial"/>
                <a:cs typeface="Arial"/>
                <a:sym typeface="Arial"/>
              </a:rPr>
              <a:t>- </a:t>
            </a:r>
            <a:r>
              <a:rPr lang="en-US">
                <a:solidFill>
                  <a:srgbClr val="0070C0"/>
                </a:solidFill>
                <a:latin typeface="Arial"/>
                <a:ea typeface="Arial"/>
                <a:cs typeface="Arial"/>
                <a:sym typeface="Arial"/>
              </a:rPr>
              <a:t>add the style attribute to an HTML element </a:t>
            </a:r>
            <a:r>
              <a:rPr lang="en-US">
                <a:latin typeface="Arial"/>
                <a:ea typeface="Arial"/>
                <a:cs typeface="Arial"/>
                <a:sym typeface="Arial"/>
              </a:rPr>
              <a:t>with the CSS declaration as the attribute value</a:t>
            </a:r>
            <a:endParaRPr lang="en-SG"/>
          </a:p>
        </p:txBody>
      </p:sp>
      <p:sp>
        <p:nvSpPr>
          <p:cNvPr id="28" name="TextBox 27">
            <a:extLst>
              <a:ext uri="{FF2B5EF4-FFF2-40B4-BE49-F238E27FC236}">
                <a16:creationId xmlns:a16="http://schemas.microsoft.com/office/drawing/2014/main" id="{714C2FCE-7B23-725C-9FAC-76F4B7AEBB0C}"/>
              </a:ext>
            </a:extLst>
          </p:cNvPr>
          <p:cNvSpPr txBox="1"/>
          <p:nvPr/>
        </p:nvSpPr>
        <p:spPr>
          <a:xfrm>
            <a:off x="320040" y="1058023"/>
            <a:ext cx="4937760" cy="307777"/>
          </a:xfrm>
          <a:prstGeom prst="rect">
            <a:avLst/>
          </a:prstGeom>
          <a:noFill/>
        </p:spPr>
        <p:txBody>
          <a:bodyPr wrap="square" rtlCol="0">
            <a:spAutoFit/>
          </a:bodyPr>
          <a:lstStyle/>
          <a:p>
            <a:r>
              <a:rPr lang="en-US" i="1">
                <a:solidFill>
                  <a:schemeClr val="tx1"/>
                </a:solidFill>
              </a:rPr>
              <a:t>wk2example2.html</a:t>
            </a:r>
            <a:endParaRPr lang="en-SG" i="1">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CSS: Internal Style Sheet</a:t>
            </a:r>
            <a:endParaRPr/>
          </a:p>
        </p:txBody>
      </p:sp>
      <p:sp>
        <p:nvSpPr>
          <p:cNvPr id="6" name="Shape 5">
            <a:extLst>
              <a:ext uri="{FF2B5EF4-FFF2-40B4-BE49-F238E27FC236}">
                <a16:creationId xmlns:a16="http://schemas.microsoft.com/office/drawing/2014/main" id="{100E5D84-D836-AC08-94EC-865D76599416}"/>
              </a:ext>
            </a:extLst>
          </p:cNvPr>
          <p:cNvSpPr/>
          <p:nvPr/>
        </p:nvSpPr>
        <p:spPr>
          <a:xfrm>
            <a:off x="391852" y="1457115"/>
            <a:ext cx="4937760" cy="1496732"/>
          </a:xfrm>
          <a:prstGeom prst="rect">
            <a:avLst/>
          </a:prstGeom>
          <a:solidFill>
            <a:srgbClr val="1E293B"/>
          </a:solidFill>
          <a:ln w="12700">
            <a:solidFill>
              <a:srgbClr val="334155"/>
            </a:solidFill>
            <a:prstDash val="solid"/>
          </a:ln>
        </p:spPr>
        <p:txBody>
          <a:bodyPr/>
          <a:lstStyle/>
          <a:p>
            <a:endParaRPr lang="en-SG"/>
          </a:p>
        </p:txBody>
      </p:sp>
      <p:sp>
        <p:nvSpPr>
          <p:cNvPr id="7" name="Text 6">
            <a:extLst>
              <a:ext uri="{FF2B5EF4-FFF2-40B4-BE49-F238E27FC236}">
                <a16:creationId xmlns:a16="http://schemas.microsoft.com/office/drawing/2014/main" id="{A33A10D1-E3E4-FA18-2A63-E39AF7F7E340}"/>
              </a:ext>
            </a:extLst>
          </p:cNvPr>
          <p:cNvSpPr/>
          <p:nvPr/>
        </p:nvSpPr>
        <p:spPr>
          <a:xfrm>
            <a:off x="465004" y="1457115"/>
            <a:ext cx="4791456" cy="1773936"/>
          </a:xfrm>
          <a:prstGeom prst="rect">
            <a:avLst/>
          </a:prstGeom>
          <a:noFill/>
          <a:ln/>
        </p:spPr>
        <p:txBody>
          <a:bodyPr wrap="square" rtlCol="0" anchor="t"/>
          <a:lstStyle/>
          <a:p>
            <a:pPr marL="0" indent="0">
              <a:buNone/>
            </a:pPr>
            <a:r>
              <a:rPr lang="en-US" sz="1000">
                <a:solidFill>
                  <a:srgbClr val="E2E8F0"/>
                </a:solidFill>
                <a:latin typeface="Courier New" pitchFamily="34" charset="0"/>
                <a:ea typeface="Courier New" pitchFamily="34" charset="-122"/>
                <a:cs typeface="Courier New" pitchFamily="34" charset="-120"/>
              </a:rPr>
              <a:t>&lt;head&gt;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&lt;style&gt;</a:t>
            </a:r>
            <a:endParaRPr lang="en-US" sz="1000"/>
          </a:p>
          <a:p>
            <a:pPr marL="0" indent="0">
              <a:buNone/>
            </a:pPr>
            <a:r>
              <a:rPr lang="en-US" sz="1000">
                <a:solidFill>
                  <a:srgbClr val="FDE68A"/>
                </a:solidFill>
                <a:latin typeface="Courier New" pitchFamily="34" charset="0"/>
                <a:ea typeface="Courier New" pitchFamily="34" charset="-122"/>
                <a:cs typeface="Courier New" pitchFamily="34" charset="-120"/>
              </a:rPr>
              <a:t>    h2 { color: green;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&lt;/style&gt;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&lt;/head&gt;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&lt;body&gt;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&lt;h2&gt;CAUTION: Icy Road Conditions&lt;/h2&gt;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&lt;h2&gt;Please Slow Down!&lt;/h2&gt;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&lt;/body&gt;</a:t>
            </a:r>
            <a:endParaRPr lang="en-US" sz="1000"/>
          </a:p>
        </p:txBody>
      </p:sp>
      <p:sp>
        <p:nvSpPr>
          <p:cNvPr id="9" name="TextBox 8">
            <a:extLst>
              <a:ext uri="{FF2B5EF4-FFF2-40B4-BE49-F238E27FC236}">
                <a16:creationId xmlns:a16="http://schemas.microsoft.com/office/drawing/2014/main" id="{263C67AD-5844-DE5C-CDE2-DD27F8FFFC98}"/>
              </a:ext>
            </a:extLst>
          </p:cNvPr>
          <p:cNvSpPr txBox="1"/>
          <p:nvPr/>
        </p:nvSpPr>
        <p:spPr>
          <a:xfrm>
            <a:off x="347089" y="1106285"/>
            <a:ext cx="4572000" cy="307777"/>
          </a:xfrm>
          <a:prstGeom prst="rect">
            <a:avLst/>
          </a:prstGeom>
          <a:noFill/>
        </p:spPr>
        <p:txBody>
          <a:bodyPr wrap="square">
            <a:spAutoFit/>
          </a:bodyPr>
          <a:lstStyle/>
          <a:p>
            <a:r>
              <a:rPr lang="en-US" i="1">
                <a:solidFill>
                  <a:schemeClr val="tx1"/>
                </a:solidFill>
              </a:rPr>
              <a:t>wk2example3.html</a:t>
            </a:r>
            <a:endParaRPr lang="en-SG" i="1">
              <a:solidFill>
                <a:schemeClr val="tx1"/>
              </a:solidFill>
            </a:endParaRPr>
          </a:p>
        </p:txBody>
      </p:sp>
      <p:grpSp>
        <p:nvGrpSpPr>
          <p:cNvPr id="15" name="Group 14">
            <a:extLst>
              <a:ext uri="{FF2B5EF4-FFF2-40B4-BE49-F238E27FC236}">
                <a16:creationId xmlns:a16="http://schemas.microsoft.com/office/drawing/2014/main" id="{EACE5185-76C5-E292-E98B-81C31B6F2538}"/>
              </a:ext>
            </a:extLst>
          </p:cNvPr>
          <p:cNvGrpSpPr/>
          <p:nvPr/>
        </p:nvGrpSpPr>
        <p:grpSpPr>
          <a:xfrm>
            <a:off x="5469405" y="1457114"/>
            <a:ext cx="3429000" cy="1496731"/>
            <a:chOff x="5440680" y="1143000"/>
            <a:chExt cx="3429000" cy="1365616"/>
          </a:xfrm>
        </p:grpSpPr>
        <p:sp>
          <p:nvSpPr>
            <p:cNvPr id="10" name="Shape 7">
              <a:extLst>
                <a:ext uri="{FF2B5EF4-FFF2-40B4-BE49-F238E27FC236}">
                  <a16:creationId xmlns:a16="http://schemas.microsoft.com/office/drawing/2014/main" id="{52010B50-C9DA-BFAD-BDC0-A902FE282A1B}"/>
                </a:ext>
              </a:extLst>
            </p:cNvPr>
            <p:cNvSpPr/>
            <p:nvPr/>
          </p:nvSpPr>
          <p:spPr>
            <a:xfrm>
              <a:off x="5440680" y="1143000"/>
              <a:ext cx="3429000" cy="1365616"/>
            </a:xfrm>
            <a:prstGeom prst="rect">
              <a:avLst/>
            </a:prstGeom>
            <a:solidFill>
              <a:srgbClr val="FFFFFF"/>
            </a:solidFill>
            <a:ln w="19050">
              <a:solidFill>
                <a:srgbClr val="CBD5E1"/>
              </a:solidFill>
              <a:prstDash val="solid"/>
            </a:ln>
          </p:spPr>
          <p:txBody>
            <a:bodyPr/>
            <a:lstStyle/>
            <a:p>
              <a:endParaRPr lang="en-SG"/>
            </a:p>
          </p:txBody>
        </p:sp>
        <p:sp>
          <p:nvSpPr>
            <p:cNvPr id="11" name="Shape 8">
              <a:extLst>
                <a:ext uri="{FF2B5EF4-FFF2-40B4-BE49-F238E27FC236}">
                  <a16:creationId xmlns:a16="http://schemas.microsoft.com/office/drawing/2014/main" id="{A99A27B3-A230-2A96-BF82-0C48BCDC4BC1}"/>
                </a:ext>
              </a:extLst>
            </p:cNvPr>
            <p:cNvSpPr/>
            <p:nvPr/>
          </p:nvSpPr>
          <p:spPr>
            <a:xfrm>
              <a:off x="5440680" y="1143000"/>
              <a:ext cx="3429000" cy="256032"/>
            </a:xfrm>
            <a:prstGeom prst="rect">
              <a:avLst/>
            </a:prstGeom>
            <a:solidFill>
              <a:srgbClr val="E2E8F0"/>
            </a:solidFill>
            <a:ln/>
          </p:spPr>
          <p:txBody>
            <a:bodyPr/>
            <a:lstStyle/>
            <a:p>
              <a:endParaRPr lang="en-SG"/>
            </a:p>
          </p:txBody>
        </p:sp>
        <p:sp>
          <p:nvSpPr>
            <p:cNvPr id="12" name="Text 9">
              <a:extLst>
                <a:ext uri="{FF2B5EF4-FFF2-40B4-BE49-F238E27FC236}">
                  <a16:creationId xmlns:a16="http://schemas.microsoft.com/office/drawing/2014/main" id="{9A5C2798-0E79-D46D-D7AD-C461AF46EC32}"/>
                </a:ext>
              </a:extLst>
            </p:cNvPr>
            <p:cNvSpPr/>
            <p:nvPr/>
          </p:nvSpPr>
          <p:spPr>
            <a:xfrm>
              <a:off x="5532120" y="1161288"/>
              <a:ext cx="3246120" cy="201168"/>
            </a:xfrm>
            <a:prstGeom prst="rect">
              <a:avLst/>
            </a:prstGeom>
            <a:noFill/>
            <a:ln/>
          </p:spPr>
          <p:txBody>
            <a:bodyPr wrap="square" rtlCol="0" anchor="ctr"/>
            <a:lstStyle/>
            <a:p>
              <a:pPr marL="0" indent="0">
                <a:buNone/>
              </a:pPr>
              <a:r>
                <a:rPr lang="en-US" sz="800">
                  <a:solidFill>
                    <a:srgbClr val="94A3B8"/>
                  </a:solidFill>
                  <a:latin typeface="Calibri" pitchFamily="34" charset="0"/>
                  <a:ea typeface="Calibri" pitchFamily="34" charset="-122"/>
                  <a:cs typeface="Calibri" pitchFamily="34" charset="-120"/>
                </a:rPr>
                <a:t>● ● ●  Browser Preview</a:t>
              </a:r>
              <a:endParaRPr lang="en-US" sz="800"/>
            </a:p>
          </p:txBody>
        </p:sp>
        <p:sp>
          <p:nvSpPr>
            <p:cNvPr id="13" name="Text 10">
              <a:extLst>
                <a:ext uri="{FF2B5EF4-FFF2-40B4-BE49-F238E27FC236}">
                  <a16:creationId xmlns:a16="http://schemas.microsoft.com/office/drawing/2014/main" id="{C5F5B138-D700-2821-507E-C46C83E2CD45}"/>
                </a:ext>
              </a:extLst>
            </p:cNvPr>
            <p:cNvSpPr/>
            <p:nvPr/>
          </p:nvSpPr>
          <p:spPr>
            <a:xfrm>
              <a:off x="5532120" y="1463040"/>
              <a:ext cx="3246120" cy="320040"/>
            </a:xfrm>
            <a:prstGeom prst="rect">
              <a:avLst/>
            </a:prstGeom>
            <a:noFill/>
            <a:ln/>
          </p:spPr>
          <p:txBody>
            <a:bodyPr wrap="square" rtlCol="0" anchor="ctr"/>
            <a:lstStyle/>
            <a:p>
              <a:pPr marL="0" indent="0">
                <a:buNone/>
              </a:pPr>
              <a:r>
                <a:rPr lang="en-US" sz="1400" b="1">
                  <a:solidFill>
                    <a:srgbClr val="16A34A"/>
                  </a:solidFill>
                  <a:latin typeface="Calibri" pitchFamily="34" charset="0"/>
                  <a:ea typeface="Calibri" pitchFamily="34" charset="-122"/>
                  <a:cs typeface="Calibri" pitchFamily="34" charset="-120"/>
                </a:rPr>
                <a:t>CAUTION: Icy Road Conditions</a:t>
              </a:r>
              <a:endParaRPr lang="en-US" sz="1400"/>
            </a:p>
          </p:txBody>
        </p:sp>
        <p:sp>
          <p:nvSpPr>
            <p:cNvPr id="14" name="Text 11">
              <a:extLst>
                <a:ext uri="{FF2B5EF4-FFF2-40B4-BE49-F238E27FC236}">
                  <a16:creationId xmlns:a16="http://schemas.microsoft.com/office/drawing/2014/main" id="{A63DBF0A-AB0C-1283-5A8D-843762C504CB}"/>
                </a:ext>
              </a:extLst>
            </p:cNvPr>
            <p:cNvSpPr/>
            <p:nvPr/>
          </p:nvSpPr>
          <p:spPr>
            <a:xfrm>
              <a:off x="5532120" y="1792224"/>
              <a:ext cx="3246120" cy="320040"/>
            </a:xfrm>
            <a:prstGeom prst="rect">
              <a:avLst/>
            </a:prstGeom>
            <a:noFill/>
            <a:ln/>
          </p:spPr>
          <p:txBody>
            <a:bodyPr wrap="square" rtlCol="0" anchor="ctr"/>
            <a:lstStyle/>
            <a:p>
              <a:pPr marL="0" indent="0">
                <a:buNone/>
              </a:pPr>
              <a:r>
                <a:rPr lang="en-US" sz="1400" b="1">
                  <a:solidFill>
                    <a:srgbClr val="16A34A"/>
                  </a:solidFill>
                  <a:latin typeface="Calibri" pitchFamily="34" charset="0"/>
                  <a:ea typeface="Calibri" pitchFamily="34" charset="-122"/>
                  <a:cs typeface="Calibri" pitchFamily="34" charset="-120"/>
                </a:rPr>
                <a:t>Please Slow Down!</a:t>
              </a:r>
              <a:endParaRPr lang="en-US" sz="1400"/>
            </a:p>
          </p:txBody>
        </p:sp>
      </p:grpSp>
      <p:sp>
        <p:nvSpPr>
          <p:cNvPr id="17" name="Shape 19">
            <a:extLst>
              <a:ext uri="{FF2B5EF4-FFF2-40B4-BE49-F238E27FC236}">
                <a16:creationId xmlns:a16="http://schemas.microsoft.com/office/drawing/2014/main" id="{B51E2ED7-44BE-5042-E6BF-5715FF16C73B}"/>
              </a:ext>
            </a:extLst>
          </p:cNvPr>
          <p:cNvSpPr/>
          <p:nvPr/>
        </p:nvSpPr>
        <p:spPr>
          <a:xfrm>
            <a:off x="391851" y="4232964"/>
            <a:ext cx="8506553" cy="502920"/>
          </a:xfrm>
          <a:prstGeom prst="rect">
            <a:avLst/>
          </a:prstGeom>
          <a:solidFill>
            <a:srgbClr val="DBEAFE"/>
          </a:solidFill>
          <a:ln w="12700">
            <a:solidFill>
              <a:srgbClr val="2563EB"/>
            </a:solidFill>
            <a:prstDash val="solid"/>
          </a:ln>
        </p:spPr>
        <p:txBody>
          <a:bodyPr/>
          <a:lstStyle/>
          <a:p>
            <a:endParaRPr lang="en-SG"/>
          </a:p>
        </p:txBody>
      </p:sp>
      <p:sp>
        <p:nvSpPr>
          <p:cNvPr id="18" name="TextBox 17">
            <a:extLst>
              <a:ext uri="{FF2B5EF4-FFF2-40B4-BE49-F238E27FC236}">
                <a16:creationId xmlns:a16="http://schemas.microsoft.com/office/drawing/2014/main" id="{46D5CEB4-BB7F-111D-A8D5-AF6A3B3A0871}"/>
              </a:ext>
            </a:extLst>
          </p:cNvPr>
          <p:cNvSpPr txBox="1"/>
          <p:nvPr/>
        </p:nvSpPr>
        <p:spPr>
          <a:xfrm>
            <a:off x="391852" y="3162963"/>
            <a:ext cx="4937760" cy="1298817"/>
          </a:xfrm>
          <a:prstGeom prst="rect">
            <a:avLst/>
          </a:prstGeom>
          <a:noFill/>
        </p:spPr>
        <p:txBody>
          <a:bodyPr wrap="square" rtlCol="0">
            <a:spAutoFit/>
          </a:bodyPr>
          <a:lstStyle/>
          <a:p>
            <a:pPr lvl="0">
              <a:lnSpc>
                <a:spcPct val="115000"/>
              </a:lnSpc>
              <a:spcBef>
                <a:spcPts val="1600"/>
              </a:spcBef>
              <a:buSzPts val="1400"/>
            </a:pPr>
            <a:r>
              <a:rPr lang="en-US"/>
              <a:t>To use an internal CSS style sheet, we add a &lt;style&gt; section within the &lt;head&gt; of the page.  </a:t>
            </a:r>
            <a:br>
              <a:rPr lang="en-US"/>
            </a:br>
            <a:r>
              <a:rPr lang="en-US"/>
              <a:t>All our CSS declarations go within this section.</a:t>
            </a:r>
            <a:endParaRPr lang="en-US" sz="2000"/>
          </a:p>
          <a:p>
            <a:pPr lvl="0">
              <a:lnSpc>
                <a:spcPct val="115000"/>
              </a:lnSpc>
              <a:buSzPts val="1400"/>
            </a:pPr>
            <a:endParaRPr lang="en-US"/>
          </a:p>
          <a:p>
            <a:endParaRPr lang="en-SG"/>
          </a:p>
        </p:txBody>
      </p:sp>
      <p:sp>
        <p:nvSpPr>
          <p:cNvPr id="16" name="Text 4">
            <a:extLst>
              <a:ext uri="{FF2B5EF4-FFF2-40B4-BE49-F238E27FC236}">
                <a16:creationId xmlns:a16="http://schemas.microsoft.com/office/drawing/2014/main" id="{A8372AED-080E-007D-5BB0-5B02EBA3211B}"/>
              </a:ext>
            </a:extLst>
          </p:cNvPr>
          <p:cNvSpPr/>
          <p:nvPr/>
        </p:nvSpPr>
        <p:spPr>
          <a:xfrm>
            <a:off x="465004" y="4324404"/>
            <a:ext cx="6949440" cy="320040"/>
          </a:xfrm>
          <a:prstGeom prst="rect">
            <a:avLst/>
          </a:prstGeom>
          <a:noFill/>
          <a:ln/>
        </p:spPr>
        <p:txBody>
          <a:bodyPr wrap="square" rtlCol="0" anchor="ctr"/>
          <a:lstStyle/>
          <a:p>
            <a:pPr marL="0" indent="0">
              <a:buNone/>
            </a:pPr>
            <a:r>
              <a:rPr lang="en-US" sz="1200">
                <a:solidFill>
                  <a:srgbClr val="2563EB"/>
                </a:solidFill>
                <a:latin typeface="Calibri" pitchFamily="34" charset="0"/>
                <a:ea typeface="Calibri" pitchFamily="34" charset="-122"/>
                <a:cs typeface="Calibri" pitchFamily="34" charset="-120"/>
              </a:rPr>
              <a:t>💡 </a:t>
            </a:r>
            <a:r>
              <a:rPr lang="en-US" sz="1200">
                <a:solidFill>
                  <a:srgbClr val="0070C0"/>
                </a:solidFill>
                <a:latin typeface="Calibri" pitchFamily="34" charset="0"/>
                <a:ea typeface="Calibri" pitchFamily="34" charset="-122"/>
                <a:cs typeface="Calibri" pitchFamily="34" charset="-120"/>
              </a:rPr>
              <a:t>A &lt;style&gt; block inside &lt;head&gt; — rules apply to all matching elements on that page.</a:t>
            </a:r>
            <a:endParaRPr lang="en-US" sz="1200">
              <a:solidFill>
                <a:srgbClr val="0070C0"/>
              </a:solidFill>
            </a:endParaRPr>
          </a:p>
        </p:txBody>
      </p:sp>
      <p:grpSp>
        <p:nvGrpSpPr>
          <p:cNvPr id="21" name="Group 20">
            <a:extLst>
              <a:ext uri="{FF2B5EF4-FFF2-40B4-BE49-F238E27FC236}">
                <a16:creationId xmlns:a16="http://schemas.microsoft.com/office/drawing/2014/main" id="{1DF4A74E-30E7-1F54-D550-30281AC3A4DA}"/>
              </a:ext>
            </a:extLst>
          </p:cNvPr>
          <p:cNvGrpSpPr/>
          <p:nvPr/>
        </p:nvGrpSpPr>
        <p:grpSpPr>
          <a:xfrm>
            <a:off x="5469405" y="3177573"/>
            <a:ext cx="3429000" cy="711652"/>
            <a:chOff x="320040" y="2788920"/>
            <a:chExt cx="4114800" cy="1005840"/>
          </a:xfrm>
        </p:grpSpPr>
        <p:sp>
          <p:nvSpPr>
            <p:cNvPr id="22" name="Shape 13">
              <a:extLst>
                <a:ext uri="{FF2B5EF4-FFF2-40B4-BE49-F238E27FC236}">
                  <a16:creationId xmlns:a16="http://schemas.microsoft.com/office/drawing/2014/main" id="{30496F93-B78B-B8C6-1044-E3BEF58E970A}"/>
                </a:ext>
              </a:extLst>
            </p:cNvPr>
            <p:cNvSpPr/>
            <p:nvPr/>
          </p:nvSpPr>
          <p:spPr>
            <a:xfrm>
              <a:off x="320040" y="2788920"/>
              <a:ext cx="4114800" cy="1005840"/>
            </a:xfrm>
            <a:prstGeom prst="rect">
              <a:avLst/>
            </a:prstGeom>
            <a:solidFill>
              <a:srgbClr val="DCFCE7"/>
            </a:solidFill>
            <a:ln w="12700">
              <a:solidFill>
                <a:srgbClr val="16A34A"/>
              </a:solidFill>
              <a:prstDash val="solid"/>
            </a:ln>
          </p:spPr>
          <p:txBody>
            <a:bodyPr/>
            <a:lstStyle/>
            <a:p>
              <a:endParaRPr lang="en-SG"/>
            </a:p>
          </p:txBody>
        </p:sp>
        <p:sp>
          <p:nvSpPr>
            <p:cNvPr id="23" name="Text 14">
              <a:extLst>
                <a:ext uri="{FF2B5EF4-FFF2-40B4-BE49-F238E27FC236}">
                  <a16:creationId xmlns:a16="http://schemas.microsoft.com/office/drawing/2014/main" id="{3D42077A-5B66-8D4E-10EE-55EF35F03759}"/>
                </a:ext>
              </a:extLst>
            </p:cNvPr>
            <p:cNvSpPr/>
            <p:nvPr/>
          </p:nvSpPr>
          <p:spPr>
            <a:xfrm>
              <a:off x="457200" y="2834640"/>
              <a:ext cx="3840480" cy="256032"/>
            </a:xfrm>
            <a:prstGeom prst="rect">
              <a:avLst/>
            </a:prstGeom>
            <a:noFill/>
            <a:ln/>
          </p:spPr>
          <p:txBody>
            <a:bodyPr wrap="square" rtlCol="0" anchor="ctr"/>
            <a:lstStyle/>
            <a:p>
              <a:pPr marL="0" indent="0">
                <a:buNone/>
              </a:pPr>
              <a:r>
                <a:rPr lang="en-US" sz="1100" b="1">
                  <a:solidFill>
                    <a:srgbClr val="16A34A"/>
                  </a:solidFill>
                  <a:latin typeface="Calibri" pitchFamily="34" charset="0"/>
                  <a:ea typeface="Calibri" pitchFamily="34" charset="-122"/>
                  <a:cs typeface="Calibri" pitchFamily="34" charset="-120"/>
                </a:rPr>
                <a:t>✔  Pros</a:t>
              </a:r>
              <a:endParaRPr lang="en-US" sz="1100"/>
            </a:p>
          </p:txBody>
        </p:sp>
        <p:sp>
          <p:nvSpPr>
            <p:cNvPr id="24" name="Text 15">
              <a:extLst>
                <a:ext uri="{FF2B5EF4-FFF2-40B4-BE49-F238E27FC236}">
                  <a16:creationId xmlns:a16="http://schemas.microsoft.com/office/drawing/2014/main" id="{73761599-BE62-0543-342D-CEA77FBC2DFA}"/>
                </a:ext>
              </a:extLst>
            </p:cNvPr>
            <p:cNvSpPr/>
            <p:nvPr/>
          </p:nvSpPr>
          <p:spPr>
            <a:xfrm>
              <a:off x="457200" y="3090672"/>
              <a:ext cx="3840480" cy="640080"/>
            </a:xfrm>
            <a:prstGeom prst="rect">
              <a:avLst/>
            </a:prstGeom>
            <a:noFill/>
            <a:ln/>
          </p:spPr>
          <p:txBody>
            <a:bodyPr wrap="square" rtlCol="0" anchor="ctr"/>
            <a:lstStyle/>
            <a:p>
              <a:pPr marL="0" indent="0">
                <a:buNone/>
              </a:pPr>
              <a:r>
                <a:rPr lang="en-US" sz="1000">
                  <a:solidFill>
                    <a:srgbClr val="0F172A"/>
                  </a:solidFill>
                  <a:latin typeface="Calibri" pitchFamily="34" charset="0"/>
                  <a:ea typeface="Calibri" pitchFamily="34" charset="-122"/>
                  <a:cs typeface="Calibri" pitchFamily="34" charset="-120"/>
                </a:rPr>
                <a:t>Good for single-page project or unique per-page styles.</a:t>
              </a:r>
              <a:endParaRPr lang="en-US" sz="1000"/>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CSS: External Style Sheet</a:t>
            </a:r>
            <a:endParaRPr/>
          </a:p>
        </p:txBody>
      </p:sp>
      <p:pic>
        <p:nvPicPr>
          <p:cNvPr id="8" name="Picture 7">
            <a:extLst>
              <a:ext uri="{FF2B5EF4-FFF2-40B4-BE49-F238E27FC236}">
                <a16:creationId xmlns:a16="http://schemas.microsoft.com/office/drawing/2014/main" id="{C5FC19F4-971F-723B-4B28-24F41D73DD27}"/>
              </a:ext>
            </a:extLst>
          </p:cNvPr>
          <p:cNvPicPr>
            <a:picLocks noChangeAspect="1"/>
          </p:cNvPicPr>
          <p:nvPr/>
        </p:nvPicPr>
        <p:blipFill>
          <a:blip r:embed="rId3"/>
          <a:stretch>
            <a:fillRect/>
          </a:stretch>
        </p:blipFill>
        <p:spPr>
          <a:xfrm>
            <a:off x="440961" y="2507120"/>
            <a:ext cx="1944618" cy="1159587"/>
          </a:xfrm>
          <a:prstGeom prst="rect">
            <a:avLst/>
          </a:prstGeom>
        </p:spPr>
      </p:pic>
      <p:pic>
        <p:nvPicPr>
          <p:cNvPr id="10" name="Picture 9">
            <a:extLst>
              <a:ext uri="{FF2B5EF4-FFF2-40B4-BE49-F238E27FC236}">
                <a16:creationId xmlns:a16="http://schemas.microsoft.com/office/drawing/2014/main" id="{57D414B9-C28E-28E5-CFFD-41ACE85BD8C6}"/>
              </a:ext>
            </a:extLst>
          </p:cNvPr>
          <p:cNvPicPr>
            <a:picLocks noChangeAspect="1"/>
          </p:cNvPicPr>
          <p:nvPr/>
        </p:nvPicPr>
        <p:blipFill>
          <a:blip r:embed="rId4"/>
          <a:stretch>
            <a:fillRect/>
          </a:stretch>
        </p:blipFill>
        <p:spPr>
          <a:xfrm>
            <a:off x="440961" y="1486549"/>
            <a:ext cx="2606907" cy="615594"/>
          </a:xfrm>
          <a:prstGeom prst="rect">
            <a:avLst/>
          </a:prstGeom>
        </p:spPr>
      </p:pic>
      <p:sp>
        <p:nvSpPr>
          <p:cNvPr id="11" name="TextBox 10">
            <a:extLst>
              <a:ext uri="{FF2B5EF4-FFF2-40B4-BE49-F238E27FC236}">
                <a16:creationId xmlns:a16="http://schemas.microsoft.com/office/drawing/2014/main" id="{3A63BD89-50B6-2C80-9570-9CE20F281710}"/>
              </a:ext>
            </a:extLst>
          </p:cNvPr>
          <p:cNvSpPr txBox="1"/>
          <p:nvPr/>
        </p:nvSpPr>
        <p:spPr>
          <a:xfrm>
            <a:off x="366239" y="1125322"/>
            <a:ext cx="4572000" cy="307777"/>
          </a:xfrm>
          <a:prstGeom prst="rect">
            <a:avLst/>
          </a:prstGeom>
          <a:noFill/>
        </p:spPr>
        <p:txBody>
          <a:bodyPr wrap="square">
            <a:spAutoFit/>
          </a:bodyPr>
          <a:lstStyle/>
          <a:p>
            <a:r>
              <a:rPr lang="en-US" i="1">
                <a:solidFill>
                  <a:schemeClr val="tx1"/>
                </a:solidFill>
              </a:rPr>
              <a:t>wk2ex4pg1.html</a:t>
            </a:r>
            <a:endParaRPr lang="en-SG" i="1">
              <a:solidFill>
                <a:schemeClr val="tx1"/>
              </a:solidFill>
            </a:endParaRPr>
          </a:p>
        </p:txBody>
      </p:sp>
      <p:sp>
        <p:nvSpPr>
          <p:cNvPr id="12" name="TextBox 11">
            <a:extLst>
              <a:ext uri="{FF2B5EF4-FFF2-40B4-BE49-F238E27FC236}">
                <a16:creationId xmlns:a16="http://schemas.microsoft.com/office/drawing/2014/main" id="{3D1E48DE-12BC-C8C0-C816-301F94EED867}"/>
              </a:ext>
            </a:extLst>
          </p:cNvPr>
          <p:cNvSpPr txBox="1"/>
          <p:nvPr/>
        </p:nvSpPr>
        <p:spPr>
          <a:xfrm>
            <a:off x="366239" y="2198348"/>
            <a:ext cx="2019340" cy="307777"/>
          </a:xfrm>
          <a:prstGeom prst="rect">
            <a:avLst/>
          </a:prstGeom>
          <a:noFill/>
        </p:spPr>
        <p:txBody>
          <a:bodyPr wrap="square">
            <a:spAutoFit/>
          </a:bodyPr>
          <a:lstStyle/>
          <a:p>
            <a:r>
              <a:rPr lang="en-US" i="1">
                <a:solidFill>
                  <a:schemeClr val="tx1"/>
                </a:solidFill>
              </a:rPr>
              <a:t>wk2ex4.css</a:t>
            </a:r>
            <a:endParaRPr lang="en-SG" i="1">
              <a:solidFill>
                <a:schemeClr val="tx1"/>
              </a:solidFill>
            </a:endParaRPr>
          </a:p>
        </p:txBody>
      </p:sp>
      <p:sp>
        <p:nvSpPr>
          <p:cNvPr id="14" name="Shape 6">
            <a:extLst>
              <a:ext uri="{FF2B5EF4-FFF2-40B4-BE49-F238E27FC236}">
                <a16:creationId xmlns:a16="http://schemas.microsoft.com/office/drawing/2014/main" id="{8979457E-F4E8-427D-2652-30304B7F115E}"/>
              </a:ext>
            </a:extLst>
          </p:cNvPr>
          <p:cNvSpPr/>
          <p:nvPr/>
        </p:nvSpPr>
        <p:spPr>
          <a:xfrm>
            <a:off x="5577360" y="1719034"/>
            <a:ext cx="968939" cy="615593"/>
          </a:xfrm>
          <a:prstGeom prst="line">
            <a:avLst/>
          </a:prstGeom>
          <a:noFill/>
          <a:ln w="19050">
            <a:solidFill>
              <a:srgbClr val="0891B2"/>
            </a:solidFill>
            <a:prstDash val="solid"/>
          </a:ln>
        </p:spPr>
        <p:txBody>
          <a:bodyPr/>
          <a:lstStyle/>
          <a:p>
            <a:endParaRPr lang="en-SG"/>
          </a:p>
        </p:txBody>
      </p:sp>
      <p:sp>
        <p:nvSpPr>
          <p:cNvPr id="16" name="Shape 9">
            <a:extLst>
              <a:ext uri="{FF2B5EF4-FFF2-40B4-BE49-F238E27FC236}">
                <a16:creationId xmlns:a16="http://schemas.microsoft.com/office/drawing/2014/main" id="{2F73C7A6-8591-BB90-86CF-8F1E651B5280}"/>
              </a:ext>
            </a:extLst>
          </p:cNvPr>
          <p:cNvSpPr/>
          <p:nvPr/>
        </p:nvSpPr>
        <p:spPr>
          <a:xfrm>
            <a:off x="5577361" y="2541995"/>
            <a:ext cx="968938" cy="0"/>
          </a:xfrm>
          <a:prstGeom prst="line">
            <a:avLst/>
          </a:prstGeom>
          <a:noFill/>
          <a:ln w="19050">
            <a:solidFill>
              <a:srgbClr val="0891B2"/>
            </a:solidFill>
            <a:prstDash val="solid"/>
          </a:ln>
        </p:spPr>
        <p:txBody>
          <a:bodyPr/>
          <a:lstStyle/>
          <a:p>
            <a:endParaRPr lang="en-SG"/>
          </a:p>
        </p:txBody>
      </p:sp>
      <p:sp>
        <p:nvSpPr>
          <p:cNvPr id="18" name="Shape 12">
            <a:extLst>
              <a:ext uri="{FF2B5EF4-FFF2-40B4-BE49-F238E27FC236}">
                <a16:creationId xmlns:a16="http://schemas.microsoft.com/office/drawing/2014/main" id="{8DF8711D-1880-61F1-DA03-1BD4D0818AB5}"/>
              </a:ext>
            </a:extLst>
          </p:cNvPr>
          <p:cNvSpPr/>
          <p:nvPr/>
        </p:nvSpPr>
        <p:spPr>
          <a:xfrm flipV="1">
            <a:off x="5577361" y="2749364"/>
            <a:ext cx="968938" cy="615591"/>
          </a:xfrm>
          <a:prstGeom prst="line">
            <a:avLst/>
          </a:prstGeom>
          <a:noFill/>
          <a:ln w="19050">
            <a:solidFill>
              <a:srgbClr val="0891B2"/>
            </a:solidFill>
            <a:prstDash val="solid"/>
          </a:ln>
        </p:spPr>
        <p:txBody>
          <a:bodyPr/>
          <a:lstStyle/>
          <a:p>
            <a:endParaRPr lang="en-SG"/>
          </a:p>
        </p:txBody>
      </p:sp>
      <p:sp>
        <p:nvSpPr>
          <p:cNvPr id="19" name="Shape 13">
            <a:extLst>
              <a:ext uri="{FF2B5EF4-FFF2-40B4-BE49-F238E27FC236}">
                <a16:creationId xmlns:a16="http://schemas.microsoft.com/office/drawing/2014/main" id="{91AF6185-265D-9264-C630-E73D4547C829}"/>
              </a:ext>
            </a:extLst>
          </p:cNvPr>
          <p:cNvSpPr/>
          <p:nvPr/>
        </p:nvSpPr>
        <p:spPr>
          <a:xfrm>
            <a:off x="6546299" y="2214911"/>
            <a:ext cx="1769474" cy="691525"/>
          </a:xfrm>
          <a:prstGeom prst="rect">
            <a:avLst/>
          </a:prstGeom>
          <a:solidFill>
            <a:srgbClr val="DCFCE7"/>
          </a:solidFill>
          <a:ln w="25400">
            <a:solidFill>
              <a:srgbClr val="16A34A"/>
            </a:solidFill>
            <a:prstDash val="solid"/>
          </a:ln>
        </p:spPr>
        <p:txBody>
          <a:bodyPr/>
          <a:lstStyle/>
          <a:p>
            <a:endParaRPr lang="en-SG"/>
          </a:p>
        </p:txBody>
      </p:sp>
      <p:sp>
        <p:nvSpPr>
          <p:cNvPr id="20" name="Text 14">
            <a:extLst>
              <a:ext uri="{FF2B5EF4-FFF2-40B4-BE49-F238E27FC236}">
                <a16:creationId xmlns:a16="http://schemas.microsoft.com/office/drawing/2014/main" id="{54DF3041-B5FF-03F5-0B7C-BA7D25FCB926}"/>
              </a:ext>
            </a:extLst>
          </p:cNvPr>
          <p:cNvSpPr/>
          <p:nvPr/>
        </p:nvSpPr>
        <p:spPr>
          <a:xfrm>
            <a:off x="6701210" y="2305885"/>
            <a:ext cx="1459651" cy="472219"/>
          </a:xfrm>
          <a:prstGeom prst="rect">
            <a:avLst/>
          </a:prstGeom>
          <a:noFill/>
          <a:ln/>
        </p:spPr>
        <p:txBody>
          <a:bodyPr wrap="square" rtlCol="0" anchor="ctr"/>
          <a:lstStyle/>
          <a:p>
            <a:pPr marL="0" indent="0" algn="ctr">
              <a:buNone/>
            </a:pPr>
            <a:r>
              <a:rPr lang="en-US" sz="1400" b="1">
                <a:solidFill>
                  <a:srgbClr val="16A34A"/>
                </a:solidFill>
                <a:latin typeface="Courier New" pitchFamily="34" charset="0"/>
                <a:ea typeface="Courier New" pitchFamily="34" charset="-122"/>
                <a:cs typeface="Courier New" pitchFamily="34" charset="-120"/>
              </a:rPr>
              <a:t>mystyle.css</a:t>
            </a:r>
            <a:endParaRPr lang="en-US" sz="1400"/>
          </a:p>
        </p:txBody>
      </p:sp>
      <p:grpSp>
        <p:nvGrpSpPr>
          <p:cNvPr id="21" name="Group 20">
            <a:extLst>
              <a:ext uri="{FF2B5EF4-FFF2-40B4-BE49-F238E27FC236}">
                <a16:creationId xmlns:a16="http://schemas.microsoft.com/office/drawing/2014/main" id="{1C2304D6-8B55-3116-BD2B-3A18E7147768}"/>
              </a:ext>
            </a:extLst>
          </p:cNvPr>
          <p:cNvGrpSpPr/>
          <p:nvPr/>
        </p:nvGrpSpPr>
        <p:grpSpPr>
          <a:xfrm>
            <a:off x="3565681" y="2249387"/>
            <a:ext cx="2011680" cy="602738"/>
            <a:chOff x="3565681" y="2249387"/>
            <a:chExt cx="2011680" cy="602738"/>
          </a:xfrm>
        </p:grpSpPr>
        <p:sp>
          <p:nvSpPr>
            <p:cNvPr id="15" name="Shape 7">
              <a:extLst>
                <a:ext uri="{FF2B5EF4-FFF2-40B4-BE49-F238E27FC236}">
                  <a16:creationId xmlns:a16="http://schemas.microsoft.com/office/drawing/2014/main" id="{CC8353F9-31E3-868E-4631-E04E3D159B2F}"/>
                </a:ext>
              </a:extLst>
            </p:cNvPr>
            <p:cNvSpPr/>
            <p:nvPr/>
          </p:nvSpPr>
          <p:spPr>
            <a:xfrm>
              <a:off x="3565681" y="2249387"/>
              <a:ext cx="2011680" cy="594360"/>
            </a:xfrm>
            <a:prstGeom prst="rect">
              <a:avLst/>
            </a:prstGeom>
            <a:solidFill>
              <a:srgbClr val="DBEAFE"/>
            </a:solidFill>
            <a:ln w="12700">
              <a:solidFill>
                <a:srgbClr val="2563EB"/>
              </a:solidFill>
              <a:prstDash val="solid"/>
            </a:ln>
          </p:spPr>
          <p:txBody>
            <a:bodyPr/>
            <a:lstStyle/>
            <a:p>
              <a:endParaRPr lang="en-SG"/>
            </a:p>
          </p:txBody>
        </p:sp>
        <p:sp>
          <p:nvSpPr>
            <p:cNvPr id="13" name="Text 5">
              <a:extLst>
                <a:ext uri="{FF2B5EF4-FFF2-40B4-BE49-F238E27FC236}">
                  <a16:creationId xmlns:a16="http://schemas.microsoft.com/office/drawing/2014/main" id="{149379CB-0E3E-7ED8-4FD2-BEA974C63977}"/>
                </a:ext>
              </a:extLst>
            </p:cNvPr>
            <p:cNvSpPr/>
            <p:nvPr/>
          </p:nvSpPr>
          <p:spPr>
            <a:xfrm>
              <a:off x="3565681" y="2257765"/>
              <a:ext cx="2011680" cy="594360"/>
            </a:xfrm>
            <a:prstGeom prst="rect">
              <a:avLst/>
            </a:prstGeom>
            <a:noFill/>
            <a:ln/>
          </p:spPr>
          <p:txBody>
            <a:bodyPr wrap="square" rtlCol="0" anchor="ctr"/>
            <a:lstStyle/>
            <a:p>
              <a:pPr marL="0" indent="0" algn="ctr">
                <a:buNone/>
              </a:pPr>
              <a:r>
                <a:rPr lang="en-US" sz="1200" b="1">
                  <a:solidFill>
                    <a:srgbClr val="2563EB"/>
                  </a:solidFill>
                  <a:latin typeface="Courier New" pitchFamily="34" charset="0"/>
                  <a:ea typeface="Courier New" pitchFamily="34" charset="-122"/>
                  <a:cs typeface="Courier New" pitchFamily="34" charset="-120"/>
                </a:rPr>
                <a:t>wk2ex4pg2.html</a:t>
              </a:r>
              <a:endParaRPr lang="en-US" sz="1200"/>
            </a:p>
          </p:txBody>
        </p:sp>
      </p:grpSp>
      <p:grpSp>
        <p:nvGrpSpPr>
          <p:cNvPr id="22" name="Group 21">
            <a:extLst>
              <a:ext uri="{FF2B5EF4-FFF2-40B4-BE49-F238E27FC236}">
                <a16:creationId xmlns:a16="http://schemas.microsoft.com/office/drawing/2014/main" id="{C37C8B97-3E3F-4396-E198-DB209EA702FA}"/>
              </a:ext>
            </a:extLst>
          </p:cNvPr>
          <p:cNvGrpSpPr/>
          <p:nvPr/>
        </p:nvGrpSpPr>
        <p:grpSpPr>
          <a:xfrm>
            <a:off x="3565681" y="1386946"/>
            <a:ext cx="2011680" cy="602738"/>
            <a:chOff x="3565681" y="2249387"/>
            <a:chExt cx="2011680" cy="602738"/>
          </a:xfrm>
        </p:grpSpPr>
        <p:sp>
          <p:nvSpPr>
            <p:cNvPr id="23" name="Shape 7">
              <a:extLst>
                <a:ext uri="{FF2B5EF4-FFF2-40B4-BE49-F238E27FC236}">
                  <a16:creationId xmlns:a16="http://schemas.microsoft.com/office/drawing/2014/main" id="{5B74297F-C0F2-44A2-0715-B377D6EBDDA5}"/>
                </a:ext>
              </a:extLst>
            </p:cNvPr>
            <p:cNvSpPr/>
            <p:nvPr/>
          </p:nvSpPr>
          <p:spPr>
            <a:xfrm>
              <a:off x="3565681" y="2249387"/>
              <a:ext cx="2011680" cy="594360"/>
            </a:xfrm>
            <a:prstGeom prst="rect">
              <a:avLst/>
            </a:prstGeom>
            <a:solidFill>
              <a:srgbClr val="DBEAFE"/>
            </a:solidFill>
            <a:ln w="12700">
              <a:solidFill>
                <a:srgbClr val="2563EB"/>
              </a:solidFill>
              <a:prstDash val="solid"/>
            </a:ln>
          </p:spPr>
          <p:txBody>
            <a:bodyPr/>
            <a:lstStyle/>
            <a:p>
              <a:endParaRPr lang="en-SG"/>
            </a:p>
          </p:txBody>
        </p:sp>
        <p:sp>
          <p:nvSpPr>
            <p:cNvPr id="24" name="Text 5">
              <a:extLst>
                <a:ext uri="{FF2B5EF4-FFF2-40B4-BE49-F238E27FC236}">
                  <a16:creationId xmlns:a16="http://schemas.microsoft.com/office/drawing/2014/main" id="{FC88DE51-94AF-BFC8-18C3-70F2A2626026}"/>
                </a:ext>
              </a:extLst>
            </p:cNvPr>
            <p:cNvSpPr/>
            <p:nvPr/>
          </p:nvSpPr>
          <p:spPr>
            <a:xfrm>
              <a:off x="3565681" y="2257765"/>
              <a:ext cx="2011680" cy="594360"/>
            </a:xfrm>
            <a:prstGeom prst="rect">
              <a:avLst/>
            </a:prstGeom>
            <a:noFill/>
            <a:ln/>
          </p:spPr>
          <p:txBody>
            <a:bodyPr wrap="square" rtlCol="0" anchor="ctr"/>
            <a:lstStyle/>
            <a:p>
              <a:pPr marL="0" indent="0" algn="ctr">
                <a:buNone/>
              </a:pPr>
              <a:r>
                <a:rPr lang="en-US" sz="1200" b="1">
                  <a:solidFill>
                    <a:srgbClr val="2563EB"/>
                  </a:solidFill>
                  <a:latin typeface="Courier New" pitchFamily="34" charset="0"/>
                  <a:ea typeface="Courier New" pitchFamily="34" charset="-122"/>
                  <a:cs typeface="Courier New" pitchFamily="34" charset="-120"/>
                </a:rPr>
                <a:t>wk2ex4pg1.html</a:t>
              </a:r>
              <a:endParaRPr lang="en-US" sz="1200"/>
            </a:p>
          </p:txBody>
        </p:sp>
      </p:grpSp>
      <p:grpSp>
        <p:nvGrpSpPr>
          <p:cNvPr id="25" name="Group 24">
            <a:extLst>
              <a:ext uri="{FF2B5EF4-FFF2-40B4-BE49-F238E27FC236}">
                <a16:creationId xmlns:a16="http://schemas.microsoft.com/office/drawing/2014/main" id="{58F98262-FD30-C087-3780-07ABD0133728}"/>
              </a:ext>
            </a:extLst>
          </p:cNvPr>
          <p:cNvGrpSpPr/>
          <p:nvPr/>
        </p:nvGrpSpPr>
        <p:grpSpPr>
          <a:xfrm>
            <a:off x="3565681" y="3066523"/>
            <a:ext cx="2011680" cy="602738"/>
            <a:chOff x="3565681" y="2249387"/>
            <a:chExt cx="2011680" cy="602738"/>
          </a:xfrm>
        </p:grpSpPr>
        <p:sp>
          <p:nvSpPr>
            <p:cNvPr id="26" name="Shape 7">
              <a:extLst>
                <a:ext uri="{FF2B5EF4-FFF2-40B4-BE49-F238E27FC236}">
                  <a16:creationId xmlns:a16="http://schemas.microsoft.com/office/drawing/2014/main" id="{39254928-E436-2EEB-FF17-E47562E3FBB1}"/>
                </a:ext>
              </a:extLst>
            </p:cNvPr>
            <p:cNvSpPr/>
            <p:nvPr/>
          </p:nvSpPr>
          <p:spPr>
            <a:xfrm>
              <a:off x="3565681" y="2249387"/>
              <a:ext cx="2011680" cy="594360"/>
            </a:xfrm>
            <a:prstGeom prst="rect">
              <a:avLst/>
            </a:prstGeom>
            <a:solidFill>
              <a:srgbClr val="DBEAFE"/>
            </a:solidFill>
            <a:ln w="12700">
              <a:solidFill>
                <a:srgbClr val="2563EB"/>
              </a:solidFill>
              <a:prstDash val="solid"/>
            </a:ln>
          </p:spPr>
          <p:txBody>
            <a:bodyPr/>
            <a:lstStyle/>
            <a:p>
              <a:endParaRPr lang="en-SG"/>
            </a:p>
          </p:txBody>
        </p:sp>
        <p:sp>
          <p:nvSpPr>
            <p:cNvPr id="27" name="Text 5">
              <a:extLst>
                <a:ext uri="{FF2B5EF4-FFF2-40B4-BE49-F238E27FC236}">
                  <a16:creationId xmlns:a16="http://schemas.microsoft.com/office/drawing/2014/main" id="{255F8F94-4836-FAE2-0D72-6C0A80978DE8}"/>
                </a:ext>
              </a:extLst>
            </p:cNvPr>
            <p:cNvSpPr/>
            <p:nvPr/>
          </p:nvSpPr>
          <p:spPr>
            <a:xfrm>
              <a:off x="3565681" y="2257765"/>
              <a:ext cx="2011680" cy="594360"/>
            </a:xfrm>
            <a:prstGeom prst="rect">
              <a:avLst/>
            </a:prstGeom>
            <a:noFill/>
            <a:ln/>
          </p:spPr>
          <p:txBody>
            <a:bodyPr wrap="square" rtlCol="0" anchor="ctr"/>
            <a:lstStyle/>
            <a:p>
              <a:pPr marL="0" indent="0" algn="ctr">
                <a:buNone/>
              </a:pPr>
              <a:r>
                <a:rPr lang="en-US" sz="1200" b="1">
                  <a:solidFill>
                    <a:srgbClr val="2563EB"/>
                  </a:solidFill>
                  <a:latin typeface="Courier New" pitchFamily="34" charset="0"/>
                  <a:ea typeface="Courier New" pitchFamily="34" charset="-122"/>
                  <a:cs typeface="Courier New" pitchFamily="34" charset="-120"/>
                </a:rPr>
                <a:t>wk2ex4pg3.html</a:t>
              </a:r>
              <a:endParaRPr lang="en-US" sz="1200"/>
            </a:p>
          </p:txBody>
        </p:sp>
      </p:grpSp>
      <p:sp>
        <p:nvSpPr>
          <p:cNvPr id="28" name="Shape 17">
            <a:extLst>
              <a:ext uri="{FF2B5EF4-FFF2-40B4-BE49-F238E27FC236}">
                <a16:creationId xmlns:a16="http://schemas.microsoft.com/office/drawing/2014/main" id="{CA36631E-39AF-7CE9-D0B5-6CC60938E8D6}"/>
              </a:ext>
            </a:extLst>
          </p:cNvPr>
          <p:cNvSpPr/>
          <p:nvPr/>
        </p:nvSpPr>
        <p:spPr>
          <a:xfrm>
            <a:off x="3565681" y="3794426"/>
            <a:ext cx="4750093" cy="541399"/>
          </a:xfrm>
          <a:prstGeom prst="rect">
            <a:avLst/>
          </a:prstGeom>
          <a:solidFill>
            <a:srgbClr val="F0FDF4"/>
          </a:solidFill>
          <a:ln w="12700">
            <a:solidFill>
              <a:srgbClr val="16A34A"/>
            </a:solidFill>
            <a:prstDash val="solid"/>
          </a:ln>
        </p:spPr>
        <p:txBody>
          <a:bodyPr/>
          <a:lstStyle/>
          <a:p>
            <a:endParaRPr lang="en-SG"/>
          </a:p>
        </p:txBody>
      </p:sp>
      <p:sp>
        <p:nvSpPr>
          <p:cNvPr id="29" name="Text 18">
            <a:extLst>
              <a:ext uri="{FF2B5EF4-FFF2-40B4-BE49-F238E27FC236}">
                <a16:creationId xmlns:a16="http://schemas.microsoft.com/office/drawing/2014/main" id="{959F68C1-A0B8-6CE2-3150-BB79FEB1D8E7}"/>
              </a:ext>
            </a:extLst>
          </p:cNvPr>
          <p:cNvSpPr/>
          <p:nvPr/>
        </p:nvSpPr>
        <p:spPr>
          <a:xfrm>
            <a:off x="3604122" y="4194091"/>
            <a:ext cx="3946475" cy="182409"/>
          </a:xfrm>
          <a:prstGeom prst="rect">
            <a:avLst/>
          </a:prstGeom>
          <a:noFill/>
          <a:ln/>
        </p:spPr>
        <p:txBody>
          <a:bodyPr wrap="square" rtlCol="0" anchor="ctr"/>
          <a:lstStyle/>
          <a:p>
            <a:pPr marL="0" indent="0">
              <a:buNone/>
            </a:pPr>
            <a:r>
              <a:rPr lang="en-US" sz="100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rPr>
              <a:t>Best Practice: One CSS file controls the look of your entire site.</a:t>
            </a:r>
          </a:p>
          <a:p>
            <a:pPr marL="0" indent="0">
              <a:buNone/>
            </a:pPr>
            <a:r>
              <a:rPr lang="en-US" sz="1100">
                <a:solidFill>
                  <a:srgbClr val="15803D"/>
                </a:solidFill>
                <a:latin typeface="Calibri" pitchFamily="34" charset="0"/>
                <a:ea typeface="Calibri" pitchFamily="34" charset="-122"/>
                <a:cs typeface="Calibri" pitchFamily="34" charset="-120"/>
              </a:rPr>
              <a:t>   </a:t>
            </a:r>
            <a:endParaRPr lang="en-US" sz="1100"/>
          </a:p>
        </p:txBody>
      </p:sp>
      <p:sp>
        <p:nvSpPr>
          <p:cNvPr id="32" name="Shape 19">
            <a:extLst>
              <a:ext uri="{FF2B5EF4-FFF2-40B4-BE49-F238E27FC236}">
                <a16:creationId xmlns:a16="http://schemas.microsoft.com/office/drawing/2014/main" id="{5AE0BFD4-664F-961C-5F38-29BA65F753A1}"/>
              </a:ext>
            </a:extLst>
          </p:cNvPr>
          <p:cNvSpPr/>
          <p:nvPr/>
        </p:nvSpPr>
        <p:spPr>
          <a:xfrm>
            <a:off x="366240" y="4390137"/>
            <a:ext cx="7949534" cy="502920"/>
          </a:xfrm>
          <a:prstGeom prst="rect">
            <a:avLst/>
          </a:prstGeom>
          <a:solidFill>
            <a:srgbClr val="DBEAFE"/>
          </a:solidFill>
          <a:ln w="12700">
            <a:solidFill>
              <a:srgbClr val="2563EB"/>
            </a:solidFill>
            <a:prstDash val="solid"/>
          </a:ln>
        </p:spPr>
        <p:txBody>
          <a:bodyPr/>
          <a:lstStyle/>
          <a:p>
            <a:endParaRPr lang="en-SG"/>
          </a:p>
        </p:txBody>
      </p:sp>
      <p:sp>
        <p:nvSpPr>
          <p:cNvPr id="33" name="Text 4">
            <a:extLst>
              <a:ext uri="{FF2B5EF4-FFF2-40B4-BE49-F238E27FC236}">
                <a16:creationId xmlns:a16="http://schemas.microsoft.com/office/drawing/2014/main" id="{115AE4F4-9BF6-D923-B973-167691945026}"/>
              </a:ext>
            </a:extLst>
          </p:cNvPr>
          <p:cNvSpPr/>
          <p:nvPr/>
        </p:nvSpPr>
        <p:spPr>
          <a:xfrm>
            <a:off x="439392" y="4481577"/>
            <a:ext cx="7999180" cy="320040"/>
          </a:xfrm>
          <a:prstGeom prst="rect">
            <a:avLst/>
          </a:prstGeom>
          <a:noFill/>
          <a:ln/>
        </p:spPr>
        <p:txBody>
          <a:bodyPr wrap="square" rtlCol="0" anchor="ctr"/>
          <a:lstStyle/>
          <a:p>
            <a:pPr marL="0" indent="0">
              <a:buNone/>
            </a:pPr>
            <a:r>
              <a:rPr lang="en-US" sz="1200">
                <a:solidFill>
                  <a:srgbClr val="2563EB"/>
                </a:solidFill>
                <a:latin typeface="Calibri" pitchFamily="34" charset="0"/>
                <a:ea typeface="Calibri" pitchFamily="34" charset="-122"/>
                <a:cs typeface="Calibri" pitchFamily="34" charset="-120"/>
              </a:rPr>
              <a:t>💡 </a:t>
            </a:r>
            <a:r>
              <a:rPr lang="en-US" sz="1200">
                <a:solidFill>
                  <a:srgbClr val="0070C0"/>
                </a:solidFill>
                <a:latin typeface="Calibri" pitchFamily="34" charset="0"/>
                <a:ea typeface="Calibri" pitchFamily="34" charset="-122"/>
                <a:cs typeface="Calibri" pitchFamily="34" charset="-120"/>
              </a:rPr>
              <a:t>Styles declared in external style sheet will affect all matching elements on all web pages linked to that style sheet. </a:t>
            </a:r>
            <a:endParaRPr lang="en-US" sz="1200">
              <a:solidFill>
                <a:srgbClr val="0070C0"/>
              </a:solidFill>
            </a:endParaRPr>
          </a:p>
        </p:txBody>
      </p:sp>
      <p:sp>
        <p:nvSpPr>
          <p:cNvPr id="36" name="TextBox 35">
            <a:extLst>
              <a:ext uri="{FF2B5EF4-FFF2-40B4-BE49-F238E27FC236}">
                <a16:creationId xmlns:a16="http://schemas.microsoft.com/office/drawing/2014/main" id="{ECCF18BB-2108-5FF3-B150-0E3277C109EE}"/>
              </a:ext>
            </a:extLst>
          </p:cNvPr>
          <p:cNvSpPr txBox="1"/>
          <p:nvPr/>
        </p:nvSpPr>
        <p:spPr>
          <a:xfrm>
            <a:off x="3595197" y="3810455"/>
            <a:ext cx="843785" cy="261610"/>
          </a:xfrm>
          <a:prstGeom prst="rect">
            <a:avLst/>
          </a:prstGeom>
          <a:noFill/>
        </p:spPr>
        <p:txBody>
          <a:bodyPr wrap="square">
            <a:spAutoFit/>
          </a:bodyPr>
          <a:lstStyle/>
          <a:p>
            <a:pPr marL="0" indent="0">
              <a:buNone/>
            </a:pPr>
            <a:r>
              <a:rPr lang="en-US" sz="1100" b="1">
                <a:solidFill>
                  <a:srgbClr val="16A34A"/>
                </a:solidFill>
                <a:latin typeface="Calibri" pitchFamily="34" charset="0"/>
                <a:ea typeface="Calibri" pitchFamily="34" charset="-122"/>
                <a:cs typeface="Calibri" pitchFamily="34" charset="-120"/>
              </a:rPr>
              <a:t>✔  Pros</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Using CSS</a:t>
            </a:r>
            <a:endParaRPr/>
          </a:p>
        </p:txBody>
      </p:sp>
      <p:graphicFrame>
        <p:nvGraphicFramePr>
          <p:cNvPr id="2" name="Table 0">
            <a:extLst>
              <a:ext uri="{FF2B5EF4-FFF2-40B4-BE49-F238E27FC236}">
                <a16:creationId xmlns:a16="http://schemas.microsoft.com/office/drawing/2014/main" id="{4F27F68E-0C8D-D2BA-0D1F-F8E6C7FD4088}"/>
              </a:ext>
            </a:extLst>
          </p:cNvPr>
          <p:cNvGraphicFramePr>
            <a:graphicFrameLocks noGrp="1"/>
          </p:cNvGraphicFramePr>
          <p:nvPr>
            <p:extLst>
              <p:ext uri="{D42A27DB-BD31-4B8C-83A1-F6EECF244321}">
                <p14:modId xmlns:p14="http://schemas.microsoft.com/office/powerpoint/2010/main" val="2712988623"/>
              </p:ext>
            </p:extLst>
          </p:nvPr>
        </p:nvGraphicFramePr>
        <p:xfrm>
          <a:off x="330534" y="1387602"/>
          <a:ext cx="8549640" cy="2368296"/>
        </p:xfrm>
        <a:graphic>
          <a:graphicData uri="http://schemas.openxmlformats.org/drawingml/2006/table">
            <a:tbl>
              <a:tblPr/>
              <a:tblGrid>
                <a:gridCol w="2137410">
                  <a:extLst>
                    <a:ext uri="{9D8B030D-6E8A-4147-A177-3AD203B41FA5}">
                      <a16:colId xmlns:a16="http://schemas.microsoft.com/office/drawing/2014/main" val="20000"/>
                    </a:ext>
                  </a:extLst>
                </a:gridCol>
                <a:gridCol w="2137410">
                  <a:extLst>
                    <a:ext uri="{9D8B030D-6E8A-4147-A177-3AD203B41FA5}">
                      <a16:colId xmlns:a16="http://schemas.microsoft.com/office/drawing/2014/main" val="20001"/>
                    </a:ext>
                  </a:extLst>
                </a:gridCol>
                <a:gridCol w="2137410">
                  <a:extLst>
                    <a:ext uri="{9D8B030D-6E8A-4147-A177-3AD203B41FA5}">
                      <a16:colId xmlns:a16="http://schemas.microsoft.com/office/drawing/2014/main" val="20002"/>
                    </a:ext>
                  </a:extLst>
                </a:gridCol>
                <a:gridCol w="2137410">
                  <a:extLst>
                    <a:ext uri="{9D8B030D-6E8A-4147-A177-3AD203B41FA5}">
                      <a16:colId xmlns:a16="http://schemas.microsoft.com/office/drawing/2014/main" val="20003"/>
                    </a:ext>
                  </a:extLst>
                </a:gridCol>
              </a:tblGrid>
              <a:tr h="502920">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Method</a:t>
                      </a:r>
                      <a:endParaRPr lang="en-US" sz="120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891B2"/>
                    </a:solidFill>
                  </a:tcPr>
                </a:tc>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Scope</a:t>
                      </a:r>
                      <a:endParaRPr lang="en-US" sz="120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891B2"/>
                    </a:solidFill>
                  </a:tcPr>
                </a:tc>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Separates Content?</a:t>
                      </a:r>
                      <a:endParaRPr lang="en-US" sz="120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891B2"/>
                    </a:solidFill>
                  </a:tcPr>
                </a:tc>
                <a:tc>
                  <a:txBody>
                    <a:bodyPr/>
                    <a:lstStyle/>
                    <a:p>
                      <a:pPr marL="0" indent="0" algn="ctr">
                        <a:buNone/>
                      </a:pPr>
                      <a:r>
                        <a:rPr lang="en-US" sz="1200" b="1">
                          <a:solidFill>
                            <a:srgbClr val="FFFFFF"/>
                          </a:solidFill>
                          <a:latin typeface="Calibri" pitchFamily="34" charset="0"/>
                          <a:ea typeface="Calibri" pitchFamily="34" charset="-122"/>
                          <a:cs typeface="Calibri" pitchFamily="34" charset="-120"/>
                        </a:rPr>
                        <a:t>Best Used When</a:t>
                      </a:r>
                      <a:endParaRPr lang="en-US" sz="120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891B2"/>
                    </a:solidFill>
                  </a:tcPr>
                </a:tc>
                <a:extLst>
                  <a:ext uri="{0D108BD9-81ED-4DB2-BD59-A6C34878D82A}">
                    <a16:rowId xmlns:a16="http://schemas.microsoft.com/office/drawing/2014/main" val="10000"/>
                  </a:ext>
                </a:extLst>
              </a:tr>
              <a:tr h="621792">
                <a:tc>
                  <a:txBody>
                    <a:bodyPr/>
                    <a:lstStyle/>
                    <a:p>
                      <a:pPr marL="0" indent="0">
                        <a:buNone/>
                      </a:pPr>
                      <a:r>
                        <a:rPr lang="en-US" sz="1200">
                          <a:solidFill>
                            <a:srgbClr val="000000"/>
                          </a:solidFill>
                          <a:latin typeface="Calibri" pitchFamily="34" charset="0"/>
                          <a:ea typeface="Calibri" pitchFamily="34" charset="-122"/>
                          <a:cs typeface="Calibri" pitchFamily="34" charset="-120"/>
                        </a:rPr>
                        <a:t>Inline</a:t>
                      </a:r>
                      <a:endParaRPr lang="en-US" sz="120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EF2F2"/>
                    </a:solidFill>
                  </a:tcPr>
                </a:tc>
                <a:tc>
                  <a:txBody>
                    <a:bodyPr/>
                    <a:lstStyle/>
                    <a:p>
                      <a:pPr marL="0" indent="0">
                        <a:buNone/>
                      </a:pPr>
                      <a:r>
                        <a:rPr lang="en-US" sz="1200">
                          <a:solidFill>
                            <a:srgbClr val="000000"/>
                          </a:solidFill>
                          <a:latin typeface="Calibri" pitchFamily="34" charset="0"/>
                          <a:ea typeface="Calibri" pitchFamily="34" charset="-122"/>
                          <a:cs typeface="Calibri" pitchFamily="34" charset="-120"/>
                        </a:rPr>
                        <a:t>One tag only</a:t>
                      </a:r>
                      <a:endParaRPr lang="en-US" sz="120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EF2F2"/>
                    </a:solidFill>
                  </a:tcPr>
                </a:tc>
                <a:tc>
                  <a:txBody>
                    <a:bodyPr/>
                    <a:lstStyle/>
                    <a:p>
                      <a:pPr marL="0" indent="0">
                        <a:buNone/>
                      </a:pPr>
                      <a:r>
                        <a:rPr lang="en-US" sz="1200">
                          <a:solidFill>
                            <a:srgbClr val="DC2626"/>
                          </a:solidFill>
                          <a:latin typeface="Calibri" pitchFamily="34" charset="0"/>
                          <a:ea typeface="Calibri" pitchFamily="34" charset="-122"/>
                          <a:cs typeface="Calibri" pitchFamily="34" charset="-120"/>
                        </a:rPr>
                        <a:t>✗  No</a:t>
                      </a:r>
                      <a:endParaRPr lang="en-US" sz="120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EF2F2"/>
                    </a:solidFill>
                  </a:tcPr>
                </a:tc>
                <a:tc>
                  <a:txBody>
                    <a:bodyPr/>
                    <a:lstStyle/>
                    <a:p>
                      <a:pPr marL="0" indent="0">
                        <a:buNone/>
                      </a:pPr>
                      <a:r>
                        <a:rPr lang="en-US" sz="1200">
                          <a:solidFill>
                            <a:srgbClr val="000000"/>
                          </a:solidFill>
                          <a:latin typeface="Calibri" pitchFamily="34" charset="0"/>
                          <a:ea typeface="Calibri" pitchFamily="34" charset="-122"/>
                          <a:cs typeface="Calibri" pitchFamily="34" charset="-120"/>
                        </a:rPr>
                        <a:t>Quick one-off fixes, use sparingly</a:t>
                      </a:r>
                      <a:endParaRPr lang="en-US" sz="120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EF2F2"/>
                    </a:solidFill>
                  </a:tcPr>
                </a:tc>
                <a:extLst>
                  <a:ext uri="{0D108BD9-81ED-4DB2-BD59-A6C34878D82A}">
                    <a16:rowId xmlns:a16="http://schemas.microsoft.com/office/drawing/2014/main" val="10001"/>
                  </a:ext>
                </a:extLst>
              </a:tr>
              <a:tr h="621792">
                <a:tc>
                  <a:txBody>
                    <a:bodyPr/>
                    <a:lstStyle/>
                    <a:p>
                      <a:pPr marL="0" indent="0">
                        <a:buNone/>
                      </a:pPr>
                      <a:r>
                        <a:rPr lang="en-US" sz="1200">
                          <a:solidFill>
                            <a:srgbClr val="000000"/>
                          </a:solidFill>
                          <a:latin typeface="Calibri" pitchFamily="34" charset="0"/>
                          <a:ea typeface="Calibri" pitchFamily="34" charset="-122"/>
                          <a:cs typeface="Calibri" pitchFamily="34" charset="-120"/>
                        </a:rPr>
                        <a:t>Internal</a:t>
                      </a:r>
                      <a:endParaRPr lang="en-US" sz="120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BEB"/>
                    </a:solidFill>
                  </a:tcPr>
                </a:tc>
                <a:tc>
                  <a:txBody>
                    <a:bodyPr/>
                    <a:lstStyle/>
                    <a:p>
                      <a:pPr marL="0" indent="0">
                        <a:buNone/>
                      </a:pPr>
                      <a:r>
                        <a:rPr lang="en-US" sz="1200">
                          <a:solidFill>
                            <a:srgbClr val="000000"/>
                          </a:solidFill>
                          <a:latin typeface="Calibri" pitchFamily="34" charset="0"/>
                          <a:ea typeface="Calibri" pitchFamily="34" charset="-122"/>
                          <a:cs typeface="Calibri" pitchFamily="34" charset="-120"/>
                        </a:rPr>
                        <a:t>One page</a:t>
                      </a:r>
                      <a:endParaRPr lang="en-US" sz="120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BEB"/>
                    </a:solidFill>
                  </a:tcPr>
                </a:tc>
                <a:tc>
                  <a:txBody>
                    <a:bodyPr/>
                    <a:lstStyle/>
                    <a:p>
                      <a:pPr marL="0" indent="0">
                        <a:buNone/>
                      </a:pPr>
                      <a:r>
                        <a:rPr lang="en-US" sz="1200">
                          <a:solidFill>
                            <a:srgbClr val="EA580C"/>
                          </a:solidFill>
                          <a:latin typeface="Calibri" pitchFamily="34" charset="0"/>
                          <a:ea typeface="Calibri" pitchFamily="34" charset="-122"/>
                          <a:cs typeface="Calibri" pitchFamily="34" charset="-120"/>
                        </a:rPr>
                        <a:t>Somewhat</a:t>
                      </a:r>
                      <a:endParaRPr lang="en-US" sz="120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BEB"/>
                    </a:solidFill>
                  </a:tcPr>
                </a:tc>
                <a:tc>
                  <a:txBody>
                    <a:bodyPr/>
                    <a:lstStyle/>
                    <a:p>
                      <a:pPr marL="0" indent="0">
                        <a:buNone/>
                      </a:pPr>
                      <a:r>
                        <a:rPr lang="en-US" sz="1200">
                          <a:solidFill>
                            <a:srgbClr val="000000"/>
                          </a:solidFill>
                          <a:latin typeface="Calibri" pitchFamily="34" charset="0"/>
                          <a:ea typeface="Calibri" pitchFamily="34" charset="-122"/>
                          <a:cs typeface="Calibri" pitchFamily="34" charset="-120"/>
                        </a:rPr>
                        <a:t>Single-page or small sites</a:t>
                      </a:r>
                      <a:endParaRPr lang="en-US" sz="120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BEB"/>
                    </a:solidFill>
                  </a:tcPr>
                </a:tc>
                <a:extLst>
                  <a:ext uri="{0D108BD9-81ED-4DB2-BD59-A6C34878D82A}">
                    <a16:rowId xmlns:a16="http://schemas.microsoft.com/office/drawing/2014/main" val="10002"/>
                  </a:ext>
                </a:extLst>
              </a:tr>
              <a:tr h="621792">
                <a:tc>
                  <a:txBody>
                    <a:bodyPr/>
                    <a:lstStyle/>
                    <a:p>
                      <a:pPr marL="0" indent="0">
                        <a:buNone/>
                      </a:pPr>
                      <a:r>
                        <a:rPr lang="en-US" sz="1200">
                          <a:solidFill>
                            <a:srgbClr val="000000"/>
                          </a:solidFill>
                          <a:latin typeface="Calibri" pitchFamily="34" charset="0"/>
                          <a:ea typeface="Calibri" pitchFamily="34" charset="-122"/>
                          <a:cs typeface="Calibri" pitchFamily="34" charset="-120"/>
                        </a:rPr>
                        <a:t>External</a:t>
                      </a:r>
                      <a:endParaRPr lang="en-US" sz="120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CFCE7"/>
                    </a:solidFill>
                  </a:tcPr>
                </a:tc>
                <a:tc>
                  <a:txBody>
                    <a:bodyPr/>
                    <a:lstStyle/>
                    <a:p>
                      <a:pPr marL="0" indent="0">
                        <a:buNone/>
                      </a:pPr>
                      <a:r>
                        <a:rPr lang="en-US" sz="1200">
                          <a:solidFill>
                            <a:srgbClr val="000000"/>
                          </a:solidFill>
                          <a:latin typeface="Calibri" pitchFamily="34" charset="0"/>
                          <a:ea typeface="Calibri" pitchFamily="34" charset="-122"/>
                          <a:cs typeface="Calibri" pitchFamily="34" charset="-120"/>
                        </a:rPr>
                        <a:t>All linked pages</a:t>
                      </a:r>
                      <a:endParaRPr lang="en-US" sz="120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CFCE7"/>
                    </a:solidFill>
                  </a:tcPr>
                </a:tc>
                <a:tc>
                  <a:txBody>
                    <a:bodyPr/>
                    <a:lstStyle/>
                    <a:p>
                      <a:pPr marL="0" indent="0">
                        <a:buNone/>
                      </a:pPr>
                      <a:r>
                        <a:rPr lang="en-US" sz="1200">
                          <a:solidFill>
                            <a:srgbClr val="16A34A"/>
                          </a:solidFill>
                          <a:latin typeface="Calibri" pitchFamily="34" charset="0"/>
                          <a:ea typeface="Calibri" pitchFamily="34" charset="-122"/>
                          <a:cs typeface="Calibri" pitchFamily="34" charset="-120"/>
                        </a:rPr>
                        <a:t>✔  Yes</a:t>
                      </a:r>
                      <a:endParaRPr lang="en-US" sz="120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CFCE7"/>
                    </a:solidFill>
                  </a:tcPr>
                </a:tc>
                <a:tc>
                  <a:txBody>
                    <a:bodyPr/>
                    <a:lstStyle/>
                    <a:p>
                      <a:pPr marL="0" indent="0">
                        <a:buNone/>
                      </a:pPr>
                      <a:r>
                        <a:rPr lang="en-US" sz="1200" b="1">
                          <a:solidFill>
                            <a:srgbClr val="000000"/>
                          </a:solidFill>
                          <a:latin typeface="Calibri" pitchFamily="34" charset="0"/>
                          <a:ea typeface="Calibri" pitchFamily="34" charset="-122"/>
                          <a:cs typeface="Calibri" pitchFamily="34" charset="-120"/>
                        </a:rPr>
                        <a:t>Multi-page sites</a:t>
                      </a:r>
                      <a:endParaRPr lang="en-US" sz="120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DCFCE7"/>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9"/>
          <p:cNvSpPr txBox="1">
            <a:spLocks noGrp="1"/>
          </p:cNvSpPr>
          <p:nvPr>
            <p:ph type="title"/>
          </p:nvPr>
        </p:nvSpPr>
        <p:spPr>
          <a:xfrm>
            <a:off x="311700" y="315925"/>
            <a:ext cx="864942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CSS Syntax</a:t>
            </a:r>
            <a:endParaRPr/>
          </a:p>
        </p:txBody>
      </p:sp>
      <p:sp>
        <p:nvSpPr>
          <p:cNvPr id="112" name="Google Shape;112;p9"/>
          <p:cNvSpPr txBox="1">
            <a:spLocks noGrp="1"/>
          </p:cNvSpPr>
          <p:nvPr>
            <p:ph type="body" idx="1"/>
          </p:nvPr>
        </p:nvSpPr>
        <p:spPr>
          <a:xfrm>
            <a:off x="311700" y="1225225"/>
            <a:ext cx="3999900" cy="267240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The syntax of CSS</a:t>
            </a:r>
            <a:endParaRPr b="1"/>
          </a:p>
          <a:p>
            <a:pPr marL="0" lvl="0" indent="0" algn="l" rtl="0">
              <a:lnSpc>
                <a:spcPct val="115000"/>
              </a:lnSpc>
              <a:spcBef>
                <a:spcPts val="1600"/>
              </a:spcBef>
              <a:spcAft>
                <a:spcPts val="0"/>
              </a:spcAft>
              <a:buSzPts val="1400"/>
              <a:buNone/>
            </a:pPr>
            <a:r>
              <a:rPr lang="en" b="1">
                <a:solidFill>
                  <a:srgbClr val="002060"/>
                </a:solidFill>
              </a:rPr>
              <a:t>selector { property: value; } </a:t>
            </a:r>
            <a:endParaRPr b="1">
              <a:solidFill>
                <a:srgbClr val="002060"/>
              </a:solidFill>
            </a:endParaRPr>
          </a:p>
          <a:p>
            <a:pPr marL="0" lvl="0" indent="0" algn="l" rtl="0">
              <a:lnSpc>
                <a:spcPct val="115000"/>
              </a:lnSpc>
              <a:spcBef>
                <a:spcPts val="1600"/>
              </a:spcBef>
              <a:spcAft>
                <a:spcPts val="0"/>
              </a:spcAft>
              <a:buClr>
                <a:schemeClr val="dk1"/>
              </a:buClr>
              <a:buSzPts val="1100"/>
              <a:buFont typeface="Arial"/>
              <a:buNone/>
            </a:pPr>
            <a:r>
              <a:rPr lang="en"/>
              <a:t>A semicolon must be placed after each CSS declaration.  </a:t>
            </a:r>
          </a:p>
          <a:p>
            <a:pPr marL="0" lvl="0" indent="0" algn="l" rtl="0">
              <a:lnSpc>
                <a:spcPct val="115000"/>
              </a:lnSpc>
              <a:spcBef>
                <a:spcPts val="1600"/>
              </a:spcBef>
              <a:spcAft>
                <a:spcPts val="0"/>
              </a:spcAft>
              <a:buClr>
                <a:schemeClr val="dk1"/>
              </a:buClr>
              <a:buSzPts val="1100"/>
              <a:buFont typeface="Arial"/>
              <a:buNone/>
            </a:pPr>
            <a:r>
              <a:rPr lang="en">
                <a:solidFill>
                  <a:srgbClr val="C00000"/>
                </a:solidFill>
              </a:rPr>
              <a:t>Omitting this semicolon </a:t>
            </a:r>
            <a:r>
              <a:rPr lang="en"/>
              <a:t>is the single most common mistake made by those learning CSS.</a:t>
            </a:r>
            <a:endParaRPr sz="1600">
              <a:latin typeface="Arial"/>
              <a:ea typeface="Arial"/>
              <a:cs typeface="Arial"/>
              <a:sym typeface="Arial"/>
            </a:endParaRPr>
          </a:p>
          <a:p>
            <a:pPr marL="0" lvl="0" indent="0" algn="l" rtl="0">
              <a:lnSpc>
                <a:spcPct val="115000"/>
              </a:lnSpc>
              <a:spcBef>
                <a:spcPts val="0"/>
              </a:spcBef>
              <a:spcAft>
                <a:spcPts val="1600"/>
              </a:spcAft>
              <a:buSzPts val="1400"/>
              <a:buNone/>
            </a:pPr>
            <a:endParaRPr/>
          </a:p>
        </p:txBody>
      </p:sp>
      <p:sp>
        <p:nvSpPr>
          <p:cNvPr id="4" name="Shape 17">
            <a:extLst>
              <a:ext uri="{FF2B5EF4-FFF2-40B4-BE49-F238E27FC236}">
                <a16:creationId xmlns:a16="http://schemas.microsoft.com/office/drawing/2014/main" id="{D542913D-F68F-CA39-60BF-4D536FCE5D94}"/>
              </a:ext>
            </a:extLst>
          </p:cNvPr>
          <p:cNvSpPr/>
          <p:nvPr/>
        </p:nvSpPr>
        <p:spPr>
          <a:xfrm>
            <a:off x="4572000" y="1245870"/>
            <a:ext cx="3959208" cy="2651760"/>
          </a:xfrm>
          <a:prstGeom prst="rect">
            <a:avLst/>
          </a:prstGeom>
          <a:solidFill>
            <a:srgbClr val="1E293B"/>
          </a:solidFill>
          <a:ln w="12700">
            <a:solidFill>
              <a:srgbClr val="334155"/>
            </a:solidFill>
            <a:prstDash val="solid"/>
          </a:ln>
        </p:spPr>
        <p:txBody>
          <a:bodyPr/>
          <a:lstStyle/>
          <a:p>
            <a:endParaRPr lang="en-SG"/>
          </a:p>
        </p:txBody>
      </p:sp>
      <p:sp>
        <p:nvSpPr>
          <p:cNvPr id="5" name="Text 18">
            <a:extLst>
              <a:ext uri="{FF2B5EF4-FFF2-40B4-BE49-F238E27FC236}">
                <a16:creationId xmlns:a16="http://schemas.microsoft.com/office/drawing/2014/main" id="{7626A0CF-81A6-A8FC-D04A-96834FFF1280}"/>
              </a:ext>
            </a:extLst>
          </p:cNvPr>
          <p:cNvSpPr/>
          <p:nvPr/>
        </p:nvSpPr>
        <p:spPr>
          <a:xfrm>
            <a:off x="4589484" y="1319022"/>
            <a:ext cx="4242816" cy="2505456"/>
          </a:xfrm>
          <a:prstGeom prst="rect">
            <a:avLst/>
          </a:prstGeom>
          <a:noFill/>
          <a:ln/>
        </p:spPr>
        <p:txBody>
          <a:bodyPr wrap="square" rtlCol="0" anchor="t"/>
          <a:lstStyle/>
          <a:p>
            <a:pPr marL="0" indent="0">
              <a:buNone/>
            </a:pPr>
            <a:r>
              <a:rPr lang="en-US" sz="1000" i="1">
                <a:solidFill>
                  <a:srgbClr val="94A3B8"/>
                </a:solidFill>
                <a:latin typeface="Courier New" pitchFamily="34" charset="0"/>
                <a:ea typeface="Courier New" pitchFamily="34" charset="-122"/>
                <a:cs typeface="Courier New" pitchFamily="34" charset="-120"/>
              </a:rPr>
              <a:t>/* Single property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p { color: red;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h1 { font-style: italic; }</a:t>
            </a:r>
            <a:endParaRPr lang="en-US" sz="1000"/>
          </a:p>
          <a:p>
            <a:pPr marL="0" indent="0">
              <a:buNone/>
            </a:pPr>
            <a:endParaRPr lang="en-US" sz="1000"/>
          </a:p>
          <a:p>
            <a:pPr marL="0" indent="0">
              <a:buNone/>
            </a:pPr>
            <a:r>
              <a:rPr lang="en-US" sz="1000" i="1">
                <a:solidFill>
                  <a:srgbClr val="94A3B8"/>
                </a:solidFill>
                <a:latin typeface="Courier New" pitchFamily="34" charset="0"/>
                <a:ea typeface="Courier New" pitchFamily="34" charset="-122"/>
                <a:cs typeface="Courier New" pitchFamily="34" charset="-120"/>
              </a:rPr>
              <a:t>/* Multiple properties - same selector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p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a:t>
            </a:r>
            <a:r>
              <a:rPr lang="en-US" sz="1000">
                <a:solidFill>
                  <a:srgbClr val="7DD3FC"/>
                </a:solidFill>
                <a:latin typeface="Courier New" pitchFamily="34" charset="0"/>
                <a:ea typeface="Courier New" pitchFamily="34" charset="-122"/>
                <a:cs typeface="Courier New" pitchFamily="34" charset="-120"/>
              </a:rPr>
              <a:t>color</a:t>
            </a:r>
            <a:r>
              <a:rPr lang="en-US" sz="1000">
                <a:solidFill>
                  <a:srgbClr val="CBD5E1"/>
                </a:solidFill>
                <a:latin typeface="Courier New" pitchFamily="34" charset="0"/>
                <a:ea typeface="Courier New" pitchFamily="34" charset="-122"/>
                <a:cs typeface="Courier New" pitchFamily="34" charset="-120"/>
              </a:rPr>
              <a:t>: </a:t>
            </a:r>
            <a:r>
              <a:rPr lang="en-US" sz="1000">
                <a:solidFill>
                  <a:srgbClr val="86EFAC"/>
                </a:solidFill>
                <a:latin typeface="Courier New" pitchFamily="34" charset="0"/>
                <a:ea typeface="Courier New" pitchFamily="34" charset="-122"/>
                <a:cs typeface="Courier New" pitchFamily="34" charset="-120"/>
              </a:rPr>
              <a:t>red</a:t>
            </a:r>
            <a:r>
              <a:rPr lang="en-US" sz="1000">
                <a:solidFill>
                  <a:srgbClr val="CBD5E1"/>
                </a:solidFill>
                <a:latin typeface="Courier New" pitchFamily="34" charset="0"/>
                <a:ea typeface="Courier New" pitchFamily="34" charset="-122"/>
                <a:cs typeface="Courier New" pitchFamily="34" charset="-120"/>
              </a:rPr>
              <a: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a:t>
            </a:r>
            <a:r>
              <a:rPr lang="en-US" sz="1000">
                <a:solidFill>
                  <a:srgbClr val="7DD3FC"/>
                </a:solidFill>
                <a:latin typeface="Courier New" pitchFamily="34" charset="0"/>
                <a:ea typeface="Courier New" pitchFamily="34" charset="-122"/>
                <a:cs typeface="Courier New" pitchFamily="34" charset="-120"/>
              </a:rPr>
              <a:t>font-style</a:t>
            </a:r>
            <a:r>
              <a:rPr lang="en-US" sz="1000">
                <a:solidFill>
                  <a:srgbClr val="CBD5E1"/>
                </a:solidFill>
                <a:latin typeface="Courier New" pitchFamily="34" charset="0"/>
                <a:ea typeface="Courier New" pitchFamily="34" charset="-122"/>
                <a:cs typeface="Courier New" pitchFamily="34" charset="-120"/>
              </a:rPr>
              <a:t>: </a:t>
            </a:r>
            <a:r>
              <a:rPr lang="en-US" sz="1000">
                <a:solidFill>
                  <a:srgbClr val="86EFAC"/>
                </a:solidFill>
                <a:latin typeface="Courier New" pitchFamily="34" charset="0"/>
                <a:ea typeface="Courier New" pitchFamily="34" charset="-122"/>
                <a:cs typeface="Courier New" pitchFamily="34" charset="-120"/>
              </a:rPr>
              <a:t>italic</a:t>
            </a:r>
            <a:r>
              <a:rPr lang="en-US" sz="1000">
                <a:solidFill>
                  <a:srgbClr val="CBD5E1"/>
                </a:solidFill>
                <a:latin typeface="Courier New" pitchFamily="34" charset="0"/>
                <a:ea typeface="Courier New" pitchFamily="34" charset="-122"/>
                <a:cs typeface="Courier New" pitchFamily="34" charset="-120"/>
              </a:rPr>
              <a: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a:t>
            </a:r>
            <a:r>
              <a:rPr lang="en-US" sz="1000">
                <a:solidFill>
                  <a:srgbClr val="FDE68A"/>
                </a:solidFill>
                <a:latin typeface="Courier New" pitchFamily="34" charset="0"/>
                <a:ea typeface="Courier New" pitchFamily="34" charset="-122"/>
                <a:cs typeface="Courier New" pitchFamily="34" charset="-120"/>
              </a:rPr>
              <a:t>text-align</a:t>
            </a:r>
            <a:r>
              <a:rPr lang="en-US" sz="1000">
                <a:solidFill>
                  <a:srgbClr val="CBD5E1"/>
                </a:solidFill>
                <a:latin typeface="Courier New" pitchFamily="34" charset="0"/>
                <a:ea typeface="Courier New" pitchFamily="34" charset="-122"/>
                <a:cs typeface="Courier New" pitchFamily="34" charset="-120"/>
              </a:rPr>
              <a:t>: </a:t>
            </a:r>
            <a:r>
              <a:rPr lang="en-US" sz="1000">
                <a:solidFill>
                  <a:srgbClr val="FDE68A"/>
                </a:solidFill>
                <a:latin typeface="Courier New" pitchFamily="34" charset="0"/>
                <a:ea typeface="Courier New" pitchFamily="34" charset="-122"/>
                <a:cs typeface="Courier New" pitchFamily="34" charset="-120"/>
              </a:rPr>
              <a:t>center</a:t>
            </a:r>
            <a:r>
              <a:rPr lang="en-US" sz="1000">
                <a:solidFill>
                  <a:srgbClr val="CBD5E1"/>
                </a:solidFill>
                <a:latin typeface="Courier New" pitchFamily="34" charset="0"/>
                <a:ea typeface="Courier New" pitchFamily="34" charset="-122"/>
                <a:cs typeface="Courier New" pitchFamily="34" charset="-120"/>
              </a:rPr>
              <a: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a:t>
            </a:r>
            <a:endParaRPr lang="en-US" sz="1000"/>
          </a:p>
          <a:p>
            <a:pPr marL="0" indent="0">
              <a:buNone/>
            </a:pPr>
            <a:endParaRPr lang="en-US" sz="1000"/>
          </a:p>
          <a:p>
            <a:pPr marL="0" indent="0">
              <a:buNone/>
            </a:pPr>
            <a:r>
              <a:rPr lang="en-US" sz="1000" i="1">
                <a:solidFill>
                  <a:srgbClr val="94A3B8"/>
                </a:solidFill>
                <a:latin typeface="Courier New" pitchFamily="34" charset="0"/>
                <a:ea typeface="Courier New" pitchFamily="34" charset="-122"/>
                <a:cs typeface="Courier New" pitchFamily="34" charset="-120"/>
              </a:rPr>
              <a:t>/* Group selectors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h1, h2 { color: blue; }</a:t>
            </a:r>
            <a:endParaRPr lang="en-US" sz="1000"/>
          </a:p>
        </p:txBody>
      </p:sp>
      <p:grpSp>
        <p:nvGrpSpPr>
          <p:cNvPr id="2" name="Group 1">
            <a:extLst>
              <a:ext uri="{FF2B5EF4-FFF2-40B4-BE49-F238E27FC236}">
                <a16:creationId xmlns:a16="http://schemas.microsoft.com/office/drawing/2014/main" id="{C4801DCF-1B8D-DF6D-24C1-B301267B2085}"/>
              </a:ext>
            </a:extLst>
          </p:cNvPr>
          <p:cNvGrpSpPr/>
          <p:nvPr/>
        </p:nvGrpSpPr>
        <p:grpSpPr>
          <a:xfrm>
            <a:off x="366240" y="4390137"/>
            <a:ext cx="8164968" cy="502920"/>
            <a:chOff x="366240" y="4390137"/>
            <a:chExt cx="8164968" cy="502920"/>
          </a:xfrm>
        </p:grpSpPr>
        <p:sp>
          <p:nvSpPr>
            <p:cNvPr id="6" name="Shape 19">
              <a:extLst>
                <a:ext uri="{FF2B5EF4-FFF2-40B4-BE49-F238E27FC236}">
                  <a16:creationId xmlns:a16="http://schemas.microsoft.com/office/drawing/2014/main" id="{BF069D4B-1A8D-1C80-8BDA-7083CC6F0CE2}"/>
                </a:ext>
              </a:extLst>
            </p:cNvPr>
            <p:cNvSpPr/>
            <p:nvPr/>
          </p:nvSpPr>
          <p:spPr>
            <a:xfrm>
              <a:off x="366240" y="4390137"/>
              <a:ext cx="8164968" cy="502920"/>
            </a:xfrm>
            <a:prstGeom prst="rect">
              <a:avLst/>
            </a:prstGeom>
            <a:solidFill>
              <a:srgbClr val="DBEAFE"/>
            </a:solidFill>
            <a:ln w="12700">
              <a:solidFill>
                <a:srgbClr val="2563EB"/>
              </a:solidFill>
              <a:prstDash val="solid"/>
            </a:ln>
          </p:spPr>
          <p:txBody>
            <a:bodyPr/>
            <a:lstStyle/>
            <a:p>
              <a:endParaRPr lang="en-SG"/>
            </a:p>
          </p:txBody>
        </p:sp>
        <p:sp>
          <p:nvSpPr>
            <p:cNvPr id="7" name="Text 4">
              <a:extLst>
                <a:ext uri="{FF2B5EF4-FFF2-40B4-BE49-F238E27FC236}">
                  <a16:creationId xmlns:a16="http://schemas.microsoft.com/office/drawing/2014/main" id="{8406E319-5B84-F35C-3CF3-F4D6DEB5B8B0}"/>
                </a:ext>
              </a:extLst>
            </p:cNvPr>
            <p:cNvSpPr/>
            <p:nvPr/>
          </p:nvSpPr>
          <p:spPr>
            <a:xfrm>
              <a:off x="439392" y="4481577"/>
              <a:ext cx="7999180" cy="320040"/>
            </a:xfrm>
            <a:prstGeom prst="rect">
              <a:avLst/>
            </a:prstGeom>
            <a:noFill/>
            <a:ln/>
          </p:spPr>
          <p:txBody>
            <a:bodyPr wrap="square" rtlCol="0" anchor="ctr"/>
            <a:lstStyle/>
            <a:p>
              <a:pPr marL="0" indent="0">
                <a:buNone/>
              </a:pPr>
              <a:r>
                <a:rPr lang="en-US" sz="1200">
                  <a:solidFill>
                    <a:srgbClr val="2563EB"/>
                  </a:solidFill>
                  <a:latin typeface="Calibri" pitchFamily="34" charset="0"/>
                  <a:ea typeface="Calibri" pitchFamily="34" charset="-122"/>
                  <a:cs typeface="Calibri" pitchFamily="34" charset="-120"/>
                </a:rPr>
                <a:t>💡 </a:t>
              </a:r>
              <a:r>
                <a:rPr lang="en-US" sz="1200">
                  <a:solidFill>
                    <a:srgbClr val="0070C0"/>
                  </a:solidFill>
                  <a:latin typeface="Calibri" pitchFamily="34" charset="0"/>
                  <a:ea typeface="Calibri" pitchFamily="34" charset="-122"/>
                  <a:cs typeface="Calibri" pitchFamily="34" charset="-120"/>
                </a:rPr>
                <a:t>We can have as many properties as we want to style within a single selector.</a:t>
              </a:r>
              <a:endParaRPr lang="en-US" sz="1200">
                <a:solidFill>
                  <a:srgbClr val="0070C0"/>
                </a:solidFil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1</a:t>
            </a:r>
            <a:endParaRPr/>
          </a:p>
        </p:txBody>
      </p:sp>
      <p:sp>
        <p:nvSpPr>
          <p:cNvPr id="147" name="Google Shape;147;p14"/>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a:t>Given ex1-Page1.html, build ex1-Page2.html and ex1-Page3.html such that</a:t>
            </a:r>
            <a:endParaRPr/>
          </a:p>
          <a:p>
            <a:pPr marL="457200" lvl="0" indent="-317500" algn="l" rtl="0">
              <a:lnSpc>
                <a:spcPct val="115000"/>
              </a:lnSpc>
              <a:spcBef>
                <a:spcPts val="1600"/>
              </a:spcBef>
              <a:spcAft>
                <a:spcPts val="0"/>
              </a:spcAft>
              <a:buSzPts val="1400"/>
              <a:buChar char="●"/>
            </a:pPr>
            <a:r>
              <a:rPr lang="en"/>
              <a:t>They have the same appearance as ex1-Page1.html.</a:t>
            </a:r>
            <a:endParaRPr/>
          </a:p>
          <a:p>
            <a:pPr marL="457200" lvl="0" indent="-317500" algn="l" rtl="0">
              <a:lnSpc>
                <a:spcPct val="115000"/>
              </a:lnSpc>
              <a:spcBef>
                <a:spcPts val="0"/>
              </a:spcBef>
              <a:spcAft>
                <a:spcPts val="0"/>
              </a:spcAft>
              <a:buSzPts val="1400"/>
              <a:buChar char="●"/>
            </a:pPr>
            <a:r>
              <a:rPr lang="en"/>
              <a:t>ex1-Page2.html uses </a:t>
            </a:r>
            <a:r>
              <a:rPr lang="en">
                <a:solidFill>
                  <a:srgbClr val="0070C0"/>
                </a:solidFill>
              </a:rPr>
              <a:t>inline style sheet</a:t>
            </a:r>
            <a:r>
              <a:rPr lang="en"/>
              <a:t>. </a:t>
            </a:r>
            <a:endParaRPr/>
          </a:p>
          <a:p>
            <a:pPr marL="457200" lvl="0" indent="-317500" algn="l" rtl="0">
              <a:lnSpc>
                <a:spcPct val="115000"/>
              </a:lnSpc>
              <a:spcBef>
                <a:spcPts val="0"/>
              </a:spcBef>
              <a:spcAft>
                <a:spcPts val="0"/>
              </a:spcAft>
              <a:buSzPts val="1400"/>
              <a:buChar char="●"/>
            </a:pPr>
            <a:r>
              <a:rPr lang="en"/>
              <a:t>ex1-Page3.html uses </a:t>
            </a:r>
            <a:r>
              <a:rPr lang="en">
                <a:solidFill>
                  <a:srgbClr val="0070C0"/>
                </a:solidFill>
              </a:rPr>
              <a:t>external style sheet </a:t>
            </a:r>
            <a:r>
              <a:rPr lang="en"/>
              <a:t>only. </a:t>
            </a:r>
            <a:endParaRPr/>
          </a:p>
        </p:txBody>
      </p:sp>
      <p:pic>
        <p:nvPicPr>
          <p:cNvPr id="148" name="Google Shape;148;p14"/>
          <p:cNvPicPr preferRelativeResize="0"/>
          <p:nvPr/>
        </p:nvPicPr>
        <p:blipFill rotWithShape="1">
          <a:blip r:embed="rId3">
            <a:alphaModFix/>
          </a:blip>
          <a:srcRect/>
          <a:stretch/>
        </p:blipFill>
        <p:spPr>
          <a:xfrm>
            <a:off x="4739550" y="1147225"/>
            <a:ext cx="3828794" cy="3691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CSS Syntax: Selector types</a:t>
            </a:r>
            <a:endParaRPr/>
          </a:p>
        </p:txBody>
      </p:sp>
      <p:grpSp>
        <p:nvGrpSpPr>
          <p:cNvPr id="20" name="Group 19">
            <a:extLst>
              <a:ext uri="{FF2B5EF4-FFF2-40B4-BE49-F238E27FC236}">
                <a16:creationId xmlns:a16="http://schemas.microsoft.com/office/drawing/2014/main" id="{4BC39070-9EFB-D468-2CD0-D57D3C2CADF0}"/>
              </a:ext>
            </a:extLst>
          </p:cNvPr>
          <p:cNvGrpSpPr/>
          <p:nvPr/>
        </p:nvGrpSpPr>
        <p:grpSpPr>
          <a:xfrm>
            <a:off x="526618" y="2435812"/>
            <a:ext cx="3454613" cy="1162485"/>
            <a:chOff x="437571" y="1484966"/>
            <a:chExt cx="3840480" cy="1252728"/>
          </a:xfrm>
        </p:grpSpPr>
        <p:sp>
          <p:nvSpPr>
            <p:cNvPr id="2" name="Shape 22">
              <a:extLst>
                <a:ext uri="{FF2B5EF4-FFF2-40B4-BE49-F238E27FC236}">
                  <a16:creationId xmlns:a16="http://schemas.microsoft.com/office/drawing/2014/main" id="{382A76AA-AA68-0FAA-C8EE-2B6075F4E076}"/>
                </a:ext>
              </a:extLst>
            </p:cNvPr>
            <p:cNvSpPr/>
            <p:nvPr/>
          </p:nvSpPr>
          <p:spPr>
            <a:xfrm>
              <a:off x="437571" y="1484966"/>
              <a:ext cx="1828800" cy="566928"/>
            </a:xfrm>
            <a:prstGeom prst="rect">
              <a:avLst/>
            </a:prstGeom>
            <a:solidFill>
              <a:srgbClr val="F1F5F9"/>
            </a:solidFill>
            <a:ln w="12700">
              <a:solidFill>
                <a:srgbClr val="E2E8F0"/>
              </a:solidFill>
              <a:prstDash val="solid"/>
            </a:ln>
          </p:spPr>
          <p:txBody>
            <a:bodyPr/>
            <a:lstStyle/>
            <a:p>
              <a:endParaRPr lang="en-SG"/>
            </a:p>
          </p:txBody>
        </p:sp>
        <p:sp>
          <p:nvSpPr>
            <p:cNvPr id="3" name="Text 23">
              <a:extLst>
                <a:ext uri="{FF2B5EF4-FFF2-40B4-BE49-F238E27FC236}">
                  <a16:creationId xmlns:a16="http://schemas.microsoft.com/office/drawing/2014/main" id="{C94EE5CF-71C2-4722-F6E2-33CC86A0582E}"/>
                </a:ext>
              </a:extLst>
            </p:cNvPr>
            <p:cNvSpPr/>
            <p:nvPr/>
          </p:nvSpPr>
          <p:spPr>
            <a:xfrm>
              <a:off x="437571" y="1521542"/>
              <a:ext cx="1828800" cy="256032"/>
            </a:xfrm>
            <a:prstGeom prst="rect">
              <a:avLst/>
            </a:prstGeom>
            <a:noFill/>
            <a:ln/>
          </p:spPr>
          <p:txBody>
            <a:bodyPr wrap="square" rtlCol="0" anchor="ctr"/>
            <a:lstStyle/>
            <a:p>
              <a:pPr marL="0" indent="0" algn="ctr">
                <a:buNone/>
              </a:pPr>
              <a:r>
                <a:rPr lang="en-US" sz="1300" b="1">
                  <a:solidFill>
                    <a:srgbClr val="2563EB"/>
                  </a:solidFill>
                  <a:latin typeface="Courier New" pitchFamily="34" charset="0"/>
                  <a:ea typeface="Courier New" pitchFamily="34" charset="-122"/>
                  <a:cs typeface="Courier New" pitchFamily="34" charset="-120"/>
                </a:rPr>
                <a:t>p </a:t>
              </a:r>
              <a:endParaRPr lang="en-US" sz="1300"/>
            </a:p>
          </p:txBody>
        </p:sp>
        <p:sp>
          <p:nvSpPr>
            <p:cNvPr id="4" name="Text 24">
              <a:extLst>
                <a:ext uri="{FF2B5EF4-FFF2-40B4-BE49-F238E27FC236}">
                  <a16:creationId xmlns:a16="http://schemas.microsoft.com/office/drawing/2014/main" id="{ED5A9928-5792-E8AD-E4A6-27C9F2FAE805}"/>
                </a:ext>
              </a:extLst>
            </p:cNvPr>
            <p:cNvSpPr/>
            <p:nvPr/>
          </p:nvSpPr>
          <p:spPr>
            <a:xfrm>
              <a:off x="437571" y="1786718"/>
              <a:ext cx="1828800" cy="182880"/>
            </a:xfrm>
            <a:prstGeom prst="rect">
              <a:avLst/>
            </a:prstGeom>
            <a:noFill/>
            <a:ln/>
          </p:spPr>
          <p:txBody>
            <a:bodyPr wrap="square" rtlCol="0" anchor="ctr"/>
            <a:lstStyle/>
            <a:p>
              <a:pPr marL="0" indent="0" algn="ctr">
                <a:buNone/>
              </a:pPr>
              <a:r>
                <a:rPr lang="en-US" sz="850">
                  <a:solidFill>
                    <a:srgbClr val="64748B"/>
                  </a:solidFill>
                  <a:latin typeface="Calibri" pitchFamily="34" charset="0"/>
                  <a:ea typeface="Calibri" pitchFamily="34" charset="-122"/>
                  <a:cs typeface="Calibri" pitchFamily="34" charset="-120"/>
                </a:rPr>
                <a:t>Element Selector</a:t>
              </a:r>
              <a:endParaRPr lang="en-US" sz="850"/>
            </a:p>
          </p:txBody>
        </p:sp>
        <p:sp>
          <p:nvSpPr>
            <p:cNvPr id="5" name="Shape 25">
              <a:extLst>
                <a:ext uri="{FF2B5EF4-FFF2-40B4-BE49-F238E27FC236}">
                  <a16:creationId xmlns:a16="http://schemas.microsoft.com/office/drawing/2014/main" id="{138F8B81-7A6F-99C6-B971-A507A686C3E7}"/>
                </a:ext>
              </a:extLst>
            </p:cNvPr>
            <p:cNvSpPr/>
            <p:nvPr/>
          </p:nvSpPr>
          <p:spPr>
            <a:xfrm>
              <a:off x="2449251" y="1484966"/>
              <a:ext cx="1828800" cy="566928"/>
            </a:xfrm>
            <a:prstGeom prst="rect">
              <a:avLst/>
            </a:prstGeom>
            <a:solidFill>
              <a:srgbClr val="F1F5F9"/>
            </a:solidFill>
            <a:ln w="12700">
              <a:solidFill>
                <a:srgbClr val="E2E8F0"/>
              </a:solidFill>
              <a:prstDash val="solid"/>
            </a:ln>
          </p:spPr>
          <p:txBody>
            <a:bodyPr/>
            <a:lstStyle/>
            <a:p>
              <a:endParaRPr lang="en-SG"/>
            </a:p>
          </p:txBody>
        </p:sp>
        <p:sp>
          <p:nvSpPr>
            <p:cNvPr id="6" name="Text 26">
              <a:extLst>
                <a:ext uri="{FF2B5EF4-FFF2-40B4-BE49-F238E27FC236}">
                  <a16:creationId xmlns:a16="http://schemas.microsoft.com/office/drawing/2014/main" id="{84054AF7-3913-6F83-5EBD-5E80C2EAE17D}"/>
                </a:ext>
              </a:extLst>
            </p:cNvPr>
            <p:cNvSpPr/>
            <p:nvPr/>
          </p:nvSpPr>
          <p:spPr>
            <a:xfrm>
              <a:off x="2449251" y="1521542"/>
              <a:ext cx="1828800" cy="256032"/>
            </a:xfrm>
            <a:prstGeom prst="rect">
              <a:avLst/>
            </a:prstGeom>
            <a:noFill/>
            <a:ln/>
          </p:spPr>
          <p:txBody>
            <a:bodyPr wrap="square" rtlCol="0" anchor="ctr"/>
            <a:lstStyle/>
            <a:p>
              <a:pPr marL="0" indent="0" algn="ctr">
                <a:buNone/>
              </a:pPr>
              <a:r>
                <a:rPr lang="en-US" sz="1300" b="1">
                  <a:solidFill>
                    <a:srgbClr val="2563EB"/>
                  </a:solidFill>
                  <a:latin typeface="Courier New" pitchFamily="34" charset="0"/>
                  <a:ea typeface="Courier New" pitchFamily="34" charset="-122"/>
                  <a:cs typeface="Courier New" pitchFamily="34" charset="-120"/>
                </a:rPr>
                <a:t>#id</a:t>
              </a:r>
              <a:endParaRPr lang="en-US" sz="1300"/>
            </a:p>
          </p:txBody>
        </p:sp>
        <p:sp>
          <p:nvSpPr>
            <p:cNvPr id="7" name="Text 27">
              <a:extLst>
                <a:ext uri="{FF2B5EF4-FFF2-40B4-BE49-F238E27FC236}">
                  <a16:creationId xmlns:a16="http://schemas.microsoft.com/office/drawing/2014/main" id="{E2E9CAC5-C91A-2F36-D1B5-7E5C926D0B0E}"/>
                </a:ext>
              </a:extLst>
            </p:cNvPr>
            <p:cNvSpPr/>
            <p:nvPr/>
          </p:nvSpPr>
          <p:spPr>
            <a:xfrm>
              <a:off x="2449251" y="1786718"/>
              <a:ext cx="1828800" cy="182880"/>
            </a:xfrm>
            <a:prstGeom prst="rect">
              <a:avLst/>
            </a:prstGeom>
            <a:noFill/>
            <a:ln/>
          </p:spPr>
          <p:txBody>
            <a:bodyPr wrap="square" rtlCol="0" anchor="ctr"/>
            <a:lstStyle/>
            <a:p>
              <a:pPr marL="0" indent="0" algn="ctr">
                <a:buNone/>
              </a:pPr>
              <a:r>
                <a:rPr lang="en-US" sz="850">
                  <a:solidFill>
                    <a:srgbClr val="64748B"/>
                  </a:solidFill>
                  <a:latin typeface="Calibri" pitchFamily="34" charset="0"/>
                  <a:ea typeface="Calibri" pitchFamily="34" charset="-122"/>
                  <a:cs typeface="Calibri" pitchFamily="34" charset="-120"/>
                </a:rPr>
                <a:t>ID Selector</a:t>
              </a:r>
              <a:endParaRPr lang="en-US" sz="850"/>
            </a:p>
          </p:txBody>
        </p:sp>
        <p:sp>
          <p:nvSpPr>
            <p:cNvPr id="8" name="Shape 28">
              <a:extLst>
                <a:ext uri="{FF2B5EF4-FFF2-40B4-BE49-F238E27FC236}">
                  <a16:creationId xmlns:a16="http://schemas.microsoft.com/office/drawing/2014/main" id="{83F300D0-DD7F-05F1-ABFA-C4A5B4CEE3E2}"/>
                </a:ext>
              </a:extLst>
            </p:cNvPr>
            <p:cNvSpPr/>
            <p:nvPr/>
          </p:nvSpPr>
          <p:spPr>
            <a:xfrm>
              <a:off x="437571" y="2170766"/>
              <a:ext cx="1828800" cy="566928"/>
            </a:xfrm>
            <a:prstGeom prst="rect">
              <a:avLst/>
            </a:prstGeom>
            <a:solidFill>
              <a:srgbClr val="F1F5F9"/>
            </a:solidFill>
            <a:ln w="12700">
              <a:solidFill>
                <a:srgbClr val="E2E8F0"/>
              </a:solidFill>
              <a:prstDash val="solid"/>
            </a:ln>
          </p:spPr>
          <p:txBody>
            <a:bodyPr/>
            <a:lstStyle/>
            <a:p>
              <a:endParaRPr lang="en-SG"/>
            </a:p>
          </p:txBody>
        </p:sp>
        <p:sp>
          <p:nvSpPr>
            <p:cNvPr id="9" name="Text 29">
              <a:extLst>
                <a:ext uri="{FF2B5EF4-FFF2-40B4-BE49-F238E27FC236}">
                  <a16:creationId xmlns:a16="http://schemas.microsoft.com/office/drawing/2014/main" id="{BFD45340-C38D-B005-5C3F-AA3E1C414403}"/>
                </a:ext>
              </a:extLst>
            </p:cNvPr>
            <p:cNvSpPr/>
            <p:nvPr/>
          </p:nvSpPr>
          <p:spPr>
            <a:xfrm>
              <a:off x="437571" y="2207342"/>
              <a:ext cx="1828800" cy="256032"/>
            </a:xfrm>
            <a:prstGeom prst="rect">
              <a:avLst/>
            </a:prstGeom>
            <a:noFill/>
            <a:ln/>
          </p:spPr>
          <p:txBody>
            <a:bodyPr wrap="square" rtlCol="0" anchor="ctr"/>
            <a:lstStyle/>
            <a:p>
              <a:pPr marL="0" indent="0" algn="ctr">
                <a:buNone/>
              </a:pPr>
              <a:r>
                <a:rPr lang="en-US" sz="1300" b="1">
                  <a:solidFill>
                    <a:srgbClr val="2563EB"/>
                  </a:solidFill>
                  <a:latin typeface="Courier New" pitchFamily="34" charset="0"/>
                  <a:ea typeface="Courier New" pitchFamily="34" charset="-122"/>
                  <a:cs typeface="Courier New" pitchFamily="34" charset="-120"/>
                </a:rPr>
                <a:t>.cls</a:t>
              </a:r>
              <a:endParaRPr lang="en-US" sz="1300"/>
            </a:p>
          </p:txBody>
        </p:sp>
        <p:sp>
          <p:nvSpPr>
            <p:cNvPr id="10" name="Text 30">
              <a:extLst>
                <a:ext uri="{FF2B5EF4-FFF2-40B4-BE49-F238E27FC236}">
                  <a16:creationId xmlns:a16="http://schemas.microsoft.com/office/drawing/2014/main" id="{1E4CC16A-71FD-C941-33B7-D68266456430}"/>
                </a:ext>
              </a:extLst>
            </p:cNvPr>
            <p:cNvSpPr/>
            <p:nvPr/>
          </p:nvSpPr>
          <p:spPr>
            <a:xfrm>
              <a:off x="437571" y="2472518"/>
              <a:ext cx="1828800" cy="182880"/>
            </a:xfrm>
            <a:prstGeom prst="rect">
              <a:avLst/>
            </a:prstGeom>
            <a:noFill/>
            <a:ln/>
          </p:spPr>
          <p:txBody>
            <a:bodyPr wrap="square" rtlCol="0" anchor="ctr"/>
            <a:lstStyle/>
            <a:p>
              <a:pPr marL="0" indent="0" algn="ctr">
                <a:buNone/>
              </a:pPr>
              <a:r>
                <a:rPr lang="en-US" sz="850">
                  <a:solidFill>
                    <a:srgbClr val="64748B"/>
                  </a:solidFill>
                  <a:latin typeface="Calibri" pitchFamily="34" charset="0"/>
                  <a:ea typeface="Calibri" pitchFamily="34" charset="-122"/>
                  <a:cs typeface="Calibri" pitchFamily="34" charset="-120"/>
                </a:rPr>
                <a:t>Class Selector</a:t>
              </a:r>
              <a:endParaRPr lang="en-US" sz="850"/>
            </a:p>
          </p:txBody>
        </p:sp>
        <p:sp>
          <p:nvSpPr>
            <p:cNvPr id="11" name="Shape 31">
              <a:extLst>
                <a:ext uri="{FF2B5EF4-FFF2-40B4-BE49-F238E27FC236}">
                  <a16:creationId xmlns:a16="http://schemas.microsoft.com/office/drawing/2014/main" id="{3AF361A4-5493-155C-0A2C-2D48F33C1182}"/>
                </a:ext>
              </a:extLst>
            </p:cNvPr>
            <p:cNvSpPr/>
            <p:nvPr/>
          </p:nvSpPr>
          <p:spPr>
            <a:xfrm>
              <a:off x="2449251" y="2170766"/>
              <a:ext cx="1828800" cy="566928"/>
            </a:xfrm>
            <a:prstGeom prst="rect">
              <a:avLst/>
            </a:prstGeom>
            <a:solidFill>
              <a:srgbClr val="F1F5F9"/>
            </a:solidFill>
            <a:ln w="12700">
              <a:solidFill>
                <a:srgbClr val="E2E8F0"/>
              </a:solidFill>
              <a:prstDash val="solid"/>
            </a:ln>
          </p:spPr>
          <p:txBody>
            <a:bodyPr/>
            <a:lstStyle/>
            <a:p>
              <a:r>
                <a:rPr lang="en-US"/>
                <a:t>	</a:t>
              </a:r>
              <a:endParaRPr lang="en-SG"/>
            </a:p>
          </p:txBody>
        </p:sp>
        <p:sp>
          <p:nvSpPr>
            <p:cNvPr id="12" name="Text 33">
              <a:extLst>
                <a:ext uri="{FF2B5EF4-FFF2-40B4-BE49-F238E27FC236}">
                  <a16:creationId xmlns:a16="http://schemas.microsoft.com/office/drawing/2014/main" id="{22622B4B-9A5F-EBFB-72D1-6CD3BD9095D8}"/>
                </a:ext>
              </a:extLst>
            </p:cNvPr>
            <p:cNvSpPr/>
            <p:nvPr/>
          </p:nvSpPr>
          <p:spPr>
            <a:xfrm>
              <a:off x="2449251" y="2472518"/>
              <a:ext cx="1828800" cy="182880"/>
            </a:xfrm>
            <a:prstGeom prst="rect">
              <a:avLst/>
            </a:prstGeom>
            <a:noFill/>
            <a:ln/>
          </p:spPr>
          <p:txBody>
            <a:bodyPr wrap="square" rtlCol="0" anchor="ctr"/>
            <a:lstStyle/>
            <a:p>
              <a:pPr marL="0" indent="0" algn="ctr">
                <a:buNone/>
              </a:pPr>
              <a:r>
                <a:rPr lang="en-US" sz="850">
                  <a:solidFill>
                    <a:srgbClr val="64748B"/>
                  </a:solidFill>
                  <a:latin typeface="Calibri" pitchFamily="34" charset="0"/>
                  <a:ea typeface="Calibri" pitchFamily="34" charset="-122"/>
                  <a:cs typeface="Calibri" pitchFamily="34" charset="-120"/>
                </a:rPr>
                <a:t>Universal</a:t>
              </a:r>
              <a:endParaRPr lang="en-US" sz="850"/>
            </a:p>
          </p:txBody>
        </p:sp>
        <p:sp>
          <p:nvSpPr>
            <p:cNvPr id="15" name="Text 26">
              <a:extLst>
                <a:ext uri="{FF2B5EF4-FFF2-40B4-BE49-F238E27FC236}">
                  <a16:creationId xmlns:a16="http://schemas.microsoft.com/office/drawing/2014/main" id="{C9808180-64FF-7AA4-C0DC-0F4C1CD2EC77}"/>
                </a:ext>
              </a:extLst>
            </p:cNvPr>
            <p:cNvSpPr/>
            <p:nvPr/>
          </p:nvSpPr>
          <p:spPr>
            <a:xfrm>
              <a:off x="2403292" y="2207342"/>
              <a:ext cx="1828800" cy="256032"/>
            </a:xfrm>
            <a:prstGeom prst="rect">
              <a:avLst/>
            </a:prstGeom>
            <a:noFill/>
            <a:ln/>
          </p:spPr>
          <p:txBody>
            <a:bodyPr wrap="square" rtlCol="0" anchor="ctr"/>
            <a:lstStyle/>
            <a:p>
              <a:pPr marL="0" indent="0" algn="ctr">
                <a:buNone/>
              </a:pPr>
              <a:r>
                <a:rPr lang="en-US" sz="1300" b="1">
                  <a:solidFill>
                    <a:srgbClr val="2563EB"/>
                  </a:solidFill>
                  <a:latin typeface="Courier New" pitchFamily="34" charset="0"/>
                  <a:ea typeface="Courier New" pitchFamily="34" charset="-122"/>
                  <a:cs typeface="Courier New" pitchFamily="34" charset="-120"/>
                </a:rPr>
                <a:t>*</a:t>
              </a:r>
              <a:endParaRPr lang="en-US" sz="1300"/>
            </a:p>
          </p:txBody>
        </p:sp>
      </p:grpSp>
      <p:pic>
        <p:nvPicPr>
          <p:cNvPr id="19" name="Picture 18">
            <a:extLst>
              <a:ext uri="{FF2B5EF4-FFF2-40B4-BE49-F238E27FC236}">
                <a16:creationId xmlns:a16="http://schemas.microsoft.com/office/drawing/2014/main" id="{AEC9D35A-5455-0123-3C0A-7D65236EDEB7}"/>
              </a:ext>
            </a:extLst>
          </p:cNvPr>
          <p:cNvPicPr>
            <a:picLocks noChangeAspect="1"/>
          </p:cNvPicPr>
          <p:nvPr/>
        </p:nvPicPr>
        <p:blipFill>
          <a:blip r:embed="rId3"/>
          <a:stretch>
            <a:fillRect/>
          </a:stretch>
        </p:blipFill>
        <p:spPr>
          <a:xfrm>
            <a:off x="4476105" y="1612108"/>
            <a:ext cx="4141277" cy="2961856"/>
          </a:xfrm>
          <a:prstGeom prst="rect">
            <a:avLst/>
          </a:prstGeom>
        </p:spPr>
      </p:pic>
      <p:sp>
        <p:nvSpPr>
          <p:cNvPr id="23" name="TextBox 22">
            <a:extLst>
              <a:ext uri="{FF2B5EF4-FFF2-40B4-BE49-F238E27FC236}">
                <a16:creationId xmlns:a16="http://schemas.microsoft.com/office/drawing/2014/main" id="{ABA0707E-6C5A-5DD2-C099-C6C955CA3C81}"/>
              </a:ext>
            </a:extLst>
          </p:cNvPr>
          <p:cNvSpPr txBox="1"/>
          <p:nvPr/>
        </p:nvSpPr>
        <p:spPr>
          <a:xfrm>
            <a:off x="4476105" y="1244685"/>
            <a:ext cx="4937760" cy="307777"/>
          </a:xfrm>
          <a:prstGeom prst="rect">
            <a:avLst/>
          </a:prstGeom>
          <a:noFill/>
        </p:spPr>
        <p:txBody>
          <a:bodyPr wrap="square" rtlCol="0">
            <a:spAutoFit/>
          </a:bodyPr>
          <a:lstStyle/>
          <a:p>
            <a:r>
              <a:rPr lang="en-US" i="1">
                <a:solidFill>
                  <a:schemeClr val="tx1"/>
                </a:solidFill>
              </a:rPr>
              <a:t>wk2example4.html</a:t>
            </a:r>
            <a:endParaRPr lang="en-SG" i="1">
              <a:solidFill>
                <a:schemeClr val="tx1"/>
              </a:solidFill>
            </a:endParaRPr>
          </a:p>
        </p:txBody>
      </p:sp>
      <p:cxnSp>
        <p:nvCxnSpPr>
          <p:cNvPr id="27" name="Straight Arrow Connector 26">
            <a:extLst>
              <a:ext uri="{FF2B5EF4-FFF2-40B4-BE49-F238E27FC236}">
                <a16:creationId xmlns:a16="http://schemas.microsoft.com/office/drawing/2014/main" id="{D46049B7-F618-B85E-EA62-EED16DA200EC}"/>
              </a:ext>
            </a:extLst>
          </p:cNvPr>
          <p:cNvCxnSpPr>
            <a:cxnSpLocks/>
            <a:stCxn id="2" idx="0"/>
          </p:cNvCxnSpPr>
          <p:nvPr/>
        </p:nvCxnSpPr>
        <p:spPr>
          <a:xfrm rot="5400000" flipH="1" flipV="1">
            <a:off x="2983491" y="402072"/>
            <a:ext cx="399395" cy="3668086"/>
          </a:xfrm>
          <a:prstGeom prst="bentConnector2">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6">
            <a:extLst>
              <a:ext uri="{FF2B5EF4-FFF2-40B4-BE49-F238E27FC236}">
                <a16:creationId xmlns:a16="http://schemas.microsoft.com/office/drawing/2014/main" id="{D3114F2F-A9A3-8359-B9DC-50C77B1FCD0E}"/>
              </a:ext>
            </a:extLst>
          </p:cNvPr>
          <p:cNvCxnSpPr>
            <a:cxnSpLocks/>
            <a:stCxn id="8" idx="2"/>
          </p:cNvCxnSpPr>
          <p:nvPr/>
        </p:nvCxnSpPr>
        <p:spPr>
          <a:xfrm rot="5400000" flipH="1" flipV="1">
            <a:off x="2702980" y="1284043"/>
            <a:ext cx="960418" cy="3668089"/>
          </a:xfrm>
          <a:prstGeom prst="bentConnector4">
            <a:avLst>
              <a:gd name="adj1" fmla="val -23802"/>
              <a:gd name="adj2" fmla="val 74655"/>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CSS Syntax: Class selector</a:t>
            </a:r>
            <a:endParaRPr/>
          </a:p>
        </p:txBody>
      </p:sp>
      <p:pic>
        <p:nvPicPr>
          <p:cNvPr id="3" name="Picture 2">
            <a:extLst>
              <a:ext uri="{FF2B5EF4-FFF2-40B4-BE49-F238E27FC236}">
                <a16:creationId xmlns:a16="http://schemas.microsoft.com/office/drawing/2014/main" id="{6023825A-1CDA-C901-A0CD-FE25A9F2D2AD}"/>
              </a:ext>
            </a:extLst>
          </p:cNvPr>
          <p:cNvPicPr>
            <a:picLocks noChangeAspect="1"/>
          </p:cNvPicPr>
          <p:nvPr/>
        </p:nvPicPr>
        <p:blipFill>
          <a:blip r:embed="rId3"/>
          <a:stretch>
            <a:fillRect/>
          </a:stretch>
        </p:blipFill>
        <p:spPr>
          <a:xfrm>
            <a:off x="311700" y="1426531"/>
            <a:ext cx="4304858" cy="3548068"/>
          </a:xfrm>
          <a:prstGeom prst="rect">
            <a:avLst/>
          </a:prstGeom>
        </p:spPr>
      </p:pic>
      <p:sp>
        <p:nvSpPr>
          <p:cNvPr id="4" name="TextBox 3">
            <a:extLst>
              <a:ext uri="{FF2B5EF4-FFF2-40B4-BE49-F238E27FC236}">
                <a16:creationId xmlns:a16="http://schemas.microsoft.com/office/drawing/2014/main" id="{65D4972A-E897-337A-8275-8B0275239F80}"/>
              </a:ext>
            </a:extLst>
          </p:cNvPr>
          <p:cNvSpPr txBox="1"/>
          <p:nvPr/>
        </p:nvSpPr>
        <p:spPr>
          <a:xfrm>
            <a:off x="347089" y="1106285"/>
            <a:ext cx="4572000" cy="307777"/>
          </a:xfrm>
          <a:prstGeom prst="rect">
            <a:avLst/>
          </a:prstGeom>
          <a:noFill/>
        </p:spPr>
        <p:txBody>
          <a:bodyPr wrap="square">
            <a:spAutoFit/>
          </a:bodyPr>
          <a:lstStyle/>
          <a:p>
            <a:r>
              <a:rPr lang="en-US" i="1">
                <a:solidFill>
                  <a:schemeClr val="tx1"/>
                </a:solidFill>
              </a:rPr>
              <a:t>wk2example5.html</a:t>
            </a:r>
            <a:endParaRPr lang="en-SG" i="1">
              <a:solidFill>
                <a:schemeClr val="tx1"/>
              </a:solidFill>
            </a:endParaRPr>
          </a:p>
        </p:txBody>
      </p:sp>
      <p:grpSp>
        <p:nvGrpSpPr>
          <p:cNvPr id="9" name="Group 8">
            <a:extLst>
              <a:ext uri="{FF2B5EF4-FFF2-40B4-BE49-F238E27FC236}">
                <a16:creationId xmlns:a16="http://schemas.microsoft.com/office/drawing/2014/main" id="{5CFA9254-D338-3D53-F505-9AD39AF393A4}"/>
              </a:ext>
            </a:extLst>
          </p:cNvPr>
          <p:cNvGrpSpPr/>
          <p:nvPr/>
        </p:nvGrpSpPr>
        <p:grpSpPr>
          <a:xfrm>
            <a:off x="5115098" y="1432765"/>
            <a:ext cx="3429000" cy="1303508"/>
            <a:chOff x="5440680" y="1143000"/>
            <a:chExt cx="3429000" cy="3068782"/>
          </a:xfrm>
        </p:grpSpPr>
        <p:sp>
          <p:nvSpPr>
            <p:cNvPr id="5" name="Shape 7">
              <a:extLst>
                <a:ext uri="{FF2B5EF4-FFF2-40B4-BE49-F238E27FC236}">
                  <a16:creationId xmlns:a16="http://schemas.microsoft.com/office/drawing/2014/main" id="{1EAF42A7-C392-FC08-98A9-E48AEA62028A}"/>
                </a:ext>
              </a:extLst>
            </p:cNvPr>
            <p:cNvSpPr/>
            <p:nvPr/>
          </p:nvSpPr>
          <p:spPr>
            <a:xfrm>
              <a:off x="5440680" y="1143000"/>
              <a:ext cx="3429000" cy="3068782"/>
            </a:xfrm>
            <a:prstGeom prst="rect">
              <a:avLst/>
            </a:prstGeom>
            <a:solidFill>
              <a:srgbClr val="FFFFFF"/>
            </a:solidFill>
            <a:ln w="19050">
              <a:solidFill>
                <a:srgbClr val="CBD5E1"/>
              </a:solidFill>
              <a:prstDash val="solid"/>
            </a:ln>
          </p:spPr>
          <p:txBody>
            <a:bodyPr/>
            <a:lstStyle/>
            <a:p>
              <a:endParaRPr lang="en-SG"/>
            </a:p>
          </p:txBody>
        </p:sp>
        <p:sp>
          <p:nvSpPr>
            <p:cNvPr id="6" name="Shape 8">
              <a:extLst>
                <a:ext uri="{FF2B5EF4-FFF2-40B4-BE49-F238E27FC236}">
                  <a16:creationId xmlns:a16="http://schemas.microsoft.com/office/drawing/2014/main" id="{70DC2E53-AE57-CA62-56D9-99928B5049C0}"/>
                </a:ext>
              </a:extLst>
            </p:cNvPr>
            <p:cNvSpPr/>
            <p:nvPr/>
          </p:nvSpPr>
          <p:spPr>
            <a:xfrm>
              <a:off x="5440680" y="1143000"/>
              <a:ext cx="3429000" cy="256032"/>
            </a:xfrm>
            <a:prstGeom prst="rect">
              <a:avLst/>
            </a:prstGeom>
            <a:solidFill>
              <a:srgbClr val="E2E8F0"/>
            </a:solidFill>
            <a:ln/>
          </p:spPr>
          <p:txBody>
            <a:bodyPr/>
            <a:lstStyle/>
            <a:p>
              <a:endParaRPr lang="en-SG"/>
            </a:p>
          </p:txBody>
        </p:sp>
        <p:sp>
          <p:nvSpPr>
            <p:cNvPr id="7" name="Text 9">
              <a:extLst>
                <a:ext uri="{FF2B5EF4-FFF2-40B4-BE49-F238E27FC236}">
                  <a16:creationId xmlns:a16="http://schemas.microsoft.com/office/drawing/2014/main" id="{1F907C2E-01A1-925E-F7AA-3689F6690DE3}"/>
                </a:ext>
              </a:extLst>
            </p:cNvPr>
            <p:cNvSpPr/>
            <p:nvPr/>
          </p:nvSpPr>
          <p:spPr>
            <a:xfrm>
              <a:off x="5440680" y="1163998"/>
              <a:ext cx="3246120" cy="220482"/>
            </a:xfrm>
            <a:prstGeom prst="rect">
              <a:avLst/>
            </a:prstGeom>
            <a:noFill/>
            <a:ln/>
          </p:spPr>
          <p:txBody>
            <a:bodyPr wrap="square" rtlCol="0" anchor="ctr"/>
            <a:lstStyle/>
            <a:p>
              <a:pPr marL="0" indent="0">
                <a:buNone/>
              </a:pPr>
              <a:r>
                <a:rPr lang="en-US" sz="800">
                  <a:solidFill>
                    <a:srgbClr val="94A3B8"/>
                  </a:solidFill>
                  <a:latin typeface="Calibri" pitchFamily="34" charset="0"/>
                  <a:ea typeface="Calibri" pitchFamily="34" charset="-122"/>
                  <a:cs typeface="Calibri" pitchFamily="34" charset="-120"/>
                </a:rPr>
                <a:t>● ● ●  Browser Preview</a:t>
              </a:r>
              <a:endParaRPr lang="en-US" sz="800"/>
            </a:p>
          </p:txBody>
        </p:sp>
      </p:grpSp>
      <p:pic>
        <p:nvPicPr>
          <p:cNvPr id="11" name="Picture 10">
            <a:extLst>
              <a:ext uri="{FF2B5EF4-FFF2-40B4-BE49-F238E27FC236}">
                <a16:creationId xmlns:a16="http://schemas.microsoft.com/office/drawing/2014/main" id="{870A5901-B83B-F66A-FA34-C4843CC8AC24}"/>
              </a:ext>
            </a:extLst>
          </p:cNvPr>
          <p:cNvPicPr>
            <a:picLocks noChangeAspect="1"/>
          </p:cNvPicPr>
          <p:nvPr/>
        </p:nvPicPr>
        <p:blipFill>
          <a:blip r:embed="rId4"/>
          <a:stretch>
            <a:fillRect/>
          </a:stretch>
        </p:blipFill>
        <p:spPr>
          <a:xfrm>
            <a:off x="5388311" y="1719089"/>
            <a:ext cx="2882574" cy="852661"/>
          </a:xfrm>
          <a:prstGeom prst="rect">
            <a:avLst/>
          </a:prstGeom>
        </p:spPr>
      </p:pic>
      <p:grpSp>
        <p:nvGrpSpPr>
          <p:cNvPr id="14" name="Group 13">
            <a:extLst>
              <a:ext uri="{FF2B5EF4-FFF2-40B4-BE49-F238E27FC236}">
                <a16:creationId xmlns:a16="http://schemas.microsoft.com/office/drawing/2014/main" id="{904B0B2C-883C-1F83-C4E2-00FC044D3D8A}"/>
              </a:ext>
            </a:extLst>
          </p:cNvPr>
          <p:cNvGrpSpPr/>
          <p:nvPr/>
        </p:nvGrpSpPr>
        <p:grpSpPr>
          <a:xfrm>
            <a:off x="4820476" y="3200565"/>
            <a:ext cx="4150342" cy="502920"/>
            <a:chOff x="366240" y="4390137"/>
            <a:chExt cx="8164968" cy="502920"/>
          </a:xfrm>
        </p:grpSpPr>
        <p:sp>
          <p:nvSpPr>
            <p:cNvPr id="15" name="Shape 19">
              <a:extLst>
                <a:ext uri="{FF2B5EF4-FFF2-40B4-BE49-F238E27FC236}">
                  <a16:creationId xmlns:a16="http://schemas.microsoft.com/office/drawing/2014/main" id="{2D573B47-EEB1-503A-30F9-DEFCE351F83D}"/>
                </a:ext>
              </a:extLst>
            </p:cNvPr>
            <p:cNvSpPr/>
            <p:nvPr/>
          </p:nvSpPr>
          <p:spPr>
            <a:xfrm>
              <a:off x="366240" y="4390137"/>
              <a:ext cx="8164968" cy="502920"/>
            </a:xfrm>
            <a:prstGeom prst="rect">
              <a:avLst/>
            </a:prstGeom>
            <a:solidFill>
              <a:srgbClr val="DBEAFE"/>
            </a:solidFill>
            <a:ln w="12700">
              <a:solidFill>
                <a:srgbClr val="2563EB"/>
              </a:solidFill>
              <a:prstDash val="solid"/>
            </a:ln>
          </p:spPr>
          <p:txBody>
            <a:bodyPr/>
            <a:lstStyle/>
            <a:p>
              <a:endParaRPr lang="en-SG"/>
            </a:p>
          </p:txBody>
        </p:sp>
        <p:sp>
          <p:nvSpPr>
            <p:cNvPr id="16" name="Text 4">
              <a:extLst>
                <a:ext uri="{FF2B5EF4-FFF2-40B4-BE49-F238E27FC236}">
                  <a16:creationId xmlns:a16="http://schemas.microsoft.com/office/drawing/2014/main" id="{8CB0AF97-BBA4-CAAA-A852-E3A59B15CFAB}"/>
                </a:ext>
              </a:extLst>
            </p:cNvPr>
            <p:cNvSpPr/>
            <p:nvPr/>
          </p:nvSpPr>
          <p:spPr>
            <a:xfrm>
              <a:off x="439392" y="4481577"/>
              <a:ext cx="7999180" cy="320040"/>
            </a:xfrm>
            <a:prstGeom prst="rect">
              <a:avLst/>
            </a:prstGeom>
            <a:noFill/>
            <a:ln/>
          </p:spPr>
          <p:txBody>
            <a:bodyPr wrap="square" rtlCol="0" anchor="ctr"/>
            <a:lstStyle/>
            <a:p>
              <a:pPr marL="0" indent="0">
                <a:buNone/>
              </a:pPr>
              <a:r>
                <a:rPr lang="en-US" sz="1200">
                  <a:solidFill>
                    <a:srgbClr val="2563EB"/>
                  </a:solidFill>
                  <a:latin typeface="Calibri" pitchFamily="34" charset="0"/>
                  <a:ea typeface="Calibri" pitchFamily="34" charset="-122"/>
                  <a:cs typeface="Calibri" pitchFamily="34" charset="-120"/>
                </a:rPr>
                <a:t>💡 </a:t>
              </a:r>
              <a:r>
                <a:rPr lang="en-US" sz="1200">
                  <a:solidFill>
                    <a:srgbClr val="0070C0"/>
                  </a:solidFill>
                  <a:latin typeface="Calibri" pitchFamily="34" charset="0"/>
                  <a:ea typeface="Calibri" pitchFamily="34" charset="-122"/>
                  <a:cs typeface="Calibri" pitchFamily="34" charset="-120"/>
                </a:rPr>
                <a:t>Class selectors has a higher priority(specificity) over element selectors.</a:t>
              </a:r>
              <a:endParaRPr lang="en-US" sz="1200">
                <a:solidFill>
                  <a:srgbClr val="0070C0"/>
                </a:solidFil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CSS Selectors</a:t>
            </a:r>
            <a:endParaRPr/>
          </a:p>
        </p:txBody>
      </p:sp>
      <p:sp>
        <p:nvSpPr>
          <p:cNvPr id="169" name="Google Shape;169;p17"/>
          <p:cNvSpPr txBox="1">
            <a:spLocks noGrp="1"/>
          </p:cNvSpPr>
          <p:nvPr>
            <p:ph type="body" idx="1"/>
          </p:nvPr>
        </p:nvSpPr>
        <p:spPr>
          <a:xfrm>
            <a:off x="311700" y="1225225"/>
            <a:ext cx="442032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There are many selectors in CSS. </a:t>
            </a:r>
            <a:endParaRPr b="1" dirty="0"/>
          </a:p>
          <a:p>
            <a:pPr marL="0" marR="0" lvl="0" indent="0" algn="l" rtl="0">
              <a:lnSpc>
                <a:spcPct val="115000"/>
              </a:lnSpc>
              <a:spcBef>
                <a:spcPts val="1600"/>
              </a:spcBef>
              <a:spcAft>
                <a:spcPts val="0"/>
              </a:spcAft>
              <a:buSzPts val="1400"/>
              <a:buNone/>
            </a:pPr>
            <a:r>
              <a:rPr lang="en" dirty="0"/>
              <a:t>A reference list is here:</a:t>
            </a:r>
            <a:endParaRPr dirty="0"/>
          </a:p>
          <a:p>
            <a:pPr marL="0" marR="0" lvl="0" indent="0" algn="l" rtl="0">
              <a:lnSpc>
                <a:spcPct val="115000"/>
              </a:lnSpc>
              <a:spcBef>
                <a:spcPts val="1600"/>
              </a:spcBef>
              <a:spcAft>
                <a:spcPts val="0"/>
              </a:spcAft>
              <a:buSzPts val="1400"/>
              <a:buNone/>
            </a:pPr>
            <a:r>
              <a:rPr lang="en" dirty="0">
                <a:solidFill>
                  <a:schemeClr val="hlink"/>
                </a:solidFill>
                <a:uFill>
                  <a:noFill/>
                </a:uFill>
                <a:hlinkClick r:id="rId3"/>
              </a:rPr>
              <a:t>https://www.w3schools.com/cssref/css_selectors.asp</a:t>
            </a:r>
            <a:r>
              <a:rPr lang="en" dirty="0">
                <a:solidFill>
                  <a:schemeClr val="hlink"/>
                </a:solidFill>
                <a:uFill>
                  <a:noFill/>
                </a:uFill>
              </a:rPr>
              <a:t> </a:t>
            </a:r>
            <a:endParaRPr dirty="0"/>
          </a:p>
          <a:p>
            <a:pPr marL="0" marR="0" lvl="0" indent="0" algn="l" rtl="0">
              <a:lnSpc>
                <a:spcPct val="115000"/>
              </a:lnSpc>
              <a:spcBef>
                <a:spcPts val="1600"/>
              </a:spcBef>
              <a:spcAft>
                <a:spcPts val="1600"/>
              </a:spcAft>
              <a:buSzPts val="1400"/>
              <a:buNone/>
            </a:pPr>
            <a:endParaRPr dirty="0"/>
          </a:p>
        </p:txBody>
      </p:sp>
      <p:sp>
        <p:nvSpPr>
          <p:cNvPr id="170" name="Google Shape;170;p17"/>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Some Exotic Examples</a:t>
            </a:r>
            <a:endParaRPr b="1"/>
          </a:p>
          <a:p>
            <a:pPr marL="0" marR="0" lvl="0" indent="0" algn="l" rtl="0">
              <a:lnSpc>
                <a:spcPct val="115000"/>
              </a:lnSpc>
              <a:spcBef>
                <a:spcPts val="1600"/>
              </a:spcBef>
              <a:spcAft>
                <a:spcPts val="1600"/>
              </a:spcAft>
              <a:buSzPts val="1400"/>
              <a:buNone/>
            </a:pPr>
            <a:endParaRPr/>
          </a:p>
        </p:txBody>
      </p:sp>
      <p:graphicFrame>
        <p:nvGraphicFramePr>
          <p:cNvPr id="171" name="Google Shape;171;p17"/>
          <p:cNvGraphicFramePr/>
          <p:nvPr>
            <p:extLst>
              <p:ext uri="{D42A27DB-BD31-4B8C-83A1-F6EECF244321}">
                <p14:modId xmlns:p14="http://schemas.microsoft.com/office/powerpoint/2010/main" val="4150482304"/>
              </p:ext>
            </p:extLst>
          </p:nvPr>
        </p:nvGraphicFramePr>
        <p:xfrm>
          <a:off x="4671775" y="1711276"/>
          <a:ext cx="3999900" cy="3232780"/>
        </p:xfrm>
        <a:graphic>
          <a:graphicData uri="http://schemas.openxmlformats.org/drawingml/2006/table">
            <a:tbl>
              <a:tblPr>
                <a:noFill/>
                <a:tableStyleId>{9457DA4B-BAC7-4D48-AA5B-6CF8F0DF2040}</a:tableStyleId>
              </a:tblPr>
              <a:tblGrid>
                <a:gridCol w="1598249">
                  <a:extLst>
                    <a:ext uri="{9D8B030D-6E8A-4147-A177-3AD203B41FA5}">
                      <a16:colId xmlns:a16="http://schemas.microsoft.com/office/drawing/2014/main" val="20000"/>
                    </a:ext>
                  </a:extLst>
                </a:gridCol>
                <a:gridCol w="2401651">
                  <a:extLst>
                    <a:ext uri="{9D8B030D-6E8A-4147-A177-3AD203B41FA5}">
                      <a16:colId xmlns:a16="http://schemas.microsoft.com/office/drawing/2014/main" val="20001"/>
                    </a:ext>
                  </a:extLst>
                </a:gridCol>
              </a:tblGrid>
              <a:tr h="43077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latin typeface="Arial"/>
                          <a:ea typeface="Arial"/>
                          <a:cs typeface="Arial"/>
                          <a:sym typeface="Arial"/>
                        </a:rPr>
                        <a:t>* </a:t>
                      </a:r>
                      <a:endParaRPr sz="1400" u="none" strike="noStrike" cap="none">
                        <a:solidFill>
                          <a:schemeClr val="dk1"/>
                        </a:solidFill>
                        <a:latin typeface="Arial"/>
                        <a:ea typeface="Arial"/>
                        <a:cs typeface="Arial"/>
                        <a:sym typeface="Aria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latin typeface="Arial"/>
                          <a:ea typeface="Arial"/>
                          <a:cs typeface="Arial"/>
                          <a:sym typeface="Arial"/>
                        </a:rPr>
                        <a:t>Select all elements</a:t>
                      </a:r>
                      <a:endParaRPr sz="1400" u="none" strike="noStrike" cap="none">
                        <a:solidFill>
                          <a:schemeClr val="dk1"/>
                        </a:solidFill>
                        <a:latin typeface="Arial"/>
                        <a:ea typeface="Arial"/>
                        <a:cs typeface="Arial"/>
                        <a:sym typeface="Arial"/>
                      </a:endParaRPr>
                    </a:p>
                  </a:txBody>
                  <a:tcPr marL="91425" marR="91425" marT="91425" marB="91425"/>
                </a:tc>
                <a:extLst>
                  <a:ext uri="{0D108BD9-81ED-4DB2-BD59-A6C34878D82A}">
                    <a16:rowId xmlns:a16="http://schemas.microsoft.com/office/drawing/2014/main" val="10000"/>
                  </a:ext>
                </a:extLst>
              </a:tr>
              <a:tr h="618184">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dirty="0" err="1">
                          <a:solidFill>
                            <a:schemeClr val="dk1"/>
                          </a:solidFill>
                          <a:latin typeface="Arial"/>
                          <a:ea typeface="Arial"/>
                          <a:cs typeface="Arial"/>
                          <a:sym typeface="Arial"/>
                        </a:rPr>
                        <a:t>input:checked</a:t>
                      </a:r>
                      <a:r>
                        <a:rPr lang="en" sz="1400" u="none" strike="noStrike" cap="none" dirty="0">
                          <a:solidFill>
                            <a:schemeClr val="dk1"/>
                          </a:solidFill>
                          <a:latin typeface="Arial"/>
                          <a:ea typeface="Arial"/>
                          <a:cs typeface="Arial"/>
                          <a:sym typeface="Arial"/>
                        </a:rPr>
                        <a:t>	</a:t>
                      </a:r>
                      <a:endParaRPr sz="1400" u="none" strike="noStrike" cap="none" dirty="0">
                        <a:solidFill>
                          <a:schemeClr val="dk1"/>
                        </a:solidFill>
                        <a:latin typeface="Arial"/>
                        <a:ea typeface="Arial"/>
                        <a:cs typeface="Arial"/>
                        <a:sym typeface="Aria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dirty="0">
                          <a:solidFill>
                            <a:schemeClr val="dk1"/>
                          </a:solidFill>
                          <a:latin typeface="Arial"/>
                          <a:ea typeface="Arial"/>
                          <a:cs typeface="Arial"/>
                          <a:sym typeface="Arial"/>
                        </a:rPr>
                        <a:t>Select checked input fields and dropdown item</a:t>
                      </a:r>
                      <a:endParaRPr sz="1400" u="none" strike="noStrike" cap="none" dirty="0">
                        <a:solidFill>
                          <a:schemeClr val="dk1"/>
                        </a:solidFill>
                        <a:latin typeface="Arial"/>
                        <a:ea typeface="Arial"/>
                        <a:cs typeface="Arial"/>
                        <a:sym typeface="Arial"/>
                      </a:endParaRPr>
                    </a:p>
                  </a:txBody>
                  <a:tcPr marL="91425" marR="91425" marT="91425" marB="91425"/>
                </a:tc>
                <a:extLst>
                  <a:ext uri="{0D108BD9-81ED-4DB2-BD59-A6C34878D82A}">
                    <a16:rowId xmlns:a16="http://schemas.microsoft.com/office/drawing/2014/main" val="10001"/>
                  </a:ext>
                </a:extLst>
              </a:tr>
              <a:tr h="850577">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dirty="0" err="1">
                          <a:solidFill>
                            <a:schemeClr val="dk1"/>
                          </a:solidFill>
                          <a:latin typeface="Arial"/>
                          <a:ea typeface="Arial"/>
                          <a:cs typeface="Arial"/>
                          <a:sym typeface="Arial"/>
                        </a:rPr>
                        <a:t>input:focus</a:t>
                      </a:r>
                      <a:endParaRPr sz="1400" u="none" strike="noStrike" cap="none" dirty="0">
                        <a:solidFill>
                          <a:schemeClr val="dk1"/>
                        </a:solidFill>
                        <a:latin typeface="Arial"/>
                        <a:ea typeface="Arial"/>
                        <a:cs typeface="Arial"/>
                        <a:sym typeface="Aria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SG" dirty="0"/>
                        <a:t>Select input fields currently highlighted by the user's cursor or keyboard</a:t>
                      </a:r>
                      <a:endParaRPr sz="1400" u="none" strike="noStrike" cap="none" dirty="0">
                        <a:solidFill>
                          <a:schemeClr val="dk1"/>
                        </a:solidFill>
                        <a:latin typeface="Arial"/>
                        <a:ea typeface="Arial"/>
                        <a:cs typeface="Arial"/>
                        <a:sym typeface="Arial"/>
                      </a:endParaRPr>
                    </a:p>
                  </a:txBody>
                  <a:tcPr marL="91425" marR="91425" marT="91425" marB="91425"/>
                </a:tc>
                <a:extLst>
                  <a:ext uri="{0D108BD9-81ED-4DB2-BD59-A6C34878D82A}">
                    <a16:rowId xmlns:a16="http://schemas.microsoft.com/office/drawing/2014/main" val="1537048922"/>
                  </a:ext>
                </a:extLst>
              </a:tr>
              <a:tr h="618184">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dirty="0">
                          <a:solidFill>
                            <a:schemeClr val="dk1"/>
                          </a:solidFill>
                          <a:latin typeface="Arial"/>
                          <a:ea typeface="Arial"/>
                          <a:cs typeface="Arial"/>
                          <a:sym typeface="Arial"/>
                        </a:rPr>
                        <a:t>:not(p)</a:t>
                      </a:r>
                      <a:endParaRPr sz="1400" u="none" strike="noStrike" cap="none" dirty="0">
                        <a:solidFill>
                          <a:schemeClr val="dk1"/>
                        </a:solidFill>
                        <a:latin typeface="Arial"/>
                        <a:ea typeface="Arial"/>
                        <a:cs typeface="Arial"/>
                        <a:sym typeface="Aria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latin typeface="Arial"/>
                          <a:ea typeface="Arial"/>
                          <a:cs typeface="Arial"/>
                          <a:sym typeface="Arial"/>
                        </a:rPr>
                        <a:t>Selects every element that is not a &lt;p&gt; element</a:t>
                      </a:r>
                      <a:endParaRPr sz="1400" u="none" strike="noStrike" cap="none">
                        <a:solidFill>
                          <a:schemeClr val="dk1"/>
                        </a:solidFill>
                        <a:latin typeface="Arial"/>
                        <a:ea typeface="Arial"/>
                        <a:cs typeface="Arial"/>
                        <a:sym typeface="Arial"/>
                      </a:endParaRPr>
                    </a:p>
                  </a:txBody>
                  <a:tcPr marL="91425" marR="91425" marT="91425" marB="91425"/>
                </a:tc>
                <a:extLst>
                  <a:ext uri="{0D108BD9-81ED-4DB2-BD59-A6C34878D82A}">
                    <a16:rowId xmlns:a16="http://schemas.microsoft.com/office/drawing/2014/main" val="10002"/>
                  </a:ext>
                </a:extLst>
              </a:tr>
              <a:tr h="598585">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dirty="0">
                          <a:solidFill>
                            <a:schemeClr val="dk1"/>
                          </a:solidFill>
                          <a:latin typeface="Arial"/>
                          <a:ea typeface="Arial"/>
                          <a:cs typeface="Arial"/>
                          <a:sym typeface="Arial"/>
                        </a:rPr>
                        <a:t>...</a:t>
                      </a:r>
                      <a:endParaRPr sz="1400" u="none" strike="noStrike" cap="none" dirty="0">
                        <a:solidFill>
                          <a:schemeClr val="dk1"/>
                        </a:solidFill>
                        <a:latin typeface="Arial"/>
                        <a:ea typeface="Arial"/>
                        <a:cs typeface="Arial"/>
                        <a:sym typeface="Aria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dirty="0">
                          <a:solidFill>
                            <a:schemeClr val="dk1"/>
                          </a:solidFill>
                          <a:latin typeface="Arial"/>
                          <a:ea typeface="Arial"/>
                          <a:cs typeface="Arial"/>
                          <a:sym typeface="Arial"/>
                        </a:rPr>
                        <a:t>...</a:t>
                      </a:r>
                      <a:endParaRPr sz="1400" u="none" strike="noStrike" cap="none" dirty="0">
                        <a:solidFill>
                          <a:schemeClr val="dk1"/>
                        </a:solidFill>
                        <a:latin typeface="Arial"/>
                        <a:ea typeface="Arial"/>
                        <a:cs typeface="Arial"/>
                        <a:sym typeface="Arial"/>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CSS Cascading Order </a:t>
            </a:r>
            <a:endParaRPr/>
          </a:p>
        </p:txBody>
      </p:sp>
      <p:grpSp>
        <p:nvGrpSpPr>
          <p:cNvPr id="11" name="Group 10">
            <a:extLst>
              <a:ext uri="{FF2B5EF4-FFF2-40B4-BE49-F238E27FC236}">
                <a16:creationId xmlns:a16="http://schemas.microsoft.com/office/drawing/2014/main" id="{9011888F-FF5A-F18F-FB30-2C8DE739E844}"/>
              </a:ext>
            </a:extLst>
          </p:cNvPr>
          <p:cNvGrpSpPr/>
          <p:nvPr/>
        </p:nvGrpSpPr>
        <p:grpSpPr>
          <a:xfrm>
            <a:off x="1783370" y="1188070"/>
            <a:ext cx="7093555" cy="1491541"/>
            <a:chOff x="1325880" y="1237276"/>
            <a:chExt cx="9692640" cy="2148840"/>
          </a:xfrm>
        </p:grpSpPr>
        <p:sp>
          <p:nvSpPr>
            <p:cNvPr id="2" name="Shape 2">
              <a:extLst>
                <a:ext uri="{FF2B5EF4-FFF2-40B4-BE49-F238E27FC236}">
                  <a16:creationId xmlns:a16="http://schemas.microsoft.com/office/drawing/2014/main" id="{C847E7A7-E91B-3992-BAE2-7778078D155F}"/>
                </a:ext>
              </a:extLst>
            </p:cNvPr>
            <p:cNvSpPr/>
            <p:nvPr/>
          </p:nvSpPr>
          <p:spPr>
            <a:xfrm>
              <a:off x="3154680" y="1237276"/>
              <a:ext cx="2743200" cy="594360"/>
            </a:xfrm>
            <a:prstGeom prst="rect">
              <a:avLst/>
            </a:prstGeom>
            <a:solidFill>
              <a:srgbClr val="EA580C"/>
            </a:solidFill>
            <a:ln/>
          </p:spPr>
          <p:txBody>
            <a:bodyPr/>
            <a:lstStyle/>
            <a:p>
              <a:endParaRPr lang="en-SG"/>
            </a:p>
          </p:txBody>
        </p:sp>
        <p:sp>
          <p:nvSpPr>
            <p:cNvPr id="3" name="Text 3">
              <a:extLst>
                <a:ext uri="{FF2B5EF4-FFF2-40B4-BE49-F238E27FC236}">
                  <a16:creationId xmlns:a16="http://schemas.microsoft.com/office/drawing/2014/main" id="{AD3F1599-757A-20C4-3D5E-D5E3A6C57413}"/>
                </a:ext>
              </a:extLst>
            </p:cNvPr>
            <p:cNvSpPr/>
            <p:nvPr/>
          </p:nvSpPr>
          <p:spPr>
            <a:xfrm>
              <a:off x="3246120" y="1237276"/>
              <a:ext cx="2651760" cy="59436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1. Inline Style</a:t>
              </a:r>
              <a:endParaRPr lang="en-US" sz="1200"/>
            </a:p>
          </p:txBody>
        </p:sp>
        <p:sp>
          <p:nvSpPr>
            <p:cNvPr id="4" name="Text 4">
              <a:extLst>
                <a:ext uri="{FF2B5EF4-FFF2-40B4-BE49-F238E27FC236}">
                  <a16:creationId xmlns:a16="http://schemas.microsoft.com/office/drawing/2014/main" id="{647A63EC-523B-8632-3E8D-2C2CAAC3BE40}"/>
                </a:ext>
              </a:extLst>
            </p:cNvPr>
            <p:cNvSpPr/>
            <p:nvPr/>
          </p:nvSpPr>
          <p:spPr>
            <a:xfrm>
              <a:off x="5989320" y="1401868"/>
              <a:ext cx="3200400" cy="274320"/>
            </a:xfrm>
            <a:prstGeom prst="rect">
              <a:avLst/>
            </a:prstGeom>
            <a:noFill/>
            <a:ln/>
          </p:spPr>
          <p:txBody>
            <a:bodyPr wrap="square" rtlCol="0" anchor="ctr"/>
            <a:lstStyle/>
            <a:p>
              <a:pPr marL="0" indent="0">
                <a:buNone/>
              </a:pPr>
              <a:r>
                <a:rPr lang="en-US" sz="1000">
                  <a:solidFill>
                    <a:srgbClr val="64748B"/>
                  </a:solidFill>
                  <a:latin typeface="Calibri" pitchFamily="34" charset="0"/>
                  <a:ea typeface="Calibri" pitchFamily="34" charset="-122"/>
                  <a:cs typeface="Calibri" pitchFamily="34" charset="-120"/>
                </a:rPr>
                <a:t>Highest priority</a:t>
              </a:r>
              <a:endParaRPr lang="en-US" sz="1000"/>
            </a:p>
          </p:txBody>
        </p:sp>
        <p:sp>
          <p:nvSpPr>
            <p:cNvPr id="5" name="Shape 5">
              <a:extLst>
                <a:ext uri="{FF2B5EF4-FFF2-40B4-BE49-F238E27FC236}">
                  <a16:creationId xmlns:a16="http://schemas.microsoft.com/office/drawing/2014/main" id="{31416553-16E8-E6BB-1C8D-CFEB29166A09}"/>
                </a:ext>
              </a:extLst>
            </p:cNvPr>
            <p:cNvSpPr/>
            <p:nvPr/>
          </p:nvSpPr>
          <p:spPr>
            <a:xfrm>
              <a:off x="2240280" y="2014516"/>
              <a:ext cx="4572000" cy="594360"/>
            </a:xfrm>
            <a:prstGeom prst="rect">
              <a:avLst/>
            </a:prstGeom>
            <a:solidFill>
              <a:srgbClr val="2563EB"/>
            </a:solidFill>
            <a:ln/>
          </p:spPr>
          <p:txBody>
            <a:bodyPr/>
            <a:lstStyle/>
            <a:p>
              <a:endParaRPr lang="en-SG"/>
            </a:p>
          </p:txBody>
        </p:sp>
        <p:sp>
          <p:nvSpPr>
            <p:cNvPr id="6" name="Text 6">
              <a:extLst>
                <a:ext uri="{FF2B5EF4-FFF2-40B4-BE49-F238E27FC236}">
                  <a16:creationId xmlns:a16="http://schemas.microsoft.com/office/drawing/2014/main" id="{87F17FE7-EF7E-E0FA-5172-48789351DC49}"/>
                </a:ext>
              </a:extLst>
            </p:cNvPr>
            <p:cNvSpPr/>
            <p:nvPr/>
          </p:nvSpPr>
          <p:spPr>
            <a:xfrm>
              <a:off x="2331720" y="2014516"/>
              <a:ext cx="4480560" cy="59436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2. Internal / External (last defined)</a:t>
              </a:r>
              <a:endParaRPr lang="en-US" sz="1200"/>
            </a:p>
          </p:txBody>
        </p:sp>
        <p:sp>
          <p:nvSpPr>
            <p:cNvPr id="7" name="Text 7">
              <a:extLst>
                <a:ext uri="{FF2B5EF4-FFF2-40B4-BE49-F238E27FC236}">
                  <a16:creationId xmlns:a16="http://schemas.microsoft.com/office/drawing/2014/main" id="{EE79BD47-0FA0-3AE9-B581-8536E4BB858A}"/>
                </a:ext>
              </a:extLst>
            </p:cNvPr>
            <p:cNvSpPr/>
            <p:nvPr/>
          </p:nvSpPr>
          <p:spPr>
            <a:xfrm>
              <a:off x="6903720" y="2179108"/>
              <a:ext cx="3200400" cy="274320"/>
            </a:xfrm>
            <a:prstGeom prst="rect">
              <a:avLst/>
            </a:prstGeom>
            <a:noFill/>
            <a:ln/>
          </p:spPr>
          <p:txBody>
            <a:bodyPr wrap="square" rtlCol="0" anchor="ctr"/>
            <a:lstStyle/>
            <a:p>
              <a:pPr marL="0" indent="0">
                <a:buNone/>
              </a:pPr>
              <a:r>
                <a:rPr lang="en-US" sz="1000">
                  <a:solidFill>
                    <a:srgbClr val="64748B"/>
                  </a:solidFill>
                  <a:latin typeface="Calibri" pitchFamily="34" charset="0"/>
                  <a:ea typeface="Calibri" pitchFamily="34" charset="-122"/>
                  <a:cs typeface="Calibri" pitchFamily="34" charset="-120"/>
                </a:rPr>
                <a:t>Same priority — last wins</a:t>
              </a:r>
              <a:endParaRPr lang="en-US" sz="1000"/>
            </a:p>
          </p:txBody>
        </p:sp>
        <p:sp>
          <p:nvSpPr>
            <p:cNvPr id="8" name="Shape 8">
              <a:extLst>
                <a:ext uri="{FF2B5EF4-FFF2-40B4-BE49-F238E27FC236}">
                  <a16:creationId xmlns:a16="http://schemas.microsoft.com/office/drawing/2014/main" id="{C356816A-0557-AD67-9B21-899803FCD484}"/>
                </a:ext>
              </a:extLst>
            </p:cNvPr>
            <p:cNvSpPr/>
            <p:nvPr/>
          </p:nvSpPr>
          <p:spPr>
            <a:xfrm>
              <a:off x="1325880" y="2791756"/>
              <a:ext cx="6400800" cy="594360"/>
            </a:xfrm>
            <a:prstGeom prst="rect">
              <a:avLst/>
            </a:prstGeom>
            <a:solidFill>
              <a:srgbClr val="64748B"/>
            </a:solidFill>
            <a:ln/>
          </p:spPr>
          <p:txBody>
            <a:bodyPr/>
            <a:lstStyle/>
            <a:p>
              <a:endParaRPr lang="en-SG"/>
            </a:p>
          </p:txBody>
        </p:sp>
        <p:sp>
          <p:nvSpPr>
            <p:cNvPr id="9" name="Text 9">
              <a:extLst>
                <a:ext uri="{FF2B5EF4-FFF2-40B4-BE49-F238E27FC236}">
                  <a16:creationId xmlns:a16="http://schemas.microsoft.com/office/drawing/2014/main" id="{2926EB68-0E97-4C92-7486-7209D8417A52}"/>
                </a:ext>
              </a:extLst>
            </p:cNvPr>
            <p:cNvSpPr/>
            <p:nvPr/>
          </p:nvSpPr>
          <p:spPr>
            <a:xfrm>
              <a:off x="1417320" y="2791756"/>
              <a:ext cx="6309360" cy="59436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3. Browser Default</a:t>
              </a:r>
              <a:endParaRPr lang="en-US" sz="1200"/>
            </a:p>
          </p:txBody>
        </p:sp>
        <p:sp>
          <p:nvSpPr>
            <p:cNvPr id="10" name="Text 10">
              <a:extLst>
                <a:ext uri="{FF2B5EF4-FFF2-40B4-BE49-F238E27FC236}">
                  <a16:creationId xmlns:a16="http://schemas.microsoft.com/office/drawing/2014/main" id="{C66398E0-21B8-9EBC-6C66-12C5A8A62391}"/>
                </a:ext>
              </a:extLst>
            </p:cNvPr>
            <p:cNvSpPr/>
            <p:nvPr/>
          </p:nvSpPr>
          <p:spPr>
            <a:xfrm>
              <a:off x="7818120" y="2956348"/>
              <a:ext cx="3200400" cy="274320"/>
            </a:xfrm>
            <a:prstGeom prst="rect">
              <a:avLst/>
            </a:prstGeom>
            <a:noFill/>
            <a:ln/>
          </p:spPr>
          <p:txBody>
            <a:bodyPr wrap="square" rtlCol="0" anchor="ctr"/>
            <a:lstStyle/>
            <a:p>
              <a:pPr marL="0" indent="0">
                <a:buNone/>
              </a:pPr>
              <a:r>
                <a:rPr lang="en-US" sz="1000">
                  <a:solidFill>
                    <a:srgbClr val="64748B"/>
                  </a:solidFill>
                  <a:latin typeface="Calibri" pitchFamily="34" charset="0"/>
                  <a:ea typeface="Calibri" pitchFamily="34" charset="-122"/>
                  <a:cs typeface="Calibri" pitchFamily="34" charset="-120"/>
                </a:rPr>
                <a:t>Lowest priority</a:t>
              </a:r>
              <a:endParaRPr lang="en-US" sz="1000"/>
            </a:p>
          </p:txBody>
        </p:sp>
      </p:grpSp>
      <p:sp>
        <p:nvSpPr>
          <p:cNvPr id="14" name="Shape 11">
            <a:extLst>
              <a:ext uri="{FF2B5EF4-FFF2-40B4-BE49-F238E27FC236}">
                <a16:creationId xmlns:a16="http://schemas.microsoft.com/office/drawing/2014/main" id="{C5EAD23D-E99E-AC36-4D1E-9767F7E0C580}"/>
              </a:ext>
            </a:extLst>
          </p:cNvPr>
          <p:cNvSpPr/>
          <p:nvPr/>
        </p:nvSpPr>
        <p:spPr>
          <a:xfrm>
            <a:off x="311700" y="3139388"/>
            <a:ext cx="4572000" cy="1828800"/>
          </a:xfrm>
          <a:prstGeom prst="rect">
            <a:avLst/>
          </a:prstGeom>
          <a:solidFill>
            <a:srgbClr val="1E293B"/>
          </a:solidFill>
          <a:ln w="12700">
            <a:solidFill>
              <a:srgbClr val="334155"/>
            </a:solidFill>
            <a:prstDash val="solid"/>
          </a:ln>
        </p:spPr>
        <p:txBody>
          <a:bodyPr/>
          <a:lstStyle/>
          <a:p>
            <a:endParaRPr lang="en-SG"/>
          </a:p>
        </p:txBody>
      </p:sp>
      <p:sp>
        <p:nvSpPr>
          <p:cNvPr id="15" name="Text 12">
            <a:extLst>
              <a:ext uri="{FF2B5EF4-FFF2-40B4-BE49-F238E27FC236}">
                <a16:creationId xmlns:a16="http://schemas.microsoft.com/office/drawing/2014/main" id="{0AF53677-0F36-9C94-207E-9D52480D8D38}"/>
              </a:ext>
            </a:extLst>
          </p:cNvPr>
          <p:cNvSpPr/>
          <p:nvPr/>
        </p:nvSpPr>
        <p:spPr>
          <a:xfrm>
            <a:off x="384852" y="3212540"/>
            <a:ext cx="4882896" cy="1682496"/>
          </a:xfrm>
          <a:prstGeom prst="rect">
            <a:avLst/>
          </a:prstGeom>
          <a:noFill/>
          <a:ln/>
        </p:spPr>
        <p:txBody>
          <a:bodyPr wrap="square" rtlCol="0" anchor="t"/>
          <a:lstStyle/>
          <a:p>
            <a:pPr marL="0" indent="0">
              <a:buNone/>
            </a:pPr>
            <a:r>
              <a:rPr lang="en-US" sz="1000">
                <a:solidFill>
                  <a:srgbClr val="E2E8F0"/>
                </a:solidFill>
                <a:latin typeface="Courier New" pitchFamily="34" charset="0"/>
                <a:ea typeface="Courier New" pitchFamily="34" charset="-122"/>
                <a:cs typeface="Courier New" pitchFamily="34" charset="-120"/>
              </a:rPr>
              <a:t>&lt;head&gt;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&lt;style&gt;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h2 { color: red; }   /* internal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&lt;/style&gt;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&lt;/head&gt;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&lt;body&gt;</a:t>
            </a:r>
            <a:endParaRPr lang="en-US" sz="1000"/>
          </a:p>
          <a:p>
            <a:pPr marL="0" indent="0">
              <a:buNone/>
            </a:pPr>
            <a:r>
              <a:rPr lang="en-US" sz="1000">
                <a:solidFill>
                  <a:srgbClr val="FDE68A"/>
                </a:solidFill>
                <a:latin typeface="Courier New" pitchFamily="34" charset="0"/>
                <a:ea typeface="Courier New" pitchFamily="34" charset="-122"/>
                <a:cs typeface="Courier New" pitchFamily="34" charset="-120"/>
              </a:rPr>
              <a:t>  &lt;h2 style="color: green;"&gt;CAUTION&lt;/h2&gt;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&lt;/body&gt;</a:t>
            </a:r>
            <a:endParaRPr lang="en-US" sz="1000"/>
          </a:p>
          <a:p>
            <a:pPr marL="0" indent="0">
              <a:buNone/>
            </a:pPr>
            <a:r>
              <a:rPr lang="en-US" sz="1000" i="1">
                <a:solidFill>
                  <a:srgbClr val="94A3B8"/>
                </a:solidFill>
                <a:latin typeface="Courier New" pitchFamily="34" charset="0"/>
                <a:ea typeface="Courier New" pitchFamily="34" charset="-122"/>
                <a:cs typeface="Courier New" pitchFamily="34" charset="-120"/>
              </a:rPr>
              <a:t>/* Result: green (inline wins over internal) */</a:t>
            </a:r>
            <a:endParaRPr lang="en-US" sz="1000"/>
          </a:p>
        </p:txBody>
      </p:sp>
      <p:sp>
        <p:nvSpPr>
          <p:cNvPr id="16" name="TextBox 15">
            <a:extLst>
              <a:ext uri="{FF2B5EF4-FFF2-40B4-BE49-F238E27FC236}">
                <a16:creationId xmlns:a16="http://schemas.microsoft.com/office/drawing/2014/main" id="{F0427AAF-52CF-0C36-35A8-F767912698B3}"/>
              </a:ext>
            </a:extLst>
          </p:cNvPr>
          <p:cNvSpPr txBox="1"/>
          <p:nvPr/>
        </p:nvSpPr>
        <p:spPr>
          <a:xfrm>
            <a:off x="232618" y="2805126"/>
            <a:ext cx="4572000" cy="307777"/>
          </a:xfrm>
          <a:prstGeom prst="rect">
            <a:avLst/>
          </a:prstGeom>
          <a:noFill/>
        </p:spPr>
        <p:txBody>
          <a:bodyPr wrap="square">
            <a:spAutoFit/>
          </a:bodyPr>
          <a:lstStyle/>
          <a:p>
            <a:r>
              <a:rPr lang="en-US" i="1">
                <a:solidFill>
                  <a:schemeClr val="tx1"/>
                </a:solidFill>
              </a:rPr>
              <a:t>wk2example6.html</a:t>
            </a:r>
            <a:endParaRPr lang="en-SG" i="1">
              <a:solidFill>
                <a:schemeClr val="tx1"/>
              </a:solidFill>
            </a:endParaRPr>
          </a:p>
        </p:txBody>
      </p:sp>
      <p:sp>
        <p:nvSpPr>
          <p:cNvPr id="19" name="Shape 7">
            <a:extLst>
              <a:ext uri="{FF2B5EF4-FFF2-40B4-BE49-F238E27FC236}">
                <a16:creationId xmlns:a16="http://schemas.microsoft.com/office/drawing/2014/main" id="{6AF18114-1075-AAE9-8554-105AD19DCD61}"/>
              </a:ext>
            </a:extLst>
          </p:cNvPr>
          <p:cNvSpPr/>
          <p:nvPr/>
        </p:nvSpPr>
        <p:spPr>
          <a:xfrm>
            <a:off x="5330148" y="3122828"/>
            <a:ext cx="3429000" cy="885250"/>
          </a:xfrm>
          <a:prstGeom prst="rect">
            <a:avLst/>
          </a:prstGeom>
          <a:solidFill>
            <a:srgbClr val="FFFFFF"/>
          </a:solidFill>
          <a:ln w="19050">
            <a:solidFill>
              <a:srgbClr val="CBD5E1"/>
            </a:solidFill>
            <a:prstDash val="solid"/>
          </a:ln>
        </p:spPr>
        <p:txBody>
          <a:bodyPr/>
          <a:lstStyle/>
          <a:p>
            <a:endParaRPr lang="en-SG"/>
          </a:p>
        </p:txBody>
      </p:sp>
      <p:sp>
        <p:nvSpPr>
          <p:cNvPr id="23" name="Shape 8">
            <a:extLst>
              <a:ext uri="{FF2B5EF4-FFF2-40B4-BE49-F238E27FC236}">
                <a16:creationId xmlns:a16="http://schemas.microsoft.com/office/drawing/2014/main" id="{8E98D309-4344-A33F-DE55-E0D20E88BC85}"/>
              </a:ext>
            </a:extLst>
          </p:cNvPr>
          <p:cNvSpPr/>
          <p:nvPr/>
        </p:nvSpPr>
        <p:spPr>
          <a:xfrm>
            <a:off x="5330148" y="3127097"/>
            <a:ext cx="3429000" cy="256032"/>
          </a:xfrm>
          <a:prstGeom prst="rect">
            <a:avLst/>
          </a:prstGeom>
          <a:solidFill>
            <a:srgbClr val="E2E8F0"/>
          </a:solidFill>
          <a:ln/>
        </p:spPr>
        <p:txBody>
          <a:bodyPr/>
          <a:lstStyle/>
          <a:p>
            <a:endParaRPr lang="en-SG"/>
          </a:p>
        </p:txBody>
      </p:sp>
      <p:sp>
        <p:nvSpPr>
          <p:cNvPr id="20" name="Text 9">
            <a:extLst>
              <a:ext uri="{FF2B5EF4-FFF2-40B4-BE49-F238E27FC236}">
                <a16:creationId xmlns:a16="http://schemas.microsoft.com/office/drawing/2014/main" id="{334C9F1C-13D9-DAFF-3420-0C92CAFA81C8}"/>
              </a:ext>
            </a:extLst>
          </p:cNvPr>
          <p:cNvSpPr/>
          <p:nvPr/>
        </p:nvSpPr>
        <p:spPr>
          <a:xfrm>
            <a:off x="5421588" y="3141116"/>
            <a:ext cx="3246120" cy="201168"/>
          </a:xfrm>
          <a:prstGeom prst="rect">
            <a:avLst/>
          </a:prstGeom>
          <a:noFill/>
          <a:ln/>
        </p:spPr>
        <p:txBody>
          <a:bodyPr wrap="square" rtlCol="0" anchor="ctr"/>
          <a:lstStyle/>
          <a:p>
            <a:pPr marL="0" indent="0">
              <a:buNone/>
            </a:pPr>
            <a:r>
              <a:rPr lang="en-US" sz="800">
                <a:solidFill>
                  <a:srgbClr val="94A3B8"/>
                </a:solidFill>
                <a:latin typeface="Calibri" pitchFamily="34" charset="0"/>
                <a:ea typeface="Calibri" pitchFamily="34" charset="-122"/>
                <a:cs typeface="Calibri" pitchFamily="34" charset="-120"/>
              </a:rPr>
              <a:t>● ● ●  Browser Preview</a:t>
            </a:r>
            <a:endParaRPr lang="en-US" sz="800"/>
          </a:p>
        </p:txBody>
      </p:sp>
      <p:sp>
        <p:nvSpPr>
          <p:cNvPr id="24" name="Text 16">
            <a:extLst>
              <a:ext uri="{FF2B5EF4-FFF2-40B4-BE49-F238E27FC236}">
                <a16:creationId xmlns:a16="http://schemas.microsoft.com/office/drawing/2014/main" id="{6655C555-9A5A-F480-E31F-48373EAC1A83}"/>
              </a:ext>
            </a:extLst>
          </p:cNvPr>
          <p:cNvSpPr/>
          <p:nvPr/>
        </p:nvSpPr>
        <p:spPr>
          <a:xfrm>
            <a:off x="5330148" y="3383129"/>
            <a:ext cx="3108960" cy="548640"/>
          </a:xfrm>
          <a:prstGeom prst="rect">
            <a:avLst/>
          </a:prstGeom>
          <a:noFill/>
          <a:ln/>
        </p:spPr>
        <p:txBody>
          <a:bodyPr wrap="square" rtlCol="0" anchor="ctr"/>
          <a:lstStyle/>
          <a:p>
            <a:pPr marL="0" indent="0">
              <a:buNone/>
            </a:pPr>
            <a:r>
              <a:rPr lang="en-US" sz="2800" b="1">
                <a:solidFill>
                  <a:srgbClr val="16A34A"/>
                </a:solidFill>
                <a:latin typeface="Calibri" pitchFamily="34" charset="0"/>
                <a:ea typeface="Calibri" pitchFamily="34" charset="-122"/>
                <a:cs typeface="Calibri" pitchFamily="34" charset="-120"/>
              </a:rPr>
              <a:t>CAUTION</a:t>
            </a:r>
            <a:endParaRPr lang="en-US" sz="2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CSS Conflict Resolving</a:t>
            </a:r>
            <a:endParaRPr/>
          </a:p>
        </p:txBody>
      </p:sp>
      <p:sp>
        <p:nvSpPr>
          <p:cNvPr id="184" name="Google Shape;184;p19"/>
          <p:cNvSpPr txBox="1">
            <a:spLocks noGrp="1"/>
          </p:cNvSpPr>
          <p:nvPr>
            <p:ph type="body" idx="1"/>
          </p:nvPr>
        </p:nvSpPr>
        <p:spPr>
          <a:xfrm>
            <a:off x="5733143" y="1202827"/>
            <a:ext cx="3099157" cy="3739286"/>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a:t>If multiple conflicting styles are defined with the same priority, the conflict is resolved as follows (assuming a left-to-right, top-to-bottom processing order).</a:t>
            </a:r>
            <a:endParaRPr/>
          </a:p>
          <a:p>
            <a:pPr marL="0" lvl="0" indent="0" algn="l" rtl="0">
              <a:lnSpc>
                <a:spcPct val="115000"/>
              </a:lnSpc>
              <a:spcBef>
                <a:spcPts val="0"/>
              </a:spcBef>
              <a:spcAft>
                <a:spcPts val="0"/>
              </a:spcAft>
              <a:buSzPts val="1400"/>
              <a:buNone/>
            </a:pPr>
            <a:endParaRPr/>
          </a:p>
          <a:p>
            <a:pPr marL="457200" lvl="0" indent="-317500" algn="l" rtl="0">
              <a:lnSpc>
                <a:spcPct val="115000"/>
              </a:lnSpc>
              <a:spcBef>
                <a:spcPts val="0"/>
              </a:spcBef>
              <a:spcAft>
                <a:spcPts val="0"/>
              </a:spcAft>
              <a:buSzPts val="1400"/>
              <a:buChar char="●"/>
            </a:pPr>
            <a:r>
              <a:rPr lang="en"/>
              <a:t>For </a:t>
            </a:r>
            <a:r>
              <a:rPr lang="en">
                <a:solidFill>
                  <a:srgbClr val="0070C0"/>
                </a:solidFill>
              </a:rPr>
              <a:t>inline style</a:t>
            </a:r>
            <a:r>
              <a:rPr lang="en"/>
              <a:t>, the </a:t>
            </a:r>
            <a:r>
              <a:rPr lang="en">
                <a:solidFill>
                  <a:srgbClr val="0070C0"/>
                </a:solidFill>
              </a:rPr>
              <a:t>first</a:t>
            </a:r>
            <a:r>
              <a:rPr lang="en"/>
              <a:t> one (</a:t>
            </a:r>
            <a:r>
              <a:rPr lang="en">
                <a:solidFill>
                  <a:srgbClr val="0070C0"/>
                </a:solidFill>
              </a:rPr>
              <a:t>style attribute</a:t>
            </a:r>
            <a:r>
              <a:rPr lang="en"/>
              <a:t>) applies.</a:t>
            </a:r>
            <a:endParaRPr/>
          </a:p>
          <a:p>
            <a:pPr marL="457200" lvl="0" indent="-317500" algn="l" rtl="0">
              <a:lnSpc>
                <a:spcPct val="115000"/>
              </a:lnSpc>
              <a:spcBef>
                <a:spcPts val="0"/>
              </a:spcBef>
              <a:spcAft>
                <a:spcPts val="0"/>
              </a:spcAft>
              <a:buSzPts val="1400"/>
              <a:buChar char="●"/>
            </a:pPr>
            <a:r>
              <a:rPr lang="en"/>
              <a:t>For </a:t>
            </a:r>
            <a:r>
              <a:rPr lang="en">
                <a:solidFill>
                  <a:srgbClr val="0070C0"/>
                </a:solidFill>
              </a:rPr>
              <a:t>internal </a:t>
            </a:r>
            <a:r>
              <a:rPr lang="en"/>
              <a:t>or </a:t>
            </a:r>
            <a:r>
              <a:rPr lang="en">
                <a:solidFill>
                  <a:srgbClr val="0070C0"/>
                </a:solidFill>
              </a:rPr>
              <a:t>external style </a:t>
            </a:r>
            <a:r>
              <a:rPr lang="en"/>
              <a:t>sheet, the </a:t>
            </a:r>
            <a:r>
              <a:rPr lang="en">
                <a:solidFill>
                  <a:srgbClr val="0070C0"/>
                </a:solidFill>
              </a:rPr>
              <a:t>last one </a:t>
            </a:r>
            <a:r>
              <a:rPr lang="en"/>
              <a:t>applies.</a:t>
            </a:r>
            <a:endParaRPr/>
          </a:p>
        </p:txBody>
      </p:sp>
      <p:pic>
        <p:nvPicPr>
          <p:cNvPr id="5" name="Picture 4">
            <a:extLst>
              <a:ext uri="{FF2B5EF4-FFF2-40B4-BE49-F238E27FC236}">
                <a16:creationId xmlns:a16="http://schemas.microsoft.com/office/drawing/2014/main" id="{0A6E9028-7902-38CB-381D-262D2FFC1257}"/>
              </a:ext>
            </a:extLst>
          </p:cNvPr>
          <p:cNvPicPr>
            <a:picLocks noChangeAspect="1"/>
          </p:cNvPicPr>
          <p:nvPr/>
        </p:nvPicPr>
        <p:blipFill>
          <a:blip r:embed="rId3"/>
          <a:stretch>
            <a:fillRect/>
          </a:stretch>
        </p:blipFill>
        <p:spPr>
          <a:xfrm>
            <a:off x="462726" y="1597057"/>
            <a:ext cx="3260778" cy="1712201"/>
          </a:xfrm>
          <a:prstGeom prst="rect">
            <a:avLst/>
          </a:prstGeom>
        </p:spPr>
      </p:pic>
      <p:pic>
        <p:nvPicPr>
          <p:cNvPr id="7" name="Picture 6">
            <a:extLst>
              <a:ext uri="{FF2B5EF4-FFF2-40B4-BE49-F238E27FC236}">
                <a16:creationId xmlns:a16="http://schemas.microsoft.com/office/drawing/2014/main" id="{C08E6BB8-B952-DD7A-3ECF-D9E0DE50565A}"/>
              </a:ext>
            </a:extLst>
          </p:cNvPr>
          <p:cNvPicPr>
            <a:picLocks noChangeAspect="1"/>
          </p:cNvPicPr>
          <p:nvPr/>
        </p:nvPicPr>
        <p:blipFill>
          <a:blip r:embed="rId4"/>
          <a:stretch>
            <a:fillRect/>
          </a:stretch>
        </p:blipFill>
        <p:spPr>
          <a:xfrm>
            <a:off x="4069090" y="1597057"/>
            <a:ext cx="1255614" cy="1712201"/>
          </a:xfrm>
          <a:prstGeom prst="rect">
            <a:avLst/>
          </a:prstGeom>
        </p:spPr>
      </p:pic>
      <p:grpSp>
        <p:nvGrpSpPr>
          <p:cNvPr id="15" name="Group 14">
            <a:extLst>
              <a:ext uri="{FF2B5EF4-FFF2-40B4-BE49-F238E27FC236}">
                <a16:creationId xmlns:a16="http://schemas.microsoft.com/office/drawing/2014/main" id="{808C7B73-8E28-6DC8-91A7-CA3F5FB0C490}"/>
              </a:ext>
            </a:extLst>
          </p:cNvPr>
          <p:cNvGrpSpPr/>
          <p:nvPr/>
        </p:nvGrpSpPr>
        <p:grpSpPr>
          <a:xfrm>
            <a:off x="443902" y="3522592"/>
            <a:ext cx="4880801" cy="1419521"/>
            <a:chOff x="443902" y="3522592"/>
            <a:chExt cx="4880801" cy="1419521"/>
          </a:xfrm>
        </p:grpSpPr>
        <p:sp>
          <p:nvSpPr>
            <p:cNvPr id="8" name="Shape 7">
              <a:extLst>
                <a:ext uri="{FF2B5EF4-FFF2-40B4-BE49-F238E27FC236}">
                  <a16:creationId xmlns:a16="http://schemas.microsoft.com/office/drawing/2014/main" id="{02E2F90F-0FCF-3216-DDCB-78AE12A68C91}"/>
                </a:ext>
              </a:extLst>
            </p:cNvPr>
            <p:cNvSpPr/>
            <p:nvPr/>
          </p:nvSpPr>
          <p:spPr>
            <a:xfrm>
              <a:off x="443902" y="3522592"/>
              <a:ext cx="4880801" cy="1419521"/>
            </a:xfrm>
            <a:prstGeom prst="rect">
              <a:avLst/>
            </a:prstGeom>
            <a:solidFill>
              <a:srgbClr val="FFFFFF"/>
            </a:solidFill>
            <a:ln w="19050">
              <a:solidFill>
                <a:srgbClr val="CBD5E1"/>
              </a:solidFill>
              <a:prstDash val="solid"/>
            </a:ln>
          </p:spPr>
          <p:txBody>
            <a:bodyPr/>
            <a:lstStyle/>
            <a:p>
              <a:endParaRPr lang="en-SG"/>
            </a:p>
          </p:txBody>
        </p:sp>
        <p:sp>
          <p:nvSpPr>
            <p:cNvPr id="9" name="Shape 8">
              <a:extLst>
                <a:ext uri="{FF2B5EF4-FFF2-40B4-BE49-F238E27FC236}">
                  <a16:creationId xmlns:a16="http://schemas.microsoft.com/office/drawing/2014/main" id="{BC4DB91C-4004-1858-DEA1-8AD227CF1F14}"/>
                </a:ext>
              </a:extLst>
            </p:cNvPr>
            <p:cNvSpPr/>
            <p:nvPr/>
          </p:nvSpPr>
          <p:spPr>
            <a:xfrm>
              <a:off x="443902" y="3526861"/>
              <a:ext cx="4880801" cy="290149"/>
            </a:xfrm>
            <a:prstGeom prst="rect">
              <a:avLst/>
            </a:prstGeom>
            <a:solidFill>
              <a:srgbClr val="E2E8F0"/>
            </a:solidFill>
            <a:ln/>
          </p:spPr>
          <p:txBody>
            <a:bodyPr/>
            <a:lstStyle/>
            <a:p>
              <a:endParaRPr lang="en-SG"/>
            </a:p>
          </p:txBody>
        </p:sp>
      </p:grpSp>
      <p:sp>
        <p:nvSpPr>
          <p:cNvPr id="10" name="Text 9">
            <a:extLst>
              <a:ext uri="{FF2B5EF4-FFF2-40B4-BE49-F238E27FC236}">
                <a16:creationId xmlns:a16="http://schemas.microsoft.com/office/drawing/2014/main" id="{2D6FB283-5912-8925-2B7E-E0618EF1192F}"/>
              </a:ext>
            </a:extLst>
          </p:cNvPr>
          <p:cNvSpPr/>
          <p:nvPr/>
        </p:nvSpPr>
        <p:spPr>
          <a:xfrm>
            <a:off x="443903" y="3554294"/>
            <a:ext cx="3246120" cy="201168"/>
          </a:xfrm>
          <a:prstGeom prst="rect">
            <a:avLst/>
          </a:prstGeom>
          <a:noFill/>
          <a:ln/>
        </p:spPr>
        <p:txBody>
          <a:bodyPr wrap="square" rtlCol="0" anchor="ctr"/>
          <a:lstStyle/>
          <a:p>
            <a:pPr marL="0" indent="0">
              <a:buNone/>
            </a:pPr>
            <a:r>
              <a:rPr lang="en-US" sz="800">
                <a:solidFill>
                  <a:srgbClr val="94A3B8"/>
                </a:solidFill>
                <a:latin typeface="Calibri" pitchFamily="34" charset="0"/>
                <a:ea typeface="Calibri" pitchFamily="34" charset="-122"/>
                <a:cs typeface="Calibri" pitchFamily="34" charset="-120"/>
              </a:rPr>
              <a:t>● ● ●  Browser Preview</a:t>
            </a:r>
            <a:endParaRPr lang="en-US" sz="800"/>
          </a:p>
        </p:txBody>
      </p:sp>
      <p:pic>
        <p:nvPicPr>
          <p:cNvPr id="12" name="Picture 11">
            <a:extLst>
              <a:ext uri="{FF2B5EF4-FFF2-40B4-BE49-F238E27FC236}">
                <a16:creationId xmlns:a16="http://schemas.microsoft.com/office/drawing/2014/main" id="{AB96D4E9-1DB3-6C40-E11B-C2138F548487}"/>
              </a:ext>
            </a:extLst>
          </p:cNvPr>
          <p:cNvPicPr>
            <a:picLocks noChangeAspect="1"/>
          </p:cNvPicPr>
          <p:nvPr/>
        </p:nvPicPr>
        <p:blipFill>
          <a:blip r:embed="rId5"/>
          <a:stretch>
            <a:fillRect/>
          </a:stretch>
        </p:blipFill>
        <p:spPr>
          <a:xfrm>
            <a:off x="554324" y="3884369"/>
            <a:ext cx="2878305" cy="990384"/>
          </a:xfrm>
          <a:prstGeom prst="rect">
            <a:avLst/>
          </a:prstGeom>
        </p:spPr>
      </p:pic>
      <p:sp>
        <p:nvSpPr>
          <p:cNvPr id="13" name="TextBox 12">
            <a:extLst>
              <a:ext uri="{FF2B5EF4-FFF2-40B4-BE49-F238E27FC236}">
                <a16:creationId xmlns:a16="http://schemas.microsoft.com/office/drawing/2014/main" id="{48B06431-F9D8-2695-DF38-C2C72114349C}"/>
              </a:ext>
            </a:extLst>
          </p:cNvPr>
          <p:cNvSpPr txBox="1"/>
          <p:nvPr/>
        </p:nvSpPr>
        <p:spPr>
          <a:xfrm>
            <a:off x="462726" y="1255600"/>
            <a:ext cx="3227297" cy="307777"/>
          </a:xfrm>
          <a:prstGeom prst="rect">
            <a:avLst/>
          </a:prstGeom>
          <a:noFill/>
        </p:spPr>
        <p:txBody>
          <a:bodyPr wrap="square">
            <a:spAutoFit/>
          </a:bodyPr>
          <a:lstStyle/>
          <a:p>
            <a:r>
              <a:rPr lang="en-US" i="1">
                <a:solidFill>
                  <a:schemeClr val="tx1"/>
                </a:solidFill>
              </a:rPr>
              <a:t>wk2example7.html</a:t>
            </a:r>
            <a:endParaRPr lang="en-SG" i="1">
              <a:solidFill>
                <a:schemeClr val="tx1"/>
              </a:solidFill>
            </a:endParaRPr>
          </a:p>
        </p:txBody>
      </p:sp>
      <p:sp>
        <p:nvSpPr>
          <p:cNvPr id="14" name="TextBox 13">
            <a:extLst>
              <a:ext uri="{FF2B5EF4-FFF2-40B4-BE49-F238E27FC236}">
                <a16:creationId xmlns:a16="http://schemas.microsoft.com/office/drawing/2014/main" id="{25C5B513-CB0F-A4D3-CF6C-576BB7D93DFB}"/>
              </a:ext>
            </a:extLst>
          </p:cNvPr>
          <p:cNvSpPr txBox="1"/>
          <p:nvPr/>
        </p:nvSpPr>
        <p:spPr>
          <a:xfrm>
            <a:off x="3999076" y="1248111"/>
            <a:ext cx="1683267" cy="307777"/>
          </a:xfrm>
          <a:prstGeom prst="rect">
            <a:avLst/>
          </a:prstGeom>
          <a:noFill/>
        </p:spPr>
        <p:txBody>
          <a:bodyPr wrap="square">
            <a:spAutoFit/>
          </a:bodyPr>
          <a:lstStyle/>
          <a:p>
            <a:r>
              <a:rPr lang="en-US" i="1">
                <a:solidFill>
                  <a:schemeClr val="tx1"/>
                </a:solidFill>
              </a:rPr>
              <a:t>wk2ex7.css</a:t>
            </a:r>
            <a:endParaRPr lang="en-SG" i="1">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2</a:t>
            </a:r>
            <a:endParaRPr/>
          </a:p>
        </p:txBody>
      </p:sp>
      <p:sp>
        <p:nvSpPr>
          <p:cNvPr id="191" name="Google Shape;191;p20"/>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 b="1"/>
              <a:t>CSS Debugging</a:t>
            </a:r>
            <a:endParaRPr b="1"/>
          </a:p>
          <a:p>
            <a:pPr marL="0" lvl="0" indent="0" algn="l" rtl="0">
              <a:lnSpc>
                <a:spcPct val="115000"/>
              </a:lnSpc>
              <a:spcBef>
                <a:spcPts val="1600"/>
              </a:spcBef>
              <a:spcAft>
                <a:spcPts val="0"/>
              </a:spcAft>
              <a:buSzPts val="1800"/>
              <a:buNone/>
            </a:pPr>
            <a:r>
              <a:rPr lang="en"/>
              <a:t>Given ex2.html, read the text and identify the problems.</a:t>
            </a:r>
            <a:endParaRPr/>
          </a:p>
          <a:p>
            <a:pPr marL="0" lvl="0" indent="0" algn="l" rtl="0">
              <a:lnSpc>
                <a:spcPct val="115000"/>
              </a:lnSpc>
              <a:spcBef>
                <a:spcPts val="1600"/>
              </a:spcBef>
              <a:spcAft>
                <a:spcPts val="1600"/>
              </a:spcAft>
              <a:buSzPts val="1800"/>
              <a:buNone/>
            </a:pPr>
            <a:r>
              <a:rPr lang="en"/>
              <a:t>Fix the bugs so that the text is consistent with its style. </a:t>
            </a:r>
            <a:endParaRPr/>
          </a:p>
        </p:txBody>
      </p:sp>
      <p:pic>
        <p:nvPicPr>
          <p:cNvPr id="3" name="Picture 2" descr="A close up of text&#10;&#10;AI-generated content may be incorrect.">
            <a:extLst>
              <a:ext uri="{FF2B5EF4-FFF2-40B4-BE49-F238E27FC236}">
                <a16:creationId xmlns:a16="http://schemas.microsoft.com/office/drawing/2014/main" id="{288E3DFF-1760-AC4C-E607-19B1B9DF1696}"/>
              </a:ext>
            </a:extLst>
          </p:cNvPr>
          <p:cNvPicPr>
            <a:picLocks noChangeAspect="1"/>
          </p:cNvPicPr>
          <p:nvPr/>
        </p:nvPicPr>
        <p:blipFill>
          <a:blip r:embed="rId3"/>
          <a:stretch>
            <a:fillRect/>
          </a:stretch>
        </p:blipFill>
        <p:spPr>
          <a:xfrm>
            <a:off x="4922044" y="3207543"/>
            <a:ext cx="3157361" cy="1048140"/>
          </a:xfrm>
          <a:prstGeom prst="rect">
            <a:avLst/>
          </a:prstGeom>
        </p:spPr>
      </p:pic>
      <p:pic>
        <p:nvPicPr>
          <p:cNvPr id="5" name="Picture 4" descr="A white background with red text&#10;&#10;AI-generated content may be incorrect.">
            <a:extLst>
              <a:ext uri="{FF2B5EF4-FFF2-40B4-BE49-F238E27FC236}">
                <a16:creationId xmlns:a16="http://schemas.microsoft.com/office/drawing/2014/main" id="{D668ECCF-B10B-A95C-E1ED-B87CB1979E7A}"/>
              </a:ext>
            </a:extLst>
          </p:cNvPr>
          <p:cNvPicPr>
            <a:picLocks noChangeAspect="1"/>
          </p:cNvPicPr>
          <p:nvPr/>
        </p:nvPicPr>
        <p:blipFill>
          <a:blip r:embed="rId4"/>
          <a:stretch>
            <a:fillRect/>
          </a:stretch>
        </p:blipFill>
        <p:spPr>
          <a:xfrm>
            <a:off x="620447" y="3207543"/>
            <a:ext cx="2440396" cy="1048139"/>
          </a:xfrm>
          <a:prstGeom prst="rect">
            <a:avLst/>
          </a:prstGeom>
        </p:spPr>
      </p:pic>
      <p:sp>
        <p:nvSpPr>
          <p:cNvPr id="6" name="Right Arrow 5">
            <a:extLst>
              <a:ext uri="{FF2B5EF4-FFF2-40B4-BE49-F238E27FC236}">
                <a16:creationId xmlns:a16="http://schemas.microsoft.com/office/drawing/2014/main" id="{74ECFA11-7E59-1DBF-A6E3-A1CF3B3257A7}"/>
              </a:ext>
            </a:extLst>
          </p:cNvPr>
          <p:cNvSpPr/>
          <p:nvPr/>
        </p:nvSpPr>
        <p:spPr>
          <a:xfrm>
            <a:off x="3657600" y="3629025"/>
            <a:ext cx="328613" cy="228600"/>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CSS: Text properties</a:t>
            </a:r>
            <a:endParaRPr/>
          </a:p>
        </p:txBody>
      </p:sp>
      <p:sp>
        <p:nvSpPr>
          <p:cNvPr id="198" name="Google Shape;198;p21"/>
          <p:cNvSpPr txBox="1">
            <a:spLocks noGrp="1"/>
          </p:cNvSpPr>
          <p:nvPr>
            <p:ph type="body" idx="2"/>
          </p:nvPr>
        </p:nvSpPr>
        <p:spPr>
          <a:xfrm>
            <a:off x="5420061" y="1029187"/>
            <a:ext cx="2834112" cy="1774099"/>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600"/>
              </a:spcBef>
              <a:spcAft>
                <a:spcPts val="0"/>
              </a:spcAft>
              <a:buClr>
                <a:schemeClr val="dk1"/>
              </a:buClr>
              <a:buSzPts val="1100"/>
              <a:buFont typeface="Arial"/>
              <a:buNone/>
            </a:pPr>
            <a:r>
              <a:rPr lang="en" sz="1100" u="sng"/>
              <a:t>Text display properties </a:t>
            </a:r>
            <a:endParaRPr sz="1100" u="sng"/>
          </a:p>
          <a:p>
            <a:pPr marL="0" lvl="0" indent="0" algn="l" rtl="0">
              <a:lnSpc>
                <a:spcPct val="115000"/>
              </a:lnSpc>
              <a:spcBef>
                <a:spcPts val="1600"/>
              </a:spcBef>
              <a:spcAft>
                <a:spcPts val="0"/>
              </a:spcAft>
              <a:buClr>
                <a:schemeClr val="dk1"/>
              </a:buClr>
              <a:buSzPts val="1100"/>
              <a:buFont typeface="Arial"/>
              <a:buNone/>
            </a:pPr>
            <a:r>
              <a:rPr lang="en" sz="1100">
                <a:solidFill>
                  <a:srgbClr val="0070C0"/>
                </a:solidFill>
              </a:rPr>
              <a:t>Color</a:t>
            </a:r>
            <a:r>
              <a:rPr lang="en" sz="1100"/>
              <a:t>: specify the color of the text</a:t>
            </a:r>
            <a:endParaRPr sz="1100"/>
          </a:p>
          <a:p>
            <a:pPr marL="0" lvl="0" indent="0" algn="l" rtl="0">
              <a:lnSpc>
                <a:spcPct val="115000"/>
              </a:lnSpc>
              <a:spcBef>
                <a:spcPts val="1600"/>
              </a:spcBef>
              <a:spcAft>
                <a:spcPts val="0"/>
              </a:spcAft>
              <a:buClr>
                <a:schemeClr val="dk1"/>
              </a:buClr>
              <a:buSzPts val="1100"/>
              <a:buFont typeface="Arial"/>
              <a:buNone/>
            </a:pPr>
            <a:r>
              <a:rPr lang="en" sz="1100">
                <a:solidFill>
                  <a:srgbClr val="0070C0"/>
                </a:solidFill>
              </a:rPr>
              <a:t>Text-align</a:t>
            </a:r>
            <a:r>
              <a:rPr lang="en" sz="1100"/>
              <a:t>: specify horizontal alignment</a:t>
            </a:r>
            <a:endParaRPr sz="1100"/>
          </a:p>
          <a:p>
            <a:pPr marL="0" lvl="0" indent="0" algn="l" rtl="0">
              <a:lnSpc>
                <a:spcPct val="115000"/>
              </a:lnSpc>
              <a:spcBef>
                <a:spcPts val="1600"/>
              </a:spcBef>
              <a:spcAft>
                <a:spcPts val="0"/>
              </a:spcAft>
              <a:buSzPts val="1400"/>
              <a:buNone/>
            </a:pPr>
            <a:r>
              <a:rPr lang="en" sz="1100">
                <a:solidFill>
                  <a:srgbClr val="0070C0"/>
                </a:solidFill>
              </a:rPr>
              <a:t>Text-decoration</a:t>
            </a:r>
            <a:r>
              <a:rPr lang="en" sz="1100"/>
              <a:t>: e.g., </a:t>
            </a:r>
            <a:r>
              <a:rPr lang="en" sz="1100" i="1"/>
              <a:t>p { text-decoration: line-through; }</a:t>
            </a:r>
            <a:endParaRPr sz="1100" i="1"/>
          </a:p>
        </p:txBody>
      </p:sp>
      <p:sp>
        <p:nvSpPr>
          <p:cNvPr id="11" name="TextBox 10">
            <a:extLst>
              <a:ext uri="{FF2B5EF4-FFF2-40B4-BE49-F238E27FC236}">
                <a16:creationId xmlns:a16="http://schemas.microsoft.com/office/drawing/2014/main" id="{71C94843-BAB2-4D27-433B-483FF2EB978D}"/>
              </a:ext>
            </a:extLst>
          </p:cNvPr>
          <p:cNvSpPr txBox="1"/>
          <p:nvPr/>
        </p:nvSpPr>
        <p:spPr>
          <a:xfrm>
            <a:off x="311700" y="1029188"/>
            <a:ext cx="1918882" cy="307777"/>
          </a:xfrm>
          <a:prstGeom prst="rect">
            <a:avLst/>
          </a:prstGeom>
          <a:noFill/>
        </p:spPr>
        <p:txBody>
          <a:bodyPr wrap="square">
            <a:spAutoFit/>
          </a:bodyPr>
          <a:lstStyle/>
          <a:p>
            <a:r>
              <a:rPr lang="en" i="1"/>
              <a:t>wk2example8.html</a:t>
            </a:r>
            <a:endParaRPr lang="en-SG"/>
          </a:p>
        </p:txBody>
      </p:sp>
      <p:pic>
        <p:nvPicPr>
          <p:cNvPr id="13" name="Picture 12">
            <a:extLst>
              <a:ext uri="{FF2B5EF4-FFF2-40B4-BE49-F238E27FC236}">
                <a16:creationId xmlns:a16="http://schemas.microsoft.com/office/drawing/2014/main" id="{2640F2BA-864F-BF2B-332C-2B1F1491AA3F}"/>
              </a:ext>
            </a:extLst>
          </p:cNvPr>
          <p:cNvPicPr>
            <a:picLocks noChangeAspect="1"/>
          </p:cNvPicPr>
          <p:nvPr/>
        </p:nvPicPr>
        <p:blipFill>
          <a:blip r:embed="rId3"/>
          <a:stretch>
            <a:fillRect/>
          </a:stretch>
        </p:blipFill>
        <p:spPr>
          <a:xfrm>
            <a:off x="408710" y="1330037"/>
            <a:ext cx="1786896" cy="2476499"/>
          </a:xfrm>
          <a:prstGeom prst="rect">
            <a:avLst/>
          </a:prstGeom>
        </p:spPr>
      </p:pic>
      <p:pic>
        <p:nvPicPr>
          <p:cNvPr id="15" name="Picture 14">
            <a:extLst>
              <a:ext uri="{FF2B5EF4-FFF2-40B4-BE49-F238E27FC236}">
                <a16:creationId xmlns:a16="http://schemas.microsoft.com/office/drawing/2014/main" id="{FE3B5756-FE48-2987-DBAB-E4BF11522B8D}"/>
              </a:ext>
            </a:extLst>
          </p:cNvPr>
          <p:cNvPicPr>
            <a:picLocks noChangeAspect="1"/>
          </p:cNvPicPr>
          <p:nvPr/>
        </p:nvPicPr>
        <p:blipFill>
          <a:blip r:embed="rId4"/>
          <a:stretch>
            <a:fillRect/>
          </a:stretch>
        </p:blipFill>
        <p:spPr>
          <a:xfrm>
            <a:off x="2292616" y="1336965"/>
            <a:ext cx="2963974" cy="1581433"/>
          </a:xfrm>
          <a:prstGeom prst="rect">
            <a:avLst/>
          </a:prstGeom>
        </p:spPr>
      </p:pic>
      <p:grpSp>
        <p:nvGrpSpPr>
          <p:cNvPr id="9" name="Group 8">
            <a:extLst>
              <a:ext uri="{FF2B5EF4-FFF2-40B4-BE49-F238E27FC236}">
                <a16:creationId xmlns:a16="http://schemas.microsoft.com/office/drawing/2014/main" id="{EE2294C5-9A80-356D-3E7A-CB20C4D473CE}"/>
              </a:ext>
            </a:extLst>
          </p:cNvPr>
          <p:cNvGrpSpPr/>
          <p:nvPr/>
        </p:nvGrpSpPr>
        <p:grpSpPr>
          <a:xfrm>
            <a:off x="3373372" y="3038850"/>
            <a:ext cx="4880801" cy="2046513"/>
            <a:chOff x="443902" y="2895600"/>
            <a:chExt cx="4880801" cy="2046513"/>
          </a:xfrm>
        </p:grpSpPr>
        <p:sp>
          <p:nvSpPr>
            <p:cNvPr id="3" name="Shape 7">
              <a:extLst>
                <a:ext uri="{FF2B5EF4-FFF2-40B4-BE49-F238E27FC236}">
                  <a16:creationId xmlns:a16="http://schemas.microsoft.com/office/drawing/2014/main" id="{329BC3E5-2DC3-4FFF-1F76-FC915C2D7EF9}"/>
                </a:ext>
              </a:extLst>
            </p:cNvPr>
            <p:cNvSpPr/>
            <p:nvPr/>
          </p:nvSpPr>
          <p:spPr>
            <a:xfrm>
              <a:off x="443902" y="2895600"/>
              <a:ext cx="4880801" cy="2046513"/>
            </a:xfrm>
            <a:prstGeom prst="rect">
              <a:avLst/>
            </a:prstGeom>
            <a:solidFill>
              <a:srgbClr val="FFFFFF"/>
            </a:solidFill>
            <a:ln w="19050">
              <a:solidFill>
                <a:srgbClr val="CBD5E1"/>
              </a:solidFill>
              <a:prstDash val="solid"/>
            </a:ln>
          </p:spPr>
          <p:txBody>
            <a:bodyPr/>
            <a:lstStyle/>
            <a:p>
              <a:endParaRPr lang="en-SG"/>
            </a:p>
          </p:txBody>
        </p:sp>
        <p:sp>
          <p:nvSpPr>
            <p:cNvPr id="4" name="Shape 8">
              <a:extLst>
                <a:ext uri="{FF2B5EF4-FFF2-40B4-BE49-F238E27FC236}">
                  <a16:creationId xmlns:a16="http://schemas.microsoft.com/office/drawing/2014/main" id="{334A75C0-7E48-4385-B52D-DCAD17785A2E}"/>
                </a:ext>
              </a:extLst>
            </p:cNvPr>
            <p:cNvSpPr/>
            <p:nvPr/>
          </p:nvSpPr>
          <p:spPr>
            <a:xfrm>
              <a:off x="443902" y="2901755"/>
              <a:ext cx="4880801" cy="290022"/>
            </a:xfrm>
            <a:prstGeom prst="rect">
              <a:avLst/>
            </a:prstGeom>
            <a:solidFill>
              <a:srgbClr val="E2E8F0"/>
            </a:solidFill>
            <a:ln/>
          </p:spPr>
          <p:txBody>
            <a:bodyPr/>
            <a:lstStyle/>
            <a:p>
              <a:endParaRPr lang="en-SG"/>
            </a:p>
          </p:txBody>
        </p:sp>
        <p:sp>
          <p:nvSpPr>
            <p:cNvPr id="5" name="Text 9">
              <a:extLst>
                <a:ext uri="{FF2B5EF4-FFF2-40B4-BE49-F238E27FC236}">
                  <a16:creationId xmlns:a16="http://schemas.microsoft.com/office/drawing/2014/main" id="{F4EBDEAC-2CB4-FE1C-B37C-7CE81370FA92}"/>
                </a:ext>
              </a:extLst>
            </p:cNvPr>
            <p:cNvSpPr/>
            <p:nvPr/>
          </p:nvSpPr>
          <p:spPr>
            <a:xfrm>
              <a:off x="443902" y="2901755"/>
              <a:ext cx="3246120" cy="290022"/>
            </a:xfrm>
            <a:prstGeom prst="rect">
              <a:avLst/>
            </a:prstGeom>
            <a:noFill/>
            <a:ln/>
          </p:spPr>
          <p:txBody>
            <a:bodyPr wrap="square" rtlCol="0" anchor="ctr"/>
            <a:lstStyle/>
            <a:p>
              <a:pPr marL="0" indent="0">
                <a:buNone/>
              </a:pPr>
              <a:r>
                <a:rPr lang="en-US" sz="800">
                  <a:solidFill>
                    <a:srgbClr val="94A3B8"/>
                  </a:solidFill>
                  <a:latin typeface="Calibri" pitchFamily="34" charset="0"/>
                  <a:ea typeface="Calibri" pitchFamily="34" charset="-122"/>
                  <a:cs typeface="Calibri" pitchFamily="34" charset="-120"/>
                </a:rPr>
                <a:t>● ● ●  Browser Preview</a:t>
              </a:r>
              <a:endParaRPr lang="en-US" sz="800"/>
            </a:p>
          </p:txBody>
        </p:sp>
        <p:pic>
          <p:nvPicPr>
            <p:cNvPr id="8" name="Picture 7">
              <a:extLst>
                <a:ext uri="{FF2B5EF4-FFF2-40B4-BE49-F238E27FC236}">
                  <a16:creationId xmlns:a16="http://schemas.microsoft.com/office/drawing/2014/main" id="{2A017FA7-47D7-3201-884A-21CB83C29F62}"/>
                </a:ext>
              </a:extLst>
            </p:cNvPr>
            <p:cNvPicPr>
              <a:picLocks noChangeAspect="1"/>
            </p:cNvPicPr>
            <p:nvPr/>
          </p:nvPicPr>
          <p:blipFill>
            <a:blip r:embed="rId5"/>
            <a:stretch>
              <a:fillRect/>
            </a:stretch>
          </p:blipFill>
          <p:spPr>
            <a:xfrm>
              <a:off x="731126" y="3320061"/>
              <a:ext cx="4231584" cy="1550387"/>
            </a:xfrm>
            <a:prstGeom prst="rect">
              <a:avLst/>
            </a:prstGeom>
          </p:spPr>
        </p:pic>
      </p:grpSp>
      <p:grpSp>
        <p:nvGrpSpPr>
          <p:cNvPr id="18" name="Group 17">
            <a:extLst>
              <a:ext uri="{FF2B5EF4-FFF2-40B4-BE49-F238E27FC236}">
                <a16:creationId xmlns:a16="http://schemas.microsoft.com/office/drawing/2014/main" id="{6B81E1F7-758B-880A-B61F-030F884BCFE1}"/>
              </a:ext>
            </a:extLst>
          </p:cNvPr>
          <p:cNvGrpSpPr/>
          <p:nvPr/>
        </p:nvGrpSpPr>
        <p:grpSpPr>
          <a:xfrm>
            <a:off x="408710" y="3969126"/>
            <a:ext cx="2427338" cy="696335"/>
            <a:chOff x="366240" y="4390137"/>
            <a:chExt cx="8164968" cy="502920"/>
          </a:xfrm>
        </p:grpSpPr>
        <p:sp>
          <p:nvSpPr>
            <p:cNvPr id="19" name="Shape 19">
              <a:extLst>
                <a:ext uri="{FF2B5EF4-FFF2-40B4-BE49-F238E27FC236}">
                  <a16:creationId xmlns:a16="http://schemas.microsoft.com/office/drawing/2014/main" id="{951B625D-CDB1-DCB2-466A-188538EBC30C}"/>
                </a:ext>
              </a:extLst>
            </p:cNvPr>
            <p:cNvSpPr/>
            <p:nvPr/>
          </p:nvSpPr>
          <p:spPr>
            <a:xfrm>
              <a:off x="366240" y="4390137"/>
              <a:ext cx="8164968" cy="502920"/>
            </a:xfrm>
            <a:prstGeom prst="rect">
              <a:avLst/>
            </a:prstGeom>
            <a:solidFill>
              <a:srgbClr val="DBEAFE"/>
            </a:solidFill>
            <a:ln w="12700">
              <a:solidFill>
                <a:srgbClr val="2563EB"/>
              </a:solidFill>
              <a:prstDash val="solid"/>
            </a:ln>
          </p:spPr>
          <p:txBody>
            <a:bodyPr/>
            <a:lstStyle/>
            <a:p>
              <a:endParaRPr lang="en-SG"/>
            </a:p>
          </p:txBody>
        </p:sp>
        <p:sp>
          <p:nvSpPr>
            <p:cNvPr id="20" name="Text 4">
              <a:extLst>
                <a:ext uri="{FF2B5EF4-FFF2-40B4-BE49-F238E27FC236}">
                  <a16:creationId xmlns:a16="http://schemas.microsoft.com/office/drawing/2014/main" id="{0CC3BA8B-5029-4677-23D2-B3655ED26000}"/>
                </a:ext>
              </a:extLst>
            </p:cNvPr>
            <p:cNvSpPr/>
            <p:nvPr/>
          </p:nvSpPr>
          <p:spPr>
            <a:xfrm>
              <a:off x="439392" y="4481577"/>
              <a:ext cx="7999180" cy="320040"/>
            </a:xfrm>
            <a:prstGeom prst="rect">
              <a:avLst/>
            </a:prstGeom>
            <a:noFill/>
            <a:ln/>
          </p:spPr>
          <p:txBody>
            <a:bodyPr wrap="square" rtlCol="0" anchor="ctr"/>
            <a:lstStyle/>
            <a:p>
              <a:r>
                <a:rPr lang="en-US" sz="1200">
                  <a:solidFill>
                    <a:srgbClr val="2563EB"/>
                  </a:solidFill>
                  <a:latin typeface="Calibri" pitchFamily="34" charset="0"/>
                  <a:ea typeface="Calibri" pitchFamily="34" charset="-122"/>
                  <a:cs typeface="Calibri" pitchFamily="34" charset="-120"/>
                </a:rPr>
                <a:t>💡Reference list of properties: </a:t>
              </a:r>
              <a:r>
                <a:rPr lang="en-SG" sz="1100">
                  <a:solidFill>
                    <a:schemeClr val="hlink"/>
                  </a:solidFill>
                  <a:uFill>
                    <a:noFill/>
                  </a:uFill>
                  <a:hlinkClick r:id="rId6"/>
                </a:rPr>
                <a:t>https://www.w3schools.com/cssref/</a:t>
              </a:r>
              <a:endParaRPr lang="en-US" sz="1100">
                <a:solidFill>
                  <a:srgbClr val="0070C0"/>
                </a:solidFil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CSS: Display properties</a:t>
            </a:r>
            <a:endParaRPr/>
          </a:p>
        </p:txBody>
      </p:sp>
      <p:sp>
        <p:nvSpPr>
          <p:cNvPr id="204" name="Google Shape;204;p22"/>
          <p:cNvSpPr txBox="1">
            <a:spLocks noGrp="1"/>
          </p:cNvSpPr>
          <p:nvPr>
            <p:ph type="body" idx="1"/>
          </p:nvPr>
        </p:nvSpPr>
        <p:spPr>
          <a:xfrm>
            <a:off x="311699" y="1225225"/>
            <a:ext cx="8244471"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Display properties</a:t>
            </a:r>
            <a:endParaRPr b="1"/>
          </a:p>
          <a:p>
            <a:pPr marL="0" marR="0" lvl="0" indent="0" algn="l" rtl="0">
              <a:lnSpc>
                <a:spcPct val="115000"/>
              </a:lnSpc>
              <a:spcBef>
                <a:spcPts val="1600"/>
              </a:spcBef>
              <a:spcAft>
                <a:spcPts val="0"/>
              </a:spcAft>
              <a:buSzPts val="1400"/>
              <a:buNone/>
            </a:pPr>
            <a:r>
              <a:rPr lang="en"/>
              <a:t>Specifies how an element is displayed with respect to other elements. </a:t>
            </a:r>
            <a:endParaRPr/>
          </a:p>
          <a:p>
            <a:pPr marL="457200" marR="0" lvl="0" indent="-317500" algn="l" rtl="0">
              <a:lnSpc>
                <a:spcPct val="115000"/>
              </a:lnSpc>
              <a:spcBef>
                <a:spcPts val="1600"/>
              </a:spcBef>
              <a:spcAft>
                <a:spcPts val="0"/>
              </a:spcAft>
              <a:buSzPts val="1400"/>
              <a:buChar char="●"/>
            </a:pPr>
            <a:r>
              <a:rPr lang="en">
                <a:solidFill>
                  <a:srgbClr val="0070C0"/>
                </a:solidFill>
              </a:rPr>
              <a:t>block</a:t>
            </a:r>
            <a:r>
              <a:rPr lang="en"/>
              <a:t>: displayed on a new line</a:t>
            </a:r>
            <a:endParaRPr/>
          </a:p>
          <a:p>
            <a:pPr marL="457200" marR="0" lvl="0" indent="-317500" algn="l" rtl="0">
              <a:lnSpc>
                <a:spcPct val="115000"/>
              </a:lnSpc>
              <a:spcBef>
                <a:spcPts val="0"/>
              </a:spcBef>
              <a:spcAft>
                <a:spcPts val="0"/>
              </a:spcAft>
              <a:buSzPts val="1400"/>
              <a:buChar char="●"/>
            </a:pPr>
            <a:r>
              <a:rPr lang="en">
                <a:solidFill>
                  <a:srgbClr val="0070C0"/>
                </a:solidFill>
              </a:rPr>
              <a:t>inline</a:t>
            </a:r>
            <a:r>
              <a:rPr lang="en"/>
              <a:t>: displayed inline with the previous element, i.e., place this element next to the previous one.</a:t>
            </a:r>
            <a:endParaRPr/>
          </a:p>
          <a:p>
            <a:pPr marL="457200" marR="0" lvl="0" indent="-317500" algn="l" rtl="0">
              <a:lnSpc>
                <a:spcPct val="115000"/>
              </a:lnSpc>
              <a:spcBef>
                <a:spcPts val="0"/>
              </a:spcBef>
              <a:spcAft>
                <a:spcPts val="0"/>
              </a:spcAft>
              <a:buSzPts val="1400"/>
              <a:buChar char="●"/>
            </a:pPr>
            <a:r>
              <a:rPr lang="en">
                <a:solidFill>
                  <a:srgbClr val="0070C0"/>
                </a:solidFill>
              </a:rPr>
              <a:t>none</a:t>
            </a:r>
            <a:r>
              <a:rPr lang="en"/>
              <a:t>: hidden (used with JavaScript to hide/show elements depending on logic)</a:t>
            </a:r>
            <a:endParaRPr/>
          </a:p>
        </p:txBody>
      </p:sp>
      <p:grpSp>
        <p:nvGrpSpPr>
          <p:cNvPr id="5" name="Group 4">
            <a:extLst>
              <a:ext uri="{FF2B5EF4-FFF2-40B4-BE49-F238E27FC236}">
                <a16:creationId xmlns:a16="http://schemas.microsoft.com/office/drawing/2014/main" id="{F3F41ECB-2D2D-C4C2-D47E-3CDFE8D9E863}"/>
              </a:ext>
            </a:extLst>
          </p:cNvPr>
          <p:cNvGrpSpPr/>
          <p:nvPr/>
        </p:nvGrpSpPr>
        <p:grpSpPr>
          <a:xfrm>
            <a:off x="1927380" y="4051770"/>
            <a:ext cx="4244819" cy="311509"/>
            <a:chOff x="366240" y="4390137"/>
            <a:chExt cx="8164968" cy="502920"/>
          </a:xfrm>
        </p:grpSpPr>
        <p:sp>
          <p:nvSpPr>
            <p:cNvPr id="6" name="Shape 19">
              <a:extLst>
                <a:ext uri="{FF2B5EF4-FFF2-40B4-BE49-F238E27FC236}">
                  <a16:creationId xmlns:a16="http://schemas.microsoft.com/office/drawing/2014/main" id="{CFA8E7D7-1038-8519-8A9C-C5A2FF521523}"/>
                </a:ext>
              </a:extLst>
            </p:cNvPr>
            <p:cNvSpPr/>
            <p:nvPr/>
          </p:nvSpPr>
          <p:spPr>
            <a:xfrm>
              <a:off x="366240" y="4390137"/>
              <a:ext cx="8164968" cy="502920"/>
            </a:xfrm>
            <a:prstGeom prst="rect">
              <a:avLst/>
            </a:prstGeom>
            <a:solidFill>
              <a:srgbClr val="DBEAFE"/>
            </a:solidFill>
            <a:ln w="12700">
              <a:solidFill>
                <a:srgbClr val="2563EB"/>
              </a:solidFill>
              <a:prstDash val="solid"/>
            </a:ln>
          </p:spPr>
          <p:txBody>
            <a:bodyPr/>
            <a:lstStyle/>
            <a:p>
              <a:endParaRPr lang="en-SG"/>
            </a:p>
          </p:txBody>
        </p:sp>
        <p:sp>
          <p:nvSpPr>
            <p:cNvPr id="7" name="Text 4">
              <a:extLst>
                <a:ext uri="{FF2B5EF4-FFF2-40B4-BE49-F238E27FC236}">
                  <a16:creationId xmlns:a16="http://schemas.microsoft.com/office/drawing/2014/main" id="{8C091499-0CFB-9E98-E468-352C5FB38547}"/>
                </a:ext>
              </a:extLst>
            </p:cNvPr>
            <p:cNvSpPr/>
            <p:nvPr/>
          </p:nvSpPr>
          <p:spPr>
            <a:xfrm>
              <a:off x="439392" y="4481577"/>
              <a:ext cx="7999180" cy="320040"/>
            </a:xfrm>
            <a:prstGeom prst="rect">
              <a:avLst/>
            </a:prstGeom>
            <a:noFill/>
            <a:ln/>
          </p:spPr>
          <p:txBody>
            <a:bodyPr wrap="square" rtlCol="0" anchor="ctr"/>
            <a:lstStyle/>
            <a:p>
              <a:r>
                <a:rPr lang="en-US" sz="1200">
                  <a:solidFill>
                    <a:srgbClr val="2563EB"/>
                  </a:solidFill>
                  <a:latin typeface="Calibri" pitchFamily="34" charset="0"/>
                  <a:ea typeface="Calibri" pitchFamily="34" charset="-122"/>
                  <a:cs typeface="Calibri" pitchFamily="34" charset="-120"/>
                </a:rPr>
                <a:t>💡</a:t>
              </a:r>
              <a:r>
                <a:rPr lang="en" sz="1200"/>
                <a:t> Every HTML element has a </a:t>
              </a:r>
              <a:r>
                <a:rPr lang="en" sz="1200">
                  <a:solidFill>
                    <a:srgbClr val="0070C0"/>
                  </a:solidFill>
                </a:rPr>
                <a:t>default display value</a:t>
              </a:r>
              <a:r>
                <a:rPr lang="en" sz="1200"/>
                <a:t>.</a:t>
              </a:r>
              <a:endParaRPr lang="en-GB" sz="110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ED8E507E-A5D9-A828-3FA8-24C775A98789}"/>
            </a:ext>
          </a:extLst>
        </p:cNvPr>
        <p:cNvGrpSpPr/>
        <p:nvPr/>
      </p:nvGrpSpPr>
      <p:grpSpPr>
        <a:xfrm>
          <a:off x="0" y="0"/>
          <a:ext cx="0" cy="0"/>
          <a:chOff x="0" y="0"/>
          <a:chExt cx="0" cy="0"/>
        </a:xfrm>
      </p:grpSpPr>
      <p:sp>
        <p:nvSpPr>
          <p:cNvPr id="203" name="Google Shape;203;p22">
            <a:extLst>
              <a:ext uri="{FF2B5EF4-FFF2-40B4-BE49-F238E27FC236}">
                <a16:creationId xmlns:a16="http://schemas.microsoft.com/office/drawing/2014/main" id="{A2040739-83EF-3576-F410-D04C849EB568}"/>
              </a:ext>
            </a:extLst>
          </p:cNvPr>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CSS: Display properties</a:t>
            </a:r>
            <a:endParaRPr/>
          </a:p>
        </p:txBody>
      </p:sp>
      <p:pic>
        <p:nvPicPr>
          <p:cNvPr id="6" name="Picture 5">
            <a:extLst>
              <a:ext uri="{FF2B5EF4-FFF2-40B4-BE49-F238E27FC236}">
                <a16:creationId xmlns:a16="http://schemas.microsoft.com/office/drawing/2014/main" id="{AFF6F87D-5C92-36E9-45A9-64966B237965}"/>
              </a:ext>
            </a:extLst>
          </p:cNvPr>
          <p:cNvPicPr>
            <a:picLocks noChangeAspect="1"/>
          </p:cNvPicPr>
          <p:nvPr/>
        </p:nvPicPr>
        <p:blipFill>
          <a:blip r:embed="rId3"/>
          <a:stretch>
            <a:fillRect/>
          </a:stretch>
        </p:blipFill>
        <p:spPr>
          <a:xfrm>
            <a:off x="458527" y="1458095"/>
            <a:ext cx="2915055" cy="3563275"/>
          </a:xfrm>
          <a:prstGeom prst="rect">
            <a:avLst/>
          </a:prstGeom>
        </p:spPr>
      </p:pic>
      <p:grpSp>
        <p:nvGrpSpPr>
          <p:cNvPr id="15" name="Group 14">
            <a:extLst>
              <a:ext uri="{FF2B5EF4-FFF2-40B4-BE49-F238E27FC236}">
                <a16:creationId xmlns:a16="http://schemas.microsoft.com/office/drawing/2014/main" id="{11EFC4A9-2B3F-B5A3-45FD-9308D1541D00}"/>
              </a:ext>
            </a:extLst>
          </p:cNvPr>
          <p:cNvGrpSpPr/>
          <p:nvPr/>
        </p:nvGrpSpPr>
        <p:grpSpPr>
          <a:xfrm>
            <a:off x="3804672" y="1225225"/>
            <a:ext cx="4244819" cy="1649593"/>
            <a:chOff x="3804672" y="1225225"/>
            <a:chExt cx="4244819" cy="1649593"/>
          </a:xfrm>
        </p:grpSpPr>
        <p:sp>
          <p:nvSpPr>
            <p:cNvPr id="12" name="Shape 7">
              <a:extLst>
                <a:ext uri="{FF2B5EF4-FFF2-40B4-BE49-F238E27FC236}">
                  <a16:creationId xmlns:a16="http://schemas.microsoft.com/office/drawing/2014/main" id="{260F0774-E015-CD9E-B4C6-4D9FE37B0129}"/>
                </a:ext>
              </a:extLst>
            </p:cNvPr>
            <p:cNvSpPr/>
            <p:nvPr/>
          </p:nvSpPr>
          <p:spPr>
            <a:xfrm>
              <a:off x="3804672" y="1225225"/>
              <a:ext cx="4244819" cy="1649593"/>
            </a:xfrm>
            <a:prstGeom prst="rect">
              <a:avLst/>
            </a:prstGeom>
            <a:solidFill>
              <a:srgbClr val="FFFFFF"/>
            </a:solidFill>
            <a:ln w="19050">
              <a:solidFill>
                <a:srgbClr val="CBD5E1"/>
              </a:solidFill>
              <a:prstDash val="solid"/>
            </a:ln>
          </p:spPr>
          <p:txBody>
            <a:bodyPr/>
            <a:lstStyle/>
            <a:p>
              <a:endParaRPr lang="en-SG"/>
            </a:p>
          </p:txBody>
        </p:sp>
        <p:sp>
          <p:nvSpPr>
            <p:cNvPr id="13" name="Shape 8">
              <a:extLst>
                <a:ext uri="{FF2B5EF4-FFF2-40B4-BE49-F238E27FC236}">
                  <a16:creationId xmlns:a16="http://schemas.microsoft.com/office/drawing/2014/main" id="{1BDFBFCD-C18B-2A2B-9618-B17AB30804CA}"/>
                </a:ext>
              </a:extLst>
            </p:cNvPr>
            <p:cNvSpPr/>
            <p:nvPr/>
          </p:nvSpPr>
          <p:spPr>
            <a:xfrm>
              <a:off x="3804672" y="1229494"/>
              <a:ext cx="4244819" cy="287579"/>
            </a:xfrm>
            <a:prstGeom prst="rect">
              <a:avLst/>
            </a:prstGeom>
            <a:solidFill>
              <a:srgbClr val="E2E8F0"/>
            </a:solidFill>
            <a:ln/>
          </p:spPr>
          <p:txBody>
            <a:bodyPr/>
            <a:lstStyle/>
            <a:p>
              <a:endParaRPr lang="en-SG"/>
            </a:p>
          </p:txBody>
        </p:sp>
        <p:sp>
          <p:nvSpPr>
            <p:cNvPr id="14" name="Text 9">
              <a:extLst>
                <a:ext uri="{FF2B5EF4-FFF2-40B4-BE49-F238E27FC236}">
                  <a16:creationId xmlns:a16="http://schemas.microsoft.com/office/drawing/2014/main" id="{105A89C9-FB0C-C68C-F046-0C49E7F4ABB3}"/>
                </a:ext>
              </a:extLst>
            </p:cNvPr>
            <p:cNvSpPr/>
            <p:nvPr/>
          </p:nvSpPr>
          <p:spPr>
            <a:xfrm>
              <a:off x="3804673" y="1256927"/>
              <a:ext cx="2823141" cy="201168"/>
            </a:xfrm>
            <a:prstGeom prst="rect">
              <a:avLst/>
            </a:prstGeom>
            <a:noFill/>
            <a:ln/>
          </p:spPr>
          <p:txBody>
            <a:bodyPr wrap="square" rtlCol="0" anchor="ctr"/>
            <a:lstStyle/>
            <a:p>
              <a:pPr marL="0" indent="0">
                <a:buNone/>
              </a:pPr>
              <a:r>
                <a:rPr lang="en-US" sz="800">
                  <a:solidFill>
                    <a:srgbClr val="94A3B8"/>
                  </a:solidFill>
                  <a:latin typeface="Calibri" pitchFamily="34" charset="0"/>
                  <a:ea typeface="Calibri" pitchFamily="34" charset="-122"/>
                  <a:cs typeface="Calibri" pitchFamily="34" charset="-120"/>
                </a:rPr>
                <a:t>● ● ●  Browser Preview</a:t>
              </a:r>
              <a:endParaRPr lang="en-US" sz="800"/>
            </a:p>
          </p:txBody>
        </p:sp>
      </p:grpSp>
      <p:grpSp>
        <p:nvGrpSpPr>
          <p:cNvPr id="16" name="Group 15">
            <a:extLst>
              <a:ext uri="{FF2B5EF4-FFF2-40B4-BE49-F238E27FC236}">
                <a16:creationId xmlns:a16="http://schemas.microsoft.com/office/drawing/2014/main" id="{ACE0A566-E208-1F1B-B48A-E5FF63A7B74E}"/>
              </a:ext>
            </a:extLst>
          </p:cNvPr>
          <p:cNvGrpSpPr/>
          <p:nvPr/>
        </p:nvGrpSpPr>
        <p:grpSpPr>
          <a:xfrm>
            <a:off x="3804671" y="2982268"/>
            <a:ext cx="4244819" cy="1649593"/>
            <a:chOff x="3804672" y="1225225"/>
            <a:chExt cx="4244819" cy="1649593"/>
          </a:xfrm>
        </p:grpSpPr>
        <p:sp>
          <p:nvSpPr>
            <p:cNvPr id="17" name="Shape 7">
              <a:extLst>
                <a:ext uri="{FF2B5EF4-FFF2-40B4-BE49-F238E27FC236}">
                  <a16:creationId xmlns:a16="http://schemas.microsoft.com/office/drawing/2014/main" id="{9FDFCA5C-7986-D7DE-9C7C-BD23FA60EB3B}"/>
                </a:ext>
              </a:extLst>
            </p:cNvPr>
            <p:cNvSpPr/>
            <p:nvPr/>
          </p:nvSpPr>
          <p:spPr>
            <a:xfrm>
              <a:off x="3804672" y="1225225"/>
              <a:ext cx="4244819" cy="1649593"/>
            </a:xfrm>
            <a:prstGeom prst="rect">
              <a:avLst/>
            </a:prstGeom>
            <a:solidFill>
              <a:srgbClr val="FFFFFF"/>
            </a:solidFill>
            <a:ln w="19050">
              <a:solidFill>
                <a:srgbClr val="CBD5E1"/>
              </a:solidFill>
              <a:prstDash val="solid"/>
            </a:ln>
          </p:spPr>
          <p:txBody>
            <a:bodyPr/>
            <a:lstStyle/>
            <a:p>
              <a:endParaRPr lang="en-SG"/>
            </a:p>
          </p:txBody>
        </p:sp>
        <p:sp>
          <p:nvSpPr>
            <p:cNvPr id="18" name="Shape 8">
              <a:extLst>
                <a:ext uri="{FF2B5EF4-FFF2-40B4-BE49-F238E27FC236}">
                  <a16:creationId xmlns:a16="http://schemas.microsoft.com/office/drawing/2014/main" id="{A34AE98E-1664-637A-CE4E-0AF80A1B58EF}"/>
                </a:ext>
              </a:extLst>
            </p:cNvPr>
            <p:cNvSpPr/>
            <p:nvPr/>
          </p:nvSpPr>
          <p:spPr>
            <a:xfrm>
              <a:off x="3804672" y="1229494"/>
              <a:ext cx="4244819" cy="287579"/>
            </a:xfrm>
            <a:prstGeom prst="rect">
              <a:avLst/>
            </a:prstGeom>
            <a:solidFill>
              <a:srgbClr val="E2E8F0"/>
            </a:solidFill>
            <a:ln/>
          </p:spPr>
          <p:txBody>
            <a:bodyPr/>
            <a:lstStyle/>
            <a:p>
              <a:endParaRPr lang="en-SG"/>
            </a:p>
          </p:txBody>
        </p:sp>
        <p:sp>
          <p:nvSpPr>
            <p:cNvPr id="19" name="Text 9">
              <a:extLst>
                <a:ext uri="{FF2B5EF4-FFF2-40B4-BE49-F238E27FC236}">
                  <a16:creationId xmlns:a16="http://schemas.microsoft.com/office/drawing/2014/main" id="{2AC46405-E72A-66E4-C43E-5C98CFBF91E8}"/>
                </a:ext>
              </a:extLst>
            </p:cNvPr>
            <p:cNvSpPr/>
            <p:nvPr/>
          </p:nvSpPr>
          <p:spPr>
            <a:xfrm>
              <a:off x="3804673" y="1256927"/>
              <a:ext cx="2823141" cy="201168"/>
            </a:xfrm>
            <a:prstGeom prst="rect">
              <a:avLst/>
            </a:prstGeom>
            <a:noFill/>
            <a:ln/>
          </p:spPr>
          <p:txBody>
            <a:bodyPr wrap="square" rtlCol="0" anchor="ctr"/>
            <a:lstStyle/>
            <a:p>
              <a:pPr marL="0" indent="0">
                <a:buNone/>
              </a:pPr>
              <a:r>
                <a:rPr lang="en-US" sz="800">
                  <a:solidFill>
                    <a:srgbClr val="94A3B8"/>
                  </a:solidFill>
                  <a:latin typeface="Calibri" pitchFamily="34" charset="0"/>
                  <a:ea typeface="Calibri" pitchFamily="34" charset="-122"/>
                  <a:cs typeface="Calibri" pitchFamily="34" charset="-120"/>
                </a:rPr>
                <a:t>● ● ●  Browser Preview</a:t>
              </a:r>
              <a:endParaRPr lang="en-US" sz="800"/>
            </a:p>
          </p:txBody>
        </p:sp>
      </p:grpSp>
      <p:pic>
        <p:nvPicPr>
          <p:cNvPr id="21" name="Picture 20">
            <a:extLst>
              <a:ext uri="{FF2B5EF4-FFF2-40B4-BE49-F238E27FC236}">
                <a16:creationId xmlns:a16="http://schemas.microsoft.com/office/drawing/2014/main" id="{2AEC5AE1-D441-50BF-F809-BB4AD1182A60}"/>
              </a:ext>
            </a:extLst>
          </p:cNvPr>
          <p:cNvPicPr>
            <a:picLocks noChangeAspect="1"/>
          </p:cNvPicPr>
          <p:nvPr/>
        </p:nvPicPr>
        <p:blipFill>
          <a:blip r:embed="rId4"/>
          <a:stretch>
            <a:fillRect/>
          </a:stretch>
        </p:blipFill>
        <p:spPr>
          <a:xfrm>
            <a:off x="3965009" y="1706681"/>
            <a:ext cx="3980573" cy="865069"/>
          </a:xfrm>
          <a:prstGeom prst="rect">
            <a:avLst/>
          </a:prstGeom>
        </p:spPr>
      </p:pic>
      <p:sp>
        <p:nvSpPr>
          <p:cNvPr id="22" name="Rectangle 21">
            <a:extLst>
              <a:ext uri="{FF2B5EF4-FFF2-40B4-BE49-F238E27FC236}">
                <a16:creationId xmlns:a16="http://schemas.microsoft.com/office/drawing/2014/main" id="{0277C58E-74CA-8AF2-4105-964CC7B2C9BE}"/>
              </a:ext>
            </a:extLst>
          </p:cNvPr>
          <p:cNvSpPr/>
          <p:nvPr/>
        </p:nvSpPr>
        <p:spPr>
          <a:xfrm>
            <a:off x="1018309" y="2564822"/>
            <a:ext cx="789709" cy="131618"/>
          </a:xfrm>
          <a:prstGeom prst="rect">
            <a:avLst/>
          </a:prstGeom>
          <a:noFill/>
          <a:ln w="127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26" name="Straight Arrow Connector 25">
            <a:extLst>
              <a:ext uri="{FF2B5EF4-FFF2-40B4-BE49-F238E27FC236}">
                <a16:creationId xmlns:a16="http://schemas.microsoft.com/office/drawing/2014/main" id="{89724A3F-559D-DB81-F009-9000B5CA0FFC}"/>
              </a:ext>
            </a:extLst>
          </p:cNvPr>
          <p:cNvCxnSpPr>
            <a:cxnSpLocks/>
            <a:stCxn id="22" idx="3"/>
            <a:endCxn id="12" idx="1"/>
          </p:cNvCxnSpPr>
          <p:nvPr/>
        </p:nvCxnSpPr>
        <p:spPr>
          <a:xfrm flipV="1">
            <a:off x="1808018" y="2050022"/>
            <a:ext cx="1996654" cy="580609"/>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27" name="TextBox 26">
            <a:extLst>
              <a:ext uri="{FF2B5EF4-FFF2-40B4-BE49-F238E27FC236}">
                <a16:creationId xmlns:a16="http://schemas.microsoft.com/office/drawing/2014/main" id="{57C37577-EF26-152B-2CEE-7E26DD5E594C}"/>
              </a:ext>
            </a:extLst>
          </p:cNvPr>
          <p:cNvSpPr txBox="1"/>
          <p:nvPr/>
        </p:nvSpPr>
        <p:spPr>
          <a:xfrm>
            <a:off x="1890143" y="2377831"/>
            <a:ext cx="1420582" cy="215444"/>
          </a:xfrm>
          <a:prstGeom prst="rect">
            <a:avLst/>
          </a:prstGeom>
          <a:noFill/>
        </p:spPr>
        <p:txBody>
          <a:bodyPr wrap="none" rtlCol="0">
            <a:spAutoFit/>
          </a:bodyPr>
          <a:lstStyle/>
          <a:p>
            <a:r>
              <a:rPr lang="en-SG" sz="800">
                <a:solidFill>
                  <a:srgbClr val="00B050"/>
                </a:solidFill>
              </a:rPr>
              <a:t>if “display: inline” is omitted</a:t>
            </a:r>
          </a:p>
        </p:txBody>
      </p:sp>
      <p:pic>
        <p:nvPicPr>
          <p:cNvPr id="29" name="Picture 28">
            <a:extLst>
              <a:ext uri="{FF2B5EF4-FFF2-40B4-BE49-F238E27FC236}">
                <a16:creationId xmlns:a16="http://schemas.microsoft.com/office/drawing/2014/main" id="{22890A36-D7AA-2924-B3D7-61DF251AD984}"/>
              </a:ext>
            </a:extLst>
          </p:cNvPr>
          <p:cNvPicPr>
            <a:picLocks noChangeAspect="1"/>
          </p:cNvPicPr>
          <p:nvPr/>
        </p:nvPicPr>
        <p:blipFill>
          <a:blip r:embed="rId5"/>
          <a:stretch>
            <a:fillRect/>
          </a:stretch>
        </p:blipFill>
        <p:spPr>
          <a:xfrm>
            <a:off x="3965008" y="3489829"/>
            <a:ext cx="3806376" cy="694244"/>
          </a:xfrm>
          <a:prstGeom prst="rect">
            <a:avLst/>
          </a:prstGeom>
        </p:spPr>
      </p:pic>
      <p:cxnSp>
        <p:nvCxnSpPr>
          <p:cNvPr id="31" name="Straight Arrow Connector 30">
            <a:extLst>
              <a:ext uri="{FF2B5EF4-FFF2-40B4-BE49-F238E27FC236}">
                <a16:creationId xmlns:a16="http://schemas.microsoft.com/office/drawing/2014/main" id="{BED14409-097B-8C7C-8116-AA85AABCB072}"/>
              </a:ext>
            </a:extLst>
          </p:cNvPr>
          <p:cNvCxnSpPr>
            <a:cxnSpLocks/>
            <a:stCxn id="22" idx="3"/>
            <a:endCxn id="17" idx="1"/>
          </p:cNvCxnSpPr>
          <p:nvPr/>
        </p:nvCxnSpPr>
        <p:spPr>
          <a:xfrm>
            <a:off x="1808018" y="2630631"/>
            <a:ext cx="1996653" cy="1176434"/>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33" name="TextBox 32">
            <a:extLst>
              <a:ext uri="{FF2B5EF4-FFF2-40B4-BE49-F238E27FC236}">
                <a16:creationId xmlns:a16="http://schemas.microsoft.com/office/drawing/2014/main" id="{0EFB862D-5F0B-BD09-5462-85C7DCCC0541}"/>
              </a:ext>
            </a:extLst>
          </p:cNvPr>
          <p:cNvSpPr txBox="1"/>
          <p:nvPr/>
        </p:nvSpPr>
        <p:spPr>
          <a:xfrm>
            <a:off x="1883819" y="2982268"/>
            <a:ext cx="1467068" cy="215444"/>
          </a:xfrm>
          <a:prstGeom prst="rect">
            <a:avLst/>
          </a:prstGeom>
          <a:noFill/>
        </p:spPr>
        <p:txBody>
          <a:bodyPr wrap="none" rtlCol="0">
            <a:spAutoFit/>
          </a:bodyPr>
          <a:lstStyle/>
          <a:p>
            <a:r>
              <a:rPr lang="en-SG" sz="800">
                <a:solidFill>
                  <a:srgbClr val="00B050"/>
                </a:solidFill>
              </a:rPr>
              <a:t>if “display: inline” is included</a:t>
            </a:r>
          </a:p>
        </p:txBody>
      </p:sp>
      <p:grpSp>
        <p:nvGrpSpPr>
          <p:cNvPr id="34" name="Group 33">
            <a:extLst>
              <a:ext uri="{FF2B5EF4-FFF2-40B4-BE49-F238E27FC236}">
                <a16:creationId xmlns:a16="http://schemas.microsoft.com/office/drawing/2014/main" id="{A15707DF-AA25-0530-C664-4BC303258448}"/>
              </a:ext>
            </a:extLst>
          </p:cNvPr>
          <p:cNvGrpSpPr/>
          <p:nvPr/>
        </p:nvGrpSpPr>
        <p:grpSpPr>
          <a:xfrm>
            <a:off x="3804671" y="4709861"/>
            <a:ext cx="4244819" cy="311509"/>
            <a:chOff x="366240" y="4390137"/>
            <a:chExt cx="8164968" cy="502920"/>
          </a:xfrm>
        </p:grpSpPr>
        <p:sp>
          <p:nvSpPr>
            <p:cNvPr id="35" name="Shape 19">
              <a:extLst>
                <a:ext uri="{FF2B5EF4-FFF2-40B4-BE49-F238E27FC236}">
                  <a16:creationId xmlns:a16="http://schemas.microsoft.com/office/drawing/2014/main" id="{C24ED6D7-40C1-3D31-CE00-340112C34B9C}"/>
                </a:ext>
              </a:extLst>
            </p:cNvPr>
            <p:cNvSpPr/>
            <p:nvPr/>
          </p:nvSpPr>
          <p:spPr>
            <a:xfrm>
              <a:off x="366240" y="4390137"/>
              <a:ext cx="8164968" cy="502920"/>
            </a:xfrm>
            <a:prstGeom prst="rect">
              <a:avLst/>
            </a:prstGeom>
            <a:solidFill>
              <a:srgbClr val="DBEAFE"/>
            </a:solidFill>
            <a:ln w="12700">
              <a:solidFill>
                <a:srgbClr val="2563EB"/>
              </a:solidFill>
              <a:prstDash val="solid"/>
            </a:ln>
          </p:spPr>
          <p:txBody>
            <a:bodyPr/>
            <a:lstStyle/>
            <a:p>
              <a:endParaRPr lang="en-SG"/>
            </a:p>
          </p:txBody>
        </p:sp>
        <p:sp>
          <p:nvSpPr>
            <p:cNvPr id="36" name="Text 4">
              <a:extLst>
                <a:ext uri="{FF2B5EF4-FFF2-40B4-BE49-F238E27FC236}">
                  <a16:creationId xmlns:a16="http://schemas.microsoft.com/office/drawing/2014/main" id="{76423627-9F67-60CC-9EB6-22AD8487F316}"/>
                </a:ext>
              </a:extLst>
            </p:cNvPr>
            <p:cNvSpPr/>
            <p:nvPr/>
          </p:nvSpPr>
          <p:spPr>
            <a:xfrm>
              <a:off x="439392" y="4481577"/>
              <a:ext cx="7999180" cy="320040"/>
            </a:xfrm>
            <a:prstGeom prst="rect">
              <a:avLst/>
            </a:prstGeom>
            <a:noFill/>
            <a:ln/>
          </p:spPr>
          <p:txBody>
            <a:bodyPr wrap="square" rtlCol="0" anchor="ctr"/>
            <a:lstStyle/>
            <a:p>
              <a:r>
                <a:rPr lang="en-US" sz="1200">
                  <a:solidFill>
                    <a:srgbClr val="2563EB"/>
                  </a:solidFill>
                  <a:latin typeface="Calibri" pitchFamily="34" charset="0"/>
                  <a:ea typeface="Calibri" pitchFamily="34" charset="-122"/>
                  <a:cs typeface="Calibri" pitchFamily="34" charset="-120"/>
                </a:rPr>
                <a:t>💡Video to explain differences: </a:t>
              </a:r>
              <a:r>
                <a:rPr lang="en-GB" sz="1100">
                  <a:hlinkClick r:id="rId6"/>
                </a:rPr>
                <a:t>inline, block and inline-block</a:t>
              </a:r>
              <a:endParaRPr lang="en-GB" sz="1100"/>
            </a:p>
          </p:txBody>
        </p:sp>
      </p:grpSp>
      <p:sp>
        <p:nvSpPr>
          <p:cNvPr id="37" name="TextBox 36">
            <a:extLst>
              <a:ext uri="{FF2B5EF4-FFF2-40B4-BE49-F238E27FC236}">
                <a16:creationId xmlns:a16="http://schemas.microsoft.com/office/drawing/2014/main" id="{D82F47E3-2A78-89B2-0E64-65C4D630B4CD}"/>
              </a:ext>
            </a:extLst>
          </p:cNvPr>
          <p:cNvSpPr txBox="1"/>
          <p:nvPr/>
        </p:nvSpPr>
        <p:spPr>
          <a:xfrm>
            <a:off x="458527" y="1075605"/>
            <a:ext cx="3227297" cy="307777"/>
          </a:xfrm>
          <a:prstGeom prst="rect">
            <a:avLst/>
          </a:prstGeom>
          <a:noFill/>
        </p:spPr>
        <p:txBody>
          <a:bodyPr wrap="square">
            <a:spAutoFit/>
          </a:bodyPr>
          <a:lstStyle/>
          <a:p>
            <a:r>
              <a:rPr lang="en-US" i="1">
                <a:solidFill>
                  <a:schemeClr val="tx1"/>
                </a:solidFill>
              </a:rPr>
              <a:t>wk2example9.html</a:t>
            </a:r>
            <a:endParaRPr lang="en-SG" i="1">
              <a:solidFill>
                <a:schemeClr val="tx1"/>
              </a:solidFill>
            </a:endParaRPr>
          </a:p>
        </p:txBody>
      </p:sp>
    </p:spTree>
    <p:extLst>
      <p:ext uri="{BB962C8B-B14F-4D97-AF65-F5344CB8AC3E}">
        <p14:creationId xmlns:p14="http://schemas.microsoft.com/office/powerpoint/2010/main" val="18950694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SG"/>
              <a:t>CSS: Other properties </a:t>
            </a:r>
          </a:p>
        </p:txBody>
      </p:sp>
      <p:graphicFrame>
        <p:nvGraphicFramePr>
          <p:cNvPr id="211" name="Google Shape;211;p23"/>
          <p:cNvGraphicFramePr/>
          <p:nvPr>
            <p:extLst>
              <p:ext uri="{D42A27DB-BD31-4B8C-83A1-F6EECF244321}">
                <p14:modId xmlns:p14="http://schemas.microsoft.com/office/powerpoint/2010/main" val="3913454584"/>
              </p:ext>
            </p:extLst>
          </p:nvPr>
        </p:nvGraphicFramePr>
        <p:xfrm>
          <a:off x="311700" y="1528225"/>
          <a:ext cx="8520600" cy="2840148"/>
        </p:xfrm>
        <a:graphic>
          <a:graphicData uri="http://schemas.openxmlformats.org/drawingml/2006/table">
            <a:tbl>
              <a:tblPr>
                <a:noFill/>
                <a:tableStyleId>{9457DA4B-BAC7-4D48-AA5B-6CF8F0DF2040}</a:tableStyleId>
              </a:tblPr>
              <a:tblGrid>
                <a:gridCol w="2840200">
                  <a:extLst>
                    <a:ext uri="{9D8B030D-6E8A-4147-A177-3AD203B41FA5}">
                      <a16:colId xmlns:a16="http://schemas.microsoft.com/office/drawing/2014/main" val="20000"/>
                    </a:ext>
                  </a:extLst>
                </a:gridCol>
                <a:gridCol w="2840200">
                  <a:extLst>
                    <a:ext uri="{9D8B030D-6E8A-4147-A177-3AD203B41FA5}">
                      <a16:colId xmlns:a16="http://schemas.microsoft.com/office/drawing/2014/main" val="20001"/>
                    </a:ext>
                  </a:extLst>
                </a:gridCol>
                <a:gridCol w="2840200">
                  <a:extLst>
                    <a:ext uri="{9D8B030D-6E8A-4147-A177-3AD203B41FA5}">
                      <a16:colId xmlns:a16="http://schemas.microsoft.com/office/drawing/2014/main" val="20002"/>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b="0" u="none" strike="noStrike" cap="none">
                          <a:solidFill>
                            <a:schemeClr val="bg1"/>
                          </a:solidFill>
                        </a:rPr>
                        <a:t>Category</a:t>
                      </a:r>
                      <a:r>
                        <a:rPr lang="en" sz="1400" b="1" u="none" strike="noStrike" cap="none"/>
                        <a:t> </a:t>
                      </a:r>
                      <a:endParaRPr sz="1400" b="1" u="none" strike="noStrike" cap="none"/>
                    </a:p>
                  </a:txBody>
                  <a:tcPr marL="91425" marR="91425" marT="91425" marB="91425">
                    <a:solidFill>
                      <a:schemeClr val="accent1">
                        <a:lumMod val="75000"/>
                      </a:schemeClr>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b="0" u="none" strike="noStrike" cap="none">
                          <a:solidFill>
                            <a:schemeClr val="bg1"/>
                          </a:solidFill>
                        </a:rPr>
                        <a:t>Property</a:t>
                      </a:r>
                      <a:endParaRPr sz="1400" b="0" u="none" strike="noStrike" cap="none">
                        <a:solidFill>
                          <a:schemeClr val="bg1"/>
                        </a:solidFill>
                      </a:endParaRPr>
                    </a:p>
                  </a:txBody>
                  <a:tcPr marL="91425" marR="91425" marT="91425" marB="91425">
                    <a:solidFill>
                      <a:schemeClr val="accent1">
                        <a:lumMod val="75000"/>
                      </a:schemeClr>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b="0" u="none" strike="noStrike" cap="none">
                          <a:solidFill>
                            <a:schemeClr val="bg1"/>
                          </a:solidFill>
                        </a:rPr>
                        <a:t>Example value</a:t>
                      </a:r>
                      <a:endParaRPr sz="1400" b="0" u="none" strike="noStrike" cap="none">
                        <a:solidFill>
                          <a:schemeClr val="bg1"/>
                        </a:solidFill>
                      </a:endParaRPr>
                    </a:p>
                  </a:txBody>
                  <a:tcPr marL="91425" marR="91425" marT="91425" marB="91425">
                    <a:solidFill>
                      <a:schemeClr val="accent1">
                        <a:lumMod val="75000"/>
                      </a:schemeClr>
                    </a:solidFill>
                  </a:tcPr>
                </a:tc>
                <a:extLst>
                  <a:ext uri="{0D108BD9-81ED-4DB2-BD59-A6C34878D82A}">
                    <a16:rowId xmlns:a16="http://schemas.microsoft.com/office/drawing/2014/main" val="10000"/>
                  </a:ext>
                </a:extLst>
              </a:tr>
              <a:tr h="381000">
                <a:tc rowSpan="3">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latin typeface="Arial"/>
                          <a:ea typeface="Arial"/>
                          <a:cs typeface="Arial"/>
                          <a:sym typeface="Arial"/>
                        </a:rPr>
                        <a:t>Font properties</a:t>
                      </a:r>
                      <a:endParaRPr sz="1400" u="none" strike="noStrike" cap="none"/>
                    </a:p>
                  </a:txBody>
                  <a:tcPr marL="91425" marR="91425" marT="91425" marB="91425"/>
                </a:tc>
                <a:tc>
                  <a:txBody>
                    <a:bodyPr/>
                    <a:lstStyle/>
                    <a:p>
                      <a:pPr marL="0" marR="0" lvl="0" indent="0" algn="l" rtl="0">
                        <a:lnSpc>
                          <a:spcPct val="115000"/>
                        </a:lnSpc>
                        <a:spcBef>
                          <a:spcPts val="0"/>
                        </a:spcBef>
                        <a:spcAft>
                          <a:spcPts val="0"/>
                        </a:spcAft>
                        <a:buClr>
                          <a:schemeClr val="dk1"/>
                        </a:buClr>
                        <a:buSzPts val="1100"/>
                        <a:buFont typeface="Arial"/>
                        <a:buNone/>
                      </a:pPr>
                      <a:r>
                        <a:rPr lang="en" sz="1400" u="none" strike="noStrike" cap="none">
                          <a:solidFill>
                            <a:schemeClr val="dk1"/>
                          </a:solidFill>
                          <a:latin typeface="Arial"/>
                          <a:ea typeface="Arial"/>
                          <a:cs typeface="Arial"/>
                          <a:sym typeface="Arial"/>
                        </a:rPr>
                        <a:t>font-family</a:t>
                      </a:r>
                      <a:endParaRPr sz="1400" u="none" strike="noStrike" cap="none">
                        <a:solidFill>
                          <a:schemeClr val="dk1"/>
                        </a:solidFill>
                        <a:latin typeface="Arial"/>
                        <a:ea typeface="Arial"/>
                        <a:cs typeface="Arial"/>
                        <a:sym typeface="Aria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latin typeface="Arial"/>
                          <a:ea typeface="Arial"/>
                          <a:cs typeface="Arial"/>
                          <a:sym typeface="Arial"/>
                        </a:rPr>
                        <a:t>“Times New Roman”</a:t>
                      </a:r>
                      <a:endParaRPr sz="1400" u="none" strike="noStrike" cap="none"/>
                    </a:p>
                  </a:txBody>
                  <a:tcPr marL="91425" marR="91425" marT="91425" marB="91425"/>
                </a:tc>
                <a:extLst>
                  <a:ext uri="{0D108BD9-81ED-4DB2-BD59-A6C34878D82A}">
                    <a16:rowId xmlns:a16="http://schemas.microsoft.com/office/drawing/2014/main" val="10001"/>
                  </a:ext>
                </a:extLst>
              </a:tr>
              <a:tr h="38100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latin typeface="Arial"/>
                          <a:ea typeface="Arial"/>
                          <a:cs typeface="Arial"/>
                          <a:sym typeface="Arial"/>
                        </a:rPr>
                        <a:t>font-style</a:t>
                      </a:r>
                      <a:endParaRPr sz="1400" u="none" strike="noStrike" cap="none">
                        <a:solidFill>
                          <a:schemeClr val="dk1"/>
                        </a:solidFill>
                        <a:latin typeface="Arial"/>
                        <a:ea typeface="Arial"/>
                        <a:cs typeface="Arial"/>
                        <a:sym typeface="Arial"/>
                      </a:endParaRPr>
                    </a:p>
                  </a:txBody>
                  <a:tcPr marL="91425" marR="91425" marT="91425" marB="91425">
                    <a:solidFill>
                      <a:schemeClr val="bg2">
                        <a:lumMod val="60000"/>
                        <a:lumOff val="40000"/>
                      </a:schemeClr>
                    </a:solidFill>
                  </a:tcPr>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latin typeface="Arial"/>
                          <a:ea typeface="Arial"/>
                          <a:cs typeface="Arial"/>
                          <a:sym typeface="Arial"/>
                        </a:rPr>
                        <a:t>italic</a:t>
                      </a:r>
                      <a:endParaRPr sz="1400" u="none" strike="noStrike" cap="none"/>
                    </a:p>
                  </a:txBody>
                  <a:tcPr marL="91425" marR="91425" marT="91425" marB="91425">
                    <a:solidFill>
                      <a:schemeClr val="bg2">
                        <a:lumMod val="60000"/>
                        <a:lumOff val="40000"/>
                      </a:schemeClr>
                    </a:solidFill>
                  </a:tcPr>
                </a:tc>
                <a:extLst>
                  <a:ext uri="{0D108BD9-81ED-4DB2-BD59-A6C34878D82A}">
                    <a16:rowId xmlns:a16="http://schemas.microsoft.com/office/drawing/2014/main" val="10002"/>
                  </a:ext>
                </a:extLst>
              </a:tr>
              <a:tr h="38100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latin typeface="Arial"/>
                          <a:ea typeface="Arial"/>
                          <a:cs typeface="Arial"/>
                          <a:sym typeface="Arial"/>
                        </a:rPr>
                        <a:t>font-size </a:t>
                      </a:r>
                      <a:endParaRPr sz="1400" u="none" strike="noStrike" cap="none">
                        <a:solidFill>
                          <a:schemeClr val="dk1"/>
                        </a:solidFill>
                        <a:latin typeface="Arial"/>
                        <a:ea typeface="Arial"/>
                        <a:cs typeface="Arial"/>
                        <a:sym typeface="Arial"/>
                      </a:endParaRPr>
                    </a:p>
                  </a:txBody>
                  <a:tcPr marL="91425" marR="91425" marT="91425" marB="91425"/>
                </a:tc>
                <a:tc>
                  <a:txBody>
                    <a:bodyPr/>
                    <a:lstStyle/>
                    <a:p>
                      <a:pPr marL="0" marR="0" lvl="0" indent="0" algn="l" rtl="0">
                        <a:lnSpc>
                          <a:spcPct val="115000"/>
                        </a:lnSpc>
                        <a:spcBef>
                          <a:spcPts val="0"/>
                        </a:spcBef>
                        <a:spcAft>
                          <a:spcPts val="0"/>
                        </a:spcAft>
                        <a:buClr>
                          <a:schemeClr val="dk1"/>
                        </a:buClr>
                        <a:buSzPts val="1100"/>
                        <a:buFont typeface="Arial"/>
                        <a:buNone/>
                      </a:pPr>
                      <a:r>
                        <a:rPr lang="en" sz="1400" u="none" strike="noStrike" cap="none">
                          <a:solidFill>
                            <a:schemeClr val="dk1"/>
                          </a:solidFill>
                          <a:latin typeface="Arial"/>
                          <a:ea typeface="Arial"/>
                          <a:cs typeface="Arial"/>
                          <a:sym typeface="Arial"/>
                        </a:rPr>
                        <a:t>default = 16px</a:t>
                      </a:r>
                      <a:endParaRPr sz="1400" u="none" strike="noStrike" cap="none">
                        <a:solidFill>
                          <a:schemeClr val="dk1"/>
                        </a:solidFill>
                        <a:latin typeface="Arial"/>
                        <a:ea typeface="Arial"/>
                        <a:cs typeface="Arial"/>
                        <a:sym typeface="Arial"/>
                      </a:endParaRPr>
                    </a:p>
                  </a:txBody>
                  <a:tcPr marL="91425" marR="91425" marT="91425" marB="91425"/>
                </a:tc>
                <a:extLst>
                  <a:ext uri="{0D108BD9-81ED-4DB2-BD59-A6C34878D82A}">
                    <a16:rowId xmlns:a16="http://schemas.microsoft.com/office/drawing/2014/main" val="10003"/>
                  </a:ext>
                </a:extLst>
              </a:tr>
              <a:tr h="381000">
                <a:tc rowSpan="2">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latin typeface="Arial"/>
                          <a:ea typeface="Arial"/>
                          <a:cs typeface="Arial"/>
                          <a:sym typeface="Arial"/>
                        </a:rPr>
                        <a:t>Background properties</a:t>
                      </a:r>
                      <a:endParaRPr sz="140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latin typeface="Arial"/>
                          <a:ea typeface="Arial"/>
                          <a:cs typeface="Arial"/>
                          <a:sym typeface="Arial"/>
                        </a:rPr>
                        <a:t>Example: </a:t>
                      </a:r>
                      <a:r>
                        <a:rPr lang="en" sz="1400" i="1" u="none" strike="noStrike" cap="none">
                          <a:solidFill>
                            <a:schemeClr val="dk1"/>
                          </a:solidFill>
                          <a:latin typeface="Arial"/>
                          <a:ea typeface="Arial"/>
                          <a:cs typeface="Arial"/>
                          <a:sym typeface="Arial"/>
                        </a:rPr>
                        <a:t>wk2example10.html</a:t>
                      </a:r>
                      <a:endParaRPr sz="1400" i="1" u="none" strike="noStrike" cap="none">
                        <a:solidFill>
                          <a:schemeClr val="dk1"/>
                        </a:solidFill>
                        <a:latin typeface="Arial"/>
                        <a:ea typeface="Arial"/>
                        <a:cs typeface="Arial"/>
                        <a:sym typeface="Arial"/>
                      </a:endParaRPr>
                    </a:p>
                  </a:txBody>
                  <a:tcPr marL="91425" marR="91425" marT="91425" marB="91425">
                    <a:solidFill>
                      <a:schemeClr val="bg2">
                        <a:lumMod val="60000"/>
                        <a:lumOff val="40000"/>
                      </a:schemeClr>
                    </a:solidFill>
                  </a:tcPr>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latin typeface="Arial"/>
                          <a:ea typeface="Arial"/>
                          <a:cs typeface="Arial"/>
                          <a:sym typeface="Arial"/>
                        </a:rPr>
                        <a:t>background-color</a:t>
                      </a:r>
                      <a:endParaRPr sz="1400" u="none" strike="noStrike" cap="none">
                        <a:solidFill>
                          <a:schemeClr val="dk1"/>
                        </a:solidFill>
                        <a:latin typeface="Arial"/>
                        <a:ea typeface="Arial"/>
                        <a:cs typeface="Arial"/>
                        <a:sym typeface="Aria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latin typeface="Arial"/>
                          <a:ea typeface="Arial"/>
                          <a:cs typeface="Arial"/>
                          <a:sym typeface="Arial"/>
                        </a:rPr>
                        <a:t>blue</a:t>
                      </a:r>
                      <a:endParaRPr sz="1400" u="none" strike="noStrike" cap="none">
                        <a:solidFill>
                          <a:schemeClr val="dk1"/>
                        </a:solidFill>
                        <a:latin typeface="Arial"/>
                        <a:ea typeface="Arial"/>
                        <a:cs typeface="Arial"/>
                        <a:sym typeface="Arial"/>
                      </a:endParaRPr>
                    </a:p>
                  </a:txBody>
                  <a:tcPr marL="91425" marR="91425" marT="91425" marB="91425"/>
                </a:tc>
                <a:extLst>
                  <a:ext uri="{0D108BD9-81ED-4DB2-BD59-A6C34878D82A}">
                    <a16:rowId xmlns:a16="http://schemas.microsoft.com/office/drawing/2014/main" val="10004"/>
                  </a:ext>
                </a:extLst>
              </a:tr>
              <a:tr h="38100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latin typeface="Arial"/>
                          <a:ea typeface="Arial"/>
                          <a:cs typeface="Arial"/>
                          <a:sym typeface="Arial"/>
                        </a:rPr>
                        <a:t>background-image</a:t>
                      </a:r>
                      <a:endParaRPr sz="1400" u="none" strike="noStrike" cap="none">
                        <a:solidFill>
                          <a:schemeClr val="dk1"/>
                        </a:solidFill>
                        <a:latin typeface="Arial"/>
                        <a:ea typeface="Arial"/>
                        <a:cs typeface="Arial"/>
                        <a:sym typeface="Arial"/>
                      </a:endParaRPr>
                    </a:p>
                  </a:txBody>
                  <a:tcPr marL="91425" marR="91425" marT="91425" marB="91425">
                    <a:solidFill>
                      <a:schemeClr val="bg2">
                        <a:lumMod val="60000"/>
                        <a:lumOff val="40000"/>
                      </a:schemeClr>
                    </a:solidFill>
                  </a:tcPr>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latin typeface="Arial"/>
                          <a:ea typeface="Arial"/>
                          <a:cs typeface="Arial"/>
                          <a:sym typeface="Arial"/>
                        </a:rPr>
                        <a:t>url(“mysite.site/head.png”)</a:t>
                      </a:r>
                      <a:endParaRPr sz="1400" u="none" strike="noStrike" cap="none">
                        <a:solidFill>
                          <a:schemeClr val="dk1"/>
                        </a:solidFill>
                        <a:latin typeface="Arial"/>
                        <a:ea typeface="Arial"/>
                        <a:cs typeface="Arial"/>
                        <a:sym typeface="Arial"/>
                      </a:endParaRPr>
                    </a:p>
                  </a:txBody>
                  <a:tcPr marL="91425" marR="91425" marT="91425" marB="91425">
                    <a:solidFill>
                      <a:schemeClr val="bg2">
                        <a:lumMod val="60000"/>
                        <a:lumOff val="40000"/>
                      </a:schemeClr>
                    </a:solidFill>
                  </a:tcPr>
                </a:tc>
                <a:extLst>
                  <a:ext uri="{0D108BD9-81ED-4DB2-BD59-A6C34878D82A}">
                    <a16:rowId xmlns:a16="http://schemas.microsoft.com/office/drawing/2014/main" val="10005"/>
                  </a:ext>
                </a:extLst>
              </a:tr>
              <a:tr h="381000">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latin typeface="Arial"/>
                          <a:ea typeface="Arial"/>
                          <a:cs typeface="Arial"/>
                          <a:sym typeface="Arial"/>
                        </a:rPr>
                        <a:t>...</a:t>
                      </a:r>
                      <a:endParaRPr sz="1400" u="none" strike="noStrike" cap="none">
                        <a:solidFill>
                          <a:schemeClr val="dk1"/>
                        </a:solidFill>
                        <a:latin typeface="Arial"/>
                        <a:ea typeface="Arial"/>
                        <a:cs typeface="Arial"/>
                        <a:sym typeface="Aria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latin typeface="Arial"/>
                          <a:ea typeface="Arial"/>
                          <a:cs typeface="Arial"/>
                          <a:sym typeface="Arial"/>
                        </a:rPr>
                        <a:t>...</a:t>
                      </a:r>
                      <a:endParaRPr sz="1400" u="none" strike="noStrike" cap="none">
                        <a:solidFill>
                          <a:schemeClr val="dk1"/>
                        </a:solidFill>
                        <a:latin typeface="Arial"/>
                        <a:ea typeface="Arial"/>
                        <a:cs typeface="Arial"/>
                        <a:sym typeface="Arial"/>
                      </a:endParaRPr>
                    </a:p>
                  </a:txBody>
                  <a:tcPr marL="91425" marR="91425" marT="91425" marB="91425"/>
                </a:tc>
                <a:tc>
                  <a:txBody>
                    <a:bodyPr/>
                    <a:lstStyle/>
                    <a:p>
                      <a:pPr marL="0" marR="0" lvl="0" indent="0" algn="l" rtl="0">
                        <a:lnSpc>
                          <a:spcPct val="115000"/>
                        </a:lnSpc>
                        <a:spcBef>
                          <a:spcPts val="0"/>
                        </a:spcBef>
                        <a:spcAft>
                          <a:spcPts val="0"/>
                        </a:spcAft>
                        <a:buClr>
                          <a:srgbClr val="000000"/>
                        </a:buClr>
                        <a:buSzPts val="1400"/>
                        <a:buFont typeface="Arial"/>
                        <a:buNone/>
                      </a:pPr>
                      <a:r>
                        <a:rPr lang="en" sz="1400" u="none" strike="noStrike" cap="none">
                          <a:solidFill>
                            <a:schemeClr val="dk1"/>
                          </a:solidFill>
                          <a:latin typeface="Arial"/>
                          <a:ea typeface="Arial"/>
                          <a:cs typeface="Arial"/>
                          <a:sym typeface="Arial"/>
                        </a:rPr>
                        <a:t>...</a:t>
                      </a:r>
                      <a:endParaRPr sz="1400" u="none" strike="noStrike" cap="none">
                        <a:solidFill>
                          <a:schemeClr val="dk1"/>
                        </a:solidFill>
                        <a:latin typeface="Arial"/>
                        <a:ea typeface="Arial"/>
                        <a:cs typeface="Arial"/>
                        <a:sym typeface="Arial"/>
                      </a:endParaRPr>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CSS: Color values</a:t>
            </a:r>
            <a:endParaRPr/>
          </a:p>
        </p:txBody>
      </p:sp>
      <p:sp>
        <p:nvSpPr>
          <p:cNvPr id="218" name="Google Shape;218;p24"/>
          <p:cNvSpPr txBox="1">
            <a:spLocks noGrp="1"/>
          </p:cNvSpPr>
          <p:nvPr>
            <p:ph type="body" idx="2"/>
          </p:nvPr>
        </p:nvSpPr>
        <p:spPr>
          <a:xfrm>
            <a:off x="3867018" y="3401003"/>
            <a:ext cx="4816642" cy="1425382"/>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1600"/>
              </a:spcBef>
              <a:spcAft>
                <a:spcPts val="0"/>
              </a:spcAft>
              <a:buSzPts val="1400"/>
              <a:buNone/>
            </a:pPr>
            <a:r>
              <a:rPr lang="en" sz="1200"/>
              <a:t>Color values </a:t>
            </a:r>
            <a:endParaRPr sz="1200"/>
          </a:p>
          <a:p>
            <a:pPr marL="0" marR="0" lvl="0" indent="0" algn="l" rtl="0">
              <a:lnSpc>
                <a:spcPct val="100000"/>
              </a:lnSpc>
              <a:spcBef>
                <a:spcPts val="0"/>
              </a:spcBef>
              <a:spcAft>
                <a:spcPts val="0"/>
              </a:spcAft>
              <a:buSzPts val="1400"/>
              <a:buNone/>
            </a:pPr>
            <a:endParaRPr sz="1200"/>
          </a:p>
          <a:p>
            <a:pPr marL="457200" marR="0" lvl="0" indent="-317500" algn="l" rtl="0">
              <a:lnSpc>
                <a:spcPct val="100000"/>
              </a:lnSpc>
              <a:spcBef>
                <a:spcPts val="0"/>
              </a:spcBef>
              <a:spcAft>
                <a:spcPts val="0"/>
              </a:spcAft>
              <a:buSzPts val="1400"/>
              <a:buChar char="●"/>
            </a:pPr>
            <a:r>
              <a:rPr lang="en" sz="1200">
                <a:solidFill>
                  <a:srgbClr val="0070C0"/>
                </a:solidFill>
              </a:rPr>
              <a:t>hex</a:t>
            </a:r>
            <a:r>
              <a:rPr lang="en" sz="1200"/>
              <a:t> color value (Google): #eab01c</a:t>
            </a:r>
            <a:endParaRPr sz="1200"/>
          </a:p>
          <a:p>
            <a:pPr marL="457200" lvl="0" indent="-317500" algn="l" rtl="0">
              <a:lnSpc>
                <a:spcPct val="100000"/>
              </a:lnSpc>
              <a:spcBef>
                <a:spcPts val="0"/>
              </a:spcBef>
              <a:spcAft>
                <a:spcPts val="0"/>
              </a:spcAft>
              <a:buSzPts val="1400"/>
              <a:buChar char="●"/>
            </a:pPr>
            <a:r>
              <a:rPr lang="en" sz="1200">
                <a:solidFill>
                  <a:srgbClr val="0070C0"/>
                </a:solidFill>
              </a:rPr>
              <a:t>rgb</a:t>
            </a:r>
            <a:r>
              <a:rPr lang="en" sz="1200"/>
              <a:t> values : (30, 200, 0) </a:t>
            </a:r>
            <a:endParaRPr sz="1200"/>
          </a:p>
          <a:p>
            <a:pPr marL="457200" marR="0" lvl="0" indent="-317500" algn="l" rtl="0">
              <a:lnSpc>
                <a:spcPct val="100000"/>
              </a:lnSpc>
              <a:spcBef>
                <a:spcPts val="0"/>
              </a:spcBef>
              <a:spcAft>
                <a:spcPts val="0"/>
              </a:spcAft>
              <a:buSzPts val="1400"/>
              <a:buChar char="●"/>
            </a:pPr>
            <a:r>
              <a:rPr lang="en" sz="1200">
                <a:solidFill>
                  <a:srgbClr val="0070C0"/>
                </a:solidFill>
              </a:rPr>
              <a:t>rgba</a:t>
            </a:r>
            <a:r>
              <a:rPr lang="en" sz="1200"/>
              <a:t>: red, green, blue, alpha (where alpha is 0 means “fully transparent” and 1 means “fully opaque”)</a:t>
            </a:r>
            <a:endParaRPr sz="1200"/>
          </a:p>
          <a:p>
            <a:pPr marL="0" marR="0" lvl="0" indent="0" algn="l" rtl="0">
              <a:lnSpc>
                <a:spcPct val="100000"/>
              </a:lnSpc>
              <a:spcBef>
                <a:spcPts val="0"/>
              </a:spcBef>
              <a:spcAft>
                <a:spcPts val="0"/>
              </a:spcAft>
              <a:buSzPts val="1400"/>
              <a:buNone/>
            </a:pPr>
            <a:endParaRPr sz="1200"/>
          </a:p>
          <a:p>
            <a:pPr marL="0" marR="0" lvl="0" indent="0" algn="l" rtl="0">
              <a:lnSpc>
                <a:spcPct val="100000"/>
              </a:lnSpc>
              <a:spcBef>
                <a:spcPts val="0"/>
              </a:spcBef>
              <a:spcAft>
                <a:spcPts val="0"/>
              </a:spcAft>
              <a:buSzPts val="1400"/>
              <a:buNone/>
            </a:pPr>
            <a:endParaRPr sz="1200"/>
          </a:p>
        </p:txBody>
      </p:sp>
      <p:pic>
        <p:nvPicPr>
          <p:cNvPr id="3" name="Picture 2">
            <a:extLst>
              <a:ext uri="{FF2B5EF4-FFF2-40B4-BE49-F238E27FC236}">
                <a16:creationId xmlns:a16="http://schemas.microsoft.com/office/drawing/2014/main" id="{7E948152-29D0-895F-A4C3-70DC2E9EEBA7}"/>
              </a:ext>
            </a:extLst>
          </p:cNvPr>
          <p:cNvPicPr>
            <a:picLocks noChangeAspect="1"/>
          </p:cNvPicPr>
          <p:nvPr/>
        </p:nvPicPr>
        <p:blipFill>
          <a:blip r:embed="rId3"/>
          <a:stretch>
            <a:fillRect/>
          </a:stretch>
        </p:blipFill>
        <p:spPr>
          <a:xfrm>
            <a:off x="460340" y="1366934"/>
            <a:ext cx="3141555" cy="3459451"/>
          </a:xfrm>
          <a:prstGeom prst="rect">
            <a:avLst/>
          </a:prstGeom>
        </p:spPr>
      </p:pic>
      <p:sp>
        <p:nvSpPr>
          <p:cNvPr id="5" name="TextBox 4">
            <a:extLst>
              <a:ext uri="{FF2B5EF4-FFF2-40B4-BE49-F238E27FC236}">
                <a16:creationId xmlns:a16="http://schemas.microsoft.com/office/drawing/2014/main" id="{43DC2CAB-474A-A074-EDF0-2534B3F75F6B}"/>
              </a:ext>
            </a:extLst>
          </p:cNvPr>
          <p:cNvSpPr txBox="1"/>
          <p:nvPr/>
        </p:nvSpPr>
        <p:spPr>
          <a:xfrm>
            <a:off x="460340" y="1071336"/>
            <a:ext cx="3045795" cy="307777"/>
          </a:xfrm>
          <a:prstGeom prst="rect">
            <a:avLst/>
          </a:prstGeom>
          <a:noFill/>
        </p:spPr>
        <p:txBody>
          <a:bodyPr wrap="square">
            <a:spAutoFit/>
          </a:bodyPr>
          <a:lstStyle/>
          <a:p>
            <a:r>
              <a:rPr lang="en" i="1"/>
              <a:t>wk2example11.html</a:t>
            </a:r>
            <a:endParaRPr lang="en-SG"/>
          </a:p>
        </p:txBody>
      </p:sp>
      <p:grpSp>
        <p:nvGrpSpPr>
          <p:cNvPr id="6" name="Group 5">
            <a:extLst>
              <a:ext uri="{FF2B5EF4-FFF2-40B4-BE49-F238E27FC236}">
                <a16:creationId xmlns:a16="http://schemas.microsoft.com/office/drawing/2014/main" id="{C7846B0D-901C-3DB3-4ACC-76C549BA3728}"/>
              </a:ext>
            </a:extLst>
          </p:cNvPr>
          <p:cNvGrpSpPr/>
          <p:nvPr/>
        </p:nvGrpSpPr>
        <p:grpSpPr>
          <a:xfrm>
            <a:off x="3867018" y="1366934"/>
            <a:ext cx="4816642" cy="1771121"/>
            <a:chOff x="3804672" y="1225225"/>
            <a:chExt cx="4244819" cy="1649593"/>
          </a:xfrm>
        </p:grpSpPr>
        <p:sp>
          <p:nvSpPr>
            <p:cNvPr id="7" name="Shape 7">
              <a:extLst>
                <a:ext uri="{FF2B5EF4-FFF2-40B4-BE49-F238E27FC236}">
                  <a16:creationId xmlns:a16="http://schemas.microsoft.com/office/drawing/2014/main" id="{C981AB7C-9FBC-A0D0-E24A-25DBB26EDDE1}"/>
                </a:ext>
              </a:extLst>
            </p:cNvPr>
            <p:cNvSpPr/>
            <p:nvPr/>
          </p:nvSpPr>
          <p:spPr>
            <a:xfrm>
              <a:off x="3804672" y="1225225"/>
              <a:ext cx="4244819" cy="1649593"/>
            </a:xfrm>
            <a:prstGeom prst="rect">
              <a:avLst/>
            </a:prstGeom>
            <a:solidFill>
              <a:srgbClr val="FFFFFF"/>
            </a:solidFill>
            <a:ln w="19050">
              <a:solidFill>
                <a:srgbClr val="CBD5E1"/>
              </a:solidFill>
              <a:prstDash val="solid"/>
            </a:ln>
          </p:spPr>
          <p:txBody>
            <a:bodyPr/>
            <a:lstStyle/>
            <a:p>
              <a:endParaRPr lang="en-SG"/>
            </a:p>
          </p:txBody>
        </p:sp>
        <p:sp>
          <p:nvSpPr>
            <p:cNvPr id="8" name="Shape 8">
              <a:extLst>
                <a:ext uri="{FF2B5EF4-FFF2-40B4-BE49-F238E27FC236}">
                  <a16:creationId xmlns:a16="http://schemas.microsoft.com/office/drawing/2014/main" id="{693E7C93-B83B-FA37-E9A8-5BD995424774}"/>
                </a:ext>
              </a:extLst>
            </p:cNvPr>
            <p:cNvSpPr/>
            <p:nvPr/>
          </p:nvSpPr>
          <p:spPr>
            <a:xfrm>
              <a:off x="3804672" y="1229494"/>
              <a:ext cx="4244819" cy="287579"/>
            </a:xfrm>
            <a:prstGeom prst="rect">
              <a:avLst/>
            </a:prstGeom>
            <a:solidFill>
              <a:srgbClr val="E2E8F0"/>
            </a:solidFill>
            <a:ln/>
          </p:spPr>
          <p:txBody>
            <a:bodyPr/>
            <a:lstStyle/>
            <a:p>
              <a:endParaRPr lang="en-SG"/>
            </a:p>
          </p:txBody>
        </p:sp>
        <p:sp>
          <p:nvSpPr>
            <p:cNvPr id="9" name="Text 9">
              <a:extLst>
                <a:ext uri="{FF2B5EF4-FFF2-40B4-BE49-F238E27FC236}">
                  <a16:creationId xmlns:a16="http://schemas.microsoft.com/office/drawing/2014/main" id="{8829AAD4-05CE-1F79-2831-83028504D018}"/>
                </a:ext>
              </a:extLst>
            </p:cNvPr>
            <p:cNvSpPr/>
            <p:nvPr/>
          </p:nvSpPr>
          <p:spPr>
            <a:xfrm>
              <a:off x="3804673" y="1256927"/>
              <a:ext cx="2823141" cy="201168"/>
            </a:xfrm>
            <a:prstGeom prst="rect">
              <a:avLst/>
            </a:prstGeom>
            <a:noFill/>
            <a:ln/>
          </p:spPr>
          <p:txBody>
            <a:bodyPr wrap="square" rtlCol="0" anchor="ctr"/>
            <a:lstStyle/>
            <a:p>
              <a:pPr marL="0" indent="0">
                <a:buNone/>
              </a:pPr>
              <a:r>
                <a:rPr lang="en-US" sz="800">
                  <a:solidFill>
                    <a:srgbClr val="94A3B8"/>
                  </a:solidFill>
                  <a:latin typeface="Calibri" pitchFamily="34" charset="0"/>
                  <a:ea typeface="Calibri" pitchFamily="34" charset="-122"/>
                  <a:cs typeface="Calibri" pitchFamily="34" charset="-120"/>
                </a:rPr>
                <a:t>● ● ●  Browser Preview</a:t>
              </a:r>
              <a:endParaRPr lang="en-US" sz="800"/>
            </a:p>
          </p:txBody>
        </p:sp>
      </p:grpSp>
      <p:pic>
        <p:nvPicPr>
          <p:cNvPr id="11" name="Picture 10">
            <a:extLst>
              <a:ext uri="{FF2B5EF4-FFF2-40B4-BE49-F238E27FC236}">
                <a16:creationId xmlns:a16="http://schemas.microsoft.com/office/drawing/2014/main" id="{E5BF4AFD-9CEA-E83F-B435-F8E843CCAA96}"/>
              </a:ext>
            </a:extLst>
          </p:cNvPr>
          <p:cNvPicPr>
            <a:picLocks noChangeAspect="1"/>
          </p:cNvPicPr>
          <p:nvPr/>
        </p:nvPicPr>
        <p:blipFill>
          <a:blip r:embed="rId4"/>
          <a:stretch>
            <a:fillRect/>
          </a:stretch>
        </p:blipFill>
        <p:spPr>
          <a:xfrm>
            <a:off x="4252301" y="1752079"/>
            <a:ext cx="4046075" cy="125721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CSS: Units of Measurement </a:t>
            </a:r>
            <a:endParaRPr/>
          </a:p>
        </p:txBody>
      </p:sp>
      <p:sp>
        <p:nvSpPr>
          <p:cNvPr id="224" name="Google Shape;224;p25"/>
          <p:cNvSpPr txBox="1">
            <a:spLocks noGrp="1"/>
          </p:cNvSpPr>
          <p:nvPr>
            <p:ph type="body" idx="1"/>
          </p:nvPr>
        </p:nvSpPr>
        <p:spPr>
          <a:xfrm>
            <a:off x="311700" y="1225225"/>
            <a:ext cx="8257336" cy="575866"/>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a:t>Some CSS values such as values for font-size, width, height, margin, and padding have different units of measurement.</a:t>
            </a:r>
            <a:endParaRPr sz="2000">
              <a:solidFill>
                <a:srgbClr val="C00000"/>
              </a:solidFill>
              <a:latin typeface="Arial"/>
              <a:ea typeface="Arial"/>
              <a:cs typeface="Arial"/>
              <a:sym typeface="Arial"/>
            </a:endParaRPr>
          </a:p>
          <a:p>
            <a:pPr marL="0" lvl="0" indent="0" algn="l" rtl="0">
              <a:lnSpc>
                <a:spcPct val="115000"/>
              </a:lnSpc>
              <a:spcBef>
                <a:spcPts val="1600"/>
              </a:spcBef>
              <a:spcAft>
                <a:spcPts val="1600"/>
              </a:spcAft>
              <a:buSzPts val="1400"/>
              <a:buNone/>
            </a:pPr>
            <a:endParaRPr/>
          </a:p>
        </p:txBody>
      </p:sp>
      <p:sp>
        <p:nvSpPr>
          <p:cNvPr id="225" name="Google Shape;225;p25"/>
          <p:cNvSpPr txBox="1">
            <a:spLocks noGrp="1"/>
          </p:cNvSpPr>
          <p:nvPr>
            <p:ph type="body" idx="2"/>
          </p:nvPr>
        </p:nvSpPr>
        <p:spPr>
          <a:xfrm>
            <a:off x="311700" y="1879091"/>
            <a:ext cx="6479836" cy="2948484"/>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Absolute length: </a:t>
            </a:r>
            <a:endParaRPr b="1"/>
          </a:p>
          <a:p>
            <a:pPr marL="457200" lvl="0" indent="-317500" algn="l" rtl="0">
              <a:lnSpc>
                <a:spcPct val="115000"/>
              </a:lnSpc>
              <a:spcBef>
                <a:spcPts val="1600"/>
              </a:spcBef>
              <a:spcAft>
                <a:spcPts val="0"/>
              </a:spcAft>
              <a:buSzPts val="1400"/>
              <a:buChar char="●"/>
            </a:pPr>
            <a:r>
              <a:rPr lang="en">
                <a:solidFill>
                  <a:srgbClr val="0070C0"/>
                </a:solidFill>
              </a:rPr>
              <a:t>in</a:t>
            </a:r>
            <a:r>
              <a:rPr lang="en"/>
              <a:t> (inches) </a:t>
            </a:r>
            <a:endParaRPr/>
          </a:p>
          <a:p>
            <a:pPr marL="457200" lvl="0" indent="-317500" algn="l" rtl="0">
              <a:lnSpc>
                <a:spcPct val="115000"/>
              </a:lnSpc>
              <a:spcBef>
                <a:spcPts val="0"/>
              </a:spcBef>
              <a:spcAft>
                <a:spcPts val="0"/>
              </a:spcAft>
              <a:buSzPts val="1400"/>
              <a:buChar char="●"/>
            </a:pPr>
            <a:r>
              <a:rPr lang="en">
                <a:solidFill>
                  <a:srgbClr val="0070C0"/>
                </a:solidFill>
              </a:rPr>
              <a:t>cm</a:t>
            </a:r>
            <a:r>
              <a:rPr lang="en"/>
              <a:t> (centimeters) </a:t>
            </a:r>
            <a:endParaRPr/>
          </a:p>
          <a:p>
            <a:pPr marL="457200" lvl="0" indent="-317500" algn="l" rtl="0">
              <a:lnSpc>
                <a:spcPct val="115000"/>
              </a:lnSpc>
              <a:spcBef>
                <a:spcPts val="0"/>
              </a:spcBef>
              <a:spcAft>
                <a:spcPts val="0"/>
              </a:spcAft>
              <a:buSzPts val="1400"/>
              <a:buChar char="●"/>
            </a:pPr>
            <a:r>
              <a:rPr lang="en">
                <a:solidFill>
                  <a:srgbClr val="0070C0"/>
                </a:solidFill>
              </a:rPr>
              <a:t>px</a:t>
            </a:r>
            <a:r>
              <a:rPr lang="en"/>
              <a:t> (pixels, 1px = 1/96*1inch)</a:t>
            </a:r>
            <a:endParaRPr/>
          </a:p>
          <a:p>
            <a:pPr marL="0" lvl="0" indent="0" algn="l" rtl="0">
              <a:lnSpc>
                <a:spcPct val="115000"/>
              </a:lnSpc>
              <a:spcBef>
                <a:spcPts val="1600"/>
              </a:spcBef>
              <a:spcAft>
                <a:spcPts val="0"/>
              </a:spcAft>
              <a:buSzPts val="1400"/>
              <a:buNone/>
            </a:pPr>
            <a:r>
              <a:rPr lang="en" b="1"/>
              <a:t>Relative length:</a:t>
            </a:r>
            <a:endParaRPr b="1"/>
          </a:p>
          <a:p>
            <a:pPr marL="457200" lvl="0" indent="-317500" algn="l" rtl="0">
              <a:lnSpc>
                <a:spcPct val="115000"/>
              </a:lnSpc>
              <a:spcBef>
                <a:spcPts val="1600"/>
              </a:spcBef>
              <a:spcAft>
                <a:spcPts val="0"/>
              </a:spcAft>
              <a:buSzPts val="1400"/>
              <a:buChar char="●"/>
            </a:pPr>
            <a:r>
              <a:rPr lang="en">
                <a:solidFill>
                  <a:srgbClr val="0070C0"/>
                </a:solidFill>
              </a:rPr>
              <a:t>%</a:t>
            </a:r>
            <a:r>
              <a:rPr lang="en"/>
              <a:t> (percentage)</a:t>
            </a:r>
            <a:endParaRPr/>
          </a:p>
          <a:p>
            <a:pPr marL="457200" lvl="0" indent="-317500" algn="l" rtl="0">
              <a:lnSpc>
                <a:spcPct val="115000"/>
              </a:lnSpc>
              <a:spcBef>
                <a:spcPts val="0"/>
              </a:spcBef>
              <a:spcAft>
                <a:spcPts val="0"/>
              </a:spcAft>
              <a:buSzPts val="1400"/>
              <a:buChar char="●"/>
            </a:pPr>
            <a:r>
              <a:rPr lang="en">
                <a:solidFill>
                  <a:srgbClr val="0070C0"/>
                </a:solidFill>
              </a:rPr>
              <a:t>em</a:t>
            </a:r>
            <a:r>
              <a:rPr lang="en"/>
              <a:t> (relative to parent element’s font-size)</a:t>
            </a:r>
            <a:endParaRPr/>
          </a:p>
          <a:p>
            <a:pPr marL="457200" lvl="0" indent="-317500" algn="l" rtl="0">
              <a:lnSpc>
                <a:spcPct val="115000"/>
              </a:lnSpc>
              <a:spcBef>
                <a:spcPts val="0"/>
              </a:spcBef>
              <a:spcAft>
                <a:spcPts val="0"/>
              </a:spcAft>
              <a:buSzPts val="1400"/>
              <a:buChar char="●"/>
            </a:pPr>
            <a:r>
              <a:rPr lang="en">
                <a:solidFill>
                  <a:srgbClr val="0070C0"/>
                </a:solidFill>
              </a:rPr>
              <a:t>vw</a:t>
            </a:r>
            <a:r>
              <a:rPr lang="en"/>
              <a:t> (1vw = 1% of the width of the viewport - browser window size)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GB"/>
              <a:t>Exercise 3</a:t>
            </a:r>
          </a:p>
        </p:txBody>
      </p:sp>
      <p:sp>
        <p:nvSpPr>
          <p:cNvPr id="231" name="Google Shape;231;p26"/>
          <p:cNvSpPr txBox="1">
            <a:spLocks noGrp="1"/>
          </p:cNvSpPr>
          <p:nvPr>
            <p:ph type="body" idx="1"/>
          </p:nvPr>
        </p:nvSpPr>
        <p:spPr>
          <a:xfrm>
            <a:off x="311700" y="1225225"/>
            <a:ext cx="7095554" cy="493111"/>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GB"/>
              <a:t>Given </a:t>
            </a:r>
            <a:r>
              <a:rPr lang="en-GB" i="1"/>
              <a:t>ex3.html</a:t>
            </a:r>
            <a:r>
              <a:rPr lang="en-GB" sz="2000">
                <a:latin typeface="Arial"/>
                <a:ea typeface="Arial"/>
                <a:cs typeface="Arial"/>
                <a:sym typeface="Arial"/>
              </a:rPr>
              <a:t>, </a:t>
            </a:r>
            <a:r>
              <a:rPr lang="en-GB"/>
              <a:t>create the view below using </a:t>
            </a:r>
            <a:r>
              <a:rPr lang="en-GB" i="1"/>
              <a:t>Internal Style sheets</a:t>
            </a:r>
            <a:r>
              <a:rPr lang="en-GB"/>
              <a:t>. </a:t>
            </a:r>
          </a:p>
        </p:txBody>
      </p:sp>
      <p:pic>
        <p:nvPicPr>
          <p:cNvPr id="3" name="Picture 2">
            <a:extLst>
              <a:ext uri="{FF2B5EF4-FFF2-40B4-BE49-F238E27FC236}">
                <a16:creationId xmlns:a16="http://schemas.microsoft.com/office/drawing/2014/main" id="{014B4470-B9E9-152C-1023-14867707BD36}"/>
              </a:ext>
            </a:extLst>
          </p:cNvPr>
          <p:cNvPicPr>
            <a:picLocks noChangeAspect="1"/>
          </p:cNvPicPr>
          <p:nvPr/>
        </p:nvPicPr>
        <p:blipFill>
          <a:blip r:embed="rId3"/>
          <a:stretch>
            <a:fillRect/>
          </a:stretch>
        </p:blipFill>
        <p:spPr>
          <a:xfrm>
            <a:off x="392762" y="1661761"/>
            <a:ext cx="7878728" cy="2846694"/>
          </a:xfrm>
          <a:prstGeom prst="rect">
            <a:avLst/>
          </a:prstGeom>
        </p:spPr>
      </p:pic>
      <p:cxnSp>
        <p:nvCxnSpPr>
          <p:cNvPr id="4" name="Straight Arrow Connector 3">
            <a:extLst>
              <a:ext uri="{FF2B5EF4-FFF2-40B4-BE49-F238E27FC236}">
                <a16:creationId xmlns:a16="http://schemas.microsoft.com/office/drawing/2014/main" id="{FD27DD48-D743-485B-EDBC-BB57B03C435C}"/>
              </a:ext>
            </a:extLst>
          </p:cNvPr>
          <p:cNvCxnSpPr/>
          <p:nvPr/>
        </p:nvCxnSpPr>
        <p:spPr>
          <a:xfrm flipV="1">
            <a:off x="1024864" y="2645009"/>
            <a:ext cx="398900" cy="4234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F9A6A5D-9A87-22B6-91A9-44DA4A8D605A}"/>
              </a:ext>
            </a:extLst>
          </p:cNvPr>
          <p:cNvCxnSpPr/>
          <p:nvPr/>
        </p:nvCxnSpPr>
        <p:spPr>
          <a:xfrm flipH="1">
            <a:off x="619828" y="3135962"/>
            <a:ext cx="1350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The Box Model</a:t>
            </a:r>
            <a:endParaRPr/>
          </a:p>
        </p:txBody>
      </p:sp>
      <p:grpSp>
        <p:nvGrpSpPr>
          <p:cNvPr id="11" name="Group 10">
            <a:extLst>
              <a:ext uri="{FF2B5EF4-FFF2-40B4-BE49-F238E27FC236}">
                <a16:creationId xmlns:a16="http://schemas.microsoft.com/office/drawing/2014/main" id="{135A0A24-B7B7-B20F-CEC0-7964990AC4C8}"/>
              </a:ext>
            </a:extLst>
          </p:cNvPr>
          <p:cNvGrpSpPr/>
          <p:nvPr/>
        </p:nvGrpSpPr>
        <p:grpSpPr>
          <a:xfrm>
            <a:off x="473947" y="1089590"/>
            <a:ext cx="3883307" cy="3177251"/>
            <a:chOff x="365760" y="777240"/>
            <a:chExt cx="5029200" cy="4114800"/>
          </a:xfrm>
        </p:grpSpPr>
        <p:sp>
          <p:nvSpPr>
            <p:cNvPr id="3" name="Shape 2">
              <a:extLst>
                <a:ext uri="{FF2B5EF4-FFF2-40B4-BE49-F238E27FC236}">
                  <a16:creationId xmlns:a16="http://schemas.microsoft.com/office/drawing/2014/main" id="{B610DA38-A84E-9BD8-BF36-4B1E2DC4FFBD}"/>
                </a:ext>
              </a:extLst>
            </p:cNvPr>
            <p:cNvSpPr/>
            <p:nvPr/>
          </p:nvSpPr>
          <p:spPr>
            <a:xfrm>
              <a:off x="365760" y="777240"/>
              <a:ext cx="5029200" cy="4114800"/>
            </a:xfrm>
            <a:prstGeom prst="rect">
              <a:avLst/>
            </a:prstGeom>
            <a:solidFill>
              <a:srgbClr val="E2E8F0"/>
            </a:solidFill>
            <a:ln w="12700">
              <a:solidFill>
                <a:srgbClr val="94A3B8"/>
              </a:solidFill>
              <a:prstDash val="solid"/>
            </a:ln>
          </p:spPr>
          <p:txBody>
            <a:bodyPr/>
            <a:lstStyle/>
            <a:p>
              <a:endParaRPr lang="en-SG"/>
            </a:p>
          </p:txBody>
        </p:sp>
        <p:sp>
          <p:nvSpPr>
            <p:cNvPr id="4" name="Text 3">
              <a:extLst>
                <a:ext uri="{FF2B5EF4-FFF2-40B4-BE49-F238E27FC236}">
                  <a16:creationId xmlns:a16="http://schemas.microsoft.com/office/drawing/2014/main" id="{0D27A1A9-B034-8389-ABF3-E1F9A7981962}"/>
                </a:ext>
              </a:extLst>
            </p:cNvPr>
            <p:cNvSpPr/>
            <p:nvPr/>
          </p:nvSpPr>
          <p:spPr>
            <a:xfrm>
              <a:off x="365760" y="777240"/>
              <a:ext cx="5029200" cy="320040"/>
            </a:xfrm>
            <a:prstGeom prst="rect">
              <a:avLst/>
            </a:prstGeom>
            <a:noFill/>
            <a:ln/>
          </p:spPr>
          <p:txBody>
            <a:bodyPr wrap="square" rtlCol="0" anchor="ctr"/>
            <a:lstStyle/>
            <a:p>
              <a:pPr marL="0" indent="0" algn="ctr">
                <a:buNone/>
              </a:pPr>
              <a:r>
                <a:rPr lang="en-US" sz="1100">
                  <a:solidFill>
                    <a:srgbClr val="64748B"/>
                  </a:solidFill>
                  <a:latin typeface="Calibri" pitchFamily="34" charset="0"/>
                  <a:ea typeface="Calibri" pitchFamily="34" charset="-122"/>
                  <a:cs typeface="Calibri" pitchFamily="34" charset="-120"/>
                </a:rPr>
                <a:t>Margin</a:t>
              </a:r>
              <a:endParaRPr lang="en-US" sz="1100"/>
            </a:p>
          </p:txBody>
        </p:sp>
        <p:sp>
          <p:nvSpPr>
            <p:cNvPr id="5" name="Shape 4">
              <a:extLst>
                <a:ext uri="{FF2B5EF4-FFF2-40B4-BE49-F238E27FC236}">
                  <a16:creationId xmlns:a16="http://schemas.microsoft.com/office/drawing/2014/main" id="{82E8509B-F428-DEFE-10DB-1FDF18F625E0}"/>
                </a:ext>
              </a:extLst>
            </p:cNvPr>
            <p:cNvSpPr/>
            <p:nvPr/>
          </p:nvSpPr>
          <p:spPr>
            <a:xfrm>
              <a:off x="777240" y="1188720"/>
              <a:ext cx="4206240" cy="3291840"/>
            </a:xfrm>
            <a:prstGeom prst="rect">
              <a:avLst/>
            </a:prstGeom>
            <a:solidFill>
              <a:srgbClr val="EA580C"/>
            </a:solidFill>
            <a:ln w="12700">
              <a:solidFill>
                <a:srgbClr val="EA580C"/>
              </a:solidFill>
              <a:prstDash val="solid"/>
            </a:ln>
          </p:spPr>
          <p:txBody>
            <a:bodyPr/>
            <a:lstStyle/>
            <a:p>
              <a:endParaRPr lang="en-SG"/>
            </a:p>
          </p:txBody>
        </p:sp>
        <p:sp>
          <p:nvSpPr>
            <p:cNvPr id="6" name="Text 5">
              <a:extLst>
                <a:ext uri="{FF2B5EF4-FFF2-40B4-BE49-F238E27FC236}">
                  <a16:creationId xmlns:a16="http://schemas.microsoft.com/office/drawing/2014/main" id="{0F51E235-3DA0-802E-3A4D-7B45F747B99C}"/>
                </a:ext>
              </a:extLst>
            </p:cNvPr>
            <p:cNvSpPr/>
            <p:nvPr/>
          </p:nvSpPr>
          <p:spPr>
            <a:xfrm>
              <a:off x="777240" y="1188720"/>
              <a:ext cx="4206240" cy="274320"/>
            </a:xfrm>
            <a:prstGeom prst="rect">
              <a:avLst/>
            </a:prstGeom>
            <a:noFill/>
            <a:ln/>
          </p:spPr>
          <p:txBody>
            <a:bodyPr wrap="square" rtlCol="0" anchor="ctr"/>
            <a:lstStyle/>
            <a:p>
              <a:pPr marL="0" indent="0" algn="ctr">
                <a:buNone/>
              </a:pPr>
              <a:r>
                <a:rPr lang="en-US" sz="1100">
                  <a:solidFill>
                    <a:srgbClr val="FFFFFF"/>
                  </a:solidFill>
                  <a:latin typeface="Calibri" pitchFamily="34" charset="0"/>
                  <a:ea typeface="Calibri" pitchFamily="34" charset="-122"/>
                  <a:cs typeface="Calibri" pitchFamily="34" charset="-120"/>
                </a:rPr>
                <a:t>Border</a:t>
              </a:r>
              <a:endParaRPr lang="en-US" sz="1100"/>
            </a:p>
          </p:txBody>
        </p:sp>
        <p:sp>
          <p:nvSpPr>
            <p:cNvPr id="7" name="Shape 6">
              <a:extLst>
                <a:ext uri="{FF2B5EF4-FFF2-40B4-BE49-F238E27FC236}">
                  <a16:creationId xmlns:a16="http://schemas.microsoft.com/office/drawing/2014/main" id="{3B56A21D-B0DF-28FA-BE30-D2B46C459DD1}"/>
                </a:ext>
              </a:extLst>
            </p:cNvPr>
            <p:cNvSpPr/>
            <p:nvPr/>
          </p:nvSpPr>
          <p:spPr>
            <a:xfrm>
              <a:off x="1143000" y="1600200"/>
              <a:ext cx="3474720" cy="2468880"/>
            </a:xfrm>
            <a:prstGeom prst="rect">
              <a:avLst/>
            </a:prstGeom>
            <a:solidFill>
              <a:srgbClr val="FDE68A"/>
            </a:solidFill>
            <a:ln/>
          </p:spPr>
          <p:txBody>
            <a:bodyPr/>
            <a:lstStyle/>
            <a:p>
              <a:endParaRPr lang="en-SG"/>
            </a:p>
          </p:txBody>
        </p:sp>
        <p:sp>
          <p:nvSpPr>
            <p:cNvPr id="8" name="Text 7">
              <a:extLst>
                <a:ext uri="{FF2B5EF4-FFF2-40B4-BE49-F238E27FC236}">
                  <a16:creationId xmlns:a16="http://schemas.microsoft.com/office/drawing/2014/main" id="{C59A13A0-157E-D23A-D961-A058A499ACE8}"/>
                </a:ext>
              </a:extLst>
            </p:cNvPr>
            <p:cNvSpPr/>
            <p:nvPr/>
          </p:nvSpPr>
          <p:spPr>
            <a:xfrm>
              <a:off x="1143000" y="1600200"/>
              <a:ext cx="3474720" cy="274320"/>
            </a:xfrm>
            <a:prstGeom prst="rect">
              <a:avLst/>
            </a:prstGeom>
            <a:noFill/>
            <a:ln/>
          </p:spPr>
          <p:txBody>
            <a:bodyPr wrap="square" rtlCol="0" anchor="ctr"/>
            <a:lstStyle/>
            <a:p>
              <a:pPr marL="0" indent="0" algn="ctr">
                <a:buNone/>
              </a:pPr>
              <a:r>
                <a:rPr lang="en-US" sz="1100">
                  <a:solidFill>
                    <a:srgbClr val="EA580C"/>
                  </a:solidFill>
                  <a:latin typeface="Calibri" pitchFamily="34" charset="0"/>
                  <a:ea typeface="Calibri" pitchFamily="34" charset="-122"/>
                  <a:cs typeface="Calibri" pitchFamily="34" charset="-120"/>
                </a:rPr>
                <a:t>Padding</a:t>
              </a:r>
              <a:endParaRPr lang="en-US" sz="1100"/>
            </a:p>
          </p:txBody>
        </p:sp>
        <p:sp>
          <p:nvSpPr>
            <p:cNvPr id="9" name="Shape 8">
              <a:extLst>
                <a:ext uri="{FF2B5EF4-FFF2-40B4-BE49-F238E27FC236}">
                  <a16:creationId xmlns:a16="http://schemas.microsoft.com/office/drawing/2014/main" id="{84ED3A52-3661-62BD-95F7-D762CE8980E8}"/>
                </a:ext>
              </a:extLst>
            </p:cNvPr>
            <p:cNvSpPr/>
            <p:nvPr/>
          </p:nvSpPr>
          <p:spPr>
            <a:xfrm>
              <a:off x="1600200" y="1965960"/>
              <a:ext cx="2560320" cy="1737360"/>
            </a:xfrm>
            <a:prstGeom prst="rect">
              <a:avLst/>
            </a:prstGeom>
            <a:solidFill>
              <a:srgbClr val="FFFFFF"/>
            </a:solidFill>
            <a:ln w="12700">
              <a:solidFill>
                <a:srgbClr val="EA580C"/>
              </a:solidFill>
              <a:prstDash val="solid"/>
            </a:ln>
          </p:spPr>
          <p:txBody>
            <a:bodyPr/>
            <a:lstStyle/>
            <a:p>
              <a:endParaRPr lang="en-SG"/>
            </a:p>
          </p:txBody>
        </p:sp>
        <p:sp>
          <p:nvSpPr>
            <p:cNvPr id="10" name="Text 9">
              <a:extLst>
                <a:ext uri="{FF2B5EF4-FFF2-40B4-BE49-F238E27FC236}">
                  <a16:creationId xmlns:a16="http://schemas.microsoft.com/office/drawing/2014/main" id="{95B3D411-38B2-47FE-0BF7-49CE18DF05D0}"/>
                </a:ext>
              </a:extLst>
            </p:cNvPr>
            <p:cNvSpPr/>
            <p:nvPr/>
          </p:nvSpPr>
          <p:spPr>
            <a:xfrm>
              <a:off x="1600200" y="2606040"/>
              <a:ext cx="2560320" cy="457200"/>
            </a:xfrm>
            <a:prstGeom prst="rect">
              <a:avLst/>
            </a:prstGeom>
            <a:noFill/>
            <a:ln/>
          </p:spPr>
          <p:txBody>
            <a:bodyPr wrap="square" rtlCol="0" anchor="ctr"/>
            <a:lstStyle/>
            <a:p>
              <a:pPr marL="0" indent="0" algn="ctr">
                <a:buNone/>
              </a:pPr>
              <a:r>
                <a:rPr lang="en-US" sz="1300" b="1">
                  <a:solidFill>
                    <a:srgbClr val="EA580C"/>
                  </a:solidFill>
                  <a:latin typeface="Calibri" pitchFamily="34" charset="0"/>
                  <a:ea typeface="Calibri" pitchFamily="34" charset="-122"/>
                  <a:cs typeface="Calibri" pitchFamily="34" charset="-120"/>
                </a:rPr>
                <a:t>Content</a:t>
              </a:r>
              <a:endParaRPr lang="en-US" sz="1300"/>
            </a:p>
          </p:txBody>
        </p:sp>
      </p:grpSp>
      <p:grpSp>
        <p:nvGrpSpPr>
          <p:cNvPr id="24" name="Group 23">
            <a:extLst>
              <a:ext uri="{FF2B5EF4-FFF2-40B4-BE49-F238E27FC236}">
                <a16:creationId xmlns:a16="http://schemas.microsoft.com/office/drawing/2014/main" id="{F9B656EE-C0C5-4C93-3038-18D0D722DFCE}"/>
              </a:ext>
            </a:extLst>
          </p:cNvPr>
          <p:cNvGrpSpPr/>
          <p:nvPr/>
        </p:nvGrpSpPr>
        <p:grpSpPr>
          <a:xfrm>
            <a:off x="4918364" y="1089589"/>
            <a:ext cx="3273879" cy="3181657"/>
            <a:chOff x="5623560" y="960120"/>
            <a:chExt cx="3246120" cy="3154680"/>
          </a:xfrm>
        </p:grpSpPr>
        <p:sp>
          <p:nvSpPr>
            <p:cNvPr id="12" name="Shape 10">
              <a:extLst>
                <a:ext uri="{FF2B5EF4-FFF2-40B4-BE49-F238E27FC236}">
                  <a16:creationId xmlns:a16="http://schemas.microsoft.com/office/drawing/2014/main" id="{1FADEC8C-6043-521C-F85E-B66DE4C9C3DE}"/>
                </a:ext>
              </a:extLst>
            </p:cNvPr>
            <p:cNvSpPr/>
            <p:nvPr/>
          </p:nvSpPr>
          <p:spPr>
            <a:xfrm>
              <a:off x="5623560" y="960120"/>
              <a:ext cx="3246120" cy="685800"/>
            </a:xfrm>
            <a:prstGeom prst="rect">
              <a:avLst/>
            </a:prstGeom>
            <a:solidFill>
              <a:srgbClr val="F1F5F9"/>
            </a:solidFill>
            <a:ln w="12700">
              <a:solidFill>
                <a:srgbClr val="E2E8F0"/>
              </a:solidFill>
              <a:prstDash val="solid"/>
            </a:ln>
          </p:spPr>
          <p:txBody>
            <a:bodyPr/>
            <a:lstStyle/>
            <a:p>
              <a:endParaRPr lang="en-SG"/>
            </a:p>
          </p:txBody>
        </p:sp>
        <p:sp>
          <p:nvSpPr>
            <p:cNvPr id="13" name="Text 11">
              <a:extLst>
                <a:ext uri="{FF2B5EF4-FFF2-40B4-BE49-F238E27FC236}">
                  <a16:creationId xmlns:a16="http://schemas.microsoft.com/office/drawing/2014/main" id="{1AE686D9-E76B-D758-3E96-D7C597F2B66B}"/>
                </a:ext>
              </a:extLst>
            </p:cNvPr>
            <p:cNvSpPr/>
            <p:nvPr/>
          </p:nvSpPr>
          <p:spPr>
            <a:xfrm>
              <a:off x="5715000" y="996696"/>
              <a:ext cx="3063240" cy="274320"/>
            </a:xfrm>
            <a:prstGeom prst="rect">
              <a:avLst/>
            </a:prstGeom>
            <a:noFill/>
            <a:ln/>
          </p:spPr>
          <p:txBody>
            <a:bodyPr wrap="square" rtlCol="0" anchor="ctr"/>
            <a:lstStyle/>
            <a:p>
              <a:pPr marL="0" indent="0">
                <a:buNone/>
              </a:pPr>
              <a:r>
                <a:rPr lang="en-US" sz="1200" b="1">
                  <a:solidFill>
                    <a:srgbClr val="EA580C"/>
                  </a:solidFill>
                  <a:latin typeface="Calibri" pitchFamily="34" charset="0"/>
                  <a:ea typeface="Calibri" pitchFamily="34" charset="-122"/>
                  <a:cs typeface="Calibri" pitchFamily="34" charset="-120"/>
                </a:rPr>
                <a:t>Margin</a:t>
              </a:r>
              <a:endParaRPr lang="en-US" sz="1200"/>
            </a:p>
          </p:txBody>
        </p:sp>
        <p:sp>
          <p:nvSpPr>
            <p:cNvPr id="14" name="Text 12">
              <a:extLst>
                <a:ext uri="{FF2B5EF4-FFF2-40B4-BE49-F238E27FC236}">
                  <a16:creationId xmlns:a16="http://schemas.microsoft.com/office/drawing/2014/main" id="{FCF7EE79-9261-8DAE-4195-BC7E7E16C42C}"/>
                </a:ext>
              </a:extLst>
            </p:cNvPr>
            <p:cNvSpPr/>
            <p:nvPr/>
          </p:nvSpPr>
          <p:spPr>
            <a:xfrm>
              <a:off x="5715000" y="1271016"/>
              <a:ext cx="3063240" cy="320040"/>
            </a:xfrm>
            <a:prstGeom prst="rect">
              <a:avLst/>
            </a:prstGeom>
            <a:noFill/>
            <a:ln/>
          </p:spPr>
          <p:txBody>
            <a:bodyPr wrap="square" rtlCol="0" anchor="ctr"/>
            <a:lstStyle/>
            <a:p>
              <a:pPr marL="0" indent="0">
                <a:buNone/>
              </a:pPr>
              <a:r>
                <a:rPr lang="en-US" sz="950">
                  <a:solidFill>
                    <a:srgbClr val="64748B"/>
                  </a:solidFill>
                  <a:latin typeface="Calibri" pitchFamily="34" charset="0"/>
                  <a:ea typeface="Calibri" pitchFamily="34" charset="-122"/>
                  <a:cs typeface="Calibri" pitchFamily="34" charset="-120"/>
                </a:rPr>
                <a:t>Space outside border (transparent)</a:t>
              </a:r>
              <a:endParaRPr lang="en-US" sz="950"/>
            </a:p>
          </p:txBody>
        </p:sp>
        <p:sp>
          <p:nvSpPr>
            <p:cNvPr id="15" name="Shape 13">
              <a:extLst>
                <a:ext uri="{FF2B5EF4-FFF2-40B4-BE49-F238E27FC236}">
                  <a16:creationId xmlns:a16="http://schemas.microsoft.com/office/drawing/2014/main" id="{83A7FEE1-A537-39CB-B4AC-EB510ACF7685}"/>
                </a:ext>
              </a:extLst>
            </p:cNvPr>
            <p:cNvSpPr/>
            <p:nvPr/>
          </p:nvSpPr>
          <p:spPr>
            <a:xfrm>
              <a:off x="5623560" y="1783080"/>
              <a:ext cx="3246120" cy="685800"/>
            </a:xfrm>
            <a:prstGeom prst="rect">
              <a:avLst/>
            </a:prstGeom>
            <a:solidFill>
              <a:srgbClr val="F1F5F9"/>
            </a:solidFill>
            <a:ln w="12700">
              <a:solidFill>
                <a:srgbClr val="E2E8F0"/>
              </a:solidFill>
              <a:prstDash val="solid"/>
            </a:ln>
          </p:spPr>
          <p:txBody>
            <a:bodyPr/>
            <a:lstStyle/>
            <a:p>
              <a:endParaRPr lang="en-SG"/>
            </a:p>
          </p:txBody>
        </p:sp>
        <p:sp>
          <p:nvSpPr>
            <p:cNvPr id="16" name="Text 14">
              <a:extLst>
                <a:ext uri="{FF2B5EF4-FFF2-40B4-BE49-F238E27FC236}">
                  <a16:creationId xmlns:a16="http://schemas.microsoft.com/office/drawing/2014/main" id="{3D5AF0F7-BCBD-E487-3995-F610B6017215}"/>
                </a:ext>
              </a:extLst>
            </p:cNvPr>
            <p:cNvSpPr/>
            <p:nvPr/>
          </p:nvSpPr>
          <p:spPr>
            <a:xfrm>
              <a:off x="5715000" y="1819656"/>
              <a:ext cx="3063240" cy="274320"/>
            </a:xfrm>
            <a:prstGeom prst="rect">
              <a:avLst/>
            </a:prstGeom>
            <a:noFill/>
            <a:ln/>
          </p:spPr>
          <p:txBody>
            <a:bodyPr wrap="square" rtlCol="0" anchor="ctr"/>
            <a:lstStyle/>
            <a:p>
              <a:pPr marL="0" indent="0">
                <a:buNone/>
              </a:pPr>
              <a:r>
                <a:rPr lang="en-US" sz="1200" b="1">
                  <a:solidFill>
                    <a:srgbClr val="EA580C"/>
                  </a:solidFill>
                  <a:latin typeface="Calibri" pitchFamily="34" charset="0"/>
                  <a:ea typeface="Calibri" pitchFamily="34" charset="-122"/>
                  <a:cs typeface="Calibri" pitchFamily="34" charset="-120"/>
                </a:rPr>
                <a:t>Border</a:t>
              </a:r>
              <a:endParaRPr lang="en-US" sz="1200"/>
            </a:p>
          </p:txBody>
        </p:sp>
        <p:sp>
          <p:nvSpPr>
            <p:cNvPr id="17" name="Text 15">
              <a:extLst>
                <a:ext uri="{FF2B5EF4-FFF2-40B4-BE49-F238E27FC236}">
                  <a16:creationId xmlns:a16="http://schemas.microsoft.com/office/drawing/2014/main" id="{DC63663D-E24E-7C13-537E-343EE1283083}"/>
                </a:ext>
              </a:extLst>
            </p:cNvPr>
            <p:cNvSpPr/>
            <p:nvPr/>
          </p:nvSpPr>
          <p:spPr>
            <a:xfrm>
              <a:off x="5715000" y="2093976"/>
              <a:ext cx="3063240" cy="320040"/>
            </a:xfrm>
            <a:prstGeom prst="rect">
              <a:avLst/>
            </a:prstGeom>
            <a:noFill/>
            <a:ln/>
          </p:spPr>
          <p:txBody>
            <a:bodyPr wrap="square" rtlCol="0" anchor="ctr"/>
            <a:lstStyle/>
            <a:p>
              <a:pPr marL="0" indent="0">
                <a:buNone/>
              </a:pPr>
              <a:r>
                <a:rPr lang="en-US" sz="950">
                  <a:solidFill>
                    <a:srgbClr val="64748B"/>
                  </a:solidFill>
                  <a:latin typeface="Calibri" pitchFamily="34" charset="0"/>
                  <a:ea typeface="Calibri" pitchFamily="34" charset="-122"/>
                  <a:cs typeface="Calibri" pitchFamily="34" charset="-120"/>
                </a:rPr>
                <a:t>Visible line around padding &amp; content</a:t>
              </a:r>
              <a:endParaRPr lang="en-US" sz="950"/>
            </a:p>
          </p:txBody>
        </p:sp>
        <p:sp>
          <p:nvSpPr>
            <p:cNvPr id="18" name="Shape 16">
              <a:extLst>
                <a:ext uri="{FF2B5EF4-FFF2-40B4-BE49-F238E27FC236}">
                  <a16:creationId xmlns:a16="http://schemas.microsoft.com/office/drawing/2014/main" id="{897BAE17-7533-53AE-5F2D-8E063E2EDFAD}"/>
                </a:ext>
              </a:extLst>
            </p:cNvPr>
            <p:cNvSpPr/>
            <p:nvPr/>
          </p:nvSpPr>
          <p:spPr>
            <a:xfrm>
              <a:off x="5623560" y="2606040"/>
              <a:ext cx="3246120" cy="685800"/>
            </a:xfrm>
            <a:prstGeom prst="rect">
              <a:avLst/>
            </a:prstGeom>
            <a:solidFill>
              <a:srgbClr val="F1F5F9"/>
            </a:solidFill>
            <a:ln w="12700">
              <a:solidFill>
                <a:srgbClr val="E2E8F0"/>
              </a:solidFill>
              <a:prstDash val="solid"/>
            </a:ln>
          </p:spPr>
          <p:txBody>
            <a:bodyPr/>
            <a:lstStyle/>
            <a:p>
              <a:endParaRPr lang="en-SG"/>
            </a:p>
          </p:txBody>
        </p:sp>
        <p:sp>
          <p:nvSpPr>
            <p:cNvPr id="19" name="Text 17">
              <a:extLst>
                <a:ext uri="{FF2B5EF4-FFF2-40B4-BE49-F238E27FC236}">
                  <a16:creationId xmlns:a16="http://schemas.microsoft.com/office/drawing/2014/main" id="{43328F1A-C0B9-B3EC-84A3-7DAB4793EF5F}"/>
                </a:ext>
              </a:extLst>
            </p:cNvPr>
            <p:cNvSpPr/>
            <p:nvPr/>
          </p:nvSpPr>
          <p:spPr>
            <a:xfrm>
              <a:off x="5715000" y="2642616"/>
              <a:ext cx="3063240" cy="274320"/>
            </a:xfrm>
            <a:prstGeom prst="rect">
              <a:avLst/>
            </a:prstGeom>
            <a:noFill/>
            <a:ln/>
          </p:spPr>
          <p:txBody>
            <a:bodyPr wrap="square" rtlCol="0" anchor="ctr"/>
            <a:lstStyle/>
            <a:p>
              <a:pPr marL="0" indent="0">
                <a:buNone/>
              </a:pPr>
              <a:r>
                <a:rPr lang="en-US" sz="1200" b="1">
                  <a:solidFill>
                    <a:srgbClr val="EA580C"/>
                  </a:solidFill>
                  <a:latin typeface="Calibri" pitchFamily="34" charset="0"/>
                  <a:ea typeface="Calibri" pitchFamily="34" charset="-122"/>
                  <a:cs typeface="Calibri" pitchFamily="34" charset="-120"/>
                </a:rPr>
                <a:t>Padding</a:t>
              </a:r>
              <a:endParaRPr lang="en-US" sz="1200"/>
            </a:p>
          </p:txBody>
        </p:sp>
        <p:sp>
          <p:nvSpPr>
            <p:cNvPr id="20" name="Text 18">
              <a:extLst>
                <a:ext uri="{FF2B5EF4-FFF2-40B4-BE49-F238E27FC236}">
                  <a16:creationId xmlns:a16="http://schemas.microsoft.com/office/drawing/2014/main" id="{67E2C4E3-449D-CB6B-3E0F-15B11DA80083}"/>
                </a:ext>
              </a:extLst>
            </p:cNvPr>
            <p:cNvSpPr/>
            <p:nvPr/>
          </p:nvSpPr>
          <p:spPr>
            <a:xfrm>
              <a:off x="5715000" y="2916936"/>
              <a:ext cx="3063240" cy="320040"/>
            </a:xfrm>
            <a:prstGeom prst="rect">
              <a:avLst/>
            </a:prstGeom>
            <a:noFill/>
            <a:ln/>
          </p:spPr>
          <p:txBody>
            <a:bodyPr wrap="square" rtlCol="0" anchor="ctr"/>
            <a:lstStyle/>
            <a:p>
              <a:pPr marL="0" indent="0">
                <a:buNone/>
              </a:pPr>
              <a:r>
                <a:rPr lang="en-US" sz="950">
                  <a:solidFill>
                    <a:srgbClr val="64748B"/>
                  </a:solidFill>
                  <a:latin typeface="Calibri" pitchFamily="34" charset="0"/>
                  <a:ea typeface="Calibri" pitchFamily="34" charset="-122"/>
                  <a:cs typeface="Calibri" pitchFamily="34" charset="-120"/>
                </a:rPr>
                <a:t>Space between border &amp; content (transparent)</a:t>
              </a:r>
              <a:endParaRPr lang="en-US" sz="950"/>
            </a:p>
          </p:txBody>
        </p:sp>
        <p:sp>
          <p:nvSpPr>
            <p:cNvPr id="21" name="Shape 19">
              <a:extLst>
                <a:ext uri="{FF2B5EF4-FFF2-40B4-BE49-F238E27FC236}">
                  <a16:creationId xmlns:a16="http://schemas.microsoft.com/office/drawing/2014/main" id="{85FD585A-6E0F-2AB8-004F-D3C02EF5594F}"/>
                </a:ext>
              </a:extLst>
            </p:cNvPr>
            <p:cNvSpPr/>
            <p:nvPr/>
          </p:nvSpPr>
          <p:spPr>
            <a:xfrm>
              <a:off x="5623560" y="3429000"/>
              <a:ext cx="3246120" cy="685800"/>
            </a:xfrm>
            <a:prstGeom prst="rect">
              <a:avLst/>
            </a:prstGeom>
            <a:solidFill>
              <a:srgbClr val="F1F5F9"/>
            </a:solidFill>
            <a:ln w="12700">
              <a:solidFill>
                <a:srgbClr val="E2E8F0"/>
              </a:solidFill>
              <a:prstDash val="solid"/>
            </a:ln>
          </p:spPr>
          <p:txBody>
            <a:bodyPr/>
            <a:lstStyle/>
            <a:p>
              <a:endParaRPr lang="en-SG"/>
            </a:p>
          </p:txBody>
        </p:sp>
        <p:sp>
          <p:nvSpPr>
            <p:cNvPr id="22" name="Text 20">
              <a:extLst>
                <a:ext uri="{FF2B5EF4-FFF2-40B4-BE49-F238E27FC236}">
                  <a16:creationId xmlns:a16="http://schemas.microsoft.com/office/drawing/2014/main" id="{5FC02D8C-6A80-5590-0D63-588852387A36}"/>
                </a:ext>
              </a:extLst>
            </p:cNvPr>
            <p:cNvSpPr/>
            <p:nvPr/>
          </p:nvSpPr>
          <p:spPr>
            <a:xfrm>
              <a:off x="5715000" y="3465576"/>
              <a:ext cx="3063240" cy="274320"/>
            </a:xfrm>
            <a:prstGeom prst="rect">
              <a:avLst/>
            </a:prstGeom>
            <a:noFill/>
            <a:ln/>
          </p:spPr>
          <p:txBody>
            <a:bodyPr wrap="square" rtlCol="0" anchor="ctr"/>
            <a:lstStyle/>
            <a:p>
              <a:pPr marL="0" indent="0">
                <a:buNone/>
              </a:pPr>
              <a:r>
                <a:rPr lang="en-US" sz="1200" b="1">
                  <a:solidFill>
                    <a:srgbClr val="EA580C"/>
                  </a:solidFill>
                  <a:latin typeface="Calibri" pitchFamily="34" charset="0"/>
                  <a:ea typeface="Calibri" pitchFamily="34" charset="-122"/>
                  <a:cs typeface="Calibri" pitchFamily="34" charset="-120"/>
                </a:rPr>
                <a:t>Content</a:t>
              </a:r>
              <a:endParaRPr lang="en-US" sz="1200"/>
            </a:p>
          </p:txBody>
        </p:sp>
        <p:sp>
          <p:nvSpPr>
            <p:cNvPr id="23" name="Text 21">
              <a:extLst>
                <a:ext uri="{FF2B5EF4-FFF2-40B4-BE49-F238E27FC236}">
                  <a16:creationId xmlns:a16="http://schemas.microsoft.com/office/drawing/2014/main" id="{22F1F21F-886D-B9F7-1DDC-3731C06F269E}"/>
                </a:ext>
              </a:extLst>
            </p:cNvPr>
            <p:cNvSpPr/>
            <p:nvPr/>
          </p:nvSpPr>
          <p:spPr>
            <a:xfrm>
              <a:off x="5715000" y="3739896"/>
              <a:ext cx="3063240" cy="320040"/>
            </a:xfrm>
            <a:prstGeom prst="rect">
              <a:avLst/>
            </a:prstGeom>
            <a:noFill/>
            <a:ln/>
          </p:spPr>
          <p:txBody>
            <a:bodyPr wrap="square" rtlCol="0" anchor="ctr"/>
            <a:lstStyle/>
            <a:p>
              <a:pPr marL="0" indent="0">
                <a:buNone/>
              </a:pPr>
              <a:r>
                <a:rPr lang="en-US" sz="950">
                  <a:solidFill>
                    <a:srgbClr val="64748B"/>
                  </a:solidFill>
                  <a:latin typeface="Calibri" pitchFamily="34" charset="0"/>
                  <a:ea typeface="Calibri" pitchFamily="34" charset="-122"/>
                  <a:cs typeface="Calibri" pitchFamily="34" charset="-120"/>
                </a:rPr>
                <a:t>Text or images</a:t>
              </a:r>
              <a:endParaRPr lang="en-US" sz="950"/>
            </a:p>
          </p:txBody>
        </p:sp>
      </p:grpSp>
      <p:grpSp>
        <p:nvGrpSpPr>
          <p:cNvPr id="25" name="Group 24">
            <a:extLst>
              <a:ext uri="{FF2B5EF4-FFF2-40B4-BE49-F238E27FC236}">
                <a16:creationId xmlns:a16="http://schemas.microsoft.com/office/drawing/2014/main" id="{6E4E4B48-7DFF-82F0-2B40-17A27D083403}"/>
              </a:ext>
            </a:extLst>
          </p:cNvPr>
          <p:cNvGrpSpPr/>
          <p:nvPr/>
        </p:nvGrpSpPr>
        <p:grpSpPr>
          <a:xfrm>
            <a:off x="469807" y="4500121"/>
            <a:ext cx="7722436" cy="311509"/>
            <a:chOff x="366240" y="4390137"/>
            <a:chExt cx="8164968" cy="502920"/>
          </a:xfrm>
        </p:grpSpPr>
        <p:sp>
          <p:nvSpPr>
            <p:cNvPr id="26" name="Shape 19">
              <a:extLst>
                <a:ext uri="{FF2B5EF4-FFF2-40B4-BE49-F238E27FC236}">
                  <a16:creationId xmlns:a16="http://schemas.microsoft.com/office/drawing/2014/main" id="{A97655C3-A846-8B62-FF5B-227F41B96AA9}"/>
                </a:ext>
              </a:extLst>
            </p:cNvPr>
            <p:cNvSpPr/>
            <p:nvPr/>
          </p:nvSpPr>
          <p:spPr>
            <a:xfrm>
              <a:off x="366240" y="4390137"/>
              <a:ext cx="8164968" cy="502920"/>
            </a:xfrm>
            <a:prstGeom prst="rect">
              <a:avLst/>
            </a:prstGeom>
            <a:solidFill>
              <a:srgbClr val="DBEAFE"/>
            </a:solidFill>
            <a:ln w="12700">
              <a:solidFill>
                <a:srgbClr val="2563EB"/>
              </a:solidFill>
              <a:prstDash val="solid"/>
            </a:ln>
          </p:spPr>
          <p:txBody>
            <a:bodyPr/>
            <a:lstStyle/>
            <a:p>
              <a:endParaRPr lang="en-SG"/>
            </a:p>
          </p:txBody>
        </p:sp>
        <p:sp>
          <p:nvSpPr>
            <p:cNvPr id="27" name="Text 4">
              <a:extLst>
                <a:ext uri="{FF2B5EF4-FFF2-40B4-BE49-F238E27FC236}">
                  <a16:creationId xmlns:a16="http://schemas.microsoft.com/office/drawing/2014/main" id="{882FFC2F-1738-05A2-E71A-B81654BACEF4}"/>
                </a:ext>
              </a:extLst>
            </p:cNvPr>
            <p:cNvSpPr/>
            <p:nvPr/>
          </p:nvSpPr>
          <p:spPr>
            <a:xfrm>
              <a:off x="439392" y="4481577"/>
              <a:ext cx="7999180" cy="320040"/>
            </a:xfrm>
            <a:prstGeom prst="rect">
              <a:avLst/>
            </a:prstGeom>
            <a:noFill/>
            <a:ln/>
          </p:spPr>
          <p:txBody>
            <a:bodyPr wrap="square" rtlCol="0" anchor="ctr"/>
            <a:lstStyle/>
            <a:p>
              <a:r>
                <a:rPr lang="en-US" sz="1200">
                  <a:solidFill>
                    <a:srgbClr val="2563EB"/>
                  </a:solidFill>
                  <a:latin typeface="Calibri" pitchFamily="34" charset="0"/>
                  <a:ea typeface="Calibri" pitchFamily="34" charset="-122"/>
                  <a:cs typeface="Calibri" pitchFamily="34" charset="-120"/>
                </a:rPr>
                <a:t>💡</a:t>
              </a:r>
              <a:r>
                <a:rPr lang="en-SG" sz="1200">
                  <a:solidFill>
                    <a:srgbClr val="2563EB"/>
                  </a:solidFill>
                  <a:latin typeface="Calibri" pitchFamily="34" charset="0"/>
                  <a:ea typeface="Calibri" pitchFamily="34" charset="-122"/>
                  <a:cs typeface="Calibri" pitchFamily="34" charset="-120"/>
                </a:rPr>
                <a:t>Every HTML element is a box comprising of margin, border, padding and content which can be decorated using CSS.</a:t>
              </a:r>
              <a:endParaRPr lang="en-GB" sz="1100"/>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2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Decorating Content and Border</a:t>
            </a:r>
            <a:endParaRPr/>
          </a:p>
        </p:txBody>
      </p:sp>
      <p:sp>
        <p:nvSpPr>
          <p:cNvPr id="7" name="Shape 7">
            <a:extLst>
              <a:ext uri="{FF2B5EF4-FFF2-40B4-BE49-F238E27FC236}">
                <a16:creationId xmlns:a16="http://schemas.microsoft.com/office/drawing/2014/main" id="{91915927-409A-4AA0-4DFB-DDCC69CC5E42}"/>
              </a:ext>
            </a:extLst>
          </p:cNvPr>
          <p:cNvSpPr/>
          <p:nvPr/>
        </p:nvSpPr>
        <p:spPr>
          <a:xfrm>
            <a:off x="3549960" y="1291183"/>
            <a:ext cx="4244819" cy="1549905"/>
          </a:xfrm>
          <a:prstGeom prst="rect">
            <a:avLst/>
          </a:prstGeom>
          <a:solidFill>
            <a:srgbClr val="FFFFFF"/>
          </a:solidFill>
          <a:ln w="19050">
            <a:solidFill>
              <a:srgbClr val="CBD5E1"/>
            </a:solidFill>
            <a:prstDash val="solid"/>
          </a:ln>
        </p:spPr>
        <p:txBody>
          <a:bodyPr/>
          <a:lstStyle/>
          <a:p>
            <a:endParaRPr lang="en-SG"/>
          </a:p>
        </p:txBody>
      </p:sp>
      <p:sp>
        <p:nvSpPr>
          <p:cNvPr id="8" name="Shape 8">
            <a:extLst>
              <a:ext uri="{FF2B5EF4-FFF2-40B4-BE49-F238E27FC236}">
                <a16:creationId xmlns:a16="http://schemas.microsoft.com/office/drawing/2014/main" id="{43A9112D-4756-E9C7-56FA-129EBD647840}"/>
              </a:ext>
            </a:extLst>
          </p:cNvPr>
          <p:cNvSpPr/>
          <p:nvPr/>
        </p:nvSpPr>
        <p:spPr>
          <a:xfrm>
            <a:off x="3549960" y="1295452"/>
            <a:ext cx="4244819" cy="287579"/>
          </a:xfrm>
          <a:prstGeom prst="rect">
            <a:avLst/>
          </a:prstGeom>
          <a:solidFill>
            <a:srgbClr val="E2E8F0"/>
          </a:solidFill>
          <a:ln/>
        </p:spPr>
        <p:txBody>
          <a:bodyPr/>
          <a:lstStyle/>
          <a:p>
            <a:endParaRPr lang="en-SG"/>
          </a:p>
        </p:txBody>
      </p:sp>
      <p:sp>
        <p:nvSpPr>
          <p:cNvPr id="9" name="Text 9">
            <a:extLst>
              <a:ext uri="{FF2B5EF4-FFF2-40B4-BE49-F238E27FC236}">
                <a16:creationId xmlns:a16="http://schemas.microsoft.com/office/drawing/2014/main" id="{3B94F36B-952E-E5EE-EC2C-0E78C5E30696}"/>
              </a:ext>
            </a:extLst>
          </p:cNvPr>
          <p:cNvSpPr/>
          <p:nvPr/>
        </p:nvSpPr>
        <p:spPr>
          <a:xfrm>
            <a:off x="3549961" y="1322885"/>
            <a:ext cx="2823141" cy="201168"/>
          </a:xfrm>
          <a:prstGeom prst="rect">
            <a:avLst/>
          </a:prstGeom>
          <a:noFill/>
          <a:ln/>
        </p:spPr>
        <p:txBody>
          <a:bodyPr wrap="square" rtlCol="0" anchor="ctr"/>
          <a:lstStyle/>
          <a:p>
            <a:pPr marL="0" indent="0">
              <a:buNone/>
            </a:pPr>
            <a:r>
              <a:rPr lang="en-US" sz="800">
                <a:solidFill>
                  <a:srgbClr val="94A3B8"/>
                </a:solidFill>
                <a:latin typeface="Calibri" pitchFamily="34" charset="0"/>
                <a:ea typeface="Calibri" pitchFamily="34" charset="-122"/>
                <a:cs typeface="Calibri" pitchFamily="34" charset="-120"/>
              </a:rPr>
              <a:t>● ● ●  Browser Preview</a:t>
            </a:r>
            <a:endParaRPr lang="en-US" sz="800"/>
          </a:p>
        </p:txBody>
      </p:sp>
      <p:pic>
        <p:nvPicPr>
          <p:cNvPr id="12" name="Picture 11">
            <a:extLst>
              <a:ext uri="{FF2B5EF4-FFF2-40B4-BE49-F238E27FC236}">
                <a16:creationId xmlns:a16="http://schemas.microsoft.com/office/drawing/2014/main" id="{4B1311D9-D397-221D-9078-713714C0185C}"/>
              </a:ext>
            </a:extLst>
          </p:cNvPr>
          <p:cNvPicPr>
            <a:picLocks noChangeAspect="1"/>
          </p:cNvPicPr>
          <p:nvPr/>
        </p:nvPicPr>
        <p:blipFill>
          <a:blip r:embed="rId3"/>
          <a:srcRect l="2303" r="2343"/>
          <a:stretch>
            <a:fillRect/>
          </a:stretch>
        </p:blipFill>
        <p:spPr>
          <a:xfrm>
            <a:off x="3672418" y="1583031"/>
            <a:ext cx="3999901" cy="768759"/>
          </a:xfrm>
          <a:prstGeom prst="rect">
            <a:avLst/>
          </a:prstGeom>
        </p:spPr>
      </p:pic>
      <p:pic>
        <p:nvPicPr>
          <p:cNvPr id="14" name="Picture 13">
            <a:extLst>
              <a:ext uri="{FF2B5EF4-FFF2-40B4-BE49-F238E27FC236}">
                <a16:creationId xmlns:a16="http://schemas.microsoft.com/office/drawing/2014/main" id="{97CD0AF7-0685-E7FB-A9D6-7F5AF2003CAB}"/>
              </a:ext>
            </a:extLst>
          </p:cNvPr>
          <p:cNvPicPr>
            <a:picLocks noChangeAspect="1"/>
          </p:cNvPicPr>
          <p:nvPr/>
        </p:nvPicPr>
        <p:blipFill>
          <a:blip r:embed="rId4"/>
          <a:stretch>
            <a:fillRect/>
          </a:stretch>
        </p:blipFill>
        <p:spPr>
          <a:xfrm>
            <a:off x="434978" y="1452119"/>
            <a:ext cx="2223654" cy="1388969"/>
          </a:xfrm>
          <a:prstGeom prst="rect">
            <a:avLst/>
          </a:prstGeom>
        </p:spPr>
      </p:pic>
      <p:pic>
        <p:nvPicPr>
          <p:cNvPr id="20" name="Picture 19">
            <a:extLst>
              <a:ext uri="{FF2B5EF4-FFF2-40B4-BE49-F238E27FC236}">
                <a16:creationId xmlns:a16="http://schemas.microsoft.com/office/drawing/2014/main" id="{10A8776C-EAA7-B6EE-F94B-B033CA9D6224}"/>
              </a:ext>
            </a:extLst>
          </p:cNvPr>
          <p:cNvPicPr>
            <a:picLocks noChangeAspect="1"/>
          </p:cNvPicPr>
          <p:nvPr/>
        </p:nvPicPr>
        <p:blipFill>
          <a:blip r:embed="rId5"/>
          <a:stretch>
            <a:fillRect/>
          </a:stretch>
        </p:blipFill>
        <p:spPr>
          <a:xfrm>
            <a:off x="434978" y="2996896"/>
            <a:ext cx="2718372" cy="1516371"/>
          </a:xfrm>
          <a:prstGeom prst="rect">
            <a:avLst/>
          </a:prstGeom>
        </p:spPr>
      </p:pic>
      <p:sp>
        <p:nvSpPr>
          <p:cNvPr id="21" name="TextBox 20">
            <a:extLst>
              <a:ext uri="{FF2B5EF4-FFF2-40B4-BE49-F238E27FC236}">
                <a16:creationId xmlns:a16="http://schemas.microsoft.com/office/drawing/2014/main" id="{74D35E3D-ED79-B27A-DCF5-30D84D0C4BD3}"/>
              </a:ext>
            </a:extLst>
          </p:cNvPr>
          <p:cNvSpPr txBox="1"/>
          <p:nvPr/>
        </p:nvSpPr>
        <p:spPr>
          <a:xfrm>
            <a:off x="372672" y="1155280"/>
            <a:ext cx="3227297" cy="307777"/>
          </a:xfrm>
          <a:prstGeom prst="rect">
            <a:avLst/>
          </a:prstGeom>
          <a:noFill/>
        </p:spPr>
        <p:txBody>
          <a:bodyPr wrap="square">
            <a:spAutoFit/>
          </a:bodyPr>
          <a:lstStyle/>
          <a:p>
            <a:r>
              <a:rPr lang="en-US" i="1" dirty="0">
                <a:solidFill>
                  <a:schemeClr val="tx1"/>
                </a:solidFill>
              </a:rPr>
              <a:t>wk2example12.html</a:t>
            </a:r>
            <a:endParaRPr lang="en-SG" i="1" dirty="0">
              <a:solidFill>
                <a:schemeClr val="tx1"/>
              </a:solidFill>
            </a:endParaRPr>
          </a:p>
        </p:txBody>
      </p:sp>
      <p:grpSp>
        <p:nvGrpSpPr>
          <p:cNvPr id="22" name="Group 21">
            <a:extLst>
              <a:ext uri="{FF2B5EF4-FFF2-40B4-BE49-F238E27FC236}">
                <a16:creationId xmlns:a16="http://schemas.microsoft.com/office/drawing/2014/main" id="{97C9B696-7DFB-99A4-F1AD-C9A5117CF9F5}"/>
              </a:ext>
            </a:extLst>
          </p:cNvPr>
          <p:cNvGrpSpPr/>
          <p:nvPr/>
        </p:nvGrpSpPr>
        <p:grpSpPr>
          <a:xfrm>
            <a:off x="3549960" y="3443572"/>
            <a:ext cx="4244819" cy="311509"/>
            <a:chOff x="366240" y="4390137"/>
            <a:chExt cx="8164968" cy="502920"/>
          </a:xfrm>
        </p:grpSpPr>
        <p:sp>
          <p:nvSpPr>
            <p:cNvPr id="23" name="Shape 19">
              <a:extLst>
                <a:ext uri="{FF2B5EF4-FFF2-40B4-BE49-F238E27FC236}">
                  <a16:creationId xmlns:a16="http://schemas.microsoft.com/office/drawing/2014/main" id="{C14EF11D-285A-EF2D-70F8-542A8E5D5E8D}"/>
                </a:ext>
              </a:extLst>
            </p:cNvPr>
            <p:cNvSpPr/>
            <p:nvPr/>
          </p:nvSpPr>
          <p:spPr>
            <a:xfrm>
              <a:off x="366240" y="4390137"/>
              <a:ext cx="8164968" cy="502920"/>
            </a:xfrm>
            <a:prstGeom prst="rect">
              <a:avLst/>
            </a:prstGeom>
            <a:solidFill>
              <a:srgbClr val="DBEAFE"/>
            </a:solidFill>
            <a:ln w="12700">
              <a:solidFill>
                <a:srgbClr val="2563EB"/>
              </a:solidFill>
              <a:prstDash val="solid"/>
            </a:ln>
          </p:spPr>
          <p:txBody>
            <a:bodyPr/>
            <a:lstStyle/>
            <a:p>
              <a:endParaRPr lang="en-SG"/>
            </a:p>
          </p:txBody>
        </p:sp>
        <p:sp>
          <p:nvSpPr>
            <p:cNvPr id="24" name="Text 4">
              <a:extLst>
                <a:ext uri="{FF2B5EF4-FFF2-40B4-BE49-F238E27FC236}">
                  <a16:creationId xmlns:a16="http://schemas.microsoft.com/office/drawing/2014/main" id="{1BEFA6AB-E6EA-777D-39E0-7298BEF03E5D}"/>
                </a:ext>
              </a:extLst>
            </p:cNvPr>
            <p:cNvSpPr/>
            <p:nvPr/>
          </p:nvSpPr>
          <p:spPr>
            <a:xfrm>
              <a:off x="439392" y="4481577"/>
              <a:ext cx="7999180" cy="320040"/>
            </a:xfrm>
            <a:prstGeom prst="rect">
              <a:avLst/>
            </a:prstGeom>
            <a:noFill/>
            <a:ln/>
          </p:spPr>
          <p:txBody>
            <a:bodyPr wrap="square" rtlCol="0" anchor="ctr"/>
            <a:lstStyle/>
            <a:p>
              <a:r>
                <a:rPr lang="en-US" sz="1200">
                  <a:solidFill>
                    <a:srgbClr val="2563EB"/>
                  </a:solidFill>
                  <a:latin typeface="Calibri" pitchFamily="34" charset="0"/>
                  <a:ea typeface="Calibri" pitchFamily="34" charset="-122"/>
                  <a:cs typeface="Calibri" pitchFamily="34" charset="-120"/>
                </a:rPr>
                <a:t>💡</a:t>
              </a:r>
              <a:r>
                <a:rPr lang="en-SG" sz="1200">
                  <a:solidFill>
                    <a:srgbClr val="2563EB"/>
                  </a:solidFill>
                  <a:latin typeface="Calibri" pitchFamily="34" charset="0"/>
                  <a:ea typeface="Calibri" pitchFamily="34" charset="-122"/>
                  <a:cs typeface="Calibri" pitchFamily="34" charset="-120"/>
                </a:rPr>
                <a:t>Setting “margin: auto” centres the div element horizontally.</a:t>
              </a:r>
              <a:endParaRPr lang="en-GB" sz="1100"/>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Decorating Border</a:t>
            </a:r>
            <a:endParaRPr/>
          </a:p>
        </p:txBody>
      </p:sp>
      <p:sp>
        <p:nvSpPr>
          <p:cNvPr id="260" name="Google Shape;260;p30"/>
          <p:cNvSpPr txBox="1">
            <a:spLocks noGrp="1"/>
          </p:cNvSpPr>
          <p:nvPr>
            <p:ph type="body" idx="1"/>
          </p:nvPr>
        </p:nvSpPr>
        <p:spPr>
          <a:xfrm>
            <a:off x="4587481" y="3868051"/>
            <a:ext cx="4244819" cy="984575"/>
          </a:xfrm>
          <a:prstGeom prst="rect">
            <a:avLst/>
          </a:prstGeom>
          <a:noFill/>
          <a:ln>
            <a:noFill/>
          </a:ln>
        </p:spPr>
        <p:txBody>
          <a:bodyPr spcFirstLastPara="1" wrap="square" lIns="91425" tIns="91425" rIns="91425" bIns="91425" anchor="t" anchorCtr="0">
            <a:noAutofit/>
          </a:bodyPr>
          <a:lstStyle/>
          <a:p>
            <a:pPr marL="171450" lvl="0" indent="-171450" algn="l" rtl="0">
              <a:lnSpc>
                <a:spcPct val="115000"/>
              </a:lnSpc>
              <a:spcBef>
                <a:spcPts val="600"/>
              </a:spcBef>
              <a:spcAft>
                <a:spcPts val="0"/>
              </a:spcAft>
              <a:buClr>
                <a:schemeClr val="dk1"/>
              </a:buClr>
              <a:buSzPts val="1100"/>
              <a:buFontTx/>
              <a:buChar char="-"/>
            </a:pPr>
            <a:r>
              <a:rPr lang="en" sz="1100"/>
              <a:t>Use </a:t>
            </a:r>
            <a:r>
              <a:rPr lang="en" sz="1100">
                <a:solidFill>
                  <a:srgbClr val="0070C0"/>
                </a:solidFill>
              </a:rPr>
              <a:t>border-left</a:t>
            </a:r>
            <a:r>
              <a:rPr lang="en" sz="1100"/>
              <a:t>, </a:t>
            </a:r>
            <a:r>
              <a:rPr lang="en" sz="1100">
                <a:solidFill>
                  <a:srgbClr val="0070C0"/>
                </a:solidFill>
              </a:rPr>
              <a:t>border-right</a:t>
            </a:r>
            <a:r>
              <a:rPr lang="en" sz="1100"/>
              <a:t>, </a:t>
            </a:r>
            <a:r>
              <a:rPr lang="en" sz="1100">
                <a:solidFill>
                  <a:srgbClr val="0070C0"/>
                </a:solidFill>
              </a:rPr>
              <a:t>border-top</a:t>
            </a:r>
            <a:r>
              <a:rPr lang="en" sz="1100"/>
              <a:t>, </a:t>
            </a:r>
            <a:r>
              <a:rPr lang="en" sz="1100">
                <a:solidFill>
                  <a:srgbClr val="0070C0"/>
                </a:solidFill>
              </a:rPr>
              <a:t>border-bottom</a:t>
            </a:r>
            <a:r>
              <a:rPr lang="en" sz="1100"/>
              <a:t> properties to specifically style the left, right, top, or bottom of a border separately. </a:t>
            </a:r>
          </a:p>
          <a:p>
            <a:pPr marL="171450" lvl="0" indent="-171450" algn="l" rtl="0">
              <a:lnSpc>
                <a:spcPct val="115000"/>
              </a:lnSpc>
              <a:spcBef>
                <a:spcPts val="600"/>
              </a:spcBef>
              <a:spcAft>
                <a:spcPts val="0"/>
              </a:spcAft>
              <a:buClr>
                <a:schemeClr val="dk1"/>
              </a:buClr>
              <a:buSzPts val="1100"/>
              <a:buFontTx/>
              <a:buChar char="-"/>
            </a:pPr>
            <a:r>
              <a:rPr lang="en" sz="1100"/>
              <a:t>Use </a:t>
            </a:r>
            <a:r>
              <a:rPr lang="en" sz="1100">
                <a:solidFill>
                  <a:srgbClr val="0070C0"/>
                </a:solidFill>
              </a:rPr>
              <a:t>border-radius</a:t>
            </a:r>
            <a:r>
              <a:rPr lang="en" sz="1100"/>
              <a:t> to created rounded corners. You can specify different border radius for the 4 corners.</a:t>
            </a:r>
          </a:p>
          <a:p>
            <a:pPr marL="0" lvl="0" indent="0" algn="l" rtl="0">
              <a:lnSpc>
                <a:spcPct val="115000"/>
              </a:lnSpc>
              <a:spcBef>
                <a:spcPts val="600"/>
              </a:spcBef>
              <a:spcAft>
                <a:spcPts val="0"/>
              </a:spcAft>
              <a:buClr>
                <a:schemeClr val="dk1"/>
              </a:buClr>
              <a:buSzPts val="1100"/>
              <a:buFont typeface="Arial"/>
              <a:buNone/>
            </a:pPr>
            <a:endParaRPr sz="1800">
              <a:latin typeface="Arial"/>
              <a:ea typeface="Arial"/>
              <a:cs typeface="Arial"/>
              <a:sym typeface="Arial"/>
            </a:endParaRPr>
          </a:p>
          <a:p>
            <a:pPr marL="0" lvl="0" indent="0" algn="l" rtl="0">
              <a:lnSpc>
                <a:spcPct val="115000"/>
              </a:lnSpc>
              <a:spcBef>
                <a:spcPts val="600"/>
              </a:spcBef>
              <a:spcAft>
                <a:spcPts val="1600"/>
              </a:spcAft>
              <a:buSzPts val="1400"/>
              <a:buNone/>
            </a:pPr>
            <a:endParaRPr sz="1100"/>
          </a:p>
        </p:txBody>
      </p:sp>
      <p:pic>
        <p:nvPicPr>
          <p:cNvPr id="3" name="Picture 2">
            <a:extLst>
              <a:ext uri="{FF2B5EF4-FFF2-40B4-BE49-F238E27FC236}">
                <a16:creationId xmlns:a16="http://schemas.microsoft.com/office/drawing/2014/main" id="{4B65615D-F163-CB04-2736-CC1E808F6C79}"/>
              </a:ext>
            </a:extLst>
          </p:cNvPr>
          <p:cNvPicPr>
            <a:picLocks noChangeAspect="1"/>
          </p:cNvPicPr>
          <p:nvPr/>
        </p:nvPicPr>
        <p:blipFill>
          <a:blip r:embed="rId3"/>
          <a:stretch>
            <a:fillRect/>
          </a:stretch>
        </p:blipFill>
        <p:spPr>
          <a:xfrm>
            <a:off x="415636" y="1473884"/>
            <a:ext cx="4071042" cy="3305202"/>
          </a:xfrm>
          <a:prstGeom prst="rect">
            <a:avLst/>
          </a:prstGeom>
        </p:spPr>
      </p:pic>
      <p:sp>
        <p:nvSpPr>
          <p:cNvPr id="5" name="TextBox 4">
            <a:extLst>
              <a:ext uri="{FF2B5EF4-FFF2-40B4-BE49-F238E27FC236}">
                <a16:creationId xmlns:a16="http://schemas.microsoft.com/office/drawing/2014/main" id="{E7D4BC7A-7D51-BDFD-7382-10A56C44F3DE}"/>
              </a:ext>
            </a:extLst>
          </p:cNvPr>
          <p:cNvSpPr txBox="1"/>
          <p:nvPr/>
        </p:nvSpPr>
        <p:spPr>
          <a:xfrm>
            <a:off x="413577" y="1150758"/>
            <a:ext cx="4572000" cy="307777"/>
          </a:xfrm>
          <a:prstGeom prst="rect">
            <a:avLst/>
          </a:prstGeom>
          <a:noFill/>
        </p:spPr>
        <p:txBody>
          <a:bodyPr wrap="square">
            <a:spAutoFit/>
          </a:bodyPr>
          <a:lstStyle/>
          <a:p>
            <a:r>
              <a:rPr lang="en" i="1"/>
              <a:t>wk2example13.html</a:t>
            </a:r>
            <a:endParaRPr lang="en-SG"/>
          </a:p>
        </p:txBody>
      </p:sp>
      <p:sp>
        <p:nvSpPr>
          <p:cNvPr id="8" name="Shape 7">
            <a:extLst>
              <a:ext uri="{FF2B5EF4-FFF2-40B4-BE49-F238E27FC236}">
                <a16:creationId xmlns:a16="http://schemas.microsoft.com/office/drawing/2014/main" id="{21545E5A-7E8D-54AD-67EC-1ED0DA19C0F9}"/>
              </a:ext>
            </a:extLst>
          </p:cNvPr>
          <p:cNvSpPr/>
          <p:nvPr/>
        </p:nvSpPr>
        <p:spPr>
          <a:xfrm>
            <a:off x="4587481" y="1473336"/>
            <a:ext cx="4244819" cy="2495994"/>
          </a:xfrm>
          <a:prstGeom prst="rect">
            <a:avLst/>
          </a:prstGeom>
          <a:solidFill>
            <a:srgbClr val="FFFFFF"/>
          </a:solidFill>
          <a:ln w="19050">
            <a:solidFill>
              <a:srgbClr val="CBD5E1"/>
            </a:solidFill>
            <a:prstDash val="solid"/>
          </a:ln>
        </p:spPr>
        <p:txBody>
          <a:bodyPr/>
          <a:lstStyle/>
          <a:p>
            <a:endParaRPr lang="en-SG"/>
          </a:p>
        </p:txBody>
      </p:sp>
      <p:sp>
        <p:nvSpPr>
          <p:cNvPr id="9" name="Shape 8">
            <a:extLst>
              <a:ext uri="{FF2B5EF4-FFF2-40B4-BE49-F238E27FC236}">
                <a16:creationId xmlns:a16="http://schemas.microsoft.com/office/drawing/2014/main" id="{4FA8CEB5-FDC9-BEFB-3C50-970326F88751}"/>
              </a:ext>
            </a:extLst>
          </p:cNvPr>
          <p:cNvSpPr/>
          <p:nvPr/>
        </p:nvSpPr>
        <p:spPr>
          <a:xfrm>
            <a:off x="4587481" y="1477605"/>
            <a:ext cx="4244819" cy="287579"/>
          </a:xfrm>
          <a:prstGeom prst="rect">
            <a:avLst/>
          </a:prstGeom>
          <a:solidFill>
            <a:srgbClr val="E2E8F0"/>
          </a:solidFill>
          <a:ln/>
        </p:spPr>
        <p:txBody>
          <a:bodyPr/>
          <a:lstStyle/>
          <a:p>
            <a:endParaRPr lang="en-SG"/>
          </a:p>
        </p:txBody>
      </p:sp>
      <p:sp>
        <p:nvSpPr>
          <p:cNvPr id="10" name="Text 9">
            <a:extLst>
              <a:ext uri="{FF2B5EF4-FFF2-40B4-BE49-F238E27FC236}">
                <a16:creationId xmlns:a16="http://schemas.microsoft.com/office/drawing/2014/main" id="{D06DF858-1DA3-27DB-8BD8-13493FE97877}"/>
              </a:ext>
            </a:extLst>
          </p:cNvPr>
          <p:cNvSpPr/>
          <p:nvPr/>
        </p:nvSpPr>
        <p:spPr>
          <a:xfrm>
            <a:off x="4587481" y="1497992"/>
            <a:ext cx="2823141" cy="201168"/>
          </a:xfrm>
          <a:prstGeom prst="rect">
            <a:avLst/>
          </a:prstGeom>
          <a:noFill/>
          <a:ln/>
        </p:spPr>
        <p:txBody>
          <a:bodyPr wrap="square" rtlCol="0" anchor="ctr"/>
          <a:lstStyle/>
          <a:p>
            <a:pPr marL="0" indent="0">
              <a:buNone/>
            </a:pPr>
            <a:r>
              <a:rPr lang="en-US" sz="800">
                <a:solidFill>
                  <a:srgbClr val="94A3B8"/>
                </a:solidFill>
                <a:latin typeface="Calibri" pitchFamily="34" charset="0"/>
                <a:ea typeface="Calibri" pitchFamily="34" charset="-122"/>
                <a:cs typeface="Calibri" pitchFamily="34" charset="-120"/>
              </a:rPr>
              <a:t>● ● ●  Browser Preview</a:t>
            </a:r>
            <a:endParaRPr lang="en-US" sz="800"/>
          </a:p>
        </p:txBody>
      </p:sp>
      <p:pic>
        <p:nvPicPr>
          <p:cNvPr id="12" name="Picture 11">
            <a:extLst>
              <a:ext uri="{FF2B5EF4-FFF2-40B4-BE49-F238E27FC236}">
                <a16:creationId xmlns:a16="http://schemas.microsoft.com/office/drawing/2014/main" id="{9A19D422-6835-9D92-05C2-E9E40A6170BE}"/>
              </a:ext>
            </a:extLst>
          </p:cNvPr>
          <p:cNvPicPr>
            <a:picLocks noChangeAspect="1"/>
          </p:cNvPicPr>
          <p:nvPr/>
        </p:nvPicPr>
        <p:blipFill>
          <a:blip r:embed="rId4"/>
          <a:stretch>
            <a:fillRect/>
          </a:stretch>
        </p:blipFill>
        <p:spPr>
          <a:xfrm>
            <a:off x="4844859" y="1826208"/>
            <a:ext cx="2945714" cy="198081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3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Decorating Margin</a:t>
            </a:r>
            <a:endParaRPr/>
          </a:p>
        </p:txBody>
      </p:sp>
      <p:sp>
        <p:nvSpPr>
          <p:cNvPr id="276" name="Google Shape;276;p32"/>
          <p:cNvSpPr txBox="1">
            <a:spLocks noGrp="1"/>
          </p:cNvSpPr>
          <p:nvPr>
            <p:ph type="body" idx="1"/>
          </p:nvPr>
        </p:nvSpPr>
        <p:spPr>
          <a:xfrm>
            <a:off x="6117780" y="1346906"/>
            <a:ext cx="2865860" cy="3090977"/>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600"/>
              </a:spcBef>
              <a:spcAft>
                <a:spcPts val="0"/>
              </a:spcAft>
              <a:buSzPts val="1400"/>
              <a:buNone/>
            </a:pPr>
            <a:r>
              <a:rPr lang="en" sz="1000"/>
              <a:t>Use margin-top, margin-right, margin-bottom, margin-left properties to create space around (top, right, bottom, and left) an element’s content, outside of its border.</a:t>
            </a:r>
          </a:p>
          <a:p>
            <a:pPr marL="0" lvl="0" indent="0">
              <a:spcBef>
                <a:spcPts val="600"/>
              </a:spcBef>
              <a:buNone/>
            </a:pPr>
            <a:r>
              <a:rPr lang="en-US" sz="1000"/>
              <a:t>Additionally, property values can be specified with the following.</a:t>
            </a:r>
          </a:p>
          <a:p>
            <a:pPr lvl="0">
              <a:spcBef>
                <a:spcPts val="600"/>
              </a:spcBef>
            </a:pPr>
            <a:r>
              <a:rPr lang="en-US" sz="1000"/>
              <a:t>auto - horizontally center the element within its container</a:t>
            </a:r>
          </a:p>
          <a:p>
            <a:pPr lvl="0"/>
            <a:r>
              <a:rPr lang="en-US" sz="1000"/>
              <a:t>length - specifies a margin in </a:t>
            </a:r>
            <a:r>
              <a:rPr lang="en-US" sz="1000" err="1"/>
              <a:t>px</a:t>
            </a:r>
            <a:r>
              <a:rPr lang="en-US" sz="1000"/>
              <a:t>, pt, cm, etc.</a:t>
            </a:r>
          </a:p>
          <a:p>
            <a:pPr lvl="0"/>
            <a:r>
              <a:rPr lang="en-US" sz="1000"/>
              <a:t>% - specifies a margin in % of the width of the containing element</a:t>
            </a:r>
          </a:p>
          <a:p>
            <a:pPr lvl="0"/>
            <a:r>
              <a:rPr lang="en-US" sz="1000"/>
              <a:t>inherit - specifies that the margin should be inherited from the parent element</a:t>
            </a:r>
          </a:p>
          <a:p>
            <a:pPr marL="0" lvl="0" indent="0" algn="l" rtl="0">
              <a:lnSpc>
                <a:spcPct val="115000"/>
              </a:lnSpc>
              <a:spcBef>
                <a:spcPts val="600"/>
              </a:spcBef>
              <a:spcAft>
                <a:spcPts val="0"/>
              </a:spcAft>
              <a:buSzPts val="1400"/>
              <a:buNone/>
            </a:pPr>
            <a:endParaRPr sz="1000">
              <a:latin typeface="Arial"/>
              <a:ea typeface="Arial"/>
              <a:cs typeface="Arial"/>
              <a:sym typeface="Arial"/>
            </a:endParaRPr>
          </a:p>
          <a:p>
            <a:pPr marL="0" lvl="0" indent="0" algn="l" rtl="0">
              <a:lnSpc>
                <a:spcPct val="115000"/>
              </a:lnSpc>
              <a:spcBef>
                <a:spcPts val="600"/>
              </a:spcBef>
              <a:spcAft>
                <a:spcPts val="0"/>
              </a:spcAft>
              <a:buSzPts val="1400"/>
              <a:buNone/>
            </a:pPr>
            <a:endParaRPr sz="1000"/>
          </a:p>
          <a:p>
            <a:pPr marL="0" lvl="0" indent="0" algn="l" rtl="0">
              <a:lnSpc>
                <a:spcPct val="115000"/>
              </a:lnSpc>
              <a:spcBef>
                <a:spcPts val="600"/>
              </a:spcBef>
              <a:spcAft>
                <a:spcPts val="1600"/>
              </a:spcAft>
              <a:buSzPts val="1400"/>
              <a:buNone/>
            </a:pPr>
            <a:endParaRPr sz="1000"/>
          </a:p>
        </p:txBody>
      </p:sp>
      <p:pic>
        <p:nvPicPr>
          <p:cNvPr id="5" name="Picture 4">
            <a:extLst>
              <a:ext uri="{FF2B5EF4-FFF2-40B4-BE49-F238E27FC236}">
                <a16:creationId xmlns:a16="http://schemas.microsoft.com/office/drawing/2014/main" id="{E05716E7-825D-38FE-F65B-F61119282B43}"/>
              </a:ext>
            </a:extLst>
          </p:cNvPr>
          <p:cNvPicPr>
            <a:picLocks noChangeAspect="1"/>
          </p:cNvPicPr>
          <p:nvPr/>
        </p:nvPicPr>
        <p:blipFill>
          <a:blip r:embed="rId3"/>
          <a:stretch>
            <a:fillRect/>
          </a:stretch>
        </p:blipFill>
        <p:spPr>
          <a:xfrm>
            <a:off x="429492" y="1532777"/>
            <a:ext cx="2266116" cy="3202260"/>
          </a:xfrm>
          <a:prstGeom prst="rect">
            <a:avLst/>
          </a:prstGeom>
        </p:spPr>
      </p:pic>
      <p:sp>
        <p:nvSpPr>
          <p:cNvPr id="6" name="Shape 7">
            <a:extLst>
              <a:ext uri="{FF2B5EF4-FFF2-40B4-BE49-F238E27FC236}">
                <a16:creationId xmlns:a16="http://schemas.microsoft.com/office/drawing/2014/main" id="{4ACF4516-3596-8817-09D1-CC369D13F664}"/>
              </a:ext>
            </a:extLst>
          </p:cNvPr>
          <p:cNvSpPr/>
          <p:nvPr/>
        </p:nvSpPr>
        <p:spPr>
          <a:xfrm>
            <a:off x="2890301" y="1532777"/>
            <a:ext cx="3189449" cy="2495994"/>
          </a:xfrm>
          <a:prstGeom prst="rect">
            <a:avLst/>
          </a:prstGeom>
          <a:solidFill>
            <a:srgbClr val="FFFFFF"/>
          </a:solidFill>
          <a:ln w="19050">
            <a:solidFill>
              <a:srgbClr val="CBD5E1"/>
            </a:solidFill>
            <a:prstDash val="solid"/>
          </a:ln>
        </p:spPr>
        <p:txBody>
          <a:bodyPr/>
          <a:lstStyle/>
          <a:p>
            <a:endParaRPr lang="en-SG"/>
          </a:p>
        </p:txBody>
      </p:sp>
      <p:sp>
        <p:nvSpPr>
          <p:cNvPr id="7" name="Shape 8">
            <a:extLst>
              <a:ext uri="{FF2B5EF4-FFF2-40B4-BE49-F238E27FC236}">
                <a16:creationId xmlns:a16="http://schemas.microsoft.com/office/drawing/2014/main" id="{2C2F0291-63E0-222E-6CED-495D494D1A55}"/>
              </a:ext>
            </a:extLst>
          </p:cNvPr>
          <p:cNvSpPr/>
          <p:nvPr/>
        </p:nvSpPr>
        <p:spPr>
          <a:xfrm>
            <a:off x="2890301" y="1537046"/>
            <a:ext cx="3189449" cy="287579"/>
          </a:xfrm>
          <a:prstGeom prst="rect">
            <a:avLst/>
          </a:prstGeom>
          <a:solidFill>
            <a:srgbClr val="E2E8F0"/>
          </a:solidFill>
          <a:ln/>
        </p:spPr>
        <p:txBody>
          <a:bodyPr/>
          <a:lstStyle/>
          <a:p>
            <a:endParaRPr lang="en-SG"/>
          </a:p>
        </p:txBody>
      </p:sp>
      <p:sp>
        <p:nvSpPr>
          <p:cNvPr id="8" name="Text 9">
            <a:extLst>
              <a:ext uri="{FF2B5EF4-FFF2-40B4-BE49-F238E27FC236}">
                <a16:creationId xmlns:a16="http://schemas.microsoft.com/office/drawing/2014/main" id="{32D3FEFF-C676-B685-87EA-4E5431DA5389}"/>
              </a:ext>
            </a:extLst>
          </p:cNvPr>
          <p:cNvSpPr/>
          <p:nvPr/>
        </p:nvSpPr>
        <p:spPr>
          <a:xfrm>
            <a:off x="2890301" y="1557433"/>
            <a:ext cx="2823141" cy="201168"/>
          </a:xfrm>
          <a:prstGeom prst="rect">
            <a:avLst/>
          </a:prstGeom>
          <a:noFill/>
          <a:ln/>
        </p:spPr>
        <p:txBody>
          <a:bodyPr wrap="square" rtlCol="0" anchor="ctr"/>
          <a:lstStyle/>
          <a:p>
            <a:pPr marL="0" indent="0">
              <a:buNone/>
            </a:pPr>
            <a:r>
              <a:rPr lang="en-US" sz="800">
                <a:solidFill>
                  <a:srgbClr val="94A3B8"/>
                </a:solidFill>
                <a:latin typeface="Calibri" pitchFamily="34" charset="0"/>
                <a:ea typeface="Calibri" pitchFamily="34" charset="-122"/>
                <a:cs typeface="Calibri" pitchFamily="34" charset="-120"/>
              </a:rPr>
              <a:t>● ● ●  Browser Preview</a:t>
            </a:r>
            <a:endParaRPr lang="en-US" sz="800"/>
          </a:p>
        </p:txBody>
      </p:sp>
      <p:pic>
        <p:nvPicPr>
          <p:cNvPr id="278" name="Google Shape;278;p32"/>
          <p:cNvPicPr preferRelativeResize="0"/>
          <p:nvPr/>
        </p:nvPicPr>
        <p:blipFill rotWithShape="1">
          <a:blip r:embed="rId4">
            <a:alphaModFix/>
          </a:blip>
          <a:srcRect/>
          <a:stretch/>
        </p:blipFill>
        <p:spPr>
          <a:xfrm>
            <a:off x="3071381" y="1859898"/>
            <a:ext cx="1057275" cy="2133600"/>
          </a:xfrm>
          <a:prstGeom prst="rect">
            <a:avLst/>
          </a:prstGeom>
          <a:noFill/>
          <a:ln>
            <a:noFill/>
          </a:ln>
        </p:spPr>
      </p:pic>
      <p:grpSp>
        <p:nvGrpSpPr>
          <p:cNvPr id="9" name="Group 8">
            <a:extLst>
              <a:ext uri="{FF2B5EF4-FFF2-40B4-BE49-F238E27FC236}">
                <a16:creationId xmlns:a16="http://schemas.microsoft.com/office/drawing/2014/main" id="{CD47EF39-0EE9-7715-0F50-D87BF0B460B2}"/>
              </a:ext>
            </a:extLst>
          </p:cNvPr>
          <p:cNvGrpSpPr/>
          <p:nvPr/>
        </p:nvGrpSpPr>
        <p:grpSpPr>
          <a:xfrm>
            <a:off x="2890301" y="4423528"/>
            <a:ext cx="6093339" cy="311509"/>
            <a:chOff x="366240" y="4390137"/>
            <a:chExt cx="11429517" cy="502920"/>
          </a:xfrm>
        </p:grpSpPr>
        <p:sp>
          <p:nvSpPr>
            <p:cNvPr id="10" name="Shape 19">
              <a:extLst>
                <a:ext uri="{FF2B5EF4-FFF2-40B4-BE49-F238E27FC236}">
                  <a16:creationId xmlns:a16="http://schemas.microsoft.com/office/drawing/2014/main" id="{EE018471-AD3D-CAB0-A8A7-6D6B6EBD6BA4}"/>
                </a:ext>
              </a:extLst>
            </p:cNvPr>
            <p:cNvSpPr/>
            <p:nvPr/>
          </p:nvSpPr>
          <p:spPr>
            <a:xfrm>
              <a:off x="366240" y="4390137"/>
              <a:ext cx="11429517" cy="502920"/>
            </a:xfrm>
            <a:prstGeom prst="rect">
              <a:avLst/>
            </a:prstGeom>
            <a:solidFill>
              <a:srgbClr val="DBEAFE"/>
            </a:solidFill>
            <a:ln w="12700">
              <a:solidFill>
                <a:srgbClr val="2563EB"/>
              </a:solidFill>
              <a:prstDash val="solid"/>
            </a:ln>
          </p:spPr>
          <p:txBody>
            <a:bodyPr/>
            <a:lstStyle/>
            <a:p>
              <a:endParaRPr lang="en-SG"/>
            </a:p>
          </p:txBody>
        </p:sp>
        <p:sp>
          <p:nvSpPr>
            <p:cNvPr id="11" name="Text 4">
              <a:extLst>
                <a:ext uri="{FF2B5EF4-FFF2-40B4-BE49-F238E27FC236}">
                  <a16:creationId xmlns:a16="http://schemas.microsoft.com/office/drawing/2014/main" id="{6F20C201-C84C-A2BA-E577-E7E6944B0F16}"/>
                </a:ext>
              </a:extLst>
            </p:cNvPr>
            <p:cNvSpPr/>
            <p:nvPr/>
          </p:nvSpPr>
          <p:spPr>
            <a:xfrm>
              <a:off x="439391" y="4481577"/>
              <a:ext cx="11356366" cy="320040"/>
            </a:xfrm>
            <a:prstGeom prst="rect">
              <a:avLst/>
            </a:prstGeom>
            <a:noFill/>
            <a:ln/>
          </p:spPr>
          <p:txBody>
            <a:bodyPr wrap="square" rtlCol="0" anchor="ctr"/>
            <a:lstStyle/>
            <a:p>
              <a:r>
                <a:rPr lang="en-US" sz="1200">
                  <a:solidFill>
                    <a:srgbClr val="2563EB"/>
                  </a:solidFill>
                  <a:latin typeface="Calibri" pitchFamily="34" charset="0"/>
                  <a:ea typeface="Calibri" pitchFamily="34" charset="-122"/>
                  <a:cs typeface="Calibri" pitchFamily="34" charset="-120"/>
                </a:rPr>
                <a:t>💡</a:t>
              </a:r>
              <a:r>
                <a:rPr lang="en-SG" sz="1200">
                  <a:solidFill>
                    <a:srgbClr val="2563EB"/>
                  </a:solidFill>
                  <a:latin typeface="Calibri" pitchFamily="34" charset="0"/>
                  <a:ea typeface="Calibri" pitchFamily="34" charset="-122"/>
                  <a:cs typeface="Calibri" pitchFamily="34" charset="-120"/>
                </a:rPr>
                <a:t>Setting “margin: 30px 50px” achieves the same effect as “margin: 30px 50px 30px 50px”.</a:t>
              </a:r>
              <a:endParaRPr lang="en-GB" sz="1100"/>
            </a:p>
          </p:txBody>
        </p:sp>
      </p:grpSp>
      <p:sp>
        <p:nvSpPr>
          <p:cNvPr id="12" name="TextBox 11">
            <a:extLst>
              <a:ext uri="{FF2B5EF4-FFF2-40B4-BE49-F238E27FC236}">
                <a16:creationId xmlns:a16="http://schemas.microsoft.com/office/drawing/2014/main" id="{19CD1170-EE5D-81B7-E231-8594C4817D73}"/>
              </a:ext>
            </a:extLst>
          </p:cNvPr>
          <p:cNvSpPr txBox="1"/>
          <p:nvPr/>
        </p:nvSpPr>
        <p:spPr>
          <a:xfrm>
            <a:off x="429492" y="1193018"/>
            <a:ext cx="2191416" cy="307777"/>
          </a:xfrm>
          <a:prstGeom prst="rect">
            <a:avLst/>
          </a:prstGeom>
          <a:noFill/>
        </p:spPr>
        <p:txBody>
          <a:bodyPr wrap="square">
            <a:spAutoFit/>
          </a:bodyPr>
          <a:lstStyle/>
          <a:p>
            <a:r>
              <a:rPr lang="en" i="1"/>
              <a:t>wk2example14.html</a:t>
            </a:r>
            <a:endParaRPr lang="en-SG"/>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Decorating Padding</a:t>
            </a:r>
            <a:endParaRPr/>
          </a:p>
        </p:txBody>
      </p:sp>
      <p:sp>
        <p:nvSpPr>
          <p:cNvPr id="291" name="Google Shape;291;p34"/>
          <p:cNvSpPr txBox="1">
            <a:spLocks noGrp="1"/>
          </p:cNvSpPr>
          <p:nvPr>
            <p:ph type="body" idx="1"/>
          </p:nvPr>
        </p:nvSpPr>
        <p:spPr>
          <a:xfrm>
            <a:off x="6248342" y="1387889"/>
            <a:ext cx="2583957" cy="1958569"/>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600"/>
              </a:spcBef>
              <a:spcAft>
                <a:spcPts val="0"/>
              </a:spcAft>
              <a:buSzPts val="1400"/>
              <a:buNone/>
            </a:pPr>
            <a:r>
              <a:rPr lang="en"/>
              <a:t>Use </a:t>
            </a:r>
            <a:r>
              <a:rPr lang="en">
                <a:solidFill>
                  <a:srgbClr val="0070C0"/>
                </a:solidFill>
              </a:rPr>
              <a:t>padding-top</a:t>
            </a:r>
            <a:r>
              <a:rPr lang="en"/>
              <a:t>, </a:t>
            </a:r>
            <a:r>
              <a:rPr lang="en">
                <a:solidFill>
                  <a:srgbClr val="0070C0"/>
                </a:solidFill>
              </a:rPr>
              <a:t>padding-right</a:t>
            </a:r>
            <a:r>
              <a:rPr lang="en"/>
              <a:t>, </a:t>
            </a:r>
            <a:r>
              <a:rPr lang="en">
                <a:solidFill>
                  <a:srgbClr val="0070C0"/>
                </a:solidFill>
              </a:rPr>
              <a:t>padding-bottom</a:t>
            </a:r>
            <a:r>
              <a:rPr lang="en"/>
              <a:t>, </a:t>
            </a:r>
            <a:r>
              <a:rPr lang="en">
                <a:solidFill>
                  <a:srgbClr val="0070C0"/>
                </a:solidFill>
              </a:rPr>
              <a:t>padding-left</a:t>
            </a:r>
            <a:r>
              <a:rPr lang="en"/>
              <a:t> properties to generate space around an element's content, inside the border.</a:t>
            </a:r>
            <a:endParaRPr/>
          </a:p>
          <a:p>
            <a:pPr marL="0" marR="0" lvl="0" indent="0" algn="l" rtl="0">
              <a:lnSpc>
                <a:spcPct val="115000"/>
              </a:lnSpc>
              <a:spcBef>
                <a:spcPts val="600"/>
              </a:spcBef>
              <a:spcAft>
                <a:spcPts val="600"/>
              </a:spcAft>
              <a:buSzPts val="1400"/>
              <a:buNone/>
            </a:pPr>
            <a:endParaRPr/>
          </a:p>
        </p:txBody>
      </p:sp>
      <p:pic>
        <p:nvPicPr>
          <p:cNvPr id="3" name="Picture 2">
            <a:extLst>
              <a:ext uri="{FF2B5EF4-FFF2-40B4-BE49-F238E27FC236}">
                <a16:creationId xmlns:a16="http://schemas.microsoft.com/office/drawing/2014/main" id="{DB1A7C07-2DF0-ABFB-6059-7F2BDCB66D85}"/>
              </a:ext>
            </a:extLst>
          </p:cNvPr>
          <p:cNvPicPr>
            <a:picLocks noChangeAspect="1"/>
          </p:cNvPicPr>
          <p:nvPr/>
        </p:nvPicPr>
        <p:blipFill>
          <a:blip r:embed="rId3"/>
          <a:stretch>
            <a:fillRect/>
          </a:stretch>
        </p:blipFill>
        <p:spPr>
          <a:xfrm>
            <a:off x="440182" y="1544366"/>
            <a:ext cx="2281526" cy="3034859"/>
          </a:xfrm>
          <a:prstGeom prst="rect">
            <a:avLst/>
          </a:prstGeom>
        </p:spPr>
      </p:pic>
      <p:sp>
        <p:nvSpPr>
          <p:cNvPr id="5" name="TextBox 4">
            <a:extLst>
              <a:ext uri="{FF2B5EF4-FFF2-40B4-BE49-F238E27FC236}">
                <a16:creationId xmlns:a16="http://schemas.microsoft.com/office/drawing/2014/main" id="{E04D4196-625B-A440-5A2D-795F9694E8FA}"/>
              </a:ext>
            </a:extLst>
          </p:cNvPr>
          <p:cNvSpPr txBox="1"/>
          <p:nvPr/>
        </p:nvSpPr>
        <p:spPr>
          <a:xfrm>
            <a:off x="403992" y="1225225"/>
            <a:ext cx="4572000" cy="307777"/>
          </a:xfrm>
          <a:prstGeom prst="rect">
            <a:avLst/>
          </a:prstGeom>
          <a:noFill/>
        </p:spPr>
        <p:txBody>
          <a:bodyPr wrap="square">
            <a:spAutoFit/>
          </a:bodyPr>
          <a:lstStyle/>
          <a:p>
            <a:r>
              <a:rPr lang="en" i="1"/>
              <a:t>wk2example15.html</a:t>
            </a:r>
            <a:endParaRPr lang="en-SG"/>
          </a:p>
        </p:txBody>
      </p:sp>
      <p:sp>
        <p:nvSpPr>
          <p:cNvPr id="8" name="Rectangle 7">
            <a:extLst>
              <a:ext uri="{FF2B5EF4-FFF2-40B4-BE49-F238E27FC236}">
                <a16:creationId xmlns:a16="http://schemas.microsoft.com/office/drawing/2014/main" id="{07A182AA-9DAE-FC04-71AD-3242C4897E51}"/>
              </a:ext>
            </a:extLst>
          </p:cNvPr>
          <p:cNvSpPr/>
          <p:nvPr/>
        </p:nvSpPr>
        <p:spPr>
          <a:xfrm>
            <a:off x="1288473" y="3332018"/>
            <a:ext cx="1052945" cy="159327"/>
          </a:xfrm>
          <a:prstGeom prst="rect">
            <a:avLst/>
          </a:prstGeom>
          <a:noFill/>
          <a:ln w="127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Shape 7">
            <a:extLst>
              <a:ext uri="{FF2B5EF4-FFF2-40B4-BE49-F238E27FC236}">
                <a16:creationId xmlns:a16="http://schemas.microsoft.com/office/drawing/2014/main" id="{968A5C0A-343B-9477-6330-02E1FCBE6C9A}"/>
              </a:ext>
            </a:extLst>
          </p:cNvPr>
          <p:cNvSpPr/>
          <p:nvPr/>
        </p:nvSpPr>
        <p:spPr>
          <a:xfrm>
            <a:off x="2890301" y="1532776"/>
            <a:ext cx="3189449" cy="3023055"/>
          </a:xfrm>
          <a:prstGeom prst="rect">
            <a:avLst/>
          </a:prstGeom>
          <a:solidFill>
            <a:srgbClr val="FFFFFF"/>
          </a:solidFill>
          <a:ln w="19050">
            <a:solidFill>
              <a:srgbClr val="CBD5E1"/>
            </a:solidFill>
            <a:prstDash val="solid"/>
          </a:ln>
        </p:spPr>
        <p:txBody>
          <a:bodyPr/>
          <a:lstStyle/>
          <a:p>
            <a:endParaRPr lang="en-SG"/>
          </a:p>
        </p:txBody>
      </p:sp>
      <p:sp>
        <p:nvSpPr>
          <p:cNvPr id="10" name="Shape 8">
            <a:extLst>
              <a:ext uri="{FF2B5EF4-FFF2-40B4-BE49-F238E27FC236}">
                <a16:creationId xmlns:a16="http://schemas.microsoft.com/office/drawing/2014/main" id="{F42FF50F-2B7C-870E-8453-4309408EC9E5}"/>
              </a:ext>
            </a:extLst>
          </p:cNvPr>
          <p:cNvSpPr/>
          <p:nvPr/>
        </p:nvSpPr>
        <p:spPr>
          <a:xfrm>
            <a:off x="2890301" y="1537046"/>
            <a:ext cx="3189449" cy="287579"/>
          </a:xfrm>
          <a:prstGeom prst="rect">
            <a:avLst/>
          </a:prstGeom>
          <a:solidFill>
            <a:srgbClr val="E2E8F0"/>
          </a:solidFill>
          <a:ln/>
        </p:spPr>
        <p:txBody>
          <a:bodyPr/>
          <a:lstStyle/>
          <a:p>
            <a:endParaRPr lang="en-SG"/>
          </a:p>
        </p:txBody>
      </p:sp>
      <p:sp>
        <p:nvSpPr>
          <p:cNvPr id="11" name="Text 9">
            <a:extLst>
              <a:ext uri="{FF2B5EF4-FFF2-40B4-BE49-F238E27FC236}">
                <a16:creationId xmlns:a16="http://schemas.microsoft.com/office/drawing/2014/main" id="{568275DD-06B6-1D8C-BECC-34D1EF5A72F9}"/>
              </a:ext>
            </a:extLst>
          </p:cNvPr>
          <p:cNvSpPr/>
          <p:nvPr/>
        </p:nvSpPr>
        <p:spPr>
          <a:xfrm>
            <a:off x="2890301" y="1557433"/>
            <a:ext cx="2823141" cy="201168"/>
          </a:xfrm>
          <a:prstGeom prst="rect">
            <a:avLst/>
          </a:prstGeom>
          <a:noFill/>
          <a:ln/>
        </p:spPr>
        <p:txBody>
          <a:bodyPr wrap="square" rtlCol="0" anchor="ctr"/>
          <a:lstStyle/>
          <a:p>
            <a:pPr marL="0" indent="0">
              <a:buNone/>
            </a:pPr>
            <a:r>
              <a:rPr lang="en-US" sz="800">
                <a:solidFill>
                  <a:srgbClr val="94A3B8"/>
                </a:solidFill>
                <a:latin typeface="Calibri" pitchFamily="34" charset="0"/>
                <a:ea typeface="Calibri" pitchFamily="34" charset="-122"/>
                <a:cs typeface="Calibri" pitchFamily="34" charset="-120"/>
              </a:rPr>
              <a:t>● ● ●  Browser Preview</a:t>
            </a:r>
            <a:endParaRPr lang="en-US" sz="800"/>
          </a:p>
        </p:txBody>
      </p:sp>
      <p:pic>
        <p:nvPicPr>
          <p:cNvPr id="293" name="Google Shape;293;p34"/>
          <p:cNvPicPr preferRelativeResize="0"/>
          <p:nvPr/>
        </p:nvPicPr>
        <p:blipFill rotWithShape="1">
          <a:blip r:embed="rId4">
            <a:alphaModFix/>
          </a:blip>
          <a:srcRect/>
          <a:stretch/>
        </p:blipFill>
        <p:spPr>
          <a:xfrm>
            <a:off x="3093749" y="1840554"/>
            <a:ext cx="952500" cy="25527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F2028-D376-165C-08F6-767980AFDAAA}"/>
              </a:ext>
            </a:extLst>
          </p:cNvPr>
          <p:cNvSpPr>
            <a:spLocks noGrp="1"/>
          </p:cNvSpPr>
          <p:nvPr>
            <p:ph type="title"/>
          </p:nvPr>
        </p:nvSpPr>
        <p:spPr/>
        <p:txBody>
          <a:bodyPr/>
          <a:lstStyle/>
          <a:p>
            <a:r>
              <a:rPr lang="en-SG"/>
              <a:t>Box-sizing</a:t>
            </a:r>
            <a:endParaRPr lang="en-GB"/>
          </a:p>
        </p:txBody>
      </p:sp>
      <p:sp>
        <p:nvSpPr>
          <p:cNvPr id="3" name="Text Placeholder 2">
            <a:extLst>
              <a:ext uri="{FF2B5EF4-FFF2-40B4-BE49-F238E27FC236}">
                <a16:creationId xmlns:a16="http://schemas.microsoft.com/office/drawing/2014/main" id="{7274658F-8462-AF3F-10A6-09E1646B3768}"/>
              </a:ext>
            </a:extLst>
          </p:cNvPr>
          <p:cNvSpPr>
            <a:spLocks noGrp="1"/>
          </p:cNvSpPr>
          <p:nvPr>
            <p:ph type="body" idx="1"/>
          </p:nvPr>
        </p:nvSpPr>
        <p:spPr/>
        <p:txBody>
          <a:bodyPr/>
          <a:lstStyle/>
          <a:p>
            <a:r>
              <a:rPr lang="en-GB"/>
              <a:t>It controls </a:t>
            </a:r>
            <a:r>
              <a:rPr lang="en-GB" b="1"/>
              <a:t>how an element’s total size is calculated</a:t>
            </a:r>
            <a:r>
              <a:rPr lang="en-GB"/>
              <a:t> — whether padding and borders are </a:t>
            </a:r>
            <a:r>
              <a:rPr lang="en-GB" b="1"/>
              <a:t>inside</a:t>
            </a:r>
            <a:r>
              <a:rPr lang="en-GB"/>
              <a:t> or </a:t>
            </a:r>
            <a:r>
              <a:rPr lang="en-GB" b="1"/>
              <a:t>outside</a:t>
            </a:r>
            <a:r>
              <a:rPr lang="en-GB"/>
              <a:t> the width/height you set.</a:t>
            </a:r>
          </a:p>
        </p:txBody>
      </p:sp>
      <p:graphicFrame>
        <p:nvGraphicFramePr>
          <p:cNvPr id="5" name="Table 4">
            <a:extLst>
              <a:ext uri="{FF2B5EF4-FFF2-40B4-BE49-F238E27FC236}">
                <a16:creationId xmlns:a16="http://schemas.microsoft.com/office/drawing/2014/main" id="{A432CAC4-6E6E-6BFF-B271-72B1DB67E1D3}"/>
              </a:ext>
            </a:extLst>
          </p:cNvPr>
          <p:cNvGraphicFramePr>
            <a:graphicFrameLocks noGrp="1"/>
          </p:cNvGraphicFramePr>
          <p:nvPr>
            <p:extLst>
              <p:ext uri="{D42A27DB-BD31-4B8C-83A1-F6EECF244321}">
                <p14:modId xmlns:p14="http://schemas.microsoft.com/office/powerpoint/2010/main" val="3499076187"/>
              </p:ext>
            </p:extLst>
          </p:nvPr>
        </p:nvGraphicFramePr>
        <p:xfrm>
          <a:off x="893331" y="2761420"/>
          <a:ext cx="7357338" cy="1219200"/>
        </p:xfrm>
        <a:graphic>
          <a:graphicData uri="http://schemas.openxmlformats.org/drawingml/2006/table">
            <a:tbl>
              <a:tblPr/>
              <a:tblGrid>
                <a:gridCol w="1454660">
                  <a:extLst>
                    <a:ext uri="{9D8B030D-6E8A-4147-A177-3AD203B41FA5}">
                      <a16:colId xmlns:a16="http://schemas.microsoft.com/office/drawing/2014/main" val="4077596441"/>
                    </a:ext>
                  </a:extLst>
                </a:gridCol>
                <a:gridCol w="2331462">
                  <a:extLst>
                    <a:ext uri="{9D8B030D-6E8A-4147-A177-3AD203B41FA5}">
                      <a16:colId xmlns:a16="http://schemas.microsoft.com/office/drawing/2014/main" val="1723726857"/>
                    </a:ext>
                  </a:extLst>
                </a:gridCol>
                <a:gridCol w="3571216">
                  <a:extLst>
                    <a:ext uri="{9D8B030D-6E8A-4147-A177-3AD203B41FA5}">
                      <a16:colId xmlns:a16="http://schemas.microsoft.com/office/drawing/2014/main" val="1891089190"/>
                    </a:ext>
                  </a:extLst>
                </a:gridCol>
              </a:tblGrid>
              <a:tr h="304160">
                <a:tc>
                  <a:txBody>
                    <a:bodyPr/>
                    <a:lstStyle/>
                    <a:p>
                      <a:endParaRPr lang="en-GB"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GB" sz="1400">
                          <a:solidFill>
                            <a:schemeClr val="bg1"/>
                          </a:solidFill>
                        </a:rPr>
                        <a:t>content-box </a:t>
                      </a:r>
                      <a:r>
                        <a:rPr lang="en-GB" sz="1400" i="1">
                          <a:solidFill>
                            <a:schemeClr val="bg1"/>
                          </a:solidFill>
                        </a:rPr>
                        <a:t>(default)</a:t>
                      </a:r>
                      <a:endParaRPr lang="en-GB" sz="140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r>
                        <a:rPr lang="en-GB" sz="1400">
                          <a:solidFill>
                            <a:schemeClr val="bg1"/>
                          </a:solidFill>
                        </a:rPr>
                        <a:t>border-box </a:t>
                      </a:r>
                      <a:r>
                        <a:rPr lang="en-GB" sz="1400" i="1">
                          <a:solidFill>
                            <a:schemeClr val="bg1"/>
                          </a:solidFill>
                        </a:rPr>
                        <a:t>(recommended)</a:t>
                      </a:r>
                      <a:endParaRPr lang="en-GB" sz="140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39992169"/>
                  </a:ext>
                </a:extLst>
              </a:tr>
              <a:tr h="304160">
                <a:tc>
                  <a:txBody>
                    <a:bodyPr/>
                    <a:lstStyle/>
                    <a:p>
                      <a:r>
                        <a:rPr lang="en-GB" sz="1400"/>
                        <a:t>Width includes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400" b="1"/>
                        <a:t>Content only</a:t>
                      </a:r>
                      <a:endParaRPr lang="en-GB"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400" b="1"/>
                        <a:t>Content + Padding + Border</a:t>
                      </a:r>
                      <a:endParaRPr lang="en-GB"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549578"/>
                  </a:ext>
                </a:extLst>
              </a:tr>
              <a:tr h="304160">
                <a:tc>
                  <a:txBody>
                    <a:bodyPr/>
                    <a:lstStyle/>
                    <a:p>
                      <a:r>
                        <a:rPr lang="en-GB" sz="1400"/>
                        <a:t>Total 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GB" sz="1400"/>
                        <a:t>width + padding + border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GB" sz="1400"/>
                        <a:t>width (everything included)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58332607"/>
                  </a:ext>
                </a:extLst>
              </a:tr>
              <a:tr h="304160">
                <a:tc>
                  <a:txBody>
                    <a:bodyPr/>
                    <a:lstStyle/>
                    <a:p>
                      <a:r>
                        <a:rPr lang="en-GB" sz="1400"/>
                        <a:t>Result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400"/>
                        <a:t>May </a:t>
                      </a:r>
                      <a:r>
                        <a:rPr lang="en-GB" sz="1400" b="1"/>
                        <a:t>overflow</a:t>
                      </a:r>
                      <a:r>
                        <a:rPr lang="en-GB" sz="1400"/>
                        <a:t> container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sz="1400" b="1"/>
                        <a:t>Stays within</a:t>
                      </a:r>
                      <a:r>
                        <a:rPr lang="en-GB" sz="1400"/>
                        <a:t> set 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0166343"/>
                  </a:ext>
                </a:extLst>
              </a:tr>
            </a:tbl>
          </a:graphicData>
        </a:graphic>
      </p:graphicFrame>
      <p:grpSp>
        <p:nvGrpSpPr>
          <p:cNvPr id="4" name="Group 3">
            <a:extLst>
              <a:ext uri="{FF2B5EF4-FFF2-40B4-BE49-F238E27FC236}">
                <a16:creationId xmlns:a16="http://schemas.microsoft.com/office/drawing/2014/main" id="{B3290549-751B-960A-D2FB-523BF725C032}"/>
              </a:ext>
            </a:extLst>
          </p:cNvPr>
          <p:cNvGrpSpPr/>
          <p:nvPr/>
        </p:nvGrpSpPr>
        <p:grpSpPr>
          <a:xfrm>
            <a:off x="2972464" y="4267716"/>
            <a:ext cx="2929571" cy="311509"/>
            <a:chOff x="-1498574" y="4390137"/>
            <a:chExt cx="11429519" cy="502920"/>
          </a:xfrm>
        </p:grpSpPr>
        <p:sp>
          <p:nvSpPr>
            <p:cNvPr id="6" name="Shape 19">
              <a:extLst>
                <a:ext uri="{FF2B5EF4-FFF2-40B4-BE49-F238E27FC236}">
                  <a16:creationId xmlns:a16="http://schemas.microsoft.com/office/drawing/2014/main" id="{58CF8691-CD5D-443D-905A-2522B23A5AB7}"/>
                </a:ext>
              </a:extLst>
            </p:cNvPr>
            <p:cNvSpPr/>
            <p:nvPr/>
          </p:nvSpPr>
          <p:spPr>
            <a:xfrm>
              <a:off x="-1498574" y="4390137"/>
              <a:ext cx="11429518" cy="502920"/>
            </a:xfrm>
            <a:prstGeom prst="rect">
              <a:avLst/>
            </a:prstGeom>
            <a:solidFill>
              <a:srgbClr val="DBEAFE"/>
            </a:solidFill>
            <a:ln w="12700">
              <a:solidFill>
                <a:srgbClr val="2563EB"/>
              </a:solidFill>
              <a:prstDash val="solid"/>
            </a:ln>
          </p:spPr>
          <p:txBody>
            <a:bodyPr/>
            <a:lstStyle/>
            <a:p>
              <a:endParaRPr lang="en-SG"/>
            </a:p>
          </p:txBody>
        </p:sp>
        <p:sp>
          <p:nvSpPr>
            <p:cNvPr id="7" name="Text 4">
              <a:extLst>
                <a:ext uri="{FF2B5EF4-FFF2-40B4-BE49-F238E27FC236}">
                  <a16:creationId xmlns:a16="http://schemas.microsoft.com/office/drawing/2014/main" id="{055D3D97-44E8-5FCF-0E4E-A7F9B0CCE63E}"/>
                </a:ext>
              </a:extLst>
            </p:cNvPr>
            <p:cNvSpPr/>
            <p:nvPr/>
          </p:nvSpPr>
          <p:spPr>
            <a:xfrm>
              <a:off x="-1425422" y="4481577"/>
              <a:ext cx="11356367" cy="320040"/>
            </a:xfrm>
            <a:prstGeom prst="rect">
              <a:avLst/>
            </a:prstGeom>
            <a:noFill/>
            <a:ln/>
          </p:spPr>
          <p:txBody>
            <a:bodyPr wrap="square" rtlCol="0" anchor="ctr"/>
            <a:lstStyle/>
            <a:p>
              <a:r>
                <a:rPr lang="en-US" sz="1200">
                  <a:solidFill>
                    <a:srgbClr val="2563EB"/>
                  </a:solidFill>
                  <a:latin typeface="Calibri" pitchFamily="34" charset="0"/>
                  <a:ea typeface="Calibri" pitchFamily="34" charset="-122"/>
                  <a:cs typeface="Calibri" pitchFamily="34" charset="-120"/>
                </a:rPr>
                <a:t>💡</a:t>
              </a:r>
              <a:r>
                <a:rPr lang="en-SG" sz="1200">
                  <a:solidFill>
                    <a:srgbClr val="2563EB"/>
                  </a:solidFill>
                  <a:latin typeface="Calibri" pitchFamily="34" charset="0"/>
                  <a:ea typeface="Calibri" pitchFamily="34" charset="-122"/>
                  <a:cs typeface="Calibri" pitchFamily="34" charset="-120"/>
                </a:rPr>
                <a:t>Video to further explain </a:t>
              </a:r>
              <a:r>
                <a:rPr lang="en-GB" sz="1200">
                  <a:hlinkClick r:id="rId2"/>
                </a:rPr>
                <a:t>box-sizing</a:t>
              </a:r>
              <a:r>
                <a:rPr lang="en-SG" sz="1200">
                  <a:solidFill>
                    <a:srgbClr val="2563EB"/>
                  </a:solidFill>
                  <a:latin typeface="Calibri" pitchFamily="34" charset="0"/>
                  <a:ea typeface="Calibri" pitchFamily="34" charset="-122"/>
                  <a:cs typeface="Calibri" pitchFamily="34" charset="-120"/>
                </a:rPr>
                <a:t> </a:t>
              </a:r>
              <a:endParaRPr lang="en-GB" sz="1100"/>
            </a:p>
          </p:txBody>
        </p:sp>
      </p:grpSp>
      <p:sp>
        <p:nvSpPr>
          <p:cNvPr id="8" name="TextBox 7">
            <a:extLst>
              <a:ext uri="{FF2B5EF4-FFF2-40B4-BE49-F238E27FC236}">
                <a16:creationId xmlns:a16="http://schemas.microsoft.com/office/drawing/2014/main" id="{8FB9F8CC-11E5-4B12-2298-E56B82ECDEAF}"/>
              </a:ext>
            </a:extLst>
          </p:cNvPr>
          <p:cNvSpPr txBox="1"/>
          <p:nvPr/>
        </p:nvSpPr>
        <p:spPr>
          <a:xfrm>
            <a:off x="5401357" y="2417686"/>
            <a:ext cx="1759554" cy="307777"/>
          </a:xfrm>
          <a:prstGeom prst="rect">
            <a:avLst/>
          </a:prstGeom>
          <a:noFill/>
        </p:spPr>
        <p:txBody>
          <a:bodyPr wrap="square">
            <a:spAutoFit/>
          </a:bodyPr>
          <a:lstStyle/>
          <a:p>
            <a:r>
              <a:rPr lang="en" i="1" dirty="0"/>
              <a:t>wk2example20.html</a:t>
            </a:r>
            <a:endParaRPr lang="en-SG" dirty="0"/>
          </a:p>
        </p:txBody>
      </p:sp>
    </p:spTree>
    <p:extLst>
      <p:ext uri="{BB962C8B-B14F-4D97-AF65-F5344CB8AC3E}">
        <p14:creationId xmlns:p14="http://schemas.microsoft.com/office/powerpoint/2010/main" val="30334141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4</a:t>
            </a:r>
            <a:endParaRPr/>
          </a:p>
        </p:txBody>
      </p:sp>
      <p:sp>
        <p:nvSpPr>
          <p:cNvPr id="299" name="Google Shape;299;p35"/>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600"/>
              </a:spcBef>
              <a:spcAft>
                <a:spcPts val="0"/>
              </a:spcAft>
              <a:buSzPts val="1400"/>
              <a:buNone/>
            </a:pPr>
            <a:r>
              <a:rPr lang="en"/>
              <a:t>Modify the internal style sheet in ex4.html to make it looks as close as possible to the ones on the right.</a:t>
            </a:r>
            <a:endParaRPr/>
          </a:p>
          <a:p>
            <a:pPr marL="0" marR="0" lvl="0" indent="0" algn="l" rtl="0">
              <a:lnSpc>
                <a:spcPct val="115000"/>
              </a:lnSpc>
              <a:spcBef>
                <a:spcPts val="600"/>
              </a:spcBef>
              <a:spcAft>
                <a:spcPts val="0"/>
              </a:spcAft>
              <a:buSzPts val="1400"/>
              <a:buNone/>
            </a:pPr>
            <a:endParaRPr/>
          </a:p>
          <a:p>
            <a:pPr marL="0" marR="0" lvl="0" indent="0" algn="l" rtl="0">
              <a:lnSpc>
                <a:spcPct val="115000"/>
              </a:lnSpc>
              <a:spcBef>
                <a:spcPts val="600"/>
              </a:spcBef>
              <a:spcAft>
                <a:spcPts val="0"/>
              </a:spcAft>
              <a:buSzPts val="1400"/>
              <a:buNone/>
            </a:pPr>
            <a:r>
              <a:rPr lang="en"/>
              <a:t>Images are in the “img” folder (naruto1.jpg, naruto2.jpg).</a:t>
            </a:r>
            <a:endParaRPr sz="2000">
              <a:latin typeface="Arial"/>
              <a:ea typeface="Arial"/>
              <a:cs typeface="Arial"/>
              <a:sym typeface="Arial"/>
            </a:endParaRPr>
          </a:p>
          <a:p>
            <a:pPr marL="0" lvl="0" indent="0" algn="l" rtl="0">
              <a:lnSpc>
                <a:spcPct val="115000"/>
              </a:lnSpc>
              <a:spcBef>
                <a:spcPts val="600"/>
              </a:spcBef>
              <a:spcAft>
                <a:spcPts val="0"/>
              </a:spcAft>
              <a:buSzPts val="1400"/>
              <a:buNone/>
            </a:pPr>
            <a:endParaRPr/>
          </a:p>
          <a:p>
            <a:pPr marL="0" lvl="0" indent="0" algn="l" rtl="0">
              <a:lnSpc>
                <a:spcPct val="115000"/>
              </a:lnSpc>
              <a:spcBef>
                <a:spcPts val="1600"/>
              </a:spcBef>
              <a:spcAft>
                <a:spcPts val="1600"/>
              </a:spcAft>
              <a:buSzPts val="1400"/>
              <a:buNone/>
            </a:pPr>
            <a:r>
              <a:rPr lang="en"/>
              <a:t>You do not have to use all the selectors if you so prefer. </a:t>
            </a:r>
            <a:endParaRPr/>
          </a:p>
        </p:txBody>
      </p:sp>
      <p:pic>
        <p:nvPicPr>
          <p:cNvPr id="5" name="Picture 4">
            <a:extLst>
              <a:ext uri="{FF2B5EF4-FFF2-40B4-BE49-F238E27FC236}">
                <a16:creationId xmlns:a16="http://schemas.microsoft.com/office/drawing/2014/main" id="{679AFDA7-093F-5F30-1D46-A22D093D6E31}"/>
              </a:ext>
            </a:extLst>
          </p:cNvPr>
          <p:cNvPicPr>
            <a:picLocks noChangeAspect="1"/>
          </p:cNvPicPr>
          <p:nvPr/>
        </p:nvPicPr>
        <p:blipFill>
          <a:blip r:embed="rId3"/>
          <a:stretch>
            <a:fillRect/>
          </a:stretch>
        </p:blipFill>
        <p:spPr>
          <a:xfrm>
            <a:off x="4548803" y="315925"/>
            <a:ext cx="4283497" cy="4754847"/>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Table Styling</a:t>
            </a:r>
            <a:endParaRPr/>
          </a:p>
        </p:txBody>
      </p:sp>
      <p:sp>
        <p:nvSpPr>
          <p:cNvPr id="306" name="Google Shape;306;p36"/>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600"/>
              </a:spcBef>
              <a:spcAft>
                <a:spcPts val="0"/>
              </a:spcAft>
              <a:buSzPts val="1400"/>
              <a:buNone/>
            </a:pPr>
            <a:r>
              <a:rPr lang="en" b="1"/>
              <a:t>Property</a:t>
            </a:r>
            <a:endParaRPr b="1"/>
          </a:p>
          <a:p>
            <a:pPr marL="0" marR="0" lvl="0" indent="0" algn="l" rtl="0">
              <a:lnSpc>
                <a:spcPct val="115000"/>
              </a:lnSpc>
              <a:spcBef>
                <a:spcPts val="600"/>
              </a:spcBef>
              <a:spcAft>
                <a:spcPts val="0"/>
              </a:spcAft>
              <a:buSzPts val="1400"/>
              <a:buNone/>
            </a:pPr>
            <a:r>
              <a:rPr lang="en"/>
              <a:t>border: specify border size, style (solid, dashed, dotted) and color, e.g.,</a:t>
            </a:r>
            <a:endParaRPr/>
          </a:p>
          <a:p>
            <a:pPr marL="457200" marR="0" lvl="0" indent="0" algn="l" rtl="0">
              <a:lnSpc>
                <a:spcPct val="115000"/>
              </a:lnSpc>
              <a:spcBef>
                <a:spcPts val="600"/>
              </a:spcBef>
              <a:spcAft>
                <a:spcPts val="0"/>
              </a:spcAft>
              <a:buSzPts val="1400"/>
              <a:buNone/>
            </a:pPr>
            <a:r>
              <a:rPr lang="en"/>
              <a:t>table, th, td { border: 1px dashed blue; }</a:t>
            </a:r>
            <a:endParaRPr/>
          </a:p>
          <a:p>
            <a:pPr marL="0" marR="0" lvl="0" indent="0" algn="l" rtl="0">
              <a:lnSpc>
                <a:spcPct val="115000"/>
              </a:lnSpc>
              <a:spcBef>
                <a:spcPts val="600"/>
              </a:spcBef>
              <a:spcAft>
                <a:spcPts val="0"/>
              </a:spcAft>
              <a:buSzPts val="1400"/>
              <a:buNone/>
            </a:pPr>
            <a:endParaRPr/>
          </a:p>
          <a:p>
            <a:pPr marL="0" marR="0" lvl="0" indent="0" algn="l" rtl="0">
              <a:lnSpc>
                <a:spcPct val="115000"/>
              </a:lnSpc>
              <a:spcBef>
                <a:spcPts val="600"/>
              </a:spcBef>
              <a:spcAft>
                <a:spcPts val="0"/>
              </a:spcAft>
              <a:buSzPts val="1400"/>
              <a:buNone/>
            </a:pPr>
            <a:r>
              <a:rPr lang="en" b="1"/>
              <a:t>Property</a:t>
            </a:r>
            <a:endParaRPr b="1"/>
          </a:p>
          <a:p>
            <a:pPr marL="0" lvl="0" indent="0" algn="l" rtl="0">
              <a:lnSpc>
                <a:spcPct val="115000"/>
              </a:lnSpc>
              <a:spcBef>
                <a:spcPts val="600"/>
              </a:spcBef>
              <a:spcAft>
                <a:spcPts val="0"/>
              </a:spcAft>
              <a:buSzPts val="1400"/>
              <a:buNone/>
            </a:pPr>
            <a:r>
              <a:rPr lang="en"/>
              <a:t>border-bottom: horizon dividers for &lt;th&gt; and &lt;td&gt;, e.g.,</a:t>
            </a:r>
            <a:endParaRPr/>
          </a:p>
          <a:p>
            <a:pPr marL="0" lvl="0" indent="457200" algn="l" rtl="0">
              <a:lnSpc>
                <a:spcPct val="115000"/>
              </a:lnSpc>
              <a:spcBef>
                <a:spcPts val="600"/>
              </a:spcBef>
              <a:spcAft>
                <a:spcPts val="0"/>
              </a:spcAft>
              <a:buSzPts val="1400"/>
              <a:buNone/>
            </a:pPr>
            <a:r>
              <a:rPr lang="en"/>
              <a:t>th, td { border-bottom: 1px solid black; }</a:t>
            </a:r>
            <a:endParaRPr/>
          </a:p>
          <a:p>
            <a:pPr marL="0" marR="0" lvl="0" indent="0" algn="l" rtl="0">
              <a:lnSpc>
                <a:spcPct val="115000"/>
              </a:lnSpc>
              <a:spcBef>
                <a:spcPts val="600"/>
              </a:spcBef>
              <a:spcAft>
                <a:spcPts val="600"/>
              </a:spcAft>
              <a:buSzPts val="1400"/>
              <a:buNone/>
            </a:pPr>
            <a:endParaRPr/>
          </a:p>
        </p:txBody>
      </p:sp>
      <p:sp>
        <p:nvSpPr>
          <p:cNvPr id="307" name="Google Shape;307;p36"/>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600"/>
              </a:spcBef>
              <a:spcAft>
                <a:spcPts val="0"/>
              </a:spcAft>
              <a:buSzPts val="1400"/>
              <a:buNone/>
            </a:pPr>
            <a:r>
              <a:rPr lang="en" b="1"/>
              <a:t>Property </a:t>
            </a:r>
            <a:endParaRPr b="1"/>
          </a:p>
          <a:p>
            <a:pPr marL="0" lvl="0" indent="0" algn="l" rtl="0">
              <a:lnSpc>
                <a:spcPct val="115000"/>
              </a:lnSpc>
              <a:spcBef>
                <a:spcPts val="600"/>
              </a:spcBef>
              <a:spcAft>
                <a:spcPts val="0"/>
              </a:spcAft>
              <a:buClr>
                <a:schemeClr val="dk1"/>
              </a:buClr>
              <a:buSzPts val="1100"/>
              <a:buFont typeface="Arial"/>
              <a:buNone/>
            </a:pPr>
            <a:r>
              <a:rPr lang="en"/>
              <a:t>border-collapse: collapse into a single border, e.g.,</a:t>
            </a:r>
            <a:endParaRPr/>
          </a:p>
          <a:p>
            <a:pPr marL="0" lvl="0" indent="457200" algn="l" rtl="0">
              <a:lnSpc>
                <a:spcPct val="115000"/>
              </a:lnSpc>
              <a:spcBef>
                <a:spcPts val="600"/>
              </a:spcBef>
              <a:spcAft>
                <a:spcPts val="0"/>
              </a:spcAft>
              <a:buSzPts val="1400"/>
              <a:buNone/>
            </a:pPr>
            <a:r>
              <a:rPr lang="en"/>
              <a:t>table { border-collapse: collapse; }</a:t>
            </a:r>
            <a:endParaRPr/>
          </a:p>
          <a:p>
            <a:pPr marL="0" lvl="0" indent="0" algn="l" rtl="0">
              <a:lnSpc>
                <a:spcPct val="115000"/>
              </a:lnSpc>
              <a:spcBef>
                <a:spcPts val="600"/>
              </a:spcBef>
              <a:spcAft>
                <a:spcPts val="0"/>
              </a:spcAft>
              <a:buSzPts val="1400"/>
              <a:buNone/>
            </a:pPr>
            <a:endParaRPr lang="en" b="1"/>
          </a:p>
          <a:p>
            <a:pPr marL="0" lvl="0" indent="0" algn="l" rtl="0">
              <a:lnSpc>
                <a:spcPct val="115000"/>
              </a:lnSpc>
              <a:spcBef>
                <a:spcPts val="600"/>
              </a:spcBef>
              <a:spcAft>
                <a:spcPts val="0"/>
              </a:spcAft>
              <a:buSzPts val="1400"/>
              <a:buNone/>
            </a:pPr>
            <a:r>
              <a:rPr lang="en" b="1"/>
              <a:t>Property</a:t>
            </a:r>
            <a:endParaRPr b="1"/>
          </a:p>
          <a:p>
            <a:pPr marL="0" lvl="0" indent="0" algn="l" rtl="0">
              <a:lnSpc>
                <a:spcPct val="115000"/>
              </a:lnSpc>
              <a:spcBef>
                <a:spcPts val="600"/>
              </a:spcBef>
              <a:spcAft>
                <a:spcPts val="0"/>
              </a:spcAft>
              <a:buClr>
                <a:schemeClr val="dk1"/>
              </a:buClr>
              <a:buSzPts val="1100"/>
              <a:buFont typeface="Arial"/>
              <a:buNone/>
            </a:pPr>
            <a:r>
              <a:rPr lang="en"/>
              <a:t>tr:hover : highlight table rows on mouse over, e.g.,</a:t>
            </a:r>
            <a:endParaRPr/>
          </a:p>
          <a:p>
            <a:pPr marL="457200" lvl="0" indent="0" algn="l" rtl="0">
              <a:lnSpc>
                <a:spcPct val="115000"/>
              </a:lnSpc>
              <a:spcBef>
                <a:spcPts val="600"/>
              </a:spcBef>
              <a:spcAft>
                <a:spcPts val="0"/>
              </a:spcAft>
              <a:buSzPts val="1400"/>
              <a:buNone/>
            </a:pPr>
            <a:r>
              <a:rPr lang="en"/>
              <a:t>tr:hover { background-color: red; } </a:t>
            </a:r>
            <a:endParaRPr/>
          </a:p>
          <a:p>
            <a:pPr marL="0" lvl="0" indent="0" algn="l" rtl="0">
              <a:lnSpc>
                <a:spcPct val="115000"/>
              </a:lnSpc>
              <a:spcBef>
                <a:spcPts val="600"/>
              </a:spcBef>
              <a:spcAft>
                <a:spcPts val="0"/>
              </a:spcAft>
              <a:buClr>
                <a:schemeClr val="dk1"/>
              </a:buClr>
              <a:buSzPts val="1100"/>
              <a:buFont typeface="Arial"/>
              <a:buNone/>
            </a:pPr>
            <a:endParaRPr/>
          </a:p>
          <a:p>
            <a:pPr marL="0" lvl="0" indent="0" algn="l" rtl="0">
              <a:lnSpc>
                <a:spcPct val="115000"/>
              </a:lnSpc>
              <a:spcBef>
                <a:spcPts val="600"/>
              </a:spcBef>
              <a:spcAft>
                <a:spcPts val="0"/>
              </a:spcAft>
              <a:buSzPts val="1400"/>
              <a:buNone/>
            </a:pPr>
            <a:endParaRPr/>
          </a:p>
          <a:p>
            <a:pPr marL="0" lvl="0" indent="0" algn="l" rtl="0">
              <a:lnSpc>
                <a:spcPct val="115000"/>
              </a:lnSpc>
              <a:spcBef>
                <a:spcPts val="600"/>
              </a:spcBef>
              <a:spcAft>
                <a:spcPts val="1600"/>
              </a:spcAft>
              <a:buSzPts val="1400"/>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C0CBA-710C-5162-7943-13A5D84F77CA}"/>
              </a:ext>
            </a:extLst>
          </p:cNvPr>
          <p:cNvSpPr>
            <a:spLocks noGrp="1"/>
          </p:cNvSpPr>
          <p:nvPr>
            <p:ph type="title"/>
          </p:nvPr>
        </p:nvSpPr>
        <p:spPr/>
        <p:txBody>
          <a:bodyPr/>
          <a:lstStyle/>
          <a:p>
            <a:r>
              <a:rPr lang="en-SG"/>
              <a:t>Table Styling</a:t>
            </a:r>
          </a:p>
        </p:txBody>
      </p:sp>
      <p:pic>
        <p:nvPicPr>
          <p:cNvPr id="6" name="Picture 5">
            <a:extLst>
              <a:ext uri="{FF2B5EF4-FFF2-40B4-BE49-F238E27FC236}">
                <a16:creationId xmlns:a16="http://schemas.microsoft.com/office/drawing/2014/main" id="{A646EBAD-2705-B54B-29F4-DF33CEBC2096}"/>
              </a:ext>
            </a:extLst>
          </p:cNvPr>
          <p:cNvPicPr>
            <a:picLocks noChangeAspect="1"/>
          </p:cNvPicPr>
          <p:nvPr/>
        </p:nvPicPr>
        <p:blipFill>
          <a:blip r:embed="rId2"/>
          <a:stretch>
            <a:fillRect/>
          </a:stretch>
        </p:blipFill>
        <p:spPr>
          <a:xfrm>
            <a:off x="465162" y="1429877"/>
            <a:ext cx="2104000" cy="2220888"/>
          </a:xfrm>
          <a:prstGeom prst="rect">
            <a:avLst/>
          </a:prstGeom>
        </p:spPr>
      </p:pic>
      <p:pic>
        <p:nvPicPr>
          <p:cNvPr id="8" name="Picture 7">
            <a:extLst>
              <a:ext uri="{FF2B5EF4-FFF2-40B4-BE49-F238E27FC236}">
                <a16:creationId xmlns:a16="http://schemas.microsoft.com/office/drawing/2014/main" id="{1999A173-1469-FE55-4ED5-9779E0B267BA}"/>
              </a:ext>
            </a:extLst>
          </p:cNvPr>
          <p:cNvPicPr>
            <a:picLocks noChangeAspect="1"/>
          </p:cNvPicPr>
          <p:nvPr/>
        </p:nvPicPr>
        <p:blipFill>
          <a:blip r:embed="rId3"/>
          <a:stretch>
            <a:fillRect/>
          </a:stretch>
        </p:blipFill>
        <p:spPr>
          <a:xfrm>
            <a:off x="2722418" y="1429877"/>
            <a:ext cx="2719482" cy="3676967"/>
          </a:xfrm>
          <a:prstGeom prst="rect">
            <a:avLst/>
          </a:prstGeom>
        </p:spPr>
      </p:pic>
      <p:sp>
        <p:nvSpPr>
          <p:cNvPr id="9" name="Shape 7">
            <a:extLst>
              <a:ext uri="{FF2B5EF4-FFF2-40B4-BE49-F238E27FC236}">
                <a16:creationId xmlns:a16="http://schemas.microsoft.com/office/drawing/2014/main" id="{BAEED2AD-8743-6788-9045-46A9B71D9209}"/>
              </a:ext>
            </a:extLst>
          </p:cNvPr>
          <p:cNvSpPr/>
          <p:nvPr/>
        </p:nvSpPr>
        <p:spPr>
          <a:xfrm>
            <a:off x="5642851" y="1429877"/>
            <a:ext cx="3189449" cy="3023055"/>
          </a:xfrm>
          <a:prstGeom prst="rect">
            <a:avLst/>
          </a:prstGeom>
          <a:solidFill>
            <a:srgbClr val="FFFFFF"/>
          </a:solidFill>
          <a:ln w="19050">
            <a:solidFill>
              <a:srgbClr val="CBD5E1"/>
            </a:solidFill>
            <a:prstDash val="solid"/>
          </a:ln>
        </p:spPr>
        <p:txBody>
          <a:bodyPr/>
          <a:lstStyle/>
          <a:p>
            <a:endParaRPr lang="en-SG"/>
          </a:p>
        </p:txBody>
      </p:sp>
      <p:sp>
        <p:nvSpPr>
          <p:cNvPr id="10" name="Shape 8">
            <a:extLst>
              <a:ext uri="{FF2B5EF4-FFF2-40B4-BE49-F238E27FC236}">
                <a16:creationId xmlns:a16="http://schemas.microsoft.com/office/drawing/2014/main" id="{76ADA956-A33A-EE73-1D71-D8B004120107}"/>
              </a:ext>
            </a:extLst>
          </p:cNvPr>
          <p:cNvSpPr/>
          <p:nvPr/>
        </p:nvSpPr>
        <p:spPr>
          <a:xfrm>
            <a:off x="5642851" y="1434147"/>
            <a:ext cx="3189449" cy="287579"/>
          </a:xfrm>
          <a:prstGeom prst="rect">
            <a:avLst/>
          </a:prstGeom>
          <a:solidFill>
            <a:srgbClr val="E2E8F0"/>
          </a:solidFill>
          <a:ln/>
        </p:spPr>
        <p:txBody>
          <a:bodyPr/>
          <a:lstStyle/>
          <a:p>
            <a:endParaRPr lang="en-SG"/>
          </a:p>
        </p:txBody>
      </p:sp>
      <p:sp>
        <p:nvSpPr>
          <p:cNvPr id="11" name="Text 9">
            <a:extLst>
              <a:ext uri="{FF2B5EF4-FFF2-40B4-BE49-F238E27FC236}">
                <a16:creationId xmlns:a16="http://schemas.microsoft.com/office/drawing/2014/main" id="{0B6481FF-CF74-9378-30CA-422A387CCA97}"/>
              </a:ext>
            </a:extLst>
          </p:cNvPr>
          <p:cNvSpPr/>
          <p:nvPr/>
        </p:nvSpPr>
        <p:spPr>
          <a:xfrm>
            <a:off x="5642851" y="1454534"/>
            <a:ext cx="2823141" cy="201168"/>
          </a:xfrm>
          <a:prstGeom prst="rect">
            <a:avLst/>
          </a:prstGeom>
          <a:noFill/>
          <a:ln/>
        </p:spPr>
        <p:txBody>
          <a:bodyPr wrap="square" rtlCol="0" anchor="ctr"/>
          <a:lstStyle/>
          <a:p>
            <a:pPr marL="0" indent="0">
              <a:buNone/>
            </a:pPr>
            <a:r>
              <a:rPr lang="en-US" sz="800">
                <a:solidFill>
                  <a:srgbClr val="94A3B8"/>
                </a:solidFill>
                <a:latin typeface="Calibri" pitchFamily="34" charset="0"/>
                <a:ea typeface="Calibri" pitchFamily="34" charset="-122"/>
                <a:cs typeface="Calibri" pitchFamily="34" charset="-120"/>
              </a:rPr>
              <a:t>● ● ●  Browser Preview</a:t>
            </a:r>
            <a:endParaRPr lang="en-US" sz="800"/>
          </a:p>
        </p:txBody>
      </p:sp>
      <p:pic>
        <p:nvPicPr>
          <p:cNvPr id="15" name="Picture 14">
            <a:extLst>
              <a:ext uri="{FF2B5EF4-FFF2-40B4-BE49-F238E27FC236}">
                <a16:creationId xmlns:a16="http://schemas.microsoft.com/office/drawing/2014/main" id="{97F3F65C-9072-356E-242C-C7FB3AF7563B}"/>
              </a:ext>
            </a:extLst>
          </p:cNvPr>
          <p:cNvPicPr>
            <a:picLocks noChangeAspect="1"/>
          </p:cNvPicPr>
          <p:nvPr/>
        </p:nvPicPr>
        <p:blipFill>
          <a:blip r:embed="rId4"/>
          <a:stretch>
            <a:fillRect/>
          </a:stretch>
        </p:blipFill>
        <p:spPr>
          <a:xfrm>
            <a:off x="5796107" y="1938354"/>
            <a:ext cx="2882936" cy="2168225"/>
          </a:xfrm>
          <a:prstGeom prst="rect">
            <a:avLst/>
          </a:prstGeom>
        </p:spPr>
      </p:pic>
      <p:sp>
        <p:nvSpPr>
          <p:cNvPr id="16" name="TextBox 15">
            <a:extLst>
              <a:ext uri="{FF2B5EF4-FFF2-40B4-BE49-F238E27FC236}">
                <a16:creationId xmlns:a16="http://schemas.microsoft.com/office/drawing/2014/main" id="{E6C06689-2A96-1200-649F-7E5EA260BC0F}"/>
              </a:ext>
            </a:extLst>
          </p:cNvPr>
          <p:cNvSpPr txBox="1"/>
          <p:nvPr/>
        </p:nvSpPr>
        <p:spPr>
          <a:xfrm>
            <a:off x="436418" y="1122100"/>
            <a:ext cx="4572000" cy="307777"/>
          </a:xfrm>
          <a:prstGeom prst="rect">
            <a:avLst/>
          </a:prstGeom>
          <a:noFill/>
        </p:spPr>
        <p:txBody>
          <a:bodyPr wrap="square">
            <a:spAutoFit/>
          </a:bodyPr>
          <a:lstStyle/>
          <a:p>
            <a:r>
              <a:rPr lang="en" i="1" dirty="0"/>
              <a:t>wk2example16.html</a:t>
            </a:r>
            <a:endParaRPr lang="en-SG" dirty="0"/>
          </a:p>
        </p:txBody>
      </p:sp>
      <p:sp>
        <p:nvSpPr>
          <p:cNvPr id="17" name="Rectangle 16">
            <a:extLst>
              <a:ext uri="{FF2B5EF4-FFF2-40B4-BE49-F238E27FC236}">
                <a16:creationId xmlns:a16="http://schemas.microsoft.com/office/drawing/2014/main" id="{71703287-7703-2683-22D8-47615B08D9ED}"/>
              </a:ext>
            </a:extLst>
          </p:cNvPr>
          <p:cNvSpPr/>
          <p:nvPr/>
        </p:nvSpPr>
        <p:spPr>
          <a:xfrm>
            <a:off x="637309" y="3200400"/>
            <a:ext cx="1884158" cy="367145"/>
          </a:xfrm>
          <a:prstGeom prst="rect">
            <a:avLst/>
          </a:prstGeom>
          <a:noFill/>
          <a:ln w="127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TextBox 17">
            <a:extLst>
              <a:ext uri="{FF2B5EF4-FFF2-40B4-BE49-F238E27FC236}">
                <a16:creationId xmlns:a16="http://schemas.microsoft.com/office/drawing/2014/main" id="{168BA232-1B87-5081-F0D9-879FF9D794CB}"/>
              </a:ext>
            </a:extLst>
          </p:cNvPr>
          <p:cNvSpPr txBox="1"/>
          <p:nvPr/>
        </p:nvSpPr>
        <p:spPr>
          <a:xfrm>
            <a:off x="465162" y="3906982"/>
            <a:ext cx="1197764" cy="246221"/>
          </a:xfrm>
          <a:prstGeom prst="rect">
            <a:avLst/>
          </a:prstGeom>
          <a:noFill/>
        </p:spPr>
        <p:txBody>
          <a:bodyPr wrap="none" rtlCol="0">
            <a:spAutoFit/>
          </a:bodyPr>
          <a:lstStyle/>
          <a:p>
            <a:r>
              <a:rPr lang="en-SG" sz="1000">
                <a:solidFill>
                  <a:srgbClr val="00B050"/>
                </a:solidFill>
              </a:rPr>
              <a:t>Mouse over effect</a:t>
            </a:r>
          </a:p>
        </p:txBody>
      </p:sp>
      <p:cxnSp>
        <p:nvCxnSpPr>
          <p:cNvPr id="20" name="Straight Arrow Connector 19">
            <a:extLst>
              <a:ext uri="{FF2B5EF4-FFF2-40B4-BE49-F238E27FC236}">
                <a16:creationId xmlns:a16="http://schemas.microsoft.com/office/drawing/2014/main" id="{C9D24D5C-4945-2052-E122-CEA9EDA8D863}"/>
              </a:ext>
            </a:extLst>
          </p:cNvPr>
          <p:cNvCxnSpPr>
            <a:stCxn id="18" idx="0"/>
            <a:endCxn id="6" idx="2"/>
          </p:cNvCxnSpPr>
          <p:nvPr/>
        </p:nvCxnSpPr>
        <p:spPr>
          <a:xfrm flipV="1">
            <a:off x="1064044" y="3567545"/>
            <a:ext cx="515344" cy="339437"/>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22" name="Straight Arrow Connector 21">
            <a:extLst>
              <a:ext uri="{FF2B5EF4-FFF2-40B4-BE49-F238E27FC236}">
                <a16:creationId xmlns:a16="http://schemas.microsoft.com/office/drawing/2014/main" id="{1358DBB0-AE52-D121-E829-3BBD6C2990F1}"/>
              </a:ext>
            </a:extLst>
          </p:cNvPr>
          <p:cNvCxnSpPr>
            <a:stCxn id="18" idx="3"/>
          </p:cNvCxnSpPr>
          <p:nvPr/>
        </p:nvCxnSpPr>
        <p:spPr>
          <a:xfrm flipV="1">
            <a:off x="1662926" y="3311236"/>
            <a:ext cx="4197547" cy="718857"/>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0352163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5: </a:t>
            </a:r>
            <a:endParaRPr/>
          </a:p>
        </p:txBody>
      </p:sp>
      <p:sp>
        <p:nvSpPr>
          <p:cNvPr id="314" name="Google Shape;314;p37"/>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SzPts val="1800"/>
              <a:buNone/>
            </a:pPr>
            <a:r>
              <a:rPr lang="en"/>
              <a:t>Given ex5.html, provide an external CSS style sheet named ex5.css so that the page looks like the one below. Note that the table stretches to the full width of the page. Do not worry about the exact color. </a:t>
            </a:r>
            <a:endParaRPr/>
          </a:p>
        </p:txBody>
      </p:sp>
      <p:pic>
        <p:nvPicPr>
          <p:cNvPr id="3" name="Picture 2">
            <a:extLst>
              <a:ext uri="{FF2B5EF4-FFF2-40B4-BE49-F238E27FC236}">
                <a16:creationId xmlns:a16="http://schemas.microsoft.com/office/drawing/2014/main" id="{7B15629E-C351-F00B-CF92-5CE295942B6A}"/>
              </a:ext>
            </a:extLst>
          </p:cNvPr>
          <p:cNvPicPr>
            <a:picLocks noChangeAspect="1"/>
          </p:cNvPicPr>
          <p:nvPr/>
        </p:nvPicPr>
        <p:blipFill>
          <a:blip r:embed="rId3"/>
          <a:stretch>
            <a:fillRect/>
          </a:stretch>
        </p:blipFill>
        <p:spPr>
          <a:xfrm>
            <a:off x="145142" y="2203506"/>
            <a:ext cx="9144000" cy="2939994"/>
          </a:xfrm>
          <a:prstGeom prst="rect">
            <a:avLst/>
          </a:prstGeom>
        </p:spPr>
      </p:pic>
      <p:sp>
        <p:nvSpPr>
          <p:cNvPr id="2" name="TextBox 1">
            <a:extLst>
              <a:ext uri="{FF2B5EF4-FFF2-40B4-BE49-F238E27FC236}">
                <a16:creationId xmlns:a16="http://schemas.microsoft.com/office/drawing/2014/main" id="{3C9C79A7-3DDF-0D30-F700-594695BAC658}"/>
              </a:ext>
            </a:extLst>
          </p:cNvPr>
          <p:cNvSpPr txBox="1"/>
          <p:nvPr/>
        </p:nvSpPr>
        <p:spPr>
          <a:xfrm>
            <a:off x="3043908" y="3344616"/>
            <a:ext cx="662787" cy="184666"/>
          </a:xfrm>
          <a:prstGeom prst="rect">
            <a:avLst/>
          </a:prstGeom>
          <a:solidFill>
            <a:schemeClr val="bg1"/>
          </a:solidFill>
        </p:spPr>
        <p:txBody>
          <a:bodyPr wrap="square" rtlCol="0">
            <a:spAutoFit/>
          </a:bodyPr>
          <a:lstStyle/>
          <a:p>
            <a:r>
              <a:rPr lang="en-SG" sz="600">
                <a:latin typeface="Cambria" panose="02040503050406030204" pitchFamily="18" charset="0"/>
                <a:ea typeface="Cambria" panose="02040503050406030204" pitchFamily="18" charset="0"/>
              </a:rPr>
              <a:t>40% width</a:t>
            </a:r>
            <a:endParaRPr lang="en-GB" sz="60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BF1F9330-4CE2-8B5D-FDA0-25BA1514B64D}"/>
              </a:ext>
            </a:extLst>
          </p:cNvPr>
          <p:cNvSpPr txBox="1"/>
          <p:nvPr/>
        </p:nvSpPr>
        <p:spPr>
          <a:xfrm>
            <a:off x="3508333" y="3074784"/>
            <a:ext cx="2417618" cy="230832"/>
          </a:xfrm>
          <a:prstGeom prst="rect">
            <a:avLst/>
          </a:prstGeom>
          <a:noFill/>
        </p:spPr>
        <p:txBody>
          <a:bodyPr wrap="square" rtlCol="0">
            <a:spAutoFit/>
          </a:bodyPr>
          <a:lstStyle/>
          <a:p>
            <a:r>
              <a:rPr lang="en-SG" sz="900"/>
              <a:t>5 </a:t>
            </a:r>
            <a:r>
              <a:rPr lang="en-SG" sz="900" err="1"/>
              <a:t>px</a:t>
            </a:r>
            <a:r>
              <a:rPr lang="en-SG" sz="900"/>
              <a:t> spacing for all table cells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Link Properties</a:t>
            </a:r>
            <a:endParaRPr/>
          </a:p>
        </p:txBody>
      </p:sp>
      <p:sp>
        <p:nvSpPr>
          <p:cNvPr id="335" name="Google Shape;335;p40"/>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Links can be styled with any CSS property (e.g. color, font-family, background, etc.).</a:t>
            </a:r>
            <a:endParaRPr/>
          </a:p>
          <a:p>
            <a:pPr marL="0" marR="0" lvl="0" indent="0" algn="l" rtl="0">
              <a:lnSpc>
                <a:spcPct val="115000"/>
              </a:lnSpc>
              <a:spcBef>
                <a:spcPts val="1600"/>
              </a:spcBef>
              <a:spcAft>
                <a:spcPts val="0"/>
              </a:spcAft>
              <a:buSzPts val="1400"/>
              <a:buNone/>
            </a:pPr>
            <a:r>
              <a:rPr lang="en"/>
              <a:t>links can also be styled differently depending on what </a:t>
            </a:r>
            <a:r>
              <a:rPr lang="en" b="1">
                <a:solidFill>
                  <a:srgbClr val="002060"/>
                </a:solidFill>
              </a:rPr>
              <a:t>state</a:t>
            </a:r>
            <a:r>
              <a:rPr lang="en" b="1"/>
              <a:t> </a:t>
            </a:r>
            <a:r>
              <a:rPr lang="en"/>
              <a:t>they are in.</a:t>
            </a:r>
            <a:endParaRPr/>
          </a:p>
          <a:p>
            <a:pPr marL="457200" marR="0" lvl="0" indent="-317500" algn="l" rtl="0">
              <a:lnSpc>
                <a:spcPct val="115000"/>
              </a:lnSpc>
              <a:spcBef>
                <a:spcPts val="1600"/>
              </a:spcBef>
              <a:spcAft>
                <a:spcPts val="0"/>
              </a:spcAft>
              <a:buSzPts val="1400"/>
              <a:buChar char="●"/>
            </a:pPr>
            <a:r>
              <a:rPr lang="en" err="1"/>
              <a:t>a:link</a:t>
            </a:r>
            <a:r>
              <a:rPr lang="en"/>
              <a:t> - a normal, unvisited link</a:t>
            </a:r>
            <a:endParaRPr/>
          </a:p>
          <a:p>
            <a:pPr marL="457200" marR="0" lvl="0" indent="-317500" algn="l" rtl="0">
              <a:lnSpc>
                <a:spcPct val="115000"/>
              </a:lnSpc>
              <a:spcBef>
                <a:spcPts val="0"/>
              </a:spcBef>
              <a:spcAft>
                <a:spcPts val="0"/>
              </a:spcAft>
              <a:buSzPts val="1400"/>
              <a:buChar char="●"/>
            </a:pPr>
            <a:r>
              <a:rPr lang="en" err="1"/>
              <a:t>a:visited</a:t>
            </a:r>
            <a:r>
              <a:rPr lang="en"/>
              <a:t> - a link the user has visited</a:t>
            </a:r>
            <a:endParaRPr/>
          </a:p>
          <a:p>
            <a:pPr marL="457200" marR="0" lvl="0" indent="-317500" algn="l" rtl="0">
              <a:lnSpc>
                <a:spcPct val="115000"/>
              </a:lnSpc>
              <a:spcBef>
                <a:spcPts val="0"/>
              </a:spcBef>
              <a:spcAft>
                <a:spcPts val="0"/>
              </a:spcAft>
              <a:buSzPts val="1400"/>
              <a:buChar char="●"/>
            </a:pPr>
            <a:r>
              <a:rPr lang="en" err="1"/>
              <a:t>a:hover</a:t>
            </a:r>
            <a:r>
              <a:rPr lang="en"/>
              <a:t> - a link when the user mouses over it</a:t>
            </a:r>
            <a:endParaRPr/>
          </a:p>
          <a:p>
            <a:pPr marL="457200" marR="0" lvl="0" indent="-317500" algn="l" rtl="0">
              <a:lnSpc>
                <a:spcPct val="115000"/>
              </a:lnSpc>
              <a:spcBef>
                <a:spcPts val="0"/>
              </a:spcBef>
              <a:spcAft>
                <a:spcPts val="0"/>
              </a:spcAft>
              <a:buSzPts val="1400"/>
              <a:buChar char="●"/>
            </a:pPr>
            <a:r>
              <a:rPr lang="en" err="1"/>
              <a:t>a:active</a:t>
            </a:r>
            <a:r>
              <a:rPr lang="en"/>
              <a:t> - a link at the moment it is clicked</a:t>
            </a:r>
            <a:endParaRPr/>
          </a:p>
          <a:p>
            <a:pPr marL="0" marR="0" lvl="0" indent="0" algn="l" rtl="0">
              <a:lnSpc>
                <a:spcPct val="115000"/>
              </a:lnSpc>
              <a:spcBef>
                <a:spcPts val="1600"/>
              </a:spcBef>
              <a:spcAft>
                <a:spcPts val="1600"/>
              </a:spcAft>
              <a:buSzPts val="1400"/>
              <a:buNone/>
            </a:pPr>
            <a:endParaRPr/>
          </a:p>
        </p:txBody>
      </p:sp>
      <p:sp>
        <p:nvSpPr>
          <p:cNvPr id="336" name="Google Shape;336;p40"/>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 </a:t>
            </a:r>
            <a:r>
              <a:rPr lang="en" i="1"/>
              <a:t>wk2example18.html</a:t>
            </a:r>
            <a:endParaRPr i="1"/>
          </a:p>
          <a:p>
            <a:pPr marL="0" marR="0" lvl="0" indent="0" algn="l" rtl="0">
              <a:lnSpc>
                <a:spcPct val="115000"/>
              </a:lnSpc>
              <a:spcBef>
                <a:spcPts val="1600"/>
              </a:spcBef>
              <a:spcAft>
                <a:spcPts val="0"/>
              </a:spcAft>
              <a:buSzPts val="1400"/>
              <a:buNone/>
            </a:pPr>
            <a:r>
              <a:rPr lang="en"/>
              <a:t>/* unvisited link */</a:t>
            </a:r>
            <a:endParaRPr/>
          </a:p>
          <a:p>
            <a:pPr marL="0" marR="0" lvl="0" indent="0" algn="l" rtl="0">
              <a:lnSpc>
                <a:spcPct val="115000"/>
              </a:lnSpc>
              <a:spcBef>
                <a:spcPts val="0"/>
              </a:spcBef>
              <a:spcAft>
                <a:spcPts val="0"/>
              </a:spcAft>
              <a:buSzPts val="1400"/>
              <a:buNone/>
            </a:pPr>
            <a:r>
              <a:rPr lang="en"/>
              <a:t>a:link { color: red; }</a:t>
            </a:r>
            <a:endParaRPr/>
          </a:p>
          <a:p>
            <a:pPr marL="0" marR="0" lvl="0" indent="0" algn="l" rtl="0">
              <a:lnSpc>
                <a:spcPct val="115000"/>
              </a:lnSpc>
              <a:spcBef>
                <a:spcPts val="0"/>
              </a:spcBef>
              <a:spcAft>
                <a:spcPts val="0"/>
              </a:spcAft>
              <a:buSzPts val="1400"/>
              <a:buNone/>
            </a:pPr>
            <a:r>
              <a:rPr lang="en"/>
              <a:t>/* visited link */</a:t>
            </a:r>
            <a:endParaRPr/>
          </a:p>
          <a:p>
            <a:pPr marL="0" marR="0" lvl="0" indent="0" algn="l" rtl="0">
              <a:lnSpc>
                <a:spcPct val="115000"/>
              </a:lnSpc>
              <a:spcBef>
                <a:spcPts val="0"/>
              </a:spcBef>
              <a:spcAft>
                <a:spcPts val="0"/>
              </a:spcAft>
              <a:buSzPts val="1400"/>
              <a:buNone/>
            </a:pPr>
            <a:r>
              <a:rPr lang="en"/>
              <a:t>a:visited { color: green; }</a:t>
            </a:r>
            <a:endParaRPr/>
          </a:p>
          <a:p>
            <a:pPr marL="0" marR="0" lvl="0" indent="0" algn="l" rtl="0">
              <a:lnSpc>
                <a:spcPct val="115000"/>
              </a:lnSpc>
              <a:spcBef>
                <a:spcPts val="0"/>
              </a:spcBef>
              <a:spcAft>
                <a:spcPts val="0"/>
              </a:spcAft>
              <a:buSzPts val="1400"/>
              <a:buNone/>
            </a:pPr>
            <a:r>
              <a:rPr lang="en"/>
              <a:t>/* mouse over link */</a:t>
            </a:r>
            <a:endParaRPr/>
          </a:p>
          <a:p>
            <a:pPr marL="0" marR="0" lvl="0" indent="0" algn="l" rtl="0">
              <a:lnSpc>
                <a:spcPct val="115000"/>
              </a:lnSpc>
              <a:spcBef>
                <a:spcPts val="0"/>
              </a:spcBef>
              <a:spcAft>
                <a:spcPts val="0"/>
              </a:spcAft>
              <a:buSzPts val="1400"/>
              <a:buNone/>
            </a:pPr>
            <a:r>
              <a:rPr lang="en"/>
              <a:t>a:hover { color: hotpink; }</a:t>
            </a:r>
            <a:endParaRPr/>
          </a:p>
          <a:p>
            <a:pPr marL="0" marR="0" lvl="0" indent="0" algn="l" rtl="0">
              <a:lnSpc>
                <a:spcPct val="115000"/>
              </a:lnSpc>
              <a:spcBef>
                <a:spcPts val="0"/>
              </a:spcBef>
              <a:spcAft>
                <a:spcPts val="0"/>
              </a:spcAft>
              <a:buSzPts val="1400"/>
              <a:buNone/>
            </a:pPr>
            <a:r>
              <a:rPr lang="en"/>
              <a:t>/* selected link */</a:t>
            </a:r>
            <a:endParaRPr/>
          </a:p>
          <a:p>
            <a:pPr marL="0" marR="0" lvl="0" indent="0" algn="l" rtl="0">
              <a:lnSpc>
                <a:spcPct val="115000"/>
              </a:lnSpc>
              <a:spcBef>
                <a:spcPts val="0"/>
              </a:spcBef>
              <a:spcAft>
                <a:spcPts val="0"/>
              </a:spcAft>
              <a:buSzPts val="1400"/>
              <a:buNone/>
            </a:pPr>
            <a:r>
              <a:rPr lang="en"/>
              <a:t>a:active { color: blue; }</a:t>
            </a:r>
            <a:endParaRPr/>
          </a:p>
          <a:p>
            <a:pPr marL="0" marR="0" lvl="0" indent="0" algn="l" rtl="0">
              <a:lnSpc>
                <a:spcPct val="115000"/>
              </a:lnSpc>
              <a:spcBef>
                <a:spcPts val="0"/>
              </a:spcBef>
              <a:spcAft>
                <a:spcPts val="0"/>
              </a:spcAft>
              <a:buSzPts val="1400"/>
              <a:buNone/>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List Properties</a:t>
            </a:r>
            <a:endParaRPr/>
          </a:p>
        </p:txBody>
      </p:sp>
      <p:sp>
        <p:nvSpPr>
          <p:cNvPr id="342" name="Google Shape;342;p41"/>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List style properties can be used to style ordered lists (&lt;ul&gt;) and unordered lists (&lt;ol&gt;):</a:t>
            </a:r>
            <a:endParaRPr/>
          </a:p>
          <a:p>
            <a:pPr marL="457200" marR="0" lvl="0" indent="-317500" algn="l" rtl="0">
              <a:lnSpc>
                <a:spcPct val="115000"/>
              </a:lnSpc>
              <a:spcBef>
                <a:spcPts val="0"/>
              </a:spcBef>
              <a:spcAft>
                <a:spcPts val="0"/>
              </a:spcAft>
              <a:buSzPts val="1400"/>
              <a:buChar char="●"/>
            </a:pPr>
            <a:r>
              <a:rPr lang="en"/>
              <a:t>Set different markers</a:t>
            </a:r>
            <a:endParaRPr/>
          </a:p>
          <a:p>
            <a:pPr marL="457200" marR="0" lvl="0" indent="-317500" algn="l" rtl="0">
              <a:lnSpc>
                <a:spcPct val="115000"/>
              </a:lnSpc>
              <a:spcBef>
                <a:spcPts val="0"/>
              </a:spcBef>
              <a:spcAft>
                <a:spcPts val="0"/>
              </a:spcAft>
              <a:buSzPts val="1400"/>
              <a:buChar char="●"/>
            </a:pPr>
            <a:r>
              <a:rPr lang="en"/>
              <a:t>Set an image as marker</a:t>
            </a:r>
            <a:endParaRPr/>
          </a:p>
          <a:p>
            <a:pPr marL="457200" marR="0" lvl="0" indent="-317500" algn="l" rtl="0">
              <a:lnSpc>
                <a:spcPct val="115000"/>
              </a:lnSpc>
              <a:spcBef>
                <a:spcPts val="0"/>
              </a:spcBef>
              <a:spcAft>
                <a:spcPts val="0"/>
              </a:spcAft>
              <a:buSzPts val="1400"/>
              <a:buChar char="●"/>
            </a:pPr>
            <a:r>
              <a:rPr lang="en"/>
              <a:t>Add background colors</a:t>
            </a:r>
            <a:endParaRPr/>
          </a:p>
          <a:p>
            <a:pPr marL="0" marR="0" lvl="0" indent="0" algn="l" rtl="0">
              <a:lnSpc>
                <a:spcPct val="115000"/>
              </a:lnSpc>
              <a:spcBef>
                <a:spcPts val="0"/>
              </a:spcBef>
              <a:spcAft>
                <a:spcPts val="0"/>
              </a:spcAft>
              <a:buSzPts val="1400"/>
              <a:buNone/>
            </a:pPr>
            <a:endParaRPr/>
          </a:p>
          <a:p>
            <a:pPr marL="0" marR="0" lvl="0" indent="0" algn="l" rtl="0">
              <a:lnSpc>
                <a:spcPct val="115000"/>
              </a:lnSpc>
              <a:spcBef>
                <a:spcPts val="1600"/>
              </a:spcBef>
              <a:spcAft>
                <a:spcPts val="1600"/>
              </a:spcAft>
              <a:buSzPts val="1400"/>
              <a:buNone/>
            </a:pPr>
            <a:endParaRPr/>
          </a:p>
        </p:txBody>
      </p:sp>
      <p:sp>
        <p:nvSpPr>
          <p:cNvPr id="343" name="Google Shape;343;p41"/>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 </a:t>
            </a:r>
            <a:r>
              <a:rPr lang="en" i="1"/>
              <a:t>wk2example19.html</a:t>
            </a:r>
            <a:endParaRPr i="1"/>
          </a:p>
          <a:p>
            <a:pPr marL="0" marR="0" lvl="0" indent="0" algn="l" rtl="0">
              <a:lnSpc>
                <a:spcPct val="115000"/>
              </a:lnSpc>
              <a:spcBef>
                <a:spcPts val="1600"/>
              </a:spcBef>
              <a:spcAft>
                <a:spcPts val="0"/>
              </a:spcAft>
              <a:buSzPts val="1400"/>
              <a:buNone/>
            </a:pPr>
            <a:r>
              <a:rPr lang="en"/>
              <a:t>&lt;ul class="a"&gt;</a:t>
            </a:r>
            <a:endParaRPr/>
          </a:p>
          <a:p>
            <a:pPr marL="0" marR="0" lvl="0" indent="0" algn="l" rtl="0">
              <a:lnSpc>
                <a:spcPct val="115000"/>
              </a:lnSpc>
              <a:spcBef>
                <a:spcPts val="0"/>
              </a:spcBef>
              <a:spcAft>
                <a:spcPts val="0"/>
              </a:spcAft>
              <a:buSzPts val="1400"/>
              <a:buNone/>
            </a:pPr>
            <a:r>
              <a:rPr lang="en"/>
              <a:t>  &lt;li&gt;Coffee&lt;/li&gt;  &lt;li&gt;Tea&lt;/li&gt;</a:t>
            </a:r>
            <a:endParaRPr/>
          </a:p>
          <a:p>
            <a:pPr marL="0" marR="0" lvl="0" indent="0" algn="l" rtl="0">
              <a:lnSpc>
                <a:spcPct val="115000"/>
              </a:lnSpc>
              <a:spcBef>
                <a:spcPts val="0"/>
              </a:spcBef>
              <a:spcAft>
                <a:spcPts val="0"/>
              </a:spcAft>
              <a:buSzPts val="1400"/>
              <a:buNone/>
            </a:pPr>
            <a:r>
              <a:rPr lang="en"/>
              <a:t>&lt;/ul&gt;</a:t>
            </a:r>
            <a:endParaRPr/>
          </a:p>
          <a:p>
            <a:pPr marL="0" marR="0" lvl="0" indent="0" algn="l" rtl="0">
              <a:lnSpc>
                <a:spcPct val="115000"/>
              </a:lnSpc>
              <a:spcBef>
                <a:spcPts val="0"/>
              </a:spcBef>
              <a:spcAft>
                <a:spcPts val="0"/>
              </a:spcAft>
              <a:buSzPts val="1400"/>
              <a:buNone/>
            </a:pPr>
            <a:r>
              <a:rPr lang="en"/>
              <a:t>&lt;</a:t>
            </a:r>
            <a:r>
              <a:rPr lang="en" err="1"/>
              <a:t>ol</a:t>
            </a:r>
            <a:r>
              <a:rPr lang="en"/>
              <a:t> class="c"&gt;</a:t>
            </a:r>
            <a:endParaRPr/>
          </a:p>
          <a:p>
            <a:pPr marL="0" marR="0" lvl="0" indent="0" algn="l" rtl="0">
              <a:lnSpc>
                <a:spcPct val="115000"/>
              </a:lnSpc>
              <a:spcBef>
                <a:spcPts val="0"/>
              </a:spcBef>
              <a:spcAft>
                <a:spcPts val="0"/>
              </a:spcAft>
              <a:buSzPts val="1400"/>
              <a:buNone/>
            </a:pPr>
            <a:r>
              <a:rPr lang="en"/>
              <a:t>  &lt;li&gt;Coffee&lt;/li&gt; &lt;li&gt;Tea&lt;/li&gt;</a:t>
            </a:r>
            <a:endParaRPr/>
          </a:p>
          <a:p>
            <a:pPr marL="0" marR="0" lvl="0" indent="0" algn="l" rtl="0">
              <a:lnSpc>
                <a:spcPct val="115000"/>
              </a:lnSpc>
              <a:spcBef>
                <a:spcPts val="0"/>
              </a:spcBef>
              <a:spcAft>
                <a:spcPts val="0"/>
              </a:spcAft>
              <a:buSzPts val="1400"/>
              <a:buNone/>
            </a:pPr>
            <a:r>
              <a:rPr lang="en"/>
              <a:t>&lt;/</a:t>
            </a:r>
            <a:r>
              <a:rPr lang="en" err="1"/>
              <a:t>ol</a:t>
            </a:r>
            <a:r>
              <a:rPr lang="en"/>
              <a:t>&gt;</a:t>
            </a:r>
            <a:endParaRPr sz="1800">
              <a:latin typeface="Arial"/>
              <a:ea typeface="Arial"/>
              <a:cs typeface="Arial"/>
              <a:sym typeface="Arial"/>
            </a:endParaRPr>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r>
              <a:rPr lang="en" err="1"/>
              <a:t>ul.a</a:t>
            </a:r>
            <a:r>
              <a:rPr lang="en"/>
              <a:t> {  list-style-image: </a:t>
            </a:r>
            <a:r>
              <a:rPr lang="en" err="1"/>
              <a:t>url</a:t>
            </a:r>
            <a:r>
              <a:rPr lang="en"/>
              <a:t>(`</a:t>
            </a:r>
            <a:r>
              <a:rPr lang="en" err="1"/>
              <a:t>img.png</a:t>
            </a:r>
            <a:r>
              <a:rPr lang="en"/>
              <a:t>`); }</a:t>
            </a:r>
            <a:endParaRPr/>
          </a:p>
          <a:p>
            <a:pPr marL="0" marR="0" lvl="0" indent="0" algn="l" rtl="0">
              <a:lnSpc>
                <a:spcPct val="115000"/>
              </a:lnSpc>
              <a:spcBef>
                <a:spcPts val="0"/>
              </a:spcBef>
              <a:spcAft>
                <a:spcPts val="0"/>
              </a:spcAft>
              <a:buSzPts val="1400"/>
              <a:buNone/>
            </a:pPr>
            <a:r>
              <a:rPr lang="en"/>
              <a:t>See: </a:t>
            </a:r>
            <a:r>
              <a:rPr lang="en" u="sng">
                <a:solidFill>
                  <a:schemeClr val="hlink"/>
                </a:solidFill>
                <a:hlinkClick r:id="rId3"/>
              </a:rPr>
              <a:t>Example</a:t>
            </a:r>
            <a:endParaRPr/>
          </a:p>
          <a:p>
            <a:pPr marL="0" marR="0" lvl="0" indent="0" algn="l" rtl="0">
              <a:lnSpc>
                <a:spcPct val="115000"/>
              </a:lnSpc>
              <a:spcBef>
                <a:spcPts val="0"/>
              </a:spcBef>
              <a:spcAft>
                <a:spcPts val="0"/>
              </a:spcAft>
              <a:buSzPts val="1400"/>
              <a:buNone/>
            </a:pPr>
            <a:r>
              <a:rPr lang="en" err="1"/>
              <a:t>ol.c</a:t>
            </a:r>
            <a:r>
              <a:rPr lang="en"/>
              <a:t> {  list-style-type: upper-roman; }</a:t>
            </a:r>
            <a:endParaRPr/>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3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Position Properties</a:t>
            </a:r>
            <a:endParaRPr/>
          </a:p>
        </p:txBody>
      </p:sp>
      <p:sp>
        <p:nvSpPr>
          <p:cNvPr id="321" name="Google Shape;321;p38"/>
          <p:cNvSpPr/>
          <p:nvPr/>
        </p:nvSpPr>
        <p:spPr>
          <a:xfrm>
            <a:off x="6444675" y="4363125"/>
            <a:ext cx="2280900" cy="520200"/>
          </a:xfrm>
          <a:prstGeom prst="wedgeRoundRectCallout">
            <a:avLst>
              <a:gd name="adj1" fmla="val 35375"/>
              <a:gd name="adj2" fmla="val 68918"/>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Example: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1" u="none" strike="noStrike" cap="none">
                <a:solidFill>
                  <a:srgbClr val="000000"/>
                </a:solidFill>
                <a:latin typeface="Arial"/>
                <a:ea typeface="Arial"/>
                <a:cs typeface="Arial"/>
                <a:sym typeface="Arial"/>
              </a:rPr>
              <a:t>wk2example17.html</a:t>
            </a:r>
            <a:endParaRPr sz="1400" b="0" i="1" u="none" strike="noStrike" cap="none">
              <a:solidFill>
                <a:srgbClr val="000000"/>
              </a:solidFill>
              <a:latin typeface="Arial"/>
              <a:ea typeface="Arial"/>
              <a:cs typeface="Arial"/>
              <a:sym typeface="Arial"/>
            </a:endParaRPr>
          </a:p>
        </p:txBody>
      </p:sp>
      <p:graphicFrame>
        <p:nvGraphicFramePr>
          <p:cNvPr id="322" name="Google Shape;322;p38"/>
          <p:cNvGraphicFramePr/>
          <p:nvPr>
            <p:extLst>
              <p:ext uri="{D42A27DB-BD31-4B8C-83A1-F6EECF244321}">
                <p14:modId xmlns:p14="http://schemas.microsoft.com/office/powerpoint/2010/main" val="1970997761"/>
              </p:ext>
            </p:extLst>
          </p:nvPr>
        </p:nvGraphicFramePr>
        <p:xfrm>
          <a:off x="500900" y="1303575"/>
          <a:ext cx="8224650" cy="3017340"/>
        </p:xfrm>
        <a:graphic>
          <a:graphicData uri="http://schemas.openxmlformats.org/drawingml/2006/table">
            <a:tbl>
              <a:tblPr>
                <a:noFill/>
                <a:tableStyleId>{9457DA4B-BAC7-4D48-AA5B-6CF8F0DF2040}</a:tableStyleId>
              </a:tblPr>
              <a:tblGrid>
                <a:gridCol w="928275">
                  <a:extLst>
                    <a:ext uri="{9D8B030D-6E8A-4147-A177-3AD203B41FA5}">
                      <a16:colId xmlns:a16="http://schemas.microsoft.com/office/drawing/2014/main" val="20000"/>
                    </a:ext>
                  </a:extLst>
                </a:gridCol>
                <a:gridCol w="7296375">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bg1"/>
                          </a:solidFill>
                        </a:rPr>
                        <a:t>Value</a:t>
                      </a:r>
                      <a:endParaRPr sz="1400" b="1" u="none" strike="noStrike" cap="none">
                        <a:solidFill>
                          <a:schemeClr val="bg1"/>
                        </a:solidFill>
                      </a:endParaRPr>
                    </a:p>
                  </a:txBody>
                  <a:tcPr marL="91425" marR="91425" marT="91425" marB="91425">
                    <a:solidFill>
                      <a:schemeClr val="accent1"/>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solidFill>
                            <a:schemeClr val="bg1"/>
                          </a:solidFill>
                        </a:rPr>
                        <a:t>Remark</a:t>
                      </a:r>
                      <a:endParaRPr sz="1400" b="1" u="none" strike="noStrike" cap="none">
                        <a:solidFill>
                          <a:schemeClr val="bg1"/>
                        </a:solidFill>
                      </a:endParaRPr>
                    </a:p>
                  </a:txBody>
                  <a:tcPr marL="91425" marR="91425" marT="91425" marB="91425">
                    <a:solidFill>
                      <a:schemeClr val="accent1"/>
                    </a:solidFill>
                  </a:tcP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static </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Default value. Elements render in order, as they appear in the document flow</a:t>
                      </a:r>
                      <a:endParaRPr sz="1400" u="none" strike="noStrike" cap="none"/>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absolute</a:t>
                      </a:r>
                      <a:endParaRPr sz="1400" u="none" strike="noStrike" cap="none"/>
                    </a:p>
                  </a:txBody>
                  <a:tcPr marL="91425" marR="91425" marT="91425" marB="91425">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element is positioned relative to its first positioned (not static) ancestor element</a:t>
                      </a:r>
                      <a:endParaRPr sz="1400" u="none" strike="noStrike" cap="none"/>
                    </a:p>
                  </a:txBody>
                  <a:tcPr marL="91425" marR="91425" marT="91425" marB="91425">
                    <a:solidFill>
                      <a:schemeClr val="bg1">
                        <a:lumMod val="85000"/>
                      </a:schemeClr>
                    </a:solidFill>
                  </a:tcPr>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fixed</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element is positioned relative to the browser window</a:t>
                      </a:r>
                      <a:endParaRPr sz="1400" u="none" strike="noStrike" cap="none"/>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relative</a:t>
                      </a:r>
                      <a:endParaRPr sz="1400" u="none" strike="noStrike" cap="none"/>
                    </a:p>
                  </a:txBody>
                  <a:tcPr marL="91425" marR="91425" marT="91425" marB="91425">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element is positioned relative to its normal position, so "left:20px" adds 20 pixels to the element's LEFT position</a:t>
                      </a:r>
                      <a:endParaRPr sz="1400" u="none" strike="noStrike" cap="none"/>
                    </a:p>
                  </a:txBody>
                  <a:tcPr marL="91425" marR="91425" marT="91425" marB="91425">
                    <a:solidFill>
                      <a:schemeClr val="bg1">
                        <a:lumMod val="85000"/>
                      </a:schemeClr>
                    </a:solidFill>
                  </a:tcPr>
                </a:tc>
                <a:extLst>
                  <a:ext uri="{0D108BD9-81ED-4DB2-BD59-A6C34878D82A}">
                    <a16:rowId xmlns:a16="http://schemas.microsoft.com/office/drawing/2014/main" val="10004"/>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sticky</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The element is positioned based on the user's scroll position. A sticky element toggles between relative and fixed, depending on the scroll position. It is positioned relative until a given offset position is met in the viewport - then it "sticks" in place (like position:fixed).</a:t>
                      </a:r>
                      <a:endParaRPr sz="1400" u="none" strike="noStrike" cap="none"/>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8A5E0-389F-3865-28AF-666F1C8D0D18}"/>
              </a:ext>
            </a:extLst>
          </p:cNvPr>
          <p:cNvSpPr>
            <a:spLocks noGrp="1"/>
          </p:cNvSpPr>
          <p:nvPr>
            <p:ph type="title"/>
          </p:nvPr>
        </p:nvSpPr>
        <p:spPr/>
        <p:txBody>
          <a:bodyPr/>
          <a:lstStyle/>
          <a:p>
            <a:r>
              <a:rPr lang="en-SG"/>
              <a:t>Relative vs Absolute</a:t>
            </a:r>
            <a:endParaRPr lang="en-GB"/>
          </a:p>
        </p:txBody>
      </p:sp>
      <p:sp>
        <p:nvSpPr>
          <p:cNvPr id="3" name="Text Placeholder 2">
            <a:extLst>
              <a:ext uri="{FF2B5EF4-FFF2-40B4-BE49-F238E27FC236}">
                <a16:creationId xmlns:a16="http://schemas.microsoft.com/office/drawing/2014/main" id="{EA572A18-97EE-FFC2-6FC6-4B5CEC293010}"/>
              </a:ext>
            </a:extLst>
          </p:cNvPr>
          <p:cNvSpPr>
            <a:spLocks noGrp="1"/>
          </p:cNvSpPr>
          <p:nvPr>
            <p:ph type="body" idx="1"/>
          </p:nvPr>
        </p:nvSpPr>
        <p:spPr/>
        <p:txBody>
          <a:bodyPr/>
          <a:lstStyle/>
          <a:p>
            <a:r>
              <a:rPr lang="en-GB" dirty="0"/>
              <a:t>A relative positioned element can be moved to any direction by using the properties(offset properties) such as left, right, top and bottom. And the </a:t>
            </a:r>
            <a:r>
              <a:rPr lang="en-GB" dirty="0">
                <a:solidFill>
                  <a:srgbClr val="FF0000"/>
                </a:solidFill>
              </a:rPr>
              <a:t>values provided in those properties is calculated based on the position where the element sits</a:t>
            </a:r>
            <a:r>
              <a:rPr lang="en-GB" dirty="0"/>
              <a:t>. And the </a:t>
            </a:r>
            <a:r>
              <a:rPr lang="en-GB" dirty="0">
                <a:solidFill>
                  <a:srgbClr val="FF0000"/>
                </a:solidFill>
              </a:rPr>
              <a:t>surrounding elements of a relative positioned element </a:t>
            </a:r>
            <a:r>
              <a:rPr lang="en-GB" dirty="0"/>
              <a:t>is aware of its existence in the document flow. So, they </a:t>
            </a:r>
            <a:r>
              <a:rPr lang="en-GB" dirty="0">
                <a:solidFill>
                  <a:srgbClr val="FF0000"/>
                </a:solidFill>
              </a:rPr>
              <a:t>don’t consume the space of the relative positioned element</a:t>
            </a:r>
            <a:r>
              <a:rPr lang="en-GB" dirty="0"/>
              <a:t> after it has been moved to a different position on the page.</a:t>
            </a:r>
          </a:p>
        </p:txBody>
      </p:sp>
      <p:sp>
        <p:nvSpPr>
          <p:cNvPr id="4" name="Text Placeholder 3">
            <a:extLst>
              <a:ext uri="{FF2B5EF4-FFF2-40B4-BE49-F238E27FC236}">
                <a16:creationId xmlns:a16="http://schemas.microsoft.com/office/drawing/2014/main" id="{24937FDF-466B-24C8-0421-2829D73884CC}"/>
              </a:ext>
            </a:extLst>
          </p:cNvPr>
          <p:cNvSpPr>
            <a:spLocks noGrp="1"/>
          </p:cNvSpPr>
          <p:nvPr>
            <p:ph type="body" idx="2"/>
          </p:nvPr>
        </p:nvSpPr>
        <p:spPr/>
        <p:txBody>
          <a:bodyPr/>
          <a:lstStyle/>
          <a:p>
            <a:r>
              <a:rPr lang="en-GB"/>
              <a:t>In absolute positioned element, the </a:t>
            </a:r>
            <a:r>
              <a:rPr lang="en-GB">
                <a:solidFill>
                  <a:srgbClr val="FF0000"/>
                </a:solidFill>
              </a:rPr>
              <a:t>surrounding elements consume the space of the absolute positioned element</a:t>
            </a:r>
            <a:r>
              <a:rPr lang="en-GB"/>
              <a:t>. An absolute positioned element can be moved using properties (offset properties) such as left, right, top and bottom, but the </a:t>
            </a:r>
            <a:r>
              <a:rPr lang="en-GB">
                <a:solidFill>
                  <a:srgbClr val="FF0000"/>
                </a:solidFill>
              </a:rPr>
              <a:t>values provided in those properties are calculated based upon its closest ancestor’s container that has a relative position</a:t>
            </a:r>
            <a:r>
              <a:rPr lang="en-GB"/>
              <a:t>.</a:t>
            </a:r>
          </a:p>
        </p:txBody>
      </p:sp>
      <p:grpSp>
        <p:nvGrpSpPr>
          <p:cNvPr id="6" name="Group 5">
            <a:extLst>
              <a:ext uri="{FF2B5EF4-FFF2-40B4-BE49-F238E27FC236}">
                <a16:creationId xmlns:a16="http://schemas.microsoft.com/office/drawing/2014/main" id="{5B69485A-5357-CADA-D857-94DBDC36B7ED}"/>
              </a:ext>
            </a:extLst>
          </p:cNvPr>
          <p:cNvGrpSpPr/>
          <p:nvPr/>
        </p:nvGrpSpPr>
        <p:grpSpPr>
          <a:xfrm>
            <a:off x="2494482" y="4501470"/>
            <a:ext cx="4910772" cy="368147"/>
            <a:chOff x="-1498574" y="4390137"/>
            <a:chExt cx="11429519" cy="594360"/>
          </a:xfrm>
        </p:grpSpPr>
        <p:sp>
          <p:nvSpPr>
            <p:cNvPr id="7" name="Shape 19">
              <a:extLst>
                <a:ext uri="{FF2B5EF4-FFF2-40B4-BE49-F238E27FC236}">
                  <a16:creationId xmlns:a16="http://schemas.microsoft.com/office/drawing/2014/main" id="{4B3EE7B7-A703-C76A-FFB6-26980F78EE8D}"/>
                </a:ext>
              </a:extLst>
            </p:cNvPr>
            <p:cNvSpPr/>
            <p:nvPr/>
          </p:nvSpPr>
          <p:spPr>
            <a:xfrm>
              <a:off x="-1498574" y="4390137"/>
              <a:ext cx="11429519" cy="594360"/>
            </a:xfrm>
            <a:prstGeom prst="rect">
              <a:avLst/>
            </a:prstGeom>
            <a:solidFill>
              <a:srgbClr val="DBEAFE"/>
            </a:solidFill>
            <a:ln w="12700">
              <a:solidFill>
                <a:srgbClr val="2563EB"/>
              </a:solidFill>
              <a:prstDash val="solid"/>
            </a:ln>
          </p:spPr>
          <p:txBody>
            <a:bodyPr/>
            <a:lstStyle/>
            <a:p>
              <a:endParaRPr lang="en-SG"/>
            </a:p>
          </p:txBody>
        </p:sp>
        <p:sp>
          <p:nvSpPr>
            <p:cNvPr id="8" name="Text 4">
              <a:extLst>
                <a:ext uri="{FF2B5EF4-FFF2-40B4-BE49-F238E27FC236}">
                  <a16:creationId xmlns:a16="http://schemas.microsoft.com/office/drawing/2014/main" id="{685B12EE-6C5C-F50B-374F-499E336CF495}"/>
                </a:ext>
              </a:extLst>
            </p:cNvPr>
            <p:cNvSpPr/>
            <p:nvPr/>
          </p:nvSpPr>
          <p:spPr>
            <a:xfrm>
              <a:off x="-1425423" y="4481577"/>
              <a:ext cx="11356368" cy="502920"/>
            </a:xfrm>
            <a:prstGeom prst="rect">
              <a:avLst/>
            </a:prstGeom>
            <a:noFill/>
            <a:ln/>
          </p:spPr>
          <p:txBody>
            <a:bodyPr wrap="square" rtlCol="0" anchor="ctr"/>
            <a:lstStyle/>
            <a:p>
              <a:r>
                <a:rPr lang="en-US" sz="1200">
                  <a:solidFill>
                    <a:srgbClr val="2563EB"/>
                  </a:solidFill>
                  <a:latin typeface="Calibri" pitchFamily="34" charset="0"/>
                  <a:ea typeface="Calibri" pitchFamily="34" charset="-122"/>
                  <a:cs typeface="Calibri" pitchFamily="34" charset="-120"/>
                </a:rPr>
                <a:t>💡</a:t>
              </a:r>
              <a:r>
                <a:rPr lang="en-SG" sz="1200">
                  <a:solidFill>
                    <a:srgbClr val="2563EB"/>
                  </a:solidFill>
                  <a:latin typeface="Calibri" pitchFamily="34" charset="0"/>
                  <a:ea typeface="Calibri" pitchFamily="34" charset="-122"/>
                  <a:cs typeface="Calibri" pitchFamily="34" charset="-120"/>
                </a:rPr>
                <a:t>Video to further explain </a:t>
              </a:r>
              <a:r>
                <a:rPr lang="en-GB" sz="1200">
                  <a:hlinkClick r:id="rId2"/>
                </a:rPr>
                <a:t>Relative vs Absolute</a:t>
              </a:r>
              <a:endParaRPr lang="en-GB" sz="1200"/>
            </a:p>
            <a:p>
              <a:endParaRPr lang="en-GB" sz="1100"/>
            </a:p>
          </p:txBody>
        </p:sp>
      </p:grpSp>
    </p:spTree>
    <p:extLst>
      <p:ext uri="{BB962C8B-B14F-4D97-AF65-F5344CB8AC3E}">
        <p14:creationId xmlns:p14="http://schemas.microsoft.com/office/powerpoint/2010/main" val="5681439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Overlapping Elements</a:t>
            </a:r>
            <a:endParaRPr/>
          </a:p>
        </p:txBody>
      </p:sp>
      <p:sp>
        <p:nvSpPr>
          <p:cNvPr id="328" name="Google Shape;328;p39"/>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When elements are positioned, they can overlap other elements.</a:t>
            </a:r>
            <a:endParaRPr/>
          </a:p>
          <a:p>
            <a:pPr marL="0" marR="0" lvl="0" indent="0" algn="l" rtl="0">
              <a:lnSpc>
                <a:spcPct val="115000"/>
              </a:lnSpc>
              <a:spcBef>
                <a:spcPts val="1600"/>
              </a:spcBef>
              <a:spcAft>
                <a:spcPts val="0"/>
              </a:spcAft>
              <a:buSzPts val="1400"/>
              <a:buNone/>
            </a:pPr>
            <a:r>
              <a:rPr lang="en"/>
              <a:t>The z-index property specifies the stack order of an element (which element should be placed in front of, or behind, the others).</a:t>
            </a:r>
            <a:endParaRPr/>
          </a:p>
          <a:p>
            <a:pPr marL="0" marR="0" lvl="0" indent="0" algn="l" rtl="0">
              <a:lnSpc>
                <a:spcPct val="115000"/>
              </a:lnSpc>
              <a:spcBef>
                <a:spcPts val="1600"/>
              </a:spcBef>
              <a:spcAft>
                <a:spcPts val="0"/>
              </a:spcAft>
              <a:buSzPts val="1400"/>
              <a:buNone/>
            </a:pPr>
            <a:r>
              <a:rPr lang="en"/>
              <a:t>An element can have a positive or negative stack order</a:t>
            </a:r>
            <a:endParaRPr/>
          </a:p>
          <a:p>
            <a:pPr marL="0" marR="0" lvl="0" indent="0" algn="l" rtl="0">
              <a:lnSpc>
                <a:spcPct val="115000"/>
              </a:lnSpc>
              <a:spcBef>
                <a:spcPts val="1600"/>
              </a:spcBef>
              <a:spcAft>
                <a:spcPts val="1600"/>
              </a:spcAft>
              <a:buSzPts val="1400"/>
              <a:buNone/>
            </a:pPr>
            <a:endParaRPr/>
          </a:p>
        </p:txBody>
      </p:sp>
      <p:sp>
        <p:nvSpPr>
          <p:cNvPr id="329" name="Google Shape;329;p39"/>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a:t>
            </a:r>
            <a:endParaRPr b="1"/>
          </a:p>
          <a:p>
            <a:pPr marL="0" marR="0" lvl="0" indent="0" algn="l" rtl="0">
              <a:lnSpc>
                <a:spcPct val="115000"/>
              </a:lnSpc>
              <a:spcBef>
                <a:spcPts val="1600"/>
              </a:spcBef>
              <a:spcAft>
                <a:spcPts val="0"/>
              </a:spcAft>
              <a:buSzPts val="1400"/>
              <a:buNone/>
            </a:pPr>
            <a:r>
              <a:rPr lang="en" err="1"/>
              <a:t>img</a:t>
            </a:r>
            <a:r>
              <a:rPr lang="en"/>
              <a:t> {</a:t>
            </a:r>
            <a:endParaRPr/>
          </a:p>
          <a:p>
            <a:pPr marL="0" marR="0" lvl="0" indent="0" algn="l" rtl="0">
              <a:lnSpc>
                <a:spcPct val="115000"/>
              </a:lnSpc>
              <a:spcBef>
                <a:spcPts val="0"/>
              </a:spcBef>
              <a:spcAft>
                <a:spcPts val="0"/>
              </a:spcAft>
              <a:buSzPts val="1400"/>
              <a:buNone/>
            </a:pPr>
            <a:r>
              <a:rPr lang="en"/>
              <a:t>  position: absolute;</a:t>
            </a:r>
            <a:endParaRPr/>
          </a:p>
          <a:p>
            <a:pPr marL="0" marR="0" lvl="0" indent="0" algn="l" rtl="0">
              <a:lnSpc>
                <a:spcPct val="115000"/>
              </a:lnSpc>
              <a:spcBef>
                <a:spcPts val="0"/>
              </a:spcBef>
              <a:spcAft>
                <a:spcPts val="0"/>
              </a:spcAft>
              <a:buSzPts val="1400"/>
              <a:buNone/>
            </a:pPr>
            <a:r>
              <a:rPr lang="en"/>
              <a:t>  left: 0px;</a:t>
            </a:r>
            <a:endParaRPr/>
          </a:p>
          <a:p>
            <a:pPr marL="0" marR="0" lvl="0" indent="0" algn="l" rtl="0">
              <a:lnSpc>
                <a:spcPct val="115000"/>
              </a:lnSpc>
              <a:spcBef>
                <a:spcPts val="0"/>
              </a:spcBef>
              <a:spcAft>
                <a:spcPts val="0"/>
              </a:spcAft>
              <a:buSzPts val="1400"/>
              <a:buNone/>
            </a:pPr>
            <a:r>
              <a:rPr lang="en"/>
              <a:t>  top: 0px;</a:t>
            </a:r>
            <a:endParaRPr/>
          </a:p>
          <a:p>
            <a:pPr marL="0" marR="0" lvl="0" indent="0" algn="l" rtl="0">
              <a:lnSpc>
                <a:spcPct val="115000"/>
              </a:lnSpc>
              <a:spcBef>
                <a:spcPts val="0"/>
              </a:spcBef>
              <a:spcAft>
                <a:spcPts val="0"/>
              </a:spcAft>
              <a:buSzPts val="1400"/>
              <a:buNone/>
            </a:pPr>
            <a:r>
              <a:rPr lang="en"/>
              <a:t>  z-index: -1;</a:t>
            </a:r>
            <a:endParaRPr/>
          </a:p>
          <a:p>
            <a:pPr marL="0" marR="0" lvl="0" indent="0" algn="l" rtl="0">
              <a:lnSpc>
                <a:spcPct val="115000"/>
              </a:lnSpc>
              <a:spcBef>
                <a:spcPts val="0"/>
              </a:spcBef>
              <a:spcAft>
                <a:spcPts val="0"/>
              </a:spcAft>
              <a:buSzPts val="1400"/>
              <a:buNone/>
            </a:pPr>
            <a:r>
              <a:rPr lang="en"/>
              <a:t>}</a:t>
            </a:r>
            <a:endParaRPr/>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r>
              <a:rPr lang="en">
                <a:solidFill>
                  <a:schemeClr val="hlink"/>
                </a:solidFill>
                <a:uFill>
                  <a:noFill/>
                </a:uFill>
                <a:hlinkClick r:id="rId3"/>
              </a:rPr>
              <a:t>https://www.w3schools.com/cssref/tryit.asp?filename=trycss_anim_z-index</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8" name="Shape 7">
            <a:extLst>
              <a:ext uri="{FF2B5EF4-FFF2-40B4-BE49-F238E27FC236}">
                <a16:creationId xmlns:a16="http://schemas.microsoft.com/office/drawing/2014/main" id="{A7C7BAF7-CD12-40B0-EE8B-DCCDF185012E}"/>
              </a:ext>
            </a:extLst>
          </p:cNvPr>
          <p:cNvSpPr/>
          <p:nvPr/>
        </p:nvSpPr>
        <p:spPr>
          <a:xfrm>
            <a:off x="4962194" y="1316531"/>
            <a:ext cx="3115006" cy="2987762"/>
          </a:xfrm>
          <a:prstGeom prst="rect">
            <a:avLst/>
          </a:prstGeom>
          <a:solidFill>
            <a:srgbClr val="FFFFFF"/>
          </a:solidFill>
          <a:ln w="19050">
            <a:solidFill>
              <a:srgbClr val="CBD5E1"/>
            </a:solidFill>
            <a:prstDash val="solid"/>
          </a:ln>
        </p:spPr>
        <p:txBody>
          <a:bodyPr/>
          <a:lstStyle/>
          <a:p>
            <a:endParaRPr lang="en-SG"/>
          </a:p>
        </p:txBody>
      </p:sp>
      <p:sp>
        <p:nvSpPr>
          <p:cNvPr id="348" name="Google Shape;348;p4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Styling Forms</a:t>
            </a:r>
            <a:endParaRPr/>
          </a:p>
        </p:txBody>
      </p:sp>
      <p:sp>
        <p:nvSpPr>
          <p:cNvPr id="349" name="Google Shape;349;p42"/>
          <p:cNvSpPr txBox="1">
            <a:spLocks noGrp="1"/>
          </p:cNvSpPr>
          <p:nvPr>
            <p:ph type="body" idx="1"/>
          </p:nvPr>
        </p:nvSpPr>
        <p:spPr>
          <a:xfrm>
            <a:off x="422537" y="3173104"/>
            <a:ext cx="3999900" cy="1699529"/>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600"/>
              </a:spcBef>
              <a:spcAft>
                <a:spcPts val="0"/>
              </a:spcAft>
              <a:buClr>
                <a:schemeClr val="dk1"/>
              </a:buClr>
              <a:buSzPts val="1100"/>
              <a:buFont typeface="Arial"/>
              <a:buNone/>
            </a:pPr>
            <a:r>
              <a:rPr lang="en"/>
              <a:t>We can use various CSS properties we have learnt to improve the look of HTML forms. For styling of buttons and select menu, refer to wk2example21.html</a:t>
            </a:r>
            <a:endParaRPr sz="2400">
              <a:latin typeface="Arial"/>
              <a:ea typeface="Arial"/>
              <a:cs typeface="Arial"/>
              <a:sym typeface="Arial"/>
            </a:endParaRPr>
          </a:p>
          <a:p>
            <a:pPr marL="0" lvl="0" indent="0" algn="l" rtl="0">
              <a:lnSpc>
                <a:spcPct val="115000"/>
              </a:lnSpc>
              <a:spcBef>
                <a:spcPts val="600"/>
              </a:spcBef>
              <a:spcAft>
                <a:spcPts val="1600"/>
              </a:spcAft>
              <a:buSzPts val="1400"/>
              <a:buNone/>
            </a:pPr>
            <a:endParaRPr/>
          </a:p>
        </p:txBody>
      </p:sp>
      <p:pic>
        <p:nvPicPr>
          <p:cNvPr id="5" name="Picture 4">
            <a:extLst>
              <a:ext uri="{FF2B5EF4-FFF2-40B4-BE49-F238E27FC236}">
                <a16:creationId xmlns:a16="http://schemas.microsoft.com/office/drawing/2014/main" id="{84FD9B5C-9578-B5A2-DD07-E7FDA16EA536}"/>
              </a:ext>
            </a:extLst>
          </p:cNvPr>
          <p:cNvPicPr>
            <a:picLocks noChangeAspect="1"/>
          </p:cNvPicPr>
          <p:nvPr/>
        </p:nvPicPr>
        <p:blipFill>
          <a:blip r:embed="rId3"/>
          <a:stretch>
            <a:fillRect/>
          </a:stretch>
        </p:blipFill>
        <p:spPr>
          <a:xfrm>
            <a:off x="399386" y="1618774"/>
            <a:ext cx="2462937" cy="1270652"/>
          </a:xfrm>
          <a:prstGeom prst="rect">
            <a:avLst/>
          </a:prstGeom>
        </p:spPr>
      </p:pic>
      <p:sp>
        <p:nvSpPr>
          <p:cNvPr id="6" name="Shape 8">
            <a:extLst>
              <a:ext uri="{FF2B5EF4-FFF2-40B4-BE49-F238E27FC236}">
                <a16:creationId xmlns:a16="http://schemas.microsoft.com/office/drawing/2014/main" id="{4098DF32-AEB0-2595-85DE-2491529B2ECD}"/>
              </a:ext>
            </a:extLst>
          </p:cNvPr>
          <p:cNvSpPr/>
          <p:nvPr/>
        </p:nvSpPr>
        <p:spPr>
          <a:xfrm>
            <a:off x="4971958" y="1331195"/>
            <a:ext cx="3105242" cy="287579"/>
          </a:xfrm>
          <a:prstGeom prst="rect">
            <a:avLst/>
          </a:prstGeom>
          <a:solidFill>
            <a:srgbClr val="E2E8F0"/>
          </a:solidFill>
          <a:ln/>
        </p:spPr>
        <p:txBody>
          <a:bodyPr/>
          <a:lstStyle/>
          <a:p>
            <a:endParaRPr lang="en-SG"/>
          </a:p>
        </p:txBody>
      </p:sp>
      <p:sp>
        <p:nvSpPr>
          <p:cNvPr id="7" name="Text 9">
            <a:extLst>
              <a:ext uri="{FF2B5EF4-FFF2-40B4-BE49-F238E27FC236}">
                <a16:creationId xmlns:a16="http://schemas.microsoft.com/office/drawing/2014/main" id="{D60BC634-2A3A-FB8E-64E7-4AE806198285}"/>
              </a:ext>
            </a:extLst>
          </p:cNvPr>
          <p:cNvSpPr/>
          <p:nvPr/>
        </p:nvSpPr>
        <p:spPr>
          <a:xfrm>
            <a:off x="4971958" y="1351582"/>
            <a:ext cx="1651567" cy="201168"/>
          </a:xfrm>
          <a:prstGeom prst="rect">
            <a:avLst/>
          </a:prstGeom>
          <a:noFill/>
          <a:ln/>
        </p:spPr>
        <p:txBody>
          <a:bodyPr wrap="square" rtlCol="0" anchor="ctr"/>
          <a:lstStyle/>
          <a:p>
            <a:pPr marL="0" indent="0">
              <a:buNone/>
            </a:pPr>
            <a:r>
              <a:rPr lang="en-US" sz="800">
                <a:solidFill>
                  <a:srgbClr val="94A3B8"/>
                </a:solidFill>
                <a:latin typeface="Calibri" pitchFamily="34" charset="0"/>
                <a:ea typeface="Calibri" pitchFamily="34" charset="-122"/>
                <a:cs typeface="Calibri" pitchFamily="34" charset="-120"/>
              </a:rPr>
              <a:t>● ● ●  Browser Preview</a:t>
            </a:r>
            <a:endParaRPr lang="en-US" sz="800"/>
          </a:p>
        </p:txBody>
      </p:sp>
      <p:pic>
        <p:nvPicPr>
          <p:cNvPr id="10" name="Picture 9">
            <a:extLst>
              <a:ext uri="{FF2B5EF4-FFF2-40B4-BE49-F238E27FC236}">
                <a16:creationId xmlns:a16="http://schemas.microsoft.com/office/drawing/2014/main" id="{03C36C34-0070-DBDF-815D-7F8E8F8DAA26}"/>
              </a:ext>
            </a:extLst>
          </p:cNvPr>
          <p:cNvPicPr>
            <a:picLocks noChangeAspect="1"/>
          </p:cNvPicPr>
          <p:nvPr/>
        </p:nvPicPr>
        <p:blipFill>
          <a:blip r:embed="rId4"/>
          <a:stretch>
            <a:fillRect/>
          </a:stretch>
        </p:blipFill>
        <p:spPr>
          <a:xfrm>
            <a:off x="5227715" y="1746749"/>
            <a:ext cx="2583964" cy="1650001"/>
          </a:xfrm>
          <a:prstGeom prst="rect">
            <a:avLst/>
          </a:prstGeom>
        </p:spPr>
      </p:pic>
      <p:sp>
        <p:nvSpPr>
          <p:cNvPr id="12" name="TextBox 11">
            <a:extLst>
              <a:ext uri="{FF2B5EF4-FFF2-40B4-BE49-F238E27FC236}">
                <a16:creationId xmlns:a16="http://schemas.microsoft.com/office/drawing/2014/main" id="{4593B6C9-468F-0223-C0B7-2AA6F34159F9}"/>
              </a:ext>
            </a:extLst>
          </p:cNvPr>
          <p:cNvSpPr txBox="1"/>
          <p:nvPr/>
        </p:nvSpPr>
        <p:spPr>
          <a:xfrm>
            <a:off x="422537" y="1246670"/>
            <a:ext cx="1759554" cy="307777"/>
          </a:xfrm>
          <a:prstGeom prst="rect">
            <a:avLst/>
          </a:prstGeom>
          <a:noFill/>
        </p:spPr>
        <p:txBody>
          <a:bodyPr wrap="square">
            <a:spAutoFit/>
          </a:bodyPr>
          <a:lstStyle/>
          <a:p>
            <a:r>
              <a:rPr lang="en" i="1" dirty="0"/>
              <a:t>wk2example20.html</a:t>
            </a:r>
            <a:endParaRPr lang="en-SG" dirty="0"/>
          </a:p>
        </p:txBody>
      </p:sp>
      <p:grpSp>
        <p:nvGrpSpPr>
          <p:cNvPr id="25" name="Group 24">
            <a:extLst>
              <a:ext uri="{FF2B5EF4-FFF2-40B4-BE49-F238E27FC236}">
                <a16:creationId xmlns:a16="http://schemas.microsoft.com/office/drawing/2014/main" id="{39188405-D56C-A8A8-9C2E-990E9C257572}"/>
              </a:ext>
            </a:extLst>
          </p:cNvPr>
          <p:cNvGrpSpPr/>
          <p:nvPr/>
        </p:nvGrpSpPr>
        <p:grpSpPr>
          <a:xfrm>
            <a:off x="3113279" y="1619850"/>
            <a:ext cx="1536069" cy="1359255"/>
            <a:chOff x="422537" y="1573195"/>
            <a:chExt cx="1536069" cy="1359255"/>
          </a:xfrm>
        </p:grpSpPr>
        <p:pic>
          <p:nvPicPr>
            <p:cNvPr id="3" name="Picture 2">
              <a:extLst>
                <a:ext uri="{FF2B5EF4-FFF2-40B4-BE49-F238E27FC236}">
                  <a16:creationId xmlns:a16="http://schemas.microsoft.com/office/drawing/2014/main" id="{A139FA57-EE55-FD8C-B06F-49E454831CE8}"/>
                </a:ext>
              </a:extLst>
            </p:cNvPr>
            <p:cNvPicPr>
              <a:picLocks noChangeAspect="1"/>
            </p:cNvPicPr>
            <p:nvPr/>
          </p:nvPicPr>
          <p:blipFill>
            <a:blip r:embed="rId5"/>
            <a:stretch>
              <a:fillRect/>
            </a:stretch>
          </p:blipFill>
          <p:spPr>
            <a:xfrm>
              <a:off x="422537" y="1573195"/>
              <a:ext cx="1536069" cy="1359255"/>
            </a:xfrm>
            <a:prstGeom prst="rect">
              <a:avLst/>
            </a:prstGeom>
          </p:spPr>
        </p:pic>
        <p:sp>
          <p:nvSpPr>
            <p:cNvPr id="14" name="Rectangle 13">
              <a:extLst>
                <a:ext uri="{FF2B5EF4-FFF2-40B4-BE49-F238E27FC236}">
                  <a16:creationId xmlns:a16="http://schemas.microsoft.com/office/drawing/2014/main" id="{F17288DC-C152-D655-3185-BEE9C6C51034}"/>
                </a:ext>
              </a:extLst>
            </p:cNvPr>
            <p:cNvSpPr/>
            <p:nvPr/>
          </p:nvSpPr>
          <p:spPr>
            <a:xfrm>
              <a:off x="824345" y="1618774"/>
              <a:ext cx="507976" cy="182317"/>
            </a:xfrm>
            <a:prstGeom prst="rect">
              <a:avLst/>
            </a:prstGeom>
            <a:noFill/>
            <a:ln w="127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Rectangle 14">
              <a:extLst>
                <a:ext uri="{FF2B5EF4-FFF2-40B4-BE49-F238E27FC236}">
                  <a16:creationId xmlns:a16="http://schemas.microsoft.com/office/drawing/2014/main" id="{DDD0A63D-F806-1E10-4E31-79D4863818FF}"/>
                </a:ext>
              </a:extLst>
            </p:cNvPr>
            <p:cNvSpPr/>
            <p:nvPr/>
          </p:nvSpPr>
          <p:spPr>
            <a:xfrm>
              <a:off x="812812" y="2260653"/>
              <a:ext cx="669624" cy="182317"/>
            </a:xfrm>
            <a:prstGeom prst="rect">
              <a:avLst/>
            </a:prstGeom>
            <a:noFill/>
            <a:ln w="127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grpSp>
      <p:cxnSp>
        <p:nvCxnSpPr>
          <p:cNvPr id="17" name="Straight Arrow Connector 16">
            <a:extLst>
              <a:ext uri="{FF2B5EF4-FFF2-40B4-BE49-F238E27FC236}">
                <a16:creationId xmlns:a16="http://schemas.microsoft.com/office/drawing/2014/main" id="{72ED30CB-237E-0833-614D-9A09FCCBCC88}"/>
              </a:ext>
            </a:extLst>
          </p:cNvPr>
          <p:cNvCxnSpPr>
            <a:cxnSpLocks/>
            <a:stCxn id="14" idx="3"/>
          </p:cNvCxnSpPr>
          <p:nvPr/>
        </p:nvCxnSpPr>
        <p:spPr>
          <a:xfrm>
            <a:off x="4023063" y="1756588"/>
            <a:ext cx="1262446" cy="560045"/>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821DA4A-18B9-E869-8C20-D8D2DB5EDDAB}"/>
              </a:ext>
            </a:extLst>
          </p:cNvPr>
          <p:cNvCxnSpPr>
            <a:cxnSpLocks/>
          </p:cNvCxnSpPr>
          <p:nvPr/>
        </p:nvCxnSpPr>
        <p:spPr>
          <a:xfrm>
            <a:off x="4023063" y="1746749"/>
            <a:ext cx="1262446" cy="946956"/>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FC8331E-34D3-2D8E-4B01-4034E61A9D56}"/>
              </a:ext>
            </a:extLst>
          </p:cNvPr>
          <p:cNvCxnSpPr>
            <a:cxnSpLocks/>
            <a:stCxn id="15" idx="3"/>
          </p:cNvCxnSpPr>
          <p:nvPr/>
        </p:nvCxnSpPr>
        <p:spPr>
          <a:xfrm>
            <a:off x="4173178" y="2398467"/>
            <a:ext cx="1465622" cy="590477"/>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4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6</a:t>
            </a:r>
            <a:endParaRPr/>
          </a:p>
        </p:txBody>
      </p:sp>
      <p:sp>
        <p:nvSpPr>
          <p:cNvPr id="363" name="Google Shape;363;p44"/>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The Ex6 folder contains three webpages:</a:t>
            </a:r>
            <a:endParaRPr/>
          </a:p>
          <a:p>
            <a:pPr marL="457200" marR="0" lvl="0" indent="-317500" algn="l" rtl="0">
              <a:lnSpc>
                <a:spcPct val="115000"/>
              </a:lnSpc>
              <a:spcBef>
                <a:spcPts val="1600"/>
              </a:spcBef>
              <a:spcAft>
                <a:spcPts val="0"/>
              </a:spcAft>
              <a:buSzPts val="1400"/>
              <a:buChar char="●"/>
            </a:pPr>
            <a:r>
              <a:rPr lang="en"/>
              <a:t>Home – mainly text based</a:t>
            </a:r>
            <a:endParaRPr/>
          </a:p>
          <a:p>
            <a:pPr marL="457200" marR="0" lvl="0" indent="-317500" algn="l" rtl="0">
              <a:lnSpc>
                <a:spcPct val="115000"/>
              </a:lnSpc>
              <a:spcBef>
                <a:spcPts val="0"/>
              </a:spcBef>
              <a:spcAft>
                <a:spcPts val="0"/>
              </a:spcAft>
              <a:buSzPts val="1400"/>
              <a:buChar char="●"/>
            </a:pPr>
            <a:r>
              <a:rPr lang="en"/>
              <a:t>Register – a registration form for a user</a:t>
            </a:r>
            <a:endParaRPr/>
          </a:p>
          <a:p>
            <a:pPr marL="457200" marR="0" lvl="0" indent="-317500" algn="l" rtl="0">
              <a:lnSpc>
                <a:spcPct val="115000"/>
              </a:lnSpc>
              <a:spcBef>
                <a:spcPts val="0"/>
              </a:spcBef>
              <a:spcAft>
                <a:spcPts val="0"/>
              </a:spcAft>
              <a:buSzPts val="1400"/>
              <a:buChar char="●"/>
            </a:pPr>
            <a:r>
              <a:rPr lang="en"/>
              <a:t>Feedback – a form which allows a user to submit feedback</a:t>
            </a:r>
            <a:endParaRPr/>
          </a:p>
          <a:p>
            <a:pPr marL="0" marR="0" lvl="0" indent="0" algn="l" rtl="0">
              <a:lnSpc>
                <a:spcPct val="115000"/>
              </a:lnSpc>
              <a:spcBef>
                <a:spcPts val="1600"/>
              </a:spcBef>
              <a:spcAft>
                <a:spcPts val="0"/>
              </a:spcAft>
              <a:buSzPts val="1400"/>
              <a:buNone/>
            </a:pPr>
            <a:r>
              <a:rPr lang="en"/>
              <a:t>Beautify these pages (the best you can) with the help of internal/external style sheets. You are free to add in pictures too.</a:t>
            </a:r>
            <a:endParaRPr/>
          </a:p>
          <a:p>
            <a:pPr marL="0" marR="0" lvl="0" indent="0" algn="l" rtl="0">
              <a:lnSpc>
                <a:spcPct val="115000"/>
              </a:lnSpc>
              <a:spcBef>
                <a:spcPts val="1600"/>
              </a:spcBef>
              <a:spcAft>
                <a:spcPts val="1600"/>
              </a:spcAft>
              <a:buSzPts val="1400"/>
              <a:buNone/>
            </a:pPr>
            <a:r>
              <a:rPr lang="en"/>
              <a:t>Your pages do not have to look like the ones on the right.</a:t>
            </a:r>
            <a:endParaRPr/>
          </a:p>
        </p:txBody>
      </p:sp>
      <p:pic>
        <p:nvPicPr>
          <p:cNvPr id="364" name="Google Shape;364;p44"/>
          <p:cNvPicPr preferRelativeResize="0"/>
          <p:nvPr/>
        </p:nvPicPr>
        <p:blipFill rotWithShape="1">
          <a:blip r:embed="rId3">
            <a:alphaModFix/>
          </a:blip>
          <a:srcRect/>
          <a:stretch/>
        </p:blipFill>
        <p:spPr>
          <a:xfrm>
            <a:off x="4430675" y="1968775"/>
            <a:ext cx="3343275" cy="2019300"/>
          </a:xfrm>
          <a:prstGeom prst="rect">
            <a:avLst/>
          </a:prstGeom>
          <a:noFill/>
          <a:ln>
            <a:noFill/>
          </a:ln>
        </p:spPr>
      </p:pic>
      <p:pic>
        <p:nvPicPr>
          <p:cNvPr id="365" name="Google Shape;365;p44"/>
          <p:cNvPicPr preferRelativeResize="0"/>
          <p:nvPr/>
        </p:nvPicPr>
        <p:blipFill rotWithShape="1">
          <a:blip r:embed="rId4">
            <a:alphaModFix/>
          </a:blip>
          <a:srcRect/>
          <a:stretch/>
        </p:blipFill>
        <p:spPr>
          <a:xfrm>
            <a:off x="4725938" y="773900"/>
            <a:ext cx="2819400" cy="2400300"/>
          </a:xfrm>
          <a:prstGeom prst="rect">
            <a:avLst/>
          </a:prstGeom>
          <a:noFill/>
          <a:ln>
            <a:noFill/>
          </a:ln>
        </p:spPr>
      </p:pic>
      <p:pic>
        <p:nvPicPr>
          <p:cNvPr id="366" name="Google Shape;366;p44"/>
          <p:cNvPicPr preferRelativeResize="0"/>
          <p:nvPr/>
        </p:nvPicPr>
        <p:blipFill rotWithShape="1">
          <a:blip r:embed="rId5">
            <a:alphaModFix/>
          </a:blip>
          <a:srcRect/>
          <a:stretch/>
        </p:blipFill>
        <p:spPr>
          <a:xfrm>
            <a:off x="5360188" y="1299625"/>
            <a:ext cx="3533775" cy="35052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B3244-3243-030D-4F14-EA9287B9F61E}"/>
              </a:ext>
            </a:extLst>
          </p:cNvPr>
          <p:cNvSpPr>
            <a:spLocks noGrp="1"/>
          </p:cNvSpPr>
          <p:nvPr>
            <p:ph type="title"/>
          </p:nvPr>
        </p:nvSpPr>
        <p:spPr/>
        <p:txBody>
          <a:bodyPr/>
          <a:lstStyle/>
          <a:p>
            <a:r>
              <a:rPr lang="en-SG"/>
              <a:t>Flexbox – Core concept</a:t>
            </a:r>
          </a:p>
        </p:txBody>
      </p:sp>
      <p:sp>
        <p:nvSpPr>
          <p:cNvPr id="5" name="Shape 3">
            <a:extLst>
              <a:ext uri="{FF2B5EF4-FFF2-40B4-BE49-F238E27FC236}">
                <a16:creationId xmlns:a16="http://schemas.microsoft.com/office/drawing/2014/main" id="{A63EFB55-C2A1-4106-C220-8CB0F8F6BF85}"/>
              </a:ext>
            </a:extLst>
          </p:cNvPr>
          <p:cNvSpPr/>
          <p:nvPr/>
        </p:nvSpPr>
        <p:spPr>
          <a:xfrm>
            <a:off x="320040" y="1188720"/>
            <a:ext cx="4480560" cy="1920240"/>
          </a:xfrm>
          <a:prstGeom prst="rect">
            <a:avLst/>
          </a:prstGeom>
          <a:solidFill>
            <a:srgbClr val="1E293B"/>
          </a:solidFill>
          <a:ln w="12700">
            <a:solidFill>
              <a:srgbClr val="334155"/>
            </a:solidFill>
            <a:prstDash val="solid"/>
          </a:ln>
        </p:spPr>
        <p:txBody>
          <a:bodyPr/>
          <a:lstStyle/>
          <a:p>
            <a:endParaRPr lang="en-SG"/>
          </a:p>
        </p:txBody>
      </p:sp>
      <p:sp>
        <p:nvSpPr>
          <p:cNvPr id="6" name="Text 4">
            <a:extLst>
              <a:ext uri="{FF2B5EF4-FFF2-40B4-BE49-F238E27FC236}">
                <a16:creationId xmlns:a16="http://schemas.microsoft.com/office/drawing/2014/main" id="{A2EB7A0B-0AB5-195B-40A9-E4748E1A2816}"/>
              </a:ext>
            </a:extLst>
          </p:cNvPr>
          <p:cNvSpPr/>
          <p:nvPr/>
        </p:nvSpPr>
        <p:spPr>
          <a:xfrm>
            <a:off x="393192" y="1261872"/>
            <a:ext cx="4334256" cy="1773936"/>
          </a:xfrm>
          <a:prstGeom prst="rect">
            <a:avLst/>
          </a:prstGeom>
          <a:noFill/>
          <a:ln/>
        </p:spPr>
        <p:txBody>
          <a:bodyPr wrap="square" rtlCol="0" anchor="t"/>
          <a:lstStyle/>
          <a:p>
            <a:pPr marL="0" indent="0">
              <a:buNone/>
            </a:pPr>
            <a:r>
              <a:rPr lang="en-US" sz="1000">
                <a:solidFill>
                  <a:srgbClr val="E2E8F0"/>
                </a:solidFill>
                <a:latin typeface="Courier New" pitchFamily="34" charset="0"/>
                <a:ea typeface="Courier New" pitchFamily="34" charset="-122"/>
                <a:cs typeface="Courier New" pitchFamily="34" charset="-120"/>
              </a:rPr>
              <a:t>.container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a:t>
            </a:r>
            <a:r>
              <a:rPr lang="en-US" sz="1000">
                <a:solidFill>
                  <a:srgbClr val="FDE68A"/>
                </a:solidFill>
                <a:latin typeface="Courier New" pitchFamily="34" charset="0"/>
                <a:ea typeface="Courier New" pitchFamily="34" charset="-122"/>
                <a:cs typeface="Courier New" pitchFamily="34" charset="-120"/>
              </a:rPr>
              <a:t>display</a:t>
            </a:r>
            <a:r>
              <a:rPr lang="en-US" sz="1000">
                <a:solidFill>
                  <a:srgbClr val="CBD5E1"/>
                </a:solidFill>
                <a:latin typeface="Courier New" pitchFamily="34" charset="0"/>
                <a:ea typeface="Courier New" pitchFamily="34" charset="-122"/>
                <a:cs typeface="Courier New" pitchFamily="34" charset="-120"/>
              </a:rPr>
              <a:t>: </a:t>
            </a:r>
            <a:r>
              <a:rPr lang="en-US" sz="1000">
                <a:solidFill>
                  <a:srgbClr val="FDE68A"/>
                </a:solidFill>
                <a:latin typeface="Courier New" pitchFamily="34" charset="0"/>
                <a:ea typeface="Courier New" pitchFamily="34" charset="-122"/>
                <a:cs typeface="Courier New" pitchFamily="34" charset="-120"/>
              </a:rPr>
              <a:t>flex;           /* Enable Flexbox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a:t>
            </a:r>
            <a:r>
              <a:rPr lang="en-US" sz="1000">
                <a:solidFill>
                  <a:srgbClr val="7DD3FC"/>
                </a:solidFill>
                <a:latin typeface="Courier New" pitchFamily="34" charset="0"/>
                <a:ea typeface="Courier New" pitchFamily="34" charset="-122"/>
                <a:cs typeface="Courier New" pitchFamily="34" charset="-120"/>
              </a:rPr>
              <a:t>flex-direction</a:t>
            </a:r>
            <a:r>
              <a:rPr lang="en-US" sz="1000">
                <a:solidFill>
                  <a:srgbClr val="CBD5E1"/>
                </a:solidFill>
                <a:latin typeface="Courier New" pitchFamily="34" charset="0"/>
                <a:ea typeface="Courier New" pitchFamily="34" charset="-122"/>
                <a:cs typeface="Courier New" pitchFamily="34" charset="-120"/>
              </a:rPr>
              <a:t>: </a:t>
            </a:r>
            <a:r>
              <a:rPr lang="en-US" sz="1000">
                <a:solidFill>
                  <a:srgbClr val="86EFAC"/>
                </a:solidFill>
                <a:latin typeface="Courier New" pitchFamily="34" charset="0"/>
                <a:ea typeface="Courier New" pitchFamily="34" charset="-122"/>
                <a:cs typeface="Courier New" pitchFamily="34" charset="-120"/>
              </a:rPr>
              <a:t>row;     /* row | column | row-reverse | column-reverse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a:t>
            </a:r>
            <a:r>
              <a:rPr lang="en-US" sz="1000">
                <a:solidFill>
                  <a:srgbClr val="7DD3FC"/>
                </a:solidFill>
                <a:latin typeface="Courier New" pitchFamily="34" charset="0"/>
                <a:ea typeface="Courier New" pitchFamily="34" charset="-122"/>
                <a:cs typeface="Courier New" pitchFamily="34" charset="-120"/>
              </a:rPr>
              <a:t>justify-content</a:t>
            </a:r>
            <a:r>
              <a:rPr lang="en-US" sz="1000">
                <a:solidFill>
                  <a:srgbClr val="CBD5E1"/>
                </a:solidFill>
                <a:latin typeface="Courier New" pitchFamily="34" charset="0"/>
                <a:ea typeface="Courier New" pitchFamily="34" charset="-122"/>
                <a:cs typeface="Courier New" pitchFamily="34" charset="-120"/>
              </a:rPr>
              <a:t>: </a:t>
            </a:r>
            <a:r>
              <a:rPr lang="en-US" sz="1000">
                <a:solidFill>
                  <a:srgbClr val="86EFAC"/>
                </a:solidFill>
                <a:latin typeface="Courier New" pitchFamily="34" charset="0"/>
                <a:ea typeface="Courier New" pitchFamily="34" charset="-122"/>
                <a:cs typeface="Courier New" pitchFamily="34" charset="-120"/>
              </a:rPr>
              <a:t>center; /* align along main axis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a:t>
            </a:r>
            <a:r>
              <a:rPr lang="en-US" sz="1000">
                <a:solidFill>
                  <a:srgbClr val="7DD3FC"/>
                </a:solidFill>
                <a:latin typeface="Courier New" pitchFamily="34" charset="0"/>
                <a:ea typeface="Courier New" pitchFamily="34" charset="-122"/>
                <a:cs typeface="Courier New" pitchFamily="34" charset="-120"/>
              </a:rPr>
              <a:t>align-items</a:t>
            </a:r>
            <a:r>
              <a:rPr lang="en-US" sz="1000">
                <a:solidFill>
                  <a:srgbClr val="CBD5E1"/>
                </a:solidFill>
                <a:latin typeface="Courier New" pitchFamily="34" charset="0"/>
                <a:ea typeface="Courier New" pitchFamily="34" charset="-122"/>
                <a:cs typeface="Courier New" pitchFamily="34" charset="-120"/>
              </a:rPr>
              <a:t>: </a:t>
            </a:r>
            <a:r>
              <a:rPr lang="en-US" sz="1000">
                <a:solidFill>
                  <a:srgbClr val="86EFAC"/>
                </a:solidFill>
                <a:latin typeface="Courier New" pitchFamily="34" charset="0"/>
                <a:ea typeface="Courier New" pitchFamily="34" charset="-122"/>
                <a:cs typeface="Courier New" pitchFamily="34" charset="-120"/>
              </a:rPr>
              <a:t>center;     /* align along cross axis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a:t>
            </a:r>
            <a:r>
              <a:rPr lang="en-US" sz="1000">
                <a:solidFill>
                  <a:srgbClr val="7DD3FC"/>
                </a:solidFill>
                <a:latin typeface="Courier New" pitchFamily="34" charset="0"/>
                <a:ea typeface="Courier New" pitchFamily="34" charset="-122"/>
                <a:cs typeface="Courier New" pitchFamily="34" charset="-120"/>
              </a:rPr>
              <a:t>gap</a:t>
            </a:r>
            <a:r>
              <a:rPr lang="en-US" sz="1000">
                <a:solidFill>
                  <a:srgbClr val="CBD5E1"/>
                </a:solidFill>
                <a:latin typeface="Courier New" pitchFamily="34" charset="0"/>
                <a:ea typeface="Courier New" pitchFamily="34" charset="-122"/>
                <a:cs typeface="Courier New" pitchFamily="34" charset="-120"/>
              </a:rPr>
              <a:t>: </a:t>
            </a:r>
            <a:r>
              <a:rPr lang="en-US" sz="1000">
                <a:solidFill>
                  <a:srgbClr val="86EFAC"/>
                </a:solidFill>
                <a:latin typeface="Courier New" pitchFamily="34" charset="0"/>
                <a:ea typeface="Courier New" pitchFamily="34" charset="-122"/>
                <a:cs typeface="Courier New" pitchFamily="34" charset="-120"/>
              </a:rPr>
              <a:t>16px;               /* space between children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a:t>
            </a:r>
            <a:r>
              <a:rPr lang="en-US" sz="1000">
                <a:solidFill>
                  <a:srgbClr val="7DD3FC"/>
                </a:solidFill>
                <a:latin typeface="Courier New" pitchFamily="34" charset="0"/>
                <a:ea typeface="Courier New" pitchFamily="34" charset="-122"/>
                <a:cs typeface="Courier New" pitchFamily="34" charset="-120"/>
              </a:rPr>
              <a:t>flex-wrap</a:t>
            </a:r>
            <a:r>
              <a:rPr lang="en-US" sz="1000">
                <a:solidFill>
                  <a:srgbClr val="CBD5E1"/>
                </a:solidFill>
                <a:latin typeface="Courier New" pitchFamily="34" charset="0"/>
                <a:ea typeface="Courier New" pitchFamily="34" charset="-122"/>
                <a:cs typeface="Courier New" pitchFamily="34" charset="-120"/>
              </a:rPr>
              <a:t>: </a:t>
            </a:r>
            <a:r>
              <a:rPr lang="en-US" sz="1000">
                <a:solidFill>
                  <a:srgbClr val="86EFAC"/>
                </a:solidFill>
                <a:latin typeface="Courier New" pitchFamily="34" charset="0"/>
                <a:ea typeface="Courier New" pitchFamily="34" charset="-122"/>
                <a:cs typeface="Courier New" pitchFamily="34" charset="-120"/>
              </a:rPr>
              <a:t>wrap;         /* allow wrapping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a:t>
            </a:r>
            <a:endParaRPr lang="en-US" sz="1000"/>
          </a:p>
        </p:txBody>
      </p:sp>
      <p:sp>
        <p:nvSpPr>
          <p:cNvPr id="7" name="Shape 5">
            <a:extLst>
              <a:ext uri="{FF2B5EF4-FFF2-40B4-BE49-F238E27FC236}">
                <a16:creationId xmlns:a16="http://schemas.microsoft.com/office/drawing/2014/main" id="{6F86DA67-9099-BD89-9657-B8B3C0A46AA5}"/>
              </a:ext>
            </a:extLst>
          </p:cNvPr>
          <p:cNvSpPr/>
          <p:nvPr/>
        </p:nvSpPr>
        <p:spPr>
          <a:xfrm>
            <a:off x="4937760" y="1188720"/>
            <a:ext cx="3931920" cy="1920240"/>
          </a:xfrm>
          <a:prstGeom prst="rect">
            <a:avLst/>
          </a:prstGeom>
          <a:solidFill>
            <a:srgbClr val="F3E8FF"/>
          </a:solidFill>
          <a:ln w="25400">
            <a:solidFill>
              <a:srgbClr val="7C3AED"/>
            </a:solidFill>
            <a:prstDash val="solid"/>
          </a:ln>
        </p:spPr>
        <p:txBody>
          <a:bodyPr/>
          <a:lstStyle/>
          <a:p>
            <a:endParaRPr lang="en-SG"/>
          </a:p>
        </p:txBody>
      </p:sp>
      <p:sp>
        <p:nvSpPr>
          <p:cNvPr id="8" name="Text 6">
            <a:extLst>
              <a:ext uri="{FF2B5EF4-FFF2-40B4-BE49-F238E27FC236}">
                <a16:creationId xmlns:a16="http://schemas.microsoft.com/office/drawing/2014/main" id="{DDE6B035-5C1B-5A05-ECCC-A6FF02576F0F}"/>
              </a:ext>
            </a:extLst>
          </p:cNvPr>
          <p:cNvSpPr/>
          <p:nvPr/>
        </p:nvSpPr>
        <p:spPr>
          <a:xfrm>
            <a:off x="5029200" y="1207008"/>
            <a:ext cx="3749040" cy="256032"/>
          </a:xfrm>
          <a:prstGeom prst="rect">
            <a:avLst/>
          </a:prstGeom>
          <a:noFill/>
          <a:ln/>
        </p:spPr>
        <p:txBody>
          <a:bodyPr wrap="square" rtlCol="0" anchor="ctr"/>
          <a:lstStyle/>
          <a:p>
            <a:pPr marL="0" indent="0">
              <a:buNone/>
            </a:pPr>
            <a:r>
              <a:rPr lang="en-US" sz="900">
                <a:solidFill>
                  <a:srgbClr val="7C3AED"/>
                </a:solidFill>
                <a:latin typeface="Courier New" pitchFamily="34" charset="0"/>
                <a:ea typeface="Courier New" pitchFamily="34" charset="-122"/>
                <a:cs typeface="Courier New" pitchFamily="34" charset="-120"/>
              </a:rPr>
              <a:t>.container  { display: flex; }</a:t>
            </a:r>
            <a:endParaRPr lang="en-US" sz="900"/>
          </a:p>
        </p:txBody>
      </p:sp>
      <p:sp>
        <p:nvSpPr>
          <p:cNvPr id="9" name="Shape 7">
            <a:extLst>
              <a:ext uri="{FF2B5EF4-FFF2-40B4-BE49-F238E27FC236}">
                <a16:creationId xmlns:a16="http://schemas.microsoft.com/office/drawing/2014/main" id="{BBB8CAA6-19EA-B8E9-5BE4-AF74363825FE}"/>
              </a:ext>
            </a:extLst>
          </p:cNvPr>
          <p:cNvSpPr/>
          <p:nvPr/>
        </p:nvSpPr>
        <p:spPr>
          <a:xfrm>
            <a:off x="5074920" y="1554480"/>
            <a:ext cx="731520" cy="685800"/>
          </a:xfrm>
          <a:prstGeom prst="rect">
            <a:avLst/>
          </a:prstGeom>
          <a:solidFill>
            <a:srgbClr val="7C3AED"/>
          </a:solidFill>
          <a:ln/>
        </p:spPr>
        <p:txBody>
          <a:bodyPr/>
          <a:lstStyle/>
          <a:p>
            <a:endParaRPr lang="en-SG"/>
          </a:p>
        </p:txBody>
      </p:sp>
      <p:sp>
        <p:nvSpPr>
          <p:cNvPr id="10" name="Text 8">
            <a:extLst>
              <a:ext uri="{FF2B5EF4-FFF2-40B4-BE49-F238E27FC236}">
                <a16:creationId xmlns:a16="http://schemas.microsoft.com/office/drawing/2014/main" id="{4548224F-A812-69A9-5AAC-62563EDDD0E6}"/>
              </a:ext>
            </a:extLst>
          </p:cNvPr>
          <p:cNvSpPr/>
          <p:nvPr/>
        </p:nvSpPr>
        <p:spPr>
          <a:xfrm>
            <a:off x="5074920" y="1554480"/>
            <a:ext cx="731520" cy="685800"/>
          </a:xfrm>
          <a:prstGeom prst="rect">
            <a:avLst/>
          </a:prstGeom>
          <a:noFill/>
          <a:ln/>
        </p:spPr>
        <p:txBody>
          <a:bodyPr wrap="square"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A</a:t>
            </a:r>
            <a:endParaRPr lang="en-US" sz="1800"/>
          </a:p>
        </p:txBody>
      </p:sp>
      <p:sp>
        <p:nvSpPr>
          <p:cNvPr id="11" name="Shape 9">
            <a:extLst>
              <a:ext uri="{FF2B5EF4-FFF2-40B4-BE49-F238E27FC236}">
                <a16:creationId xmlns:a16="http://schemas.microsoft.com/office/drawing/2014/main" id="{5FDA816D-7B06-DFFB-6807-CAB640BA622D}"/>
              </a:ext>
            </a:extLst>
          </p:cNvPr>
          <p:cNvSpPr/>
          <p:nvPr/>
        </p:nvSpPr>
        <p:spPr>
          <a:xfrm>
            <a:off x="5934456" y="1554480"/>
            <a:ext cx="731520" cy="685800"/>
          </a:xfrm>
          <a:prstGeom prst="rect">
            <a:avLst/>
          </a:prstGeom>
          <a:solidFill>
            <a:srgbClr val="9333EA"/>
          </a:solidFill>
          <a:ln/>
        </p:spPr>
        <p:txBody>
          <a:bodyPr/>
          <a:lstStyle/>
          <a:p>
            <a:endParaRPr lang="en-SG"/>
          </a:p>
        </p:txBody>
      </p:sp>
      <p:sp>
        <p:nvSpPr>
          <p:cNvPr id="12" name="Text 10">
            <a:extLst>
              <a:ext uri="{FF2B5EF4-FFF2-40B4-BE49-F238E27FC236}">
                <a16:creationId xmlns:a16="http://schemas.microsoft.com/office/drawing/2014/main" id="{3C792B6C-3F3C-BA57-1D51-31CE3A42A801}"/>
              </a:ext>
            </a:extLst>
          </p:cNvPr>
          <p:cNvSpPr/>
          <p:nvPr/>
        </p:nvSpPr>
        <p:spPr>
          <a:xfrm>
            <a:off x="5934456" y="1554480"/>
            <a:ext cx="731520" cy="685800"/>
          </a:xfrm>
          <a:prstGeom prst="rect">
            <a:avLst/>
          </a:prstGeom>
          <a:noFill/>
          <a:ln/>
        </p:spPr>
        <p:txBody>
          <a:bodyPr wrap="square"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B</a:t>
            </a:r>
            <a:endParaRPr lang="en-US" sz="1800"/>
          </a:p>
        </p:txBody>
      </p:sp>
      <p:sp>
        <p:nvSpPr>
          <p:cNvPr id="13" name="Shape 11">
            <a:extLst>
              <a:ext uri="{FF2B5EF4-FFF2-40B4-BE49-F238E27FC236}">
                <a16:creationId xmlns:a16="http://schemas.microsoft.com/office/drawing/2014/main" id="{281DAF74-BB3C-11F6-2FCA-484F88BF1AE4}"/>
              </a:ext>
            </a:extLst>
          </p:cNvPr>
          <p:cNvSpPr/>
          <p:nvPr/>
        </p:nvSpPr>
        <p:spPr>
          <a:xfrm>
            <a:off x="6793992" y="1554480"/>
            <a:ext cx="731520" cy="685800"/>
          </a:xfrm>
          <a:prstGeom prst="rect">
            <a:avLst/>
          </a:prstGeom>
          <a:solidFill>
            <a:srgbClr val="A855F7"/>
          </a:solidFill>
          <a:ln/>
        </p:spPr>
        <p:txBody>
          <a:bodyPr/>
          <a:lstStyle/>
          <a:p>
            <a:endParaRPr lang="en-SG"/>
          </a:p>
        </p:txBody>
      </p:sp>
      <p:sp>
        <p:nvSpPr>
          <p:cNvPr id="14" name="Text 12">
            <a:extLst>
              <a:ext uri="{FF2B5EF4-FFF2-40B4-BE49-F238E27FC236}">
                <a16:creationId xmlns:a16="http://schemas.microsoft.com/office/drawing/2014/main" id="{ABA47A44-5145-C74D-B1E9-DD67EB1EF45C}"/>
              </a:ext>
            </a:extLst>
          </p:cNvPr>
          <p:cNvSpPr/>
          <p:nvPr/>
        </p:nvSpPr>
        <p:spPr>
          <a:xfrm>
            <a:off x="6793992" y="1554480"/>
            <a:ext cx="731520" cy="685800"/>
          </a:xfrm>
          <a:prstGeom prst="rect">
            <a:avLst/>
          </a:prstGeom>
          <a:noFill/>
          <a:ln/>
        </p:spPr>
        <p:txBody>
          <a:bodyPr wrap="square"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C</a:t>
            </a:r>
            <a:endParaRPr lang="en-US" sz="1800"/>
          </a:p>
        </p:txBody>
      </p:sp>
      <p:sp>
        <p:nvSpPr>
          <p:cNvPr id="15" name="Shape 13">
            <a:extLst>
              <a:ext uri="{FF2B5EF4-FFF2-40B4-BE49-F238E27FC236}">
                <a16:creationId xmlns:a16="http://schemas.microsoft.com/office/drawing/2014/main" id="{96C5F246-63DC-F7F1-1EDE-8857D01708E3}"/>
              </a:ext>
            </a:extLst>
          </p:cNvPr>
          <p:cNvSpPr/>
          <p:nvPr/>
        </p:nvSpPr>
        <p:spPr>
          <a:xfrm>
            <a:off x="7653528" y="1554480"/>
            <a:ext cx="731520" cy="685800"/>
          </a:xfrm>
          <a:prstGeom prst="rect">
            <a:avLst/>
          </a:prstGeom>
          <a:solidFill>
            <a:srgbClr val="C084FC"/>
          </a:solidFill>
          <a:ln/>
        </p:spPr>
        <p:txBody>
          <a:bodyPr/>
          <a:lstStyle/>
          <a:p>
            <a:endParaRPr lang="en-SG"/>
          </a:p>
        </p:txBody>
      </p:sp>
      <p:sp>
        <p:nvSpPr>
          <p:cNvPr id="16" name="Text 14">
            <a:extLst>
              <a:ext uri="{FF2B5EF4-FFF2-40B4-BE49-F238E27FC236}">
                <a16:creationId xmlns:a16="http://schemas.microsoft.com/office/drawing/2014/main" id="{F109D77B-D5C1-8CFA-4B65-F2067921ABBC}"/>
              </a:ext>
            </a:extLst>
          </p:cNvPr>
          <p:cNvSpPr/>
          <p:nvPr/>
        </p:nvSpPr>
        <p:spPr>
          <a:xfrm>
            <a:off x="7653528" y="1554480"/>
            <a:ext cx="731520" cy="685800"/>
          </a:xfrm>
          <a:prstGeom prst="rect">
            <a:avLst/>
          </a:prstGeom>
          <a:noFill/>
          <a:ln/>
        </p:spPr>
        <p:txBody>
          <a:bodyPr wrap="square" rtlCol="0" anchor="ctr"/>
          <a:lstStyle/>
          <a:p>
            <a:pPr marL="0" indent="0" algn="ctr">
              <a:buNone/>
            </a:pPr>
            <a:r>
              <a:rPr lang="en-US" sz="1800" b="1">
                <a:solidFill>
                  <a:srgbClr val="FFFFFF"/>
                </a:solidFill>
                <a:latin typeface="Calibri" pitchFamily="34" charset="0"/>
                <a:ea typeface="Calibri" pitchFamily="34" charset="-122"/>
                <a:cs typeface="Calibri" pitchFamily="34" charset="-120"/>
              </a:rPr>
              <a:t>D</a:t>
            </a:r>
            <a:endParaRPr lang="en-US" sz="1800"/>
          </a:p>
        </p:txBody>
      </p:sp>
      <p:sp>
        <p:nvSpPr>
          <p:cNvPr id="17" name="Text 15">
            <a:extLst>
              <a:ext uri="{FF2B5EF4-FFF2-40B4-BE49-F238E27FC236}">
                <a16:creationId xmlns:a16="http://schemas.microsoft.com/office/drawing/2014/main" id="{0C9ECF4F-00AA-F68C-CF02-5F70F099EAC5}"/>
              </a:ext>
            </a:extLst>
          </p:cNvPr>
          <p:cNvSpPr/>
          <p:nvPr/>
        </p:nvSpPr>
        <p:spPr>
          <a:xfrm>
            <a:off x="4937760" y="2286000"/>
            <a:ext cx="3931920" cy="256032"/>
          </a:xfrm>
          <a:prstGeom prst="rect">
            <a:avLst/>
          </a:prstGeom>
          <a:noFill/>
          <a:ln/>
        </p:spPr>
        <p:txBody>
          <a:bodyPr wrap="square" rtlCol="0" anchor="ctr"/>
          <a:lstStyle/>
          <a:p>
            <a:pPr marL="0" indent="0" algn="ctr">
              <a:buNone/>
            </a:pPr>
            <a:r>
              <a:rPr lang="en-US" sz="900" i="1">
                <a:solidFill>
                  <a:srgbClr val="7C3AED"/>
                </a:solidFill>
                <a:latin typeface="Calibri" pitchFamily="34" charset="0"/>
                <a:ea typeface="Calibri" pitchFamily="34" charset="-122"/>
                <a:cs typeface="Calibri" pitchFamily="34" charset="-120"/>
              </a:rPr>
              <a:t>↑ Items flow in a row (flex-direction: row)</a:t>
            </a:r>
            <a:endParaRPr lang="en-US" sz="900"/>
          </a:p>
        </p:txBody>
      </p:sp>
      <p:sp>
        <p:nvSpPr>
          <p:cNvPr id="18" name="Shape 16">
            <a:extLst>
              <a:ext uri="{FF2B5EF4-FFF2-40B4-BE49-F238E27FC236}">
                <a16:creationId xmlns:a16="http://schemas.microsoft.com/office/drawing/2014/main" id="{9DE3B753-9896-E9D4-C76A-1A6AE5EDAE5C}"/>
              </a:ext>
            </a:extLst>
          </p:cNvPr>
          <p:cNvSpPr/>
          <p:nvPr/>
        </p:nvSpPr>
        <p:spPr>
          <a:xfrm>
            <a:off x="320040" y="3246120"/>
            <a:ext cx="2377440" cy="301752"/>
          </a:xfrm>
          <a:prstGeom prst="rect">
            <a:avLst/>
          </a:prstGeom>
          <a:solidFill>
            <a:srgbClr val="F3E8FF"/>
          </a:solidFill>
          <a:ln w="6350">
            <a:solidFill>
              <a:srgbClr val="7C3AED"/>
            </a:solidFill>
            <a:prstDash val="solid"/>
          </a:ln>
        </p:spPr>
        <p:txBody>
          <a:bodyPr/>
          <a:lstStyle/>
          <a:p>
            <a:endParaRPr lang="en-SG"/>
          </a:p>
        </p:txBody>
      </p:sp>
      <p:sp>
        <p:nvSpPr>
          <p:cNvPr id="19" name="Text 17">
            <a:extLst>
              <a:ext uri="{FF2B5EF4-FFF2-40B4-BE49-F238E27FC236}">
                <a16:creationId xmlns:a16="http://schemas.microsoft.com/office/drawing/2014/main" id="{ADAFE626-E56D-9F7C-5CE5-6AC5AFFF87EA}"/>
              </a:ext>
            </a:extLst>
          </p:cNvPr>
          <p:cNvSpPr/>
          <p:nvPr/>
        </p:nvSpPr>
        <p:spPr>
          <a:xfrm>
            <a:off x="384048" y="3282696"/>
            <a:ext cx="2240280" cy="228600"/>
          </a:xfrm>
          <a:prstGeom prst="rect">
            <a:avLst/>
          </a:prstGeom>
          <a:noFill/>
          <a:ln/>
        </p:spPr>
        <p:txBody>
          <a:bodyPr wrap="square" rtlCol="0" anchor="ctr"/>
          <a:lstStyle/>
          <a:p>
            <a:pPr marL="0" indent="0">
              <a:buNone/>
            </a:pPr>
            <a:r>
              <a:rPr lang="en-US" sz="950" b="1">
                <a:solidFill>
                  <a:srgbClr val="7C3AED"/>
                </a:solidFill>
                <a:latin typeface="Courier New" pitchFamily="34" charset="0"/>
                <a:ea typeface="Courier New" pitchFamily="34" charset="-122"/>
                <a:cs typeface="Courier New" pitchFamily="34" charset="-120"/>
              </a:rPr>
              <a:t>justify-content</a:t>
            </a:r>
            <a:endParaRPr lang="en-US" sz="950"/>
          </a:p>
        </p:txBody>
      </p:sp>
      <p:sp>
        <p:nvSpPr>
          <p:cNvPr id="20" name="Shape 18">
            <a:extLst>
              <a:ext uri="{FF2B5EF4-FFF2-40B4-BE49-F238E27FC236}">
                <a16:creationId xmlns:a16="http://schemas.microsoft.com/office/drawing/2014/main" id="{BB8A0AA9-E27D-E742-3B9D-091CF552FB54}"/>
              </a:ext>
            </a:extLst>
          </p:cNvPr>
          <p:cNvSpPr/>
          <p:nvPr/>
        </p:nvSpPr>
        <p:spPr>
          <a:xfrm>
            <a:off x="2743200" y="3246120"/>
            <a:ext cx="6126480" cy="301752"/>
          </a:xfrm>
          <a:prstGeom prst="rect">
            <a:avLst/>
          </a:prstGeom>
          <a:solidFill>
            <a:srgbClr val="F1F5F9"/>
          </a:solidFill>
          <a:ln w="6350">
            <a:solidFill>
              <a:srgbClr val="E2E8F0"/>
            </a:solidFill>
            <a:prstDash val="solid"/>
          </a:ln>
        </p:spPr>
        <p:txBody>
          <a:bodyPr/>
          <a:lstStyle/>
          <a:p>
            <a:endParaRPr lang="en-SG"/>
          </a:p>
        </p:txBody>
      </p:sp>
      <p:sp>
        <p:nvSpPr>
          <p:cNvPr id="21" name="Text 19">
            <a:extLst>
              <a:ext uri="{FF2B5EF4-FFF2-40B4-BE49-F238E27FC236}">
                <a16:creationId xmlns:a16="http://schemas.microsoft.com/office/drawing/2014/main" id="{BBC3290C-9436-4E5A-78DF-BC49C92A2E18}"/>
              </a:ext>
            </a:extLst>
          </p:cNvPr>
          <p:cNvSpPr/>
          <p:nvPr/>
        </p:nvSpPr>
        <p:spPr>
          <a:xfrm>
            <a:off x="2816352" y="3282696"/>
            <a:ext cx="5989320" cy="228600"/>
          </a:xfrm>
          <a:prstGeom prst="rect">
            <a:avLst/>
          </a:prstGeom>
          <a:noFill/>
          <a:ln/>
        </p:spPr>
        <p:txBody>
          <a:bodyPr wrap="square" rtlCol="0" anchor="ctr"/>
          <a:lstStyle/>
          <a:p>
            <a:pPr marL="0" indent="0">
              <a:buNone/>
            </a:pPr>
            <a:r>
              <a:rPr lang="en-US" sz="900">
                <a:solidFill>
                  <a:srgbClr val="64748B"/>
                </a:solidFill>
                <a:latin typeface="Courier New" pitchFamily="34" charset="0"/>
                <a:ea typeface="Courier New" pitchFamily="34" charset="-122"/>
                <a:cs typeface="Courier New" pitchFamily="34" charset="-120"/>
              </a:rPr>
              <a:t>flex-start | center | flex-end | space-between | space-around</a:t>
            </a:r>
            <a:endParaRPr lang="en-US" sz="900"/>
          </a:p>
        </p:txBody>
      </p:sp>
      <p:sp>
        <p:nvSpPr>
          <p:cNvPr id="22" name="Shape 20">
            <a:extLst>
              <a:ext uri="{FF2B5EF4-FFF2-40B4-BE49-F238E27FC236}">
                <a16:creationId xmlns:a16="http://schemas.microsoft.com/office/drawing/2014/main" id="{52F95B32-8125-5088-CEA7-50A412E471B4}"/>
              </a:ext>
            </a:extLst>
          </p:cNvPr>
          <p:cNvSpPr/>
          <p:nvPr/>
        </p:nvSpPr>
        <p:spPr>
          <a:xfrm>
            <a:off x="320040" y="3593592"/>
            <a:ext cx="2377440" cy="301752"/>
          </a:xfrm>
          <a:prstGeom prst="rect">
            <a:avLst/>
          </a:prstGeom>
          <a:solidFill>
            <a:srgbClr val="F3E8FF"/>
          </a:solidFill>
          <a:ln w="6350">
            <a:solidFill>
              <a:srgbClr val="7C3AED"/>
            </a:solidFill>
            <a:prstDash val="solid"/>
          </a:ln>
        </p:spPr>
        <p:txBody>
          <a:bodyPr/>
          <a:lstStyle/>
          <a:p>
            <a:endParaRPr lang="en-SG"/>
          </a:p>
        </p:txBody>
      </p:sp>
      <p:sp>
        <p:nvSpPr>
          <p:cNvPr id="23" name="Text 21">
            <a:extLst>
              <a:ext uri="{FF2B5EF4-FFF2-40B4-BE49-F238E27FC236}">
                <a16:creationId xmlns:a16="http://schemas.microsoft.com/office/drawing/2014/main" id="{305CEBDB-1012-8A56-27EC-EEFA51F08535}"/>
              </a:ext>
            </a:extLst>
          </p:cNvPr>
          <p:cNvSpPr/>
          <p:nvPr/>
        </p:nvSpPr>
        <p:spPr>
          <a:xfrm>
            <a:off x="384048" y="3630168"/>
            <a:ext cx="2240280" cy="228600"/>
          </a:xfrm>
          <a:prstGeom prst="rect">
            <a:avLst/>
          </a:prstGeom>
          <a:noFill/>
          <a:ln/>
        </p:spPr>
        <p:txBody>
          <a:bodyPr wrap="square" rtlCol="0" anchor="ctr"/>
          <a:lstStyle/>
          <a:p>
            <a:pPr marL="0" indent="0">
              <a:buNone/>
            </a:pPr>
            <a:r>
              <a:rPr lang="en-US" sz="950" b="1">
                <a:solidFill>
                  <a:srgbClr val="7C3AED"/>
                </a:solidFill>
                <a:latin typeface="Courier New" pitchFamily="34" charset="0"/>
                <a:ea typeface="Courier New" pitchFamily="34" charset="-122"/>
                <a:cs typeface="Courier New" pitchFamily="34" charset="-120"/>
              </a:rPr>
              <a:t>align-items</a:t>
            </a:r>
            <a:endParaRPr lang="en-US" sz="950"/>
          </a:p>
        </p:txBody>
      </p:sp>
      <p:sp>
        <p:nvSpPr>
          <p:cNvPr id="24" name="Shape 22">
            <a:extLst>
              <a:ext uri="{FF2B5EF4-FFF2-40B4-BE49-F238E27FC236}">
                <a16:creationId xmlns:a16="http://schemas.microsoft.com/office/drawing/2014/main" id="{7081D08F-5C2B-9FDB-CEEC-8E5B05EC1050}"/>
              </a:ext>
            </a:extLst>
          </p:cNvPr>
          <p:cNvSpPr/>
          <p:nvPr/>
        </p:nvSpPr>
        <p:spPr>
          <a:xfrm>
            <a:off x="2743200" y="3593592"/>
            <a:ext cx="6126480" cy="301752"/>
          </a:xfrm>
          <a:prstGeom prst="rect">
            <a:avLst/>
          </a:prstGeom>
          <a:solidFill>
            <a:srgbClr val="F1F5F9"/>
          </a:solidFill>
          <a:ln w="6350">
            <a:solidFill>
              <a:srgbClr val="E2E8F0"/>
            </a:solidFill>
            <a:prstDash val="solid"/>
          </a:ln>
        </p:spPr>
        <p:txBody>
          <a:bodyPr/>
          <a:lstStyle/>
          <a:p>
            <a:endParaRPr lang="en-SG"/>
          </a:p>
        </p:txBody>
      </p:sp>
      <p:sp>
        <p:nvSpPr>
          <p:cNvPr id="25" name="Text 23">
            <a:extLst>
              <a:ext uri="{FF2B5EF4-FFF2-40B4-BE49-F238E27FC236}">
                <a16:creationId xmlns:a16="http://schemas.microsoft.com/office/drawing/2014/main" id="{1A12BFCD-24D5-9151-1D78-420D1D8B4A29}"/>
              </a:ext>
            </a:extLst>
          </p:cNvPr>
          <p:cNvSpPr/>
          <p:nvPr/>
        </p:nvSpPr>
        <p:spPr>
          <a:xfrm>
            <a:off x="2816352" y="3630168"/>
            <a:ext cx="5989320" cy="228600"/>
          </a:xfrm>
          <a:prstGeom prst="rect">
            <a:avLst/>
          </a:prstGeom>
          <a:noFill/>
          <a:ln/>
        </p:spPr>
        <p:txBody>
          <a:bodyPr wrap="square" rtlCol="0" anchor="ctr"/>
          <a:lstStyle/>
          <a:p>
            <a:pPr marL="0" indent="0">
              <a:buNone/>
            </a:pPr>
            <a:r>
              <a:rPr lang="en-US" sz="900">
                <a:solidFill>
                  <a:srgbClr val="64748B"/>
                </a:solidFill>
                <a:latin typeface="Courier New" pitchFamily="34" charset="0"/>
                <a:ea typeface="Courier New" pitchFamily="34" charset="-122"/>
                <a:cs typeface="Courier New" pitchFamily="34" charset="-120"/>
              </a:rPr>
              <a:t>flex-start | center | flex-end | stretch | baseline</a:t>
            </a:r>
            <a:endParaRPr lang="en-US" sz="900"/>
          </a:p>
        </p:txBody>
      </p:sp>
      <p:sp>
        <p:nvSpPr>
          <p:cNvPr id="26" name="Shape 24">
            <a:extLst>
              <a:ext uri="{FF2B5EF4-FFF2-40B4-BE49-F238E27FC236}">
                <a16:creationId xmlns:a16="http://schemas.microsoft.com/office/drawing/2014/main" id="{69FF9B30-35E2-F2B0-FBD3-2FF98B0B3C65}"/>
              </a:ext>
            </a:extLst>
          </p:cNvPr>
          <p:cNvSpPr/>
          <p:nvPr/>
        </p:nvSpPr>
        <p:spPr>
          <a:xfrm>
            <a:off x="320040" y="3941064"/>
            <a:ext cx="2377440" cy="301752"/>
          </a:xfrm>
          <a:prstGeom prst="rect">
            <a:avLst/>
          </a:prstGeom>
          <a:solidFill>
            <a:srgbClr val="F3E8FF"/>
          </a:solidFill>
          <a:ln w="6350">
            <a:solidFill>
              <a:srgbClr val="7C3AED"/>
            </a:solidFill>
            <a:prstDash val="solid"/>
          </a:ln>
        </p:spPr>
        <p:txBody>
          <a:bodyPr/>
          <a:lstStyle/>
          <a:p>
            <a:endParaRPr lang="en-SG"/>
          </a:p>
        </p:txBody>
      </p:sp>
      <p:sp>
        <p:nvSpPr>
          <p:cNvPr id="27" name="Text 25">
            <a:extLst>
              <a:ext uri="{FF2B5EF4-FFF2-40B4-BE49-F238E27FC236}">
                <a16:creationId xmlns:a16="http://schemas.microsoft.com/office/drawing/2014/main" id="{97BB663C-6901-B4A4-C4B8-F39EE337A8A0}"/>
              </a:ext>
            </a:extLst>
          </p:cNvPr>
          <p:cNvSpPr/>
          <p:nvPr/>
        </p:nvSpPr>
        <p:spPr>
          <a:xfrm>
            <a:off x="384048" y="3977640"/>
            <a:ext cx="2240280" cy="228600"/>
          </a:xfrm>
          <a:prstGeom prst="rect">
            <a:avLst/>
          </a:prstGeom>
          <a:noFill/>
          <a:ln/>
        </p:spPr>
        <p:txBody>
          <a:bodyPr wrap="square" rtlCol="0" anchor="ctr"/>
          <a:lstStyle/>
          <a:p>
            <a:pPr marL="0" indent="0">
              <a:buNone/>
            </a:pPr>
            <a:r>
              <a:rPr lang="en-US" sz="950" b="1">
                <a:solidFill>
                  <a:srgbClr val="7C3AED"/>
                </a:solidFill>
                <a:latin typeface="Courier New" pitchFamily="34" charset="0"/>
                <a:ea typeface="Courier New" pitchFamily="34" charset="-122"/>
                <a:cs typeface="Courier New" pitchFamily="34" charset="-120"/>
              </a:rPr>
              <a:t>flex-direction</a:t>
            </a:r>
            <a:endParaRPr lang="en-US" sz="950"/>
          </a:p>
        </p:txBody>
      </p:sp>
      <p:sp>
        <p:nvSpPr>
          <p:cNvPr id="28" name="Shape 26">
            <a:extLst>
              <a:ext uri="{FF2B5EF4-FFF2-40B4-BE49-F238E27FC236}">
                <a16:creationId xmlns:a16="http://schemas.microsoft.com/office/drawing/2014/main" id="{FCAAA92C-9A3F-6F6A-22BE-62CCA451EC02}"/>
              </a:ext>
            </a:extLst>
          </p:cNvPr>
          <p:cNvSpPr/>
          <p:nvPr/>
        </p:nvSpPr>
        <p:spPr>
          <a:xfrm>
            <a:off x="2743200" y="3941064"/>
            <a:ext cx="6126480" cy="301752"/>
          </a:xfrm>
          <a:prstGeom prst="rect">
            <a:avLst/>
          </a:prstGeom>
          <a:solidFill>
            <a:srgbClr val="F1F5F9"/>
          </a:solidFill>
          <a:ln w="6350">
            <a:solidFill>
              <a:srgbClr val="E2E8F0"/>
            </a:solidFill>
            <a:prstDash val="solid"/>
          </a:ln>
        </p:spPr>
        <p:txBody>
          <a:bodyPr/>
          <a:lstStyle/>
          <a:p>
            <a:endParaRPr lang="en-SG"/>
          </a:p>
        </p:txBody>
      </p:sp>
      <p:sp>
        <p:nvSpPr>
          <p:cNvPr id="29" name="Text 27">
            <a:extLst>
              <a:ext uri="{FF2B5EF4-FFF2-40B4-BE49-F238E27FC236}">
                <a16:creationId xmlns:a16="http://schemas.microsoft.com/office/drawing/2014/main" id="{A0BCAABF-41A4-3182-D119-BEEE932E534D}"/>
              </a:ext>
            </a:extLst>
          </p:cNvPr>
          <p:cNvSpPr/>
          <p:nvPr/>
        </p:nvSpPr>
        <p:spPr>
          <a:xfrm>
            <a:off x="2816352" y="3977640"/>
            <a:ext cx="5989320" cy="228600"/>
          </a:xfrm>
          <a:prstGeom prst="rect">
            <a:avLst/>
          </a:prstGeom>
          <a:noFill/>
          <a:ln/>
        </p:spPr>
        <p:txBody>
          <a:bodyPr wrap="square" rtlCol="0" anchor="ctr"/>
          <a:lstStyle/>
          <a:p>
            <a:pPr marL="0" indent="0">
              <a:buNone/>
            </a:pPr>
            <a:r>
              <a:rPr lang="en-US" sz="900">
                <a:solidFill>
                  <a:srgbClr val="64748B"/>
                </a:solidFill>
                <a:latin typeface="Courier New" pitchFamily="34" charset="0"/>
                <a:ea typeface="Courier New" pitchFamily="34" charset="-122"/>
                <a:cs typeface="Courier New" pitchFamily="34" charset="-120"/>
              </a:rPr>
              <a:t>row | column | row-reverse | column-reverse</a:t>
            </a:r>
            <a:endParaRPr lang="en-US" sz="900"/>
          </a:p>
        </p:txBody>
      </p:sp>
      <p:sp>
        <p:nvSpPr>
          <p:cNvPr id="30" name="Shape 28">
            <a:extLst>
              <a:ext uri="{FF2B5EF4-FFF2-40B4-BE49-F238E27FC236}">
                <a16:creationId xmlns:a16="http://schemas.microsoft.com/office/drawing/2014/main" id="{C6986C83-3526-BD5A-4C97-4B0359847558}"/>
              </a:ext>
            </a:extLst>
          </p:cNvPr>
          <p:cNvSpPr/>
          <p:nvPr/>
        </p:nvSpPr>
        <p:spPr>
          <a:xfrm>
            <a:off x="320040" y="4288536"/>
            <a:ext cx="2377440" cy="301752"/>
          </a:xfrm>
          <a:prstGeom prst="rect">
            <a:avLst/>
          </a:prstGeom>
          <a:solidFill>
            <a:srgbClr val="F3E8FF"/>
          </a:solidFill>
          <a:ln w="6350">
            <a:solidFill>
              <a:srgbClr val="7C3AED"/>
            </a:solidFill>
            <a:prstDash val="solid"/>
          </a:ln>
        </p:spPr>
        <p:txBody>
          <a:bodyPr/>
          <a:lstStyle/>
          <a:p>
            <a:endParaRPr lang="en-SG"/>
          </a:p>
        </p:txBody>
      </p:sp>
      <p:sp>
        <p:nvSpPr>
          <p:cNvPr id="31" name="Text 29">
            <a:extLst>
              <a:ext uri="{FF2B5EF4-FFF2-40B4-BE49-F238E27FC236}">
                <a16:creationId xmlns:a16="http://schemas.microsoft.com/office/drawing/2014/main" id="{AF72DF13-A2BB-728D-6B5A-9D2B2D4FB36F}"/>
              </a:ext>
            </a:extLst>
          </p:cNvPr>
          <p:cNvSpPr/>
          <p:nvPr/>
        </p:nvSpPr>
        <p:spPr>
          <a:xfrm>
            <a:off x="384048" y="4325112"/>
            <a:ext cx="2240280" cy="228600"/>
          </a:xfrm>
          <a:prstGeom prst="rect">
            <a:avLst/>
          </a:prstGeom>
          <a:noFill/>
          <a:ln/>
        </p:spPr>
        <p:txBody>
          <a:bodyPr wrap="square" rtlCol="0" anchor="ctr"/>
          <a:lstStyle/>
          <a:p>
            <a:pPr marL="0" indent="0">
              <a:buNone/>
            </a:pPr>
            <a:r>
              <a:rPr lang="en-US" sz="950" b="1">
                <a:solidFill>
                  <a:srgbClr val="7C3AED"/>
                </a:solidFill>
                <a:latin typeface="Courier New" pitchFamily="34" charset="0"/>
                <a:ea typeface="Courier New" pitchFamily="34" charset="-122"/>
                <a:cs typeface="Courier New" pitchFamily="34" charset="-120"/>
              </a:rPr>
              <a:t>flex-wrap</a:t>
            </a:r>
            <a:endParaRPr lang="en-US" sz="950"/>
          </a:p>
        </p:txBody>
      </p:sp>
      <p:sp>
        <p:nvSpPr>
          <p:cNvPr id="32" name="Shape 30">
            <a:extLst>
              <a:ext uri="{FF2B5EF4-FFF2-40B4-BE49-F238E27FC236}">
                <a16:creationId xmlns:a16="http://schemas.microsoft.com/office/drawing/2014/main" id="{DDF8BD0F-9B39-8683-C846-57400F0CE5BD}"/>
              </a:ext>
            </a:extLst>
          </p:cNvPr>
          <p:cNvSpPr/>
          <p:nvPr/>
        </p:nvSpPr>
        <p:spPr>
          <a:xfrm>
            <a:off x="2743200" y="4288536"/>
            <a:ext cx="6126480" cy="301752"/>
          </a:xfrm>
          <a:prstGeom prst="rect">
            <a:avLst/>
          </a:prstGeom>
          <a:solidFill>
            <a:srgbClr val="F1F5F9"/>
          </a:solidFill>
          <a:ln w="6350">
            <a:solidFill>
              <a:srgbClr val="E2E8F0"/>
            </a:solidFill>
            <a:prstDash val="solid"/>
          </a:ln>
        </p:spPr>
        <p:txBody>
          <a:bodyPr/>
          <a:lstStyle/>
          <a:p>
            <a:endParaRPr lang="en-SG"/>
          </a:p>
        </p:txBody>
      </p:sp>
      <p:sp>
        <p:nvSpPr>
          <p:cNvPr id="33" name="Text 31">
            <a:extLst>
              <a:ext uri="{FF2B5EF4-FFF2-40B4-BE49-F238E27FC236}">
                <a16:creationId xmlns:a16="http://schemas.microsoft.com/office/drawing/2014/main" id="{061403CD-C1BC-6269-FBFE-C52D7E7DE3AF}"/>
              </a:ext>
            </a:extLst>
          </p:cNvPr>
          <p:cNvSpPr/>
          <p:nvPr/>
        </p:nvSpPr>
        <p:spPr>
          <a:xfrm>
            <a:off x="2816352" y="4325112"/>
            <a:ext cx="5989320" cy="228600"/>
          </a:xfrm>
          <a:prstGeom prst="rect">
            <a:avLst/>
          </a:prstGeom>
          <a:noFill/>
          <a:ln/>
        </p:spPr>
        <p:txBody>
          <a:bodyPr wrap="square" rtlCol="0" anchor="ctr"/>
          <a:lstStyle/>
          <a:p>
            <a:pPr marL="0" indent="0">
              <a:buNone/>
            </a:pPr>
            <a:r>
              <a:rPr lang="en-US" sz="900">
                <a:solidFill>
                  <a:srgbClr val="64748B"/>
                </a:solidFill>
                <a:latin typeface="Courier New" pitchFamily="34" charset="0"/>
                <a:ea typeface="Courier New" pitchFamily="34" charset="-122"/>
                <a:cs typeface="Courier New" pitchFamily="34" charset="-120"/>
              </a:rPr>
              <a:t>nowrap | wrap | wrap-reverse</a:t>
            </a:r>
            <a:endParaRPr lang="en-US" sz="900"/>
          </a:p>
        </p:txBody>
      </p:sp>
      <p:sp>
        <p:nvSpPr>
          <p:cNvPr id="34" name="Shape 32">
            <a:extLst>
              <a:ext uri="{FF2B5EF4-FFF2-40B4-BE49-F238E27FC236}">
                <a16:creationId xmlns:a16="http://schemas.microsoft.com/office/drawing/2014/main" id="{38495E82-4FBD-26DA-4F73-8E1467FD1FD7}"/>
              </a:ext>
            </a:extLst>
          </p:cNvPr>
          <p:cNvSpPr/>
          <p:nvPr/>
        </p:nvSpPr>
        <p:spPr>
          <a:xfrm>
            <a:off x="320040" y="4636008"/>
            <a:ext cx="2377440" cy="301752"/>
          </a:xfrm>
          <a:prstGeom prst="rect">
            <a:avLst/>
          </a:prstGeom>
          <a:solidFill>
            <a:srgbClr val="F3E8FF"/>
          </a:solidFill>
          <a:ln w="6350">
            <a:solidFill>
              <a:srgbClr val="7C3AED"/>
            </a:solidFill>
            <a:prstDash val="solid"/>
          </a:ln>
        </p:spPr>
        <p:txBody>
          <a:bodyPr/>
          <a:lstStyle/>
          <a:p>
            <a:endParaRPr lang="en-SG"/>
          </a:p>
        </p:txBody>
      </p:sp>
      <p:sp>
        <p:nvSpPr>
          <p:cNvPr id="35" name="Text 33">
            <a:extLst>
              <a:ext uri="{FF2B5EF4-FFF2-40B4-BE49-F238E27FC236}">
                <a16:creationId xmlns:a16="http://schemas.microsoft.com/office/drawing/2014/main" id="{90DEAD5D-DB31-24D5-849C-57E0AAC3FCBA}"/>
              </a:ext>
            </a:extLst>
          </p:cNvPr>
          <p:cNvSpPr/>
          <p:nvPr/>
        </p:nvSpPr>
        <p:spPr>
          <a:xfrm>
            <a:off x="384048" y="4672584"/>
            <a:ext cx="2240280" cy="228600"/>
          </a:xfrm>
          <a:prstGeom prst="rect">
            <a:avLst/>
          </a:prstGeom>
          <a:noFill/>
          <a:ln/>
        </p:spPr>
        <p:txBody>
          <a:bodyPr wrap="square" rtlCol="0" anchor="ctr"/>
          <a:lstStyle/>
          <a:p>
            <a:pPr marL="0" indent="0">
              <a:buNone/>
            </a:pPr>
            <a:r>
              <a:rPr lang="en-US" sz="950" b="1">
                <a:solidFill>
                  <a:srgbClr val="7C3AED"/>
                </a:solidFill>
                <a:latin typeface="Courier New" pitchFamily="34" charset="0"/>
                <a:ea typeface="Courier New" pitchFamily="34" charset="-122"/>
                <a:cs typeface="Courier New" pitchFamily="34" charset="-120"/>
              </a:rPr>
              <a:t>flex (on child)</a:t>
            </a:r>
            <a:endParaRPr lang="en-US" sz="950"/>
          </a:p>
        </p:txBody>
      </p:sp>
      <p:sp>
        <p:nvSpPr>
          <p:cNvPr id="36" name="Shape 34">
            <a:extLst>
              <a:ext uri="{FF2B5EF4-FFF2-40B4-BE49-F238E27FC236}">
                <a16:creationId xmlns:a16="http://schemas.microsoft.com/office/drawing/2014/main" id="{55F833D2-201A-8CA6-0C2C-3905541CBC17}"/>
              </a:ext>
            </a:extLst>
          </p:cNvPr>
          <p:cNvSpPr/>
          <p:nvPr/>
        </p:nvSpPr>
        <p:spPr>
          <a:xfrm>
            <a:off x="2743200" y="4636008"/>
            <a:ext cx="6126480" cy="301752"/>
          </a:xfrm>
          <a:prstGeom prst="rect">
            <a:avLst/>
          </a:prstGeom>
          <a:solidFill>
            <a:srgbClr val="F1F5F9"/>
          </a:solidFill>
          <a:ln w="6350">
            <a:solidFill>
              <a:srgbClr val="E2E8F0"/>
            </a:solidFill>
            <a:prstDash val="solid"/>
          </a:ln>
        </p:spPr>
        <p:txBody>
          <a:bodyPr/>
          <a:lstStyle/>
          <a:p>
            <a:endParaRPr lang="en-SG"/>
          </a:p>
        </p:txBody>
      </p:sp>
      <p:sp>
        <p:nvSpPr>
          <p:cNvPr id="37" name="Text 35">
            <a:extLst>
              <a:ext uri="{FF2B5EF4-FFF2-40B4-BE49-F238E27FC236}">
                <a16:creationId xmlns:a16="http://schemas.microsoft.com/office/drawing/2014/main" id="{12A11C7A-1C20-DD2D-3382-62E32FCE7B68}"/>
              </a:ext>
            </a:extLst>
          </p:cNvPr>
          <p:cNvSpPr/>
          <p:nvPr/>
        </p:nvSpPr>
        <p:spPr>
          <a:xfrm>
            <a:off x="2816352" y="4672584"/>
            <a:ext cx="5989320" cy="228600"/>
          </a:xfrm>
          <a:prstGeom prst="rect">
            <a:avLst/>
          </a:prstGeom>
          <a:noFill/>
          <a:ln/>
        </p:spPr>
        <p:txBody>
          <a:bodyPr wrap="square" rtlCol="0" anchor="ctr"/>
          <a:lstStyle/>
          <a:p>
            <a:pPr marL="0" indent="0">
              <a:buNone/>
            </a:pPr>
            <a:r>
              <a:rPr lang="en-US" sz="900">
                <a:solidFill>
                  <a:srgbClr val="64748B"/>
                </a:solidFill>
                <a:latin typeface="Courier New" pitchFamily="34" charset="0"/>
                <a:ea typeface="Courier New" pitchFamily="34" charset="-122"/>
                <a:cs typeface="Courier New" pitchFamily="34" charset="-120"/>
              </a:rPr>
              <a:t>flex: 1  →  takes equal share of remaining space</a:t>
            </a:r>
            <a:endParaRPr lang="en-US" sz="900"/>
          </a:p>
        </p:txBody>
      </p:sp>
    </p:spTree>
    <p:extLst>
      <p:ext uri="{BB962C8B-B14F-4D97-AF65-F5344CB8AC3E}">
        <p14:creationId xmlns:p14="http://schemas.microsoft.com/office/powerpoint/2010/main" val="23486575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4CE2D-BFA4-F8FF-7F43-44F02C24B78D}"/>
              </a:ext>
            </a:extLst>
          </p:cNvPr>
          <p:cNvSpPr>
            <a:spLocks noGrp="1"/>
          </p:cNvSpPr>
          <p:nvPr>
            <p:ph type="title"/>
          </p:nvPr>
        </p:nvSpPr>
        <p:spPr>
          <a:xfrm>
            <a:off x="311699" y="256523"/>
            <a:ext cx="8520600" cy="831300"/>
          </a:xfrm>
        </p:spPr>
        <p:txBody>
          <a:bodyPr/>
          <a:lstStyle/>
          <a:p>
            <a:r>
              <a:rPr lang="en-SG"/>
              <a:t>Flexbox</a:t>
            </a:r>
          </a:p>
        </p:txBody>
      </p:sp>
      <p:grpSp>
        <p:nvGrpSpPr>
          <p:cNvPr id="66" name="Group 65">
            <a:extLst>
              <a:ext uri="{FF2B5EF4-FFF2-40B4-BE49-F238E27FC236}">
                <a16:creationId xmlns:a16="http://schemas.microsoft.com/office/drawing/2014/main" id="{B43415F4-B5A6-65C9-B0F0-9FD9948AFBF8}"/>
              </a:ext>
            </a:extLst>
          </p:cNvPr>
          <p:cNvGrpSpPr/>
          <p:nvPr/>
        </p:nvGrpSpPr>
        <p:grpSpPr>
          <a:xfrm>
            <a:off x="684414" y="1270768"/>
            <a:ext cx="7775171" cy="3800271"/>
            <a:chOff x="320040" y="822960"/>
            <a:chExt cx="8549640" cy="4178808"/>
          </a:xfrm>
        </p:grpSpPr>
        <p:sp>
          <p:nvSpPr>
            <p:cNvPr id="5" name="Shape 2">
              <a:extLst>
                <a:ext uri="{FF2B5EF4-FFF2-40B4-BE49-F238E27FC236}">
                  <a16:creationId xmlns:a16="http://schemas.microsoft.com/office/drawing/2014/main" id="{970C510E-050E-4F77-5640-01BE389EEB99}"/>
                </a:ext>
              </a:extLst>
            </p:cNvPr>
            <p:cNvSpPr/>
            <p:nvPr/>
          </p:nvSpPr>
          <p:spPr>
            <a:xfrm>
              <a:off x="320040" y="822960"/>
              <a:ext cx="2743200" cy="960120"/>
            </a:xfrm>
            <a:prstGeom prst="rect">
              <a:avLst/>
            </a:prstGeom>
            <a:solidFill>
              <a:srgbClr val="F3E8FF"/>
            </a:solidFill>
            <a:ln w="19050">
              <a:solidFill>
                <a:srgbClr val="7C3AED"/>
              </a:solidFill>
              <a:prstDash val="solid"/>
            </a:ln>
          </p:spPr>
          <p:txBody>
            <a:bodyPr/>
            <a:lstStyle/>
            <a:p>
              <a:endParaRPr lang="en-SG"/>
            </a:p>
          </p:txBody>
        </p:sp>
        <p:sp>
          <p:nvSpPr>
            <p:cNvPr id="6" name="Text 3">
              <a:extLst>
                <a:ext uri="{FF2B5EF4-FFF2-40B4-BE49-F238E27FC236}">
                  <a16:creationId xmlns:a16="http://schemas.microsoft.com/office/drawing/2014/main" id="{86A5338F-72F0-B44C-E6C3-33F85AF731AD}"/>
                </a:ext>
              </a:extLst>
            </p:cNvPr>
            <p:cNvSpPr/>
            <p:nvPr/>
          </p:nvSpPr>
          <p:spPr>
            <a:xfrm>
              <a:off x="320040" y="1783080"/>
              <a:ext cx="2743200" cy="228600"/>
            </a:xfrm>
            <a:prstGeom prst="rect">
              <a:avLst/>
            </a:prstGeom>
            <a:noFill/>
            <a:ln/>
          </p:spPr>
          <p:txBody>
            <a:bodyPr wrap="square" rtlCol="0" anchor="ctr"/>
            <a:lstStyle/>
            <a:p>
              <a:pPr marL="0" indent="0" algn="ctr">
                <a:buNone/>
              </a:pPr>
              <a:r>
                <a:rPr lang="en-US" sz="900">
                  <a:solidFill>
                    <a:srgbClr val="7C3AED"/>
                  </a:solidFill>
                  <a:latin typeface="Courier New" pitchFamily="34" charset="0"/>
                  <a:ea typeface="Courier New" pitchFamily="34" charset="-122"/>
                  <a:cs typeface="Courier New" pitchFamily="34" charset="-120"/>
                </a:rPr>
                <a:t>flex-start</a:t>
              </a:r>
              <a:endParaRPr lang="en-US" sz="900"/>
            </a:p>
          </p:txBody>
        </p:sp>
        <p:sp>
          <p:nvSpPr>
            <p:cNvPr id="7" name="Shape 4">
              <a:extLst>
                <a:ext uri="{FF2B5EF4-FFF2-40B4-BE49-F238E27FC236}">
                  <a16:creationId xmlns:a16="http://schemas.microsoft.com/office/drawing/2014/main" id="{55B6812B-3DED-7E2C-2A54-37CCD72B48E2}"/>
                </a:ext>
              </a:extLst>
            </p:cNvPr>
            <p:cNvSpPr/>
            <p:nvPr/>
          </p:nvSpPr>
          <p:spPr>
            <a:xfrm>
              <a:off x="374904" y="987552"/>
              <a:ext cx="384048" cy="502920"/>
            </a:xfrm>
            <a:prstGeom prst="rect">
              <a:avLst/>
            </a:prstGeom>
            <a:solidFill>
              <a:srgbClr val="7C3AED"/>
            </a:solidFill>
            <a:ln/>
          </p:spPr>
          <p:txBody>
            <a:bodyPr/>
            <a:lstStyle/>
            <a:p>
              <a:endParaRPr lang="en-SG"/>
            </a:p>
          </p:txBody>
        </p:sp>
        <p:sp>
          <p:nvSpPr>
            <p:cNvPr id="8" name="Text 5">
              <a:extLst>
                <a:ext uri="{FF2B5EF4-FFF2-40B4-BE49-F238E27FC236}">
                  <a16:creationId xmlns:a16="http://schemas.microsoft.com/office/drawing/2014/main" id="{3E324A5B-EDD4-F900-7199-81191237BC73}"/>
                </a:ext>
              </a:extLst>
            </p:cNvPr>
            <p:cNvSpPr/>
            <p:nvPr/>
          </p:nvSpPr>
          <p:spPr>
            <a:xfrm>
              <a:off x="374904" y="987552"/>
              <a:ext cx="384048" cy="50292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A</a:t>
              </a:r>
              <a:endParaRPr lang="en-US" sz="1200"/>
            </a:p>
          </p:txBody>
        </p:sp>
        <p:sp>
          <p:nvSpPr>
            <p:cNvPr id="9" name="Shape 6">
              <a:extLst>
                <a:ext uri="{FF2B5EF4-FFF2-40B4-BE49-F238E27FC236}">
                  <a16:creationId xmlns:a16="http://schemas.microsoft.com/office/drawing/2014/main" id="{D98597B0-30C3-3205-898A-3C4C4D1177C0}"/>
                </a:ext>
              </a:extLst>
            </p:cNvPr>
            <p:cNvSpPr/>
            <p:nvPr/>
          </p:nvSpPr>
          <p:spPr>
            <a:xfrm>
              <a:off x="813816" y="987552"/>
              <a:ext cx="384048" cy="502920"/>
            </a:xfrm>
            <a:prstGeom prst="rect">
              <a:avLst/>
            </a:prstGeom>
            <a:solidFill>
              <a:srgbClr val="7C3AED"/>
            </a:solidFill>
            <a:ln/>
          </p:spPr>
          <p:txBody>
            <a:bodyPr/>
            <a:lstStyle/>
            <a:p>
              <a:endParaRPr lang="en-SG"/>
            </a:p>
          </p:txBody>
        </p:sp>
        <p:sp>
          <p:nvSpPr>
            <p:cNvPr id="10" name="Text 7">
              <a:extLst>
                <a:ext uri="{FF2B5EF4-FFF2-40B4-BE49-F238E27FC236}">
                  <a16:creationId xmlns:a16="http://schemas.microsoft.com/office/drawing/2014/main" id="{F91CFE68-298C-8244-9BBF-3D5A3F94D9FA}"/>
                </a:ext>
              </a:extLst>
            </p:cNvPr>
            <p:cNvSpPr/>
            <p:nvPr/>
          </p:nvSpPr>
          <p:spPr>
            <a:xfrm>
              <a:off x="813816" y="987552"/>
              <a:ext cx="384048" cy="50292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B</a:t>
              </a:r>
              <a:endParaRPr lang="en-US" sz="1200"/>
            </a:p>
          </p:txBody>
        </p:sp>
        <p:sp>
          <p:nvSpPr>
            <p:cNvPr id="11" name="Shape 8">
              <a:extLst>
                <a:ext uri="{FF2B5EF4-FFF2-40B4-BE49-F238E27FC236}">
                  <a16:creationId xmlns:a16="http://schemas.microsoft.com/office/drawing/2014/main" id="{70023121-72B3-F6CF-3EB7-F33EFC516491}"/>
                </a:ext>
              </a:extLst>
            </p:cNvPr>
            <p:cNvSpPr/>
            <p:nvPr/>
          </p:nvSpPr>
          <p:spPr>
            <a:xfrm>
              <a:off x="1252728" y="987552"/>
              <a:ext cx="384048" cy="502920"/>
            </a:xfrm>
            <a:prstGeom prst="rect">
              <a:avLst/>
            </a:prstGeom>
            <a:solidFill>
              <a:srgbClr val="7C3AED"/>
            </a:solidFill>
            <a:ln/>
          </p:spPr>
          <p:txBody>
            <a:bodyPr/>
            <a:lstStyle/>
            <a:p>
              <a:endParaRPr lang="en-SG"/>
            </a:p>
          </p:txBody>
        </p:sp>
        <p:sp>
          <p:nvSpPr>
            <p:cNvPr id="12" name="Text 9">
              <a:extLst>
                <a:ext uri="{FF2B5EF4-FFF2-40B4-BE49-F238E27FC236}">
                  <a16:creationId xmlns:a16="http://schemas.microsoft.com/office/drawing/2014/main" id="{DB218AC8-251C-14CE-C8DB-F545B34733E9}"/>
                </a:ext>
              </a:extLst>
            </p:cNvPr>
            <p:cNvSpPr/>
            <p:nvPr/>
          </p:nvSpPr>
          <p:spPr>
            <a:xfrm>
              <a:off x="1252728" y="987552"/>
              <a:ext cx="384048" cy="50292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C</a:t>
              </a:r>
              <a:endParaRPr lang="en-US" sz="1200"/>
            </a:p>
          </p:txBody>
        </p:sp>
        <p:sp>
          <p:nvSpPr>
            <p:cNvPr id="13" name="Shape 10">
              <a:extLst>
                <a:ext uri="{FF2B5EF4-FFF2-40B4-BE49-F238E27FC236}">
                  <a16:creationId xmlns:a16="http://schemas.microsoft.com/office/drawing/2014/main" id="{8AF4C874-7E27-AFC9-D7F8-17819F107521}"/>
                </a:ext>
              </a:extLst>
            </p:cNvPr>
            <p:cNvSpPr/>
            <p:nvPr/>
          </p:nvSpPr>
          <p:spPr>
            <a:xfrm>
              <a:off x="3154680" y="822960"/>
              <a:ext cx="2743200" cy="960120"/>
            </a:xfrm>
            <a:prstGeom prst="rect">
              <a:avLst/>
            </a:prstGeom>
            <a:solidFill>
              <a:srgbClr val="F3E8FF"/>
            </a:solidFill>
            <a:ln w="19050">
              <a:solidFill>
                <a:srgbClr val="7C3AED"/>
              </a:solidFill>
              <a:prstDash val="solid"/>
            </a:ln>
          </p:spPr>
          <p:txBody>
            <a:bodyPr/>
            <a:lstStyle/>
            <a:p>
              <a:endParaRPr lang="en-SG"/>
            </a:p>
          </p:txBody>
        </p:sp>
        <p:sp>
          <p:nvSpPr>
            <p:cNvPr id="14" name="Text 11">
              <a:extLst>
                <a:ext uri="{FF2B5EF4-FFF2-40B4-BE49-F238E27FC236}">
                  <a16:creationId xmlns:a16="http://schemas.microsoft.com/office/drawing/2014/main" id="{5FF21745-F6AE-E2FC-296C-238D35D21FDD}"/>
                </a:ext>
              </a:extLst>
            </p:cNvPr>
            <p:cNvSpPr/>
            <p:nvPr/>
          </p:nvSpPr>
          <p:spPr>
            <a:xfrm>
              <a:off x="3154680" y="1783080"/>
              <a:ext cx="2743200" cy="228600"/>
            </a:xfrm>
            <a:prstGeom prst="rect">
              <a:avLst/>
            </a:prstGeom>
            <a:noFill/>
            <a:ln/>
          </p:spPr>
          <p:txBody>
            <a:bodyPr wrap="square" rtlCol="0" anchor="ctr"/>
            <a:lstStyle/>
            <a:p>
              <a:pPr marL="0" indent="0" algn="ctr">
                <a:buNone/>
              </a:pPr>
              <a:r>
                <a:rPr lang="en-US" sz="900">
                  <a:solidFill>
                    <a:srgbClr val="7C3AED"/>
                  </a:solidFill>
                  <a:latin typeface="Courier New" pitchFamily="34" charset="0"/>
                  <a:ea typeface="Courier New" pitchFamily="34" charset="-122"/>
                  <a:cs typeface="Courier New" pitchFamily="34" charset="-120"/>
                </a:rPr>
                <a:t>center</a:t>
              </a:r>
              <a:endParaRPr lang="en-US" sz="900"/>
            </a:p>
          </p:txBody>
        </p:sp>
        <p:sp>
          <p:nvSpPr>
            <p:cNvPr id="15" name="Shape 12">
              <a:extLst>
                <a:ext uri="{FF2B5EF4-FFF2-40B4-BE49-F238E27FC236}">
                  <a16:creationId xmlns:a16="http://schemas.microsoft.com/office/drawing/2014/main" id="{9266F39E-C0ED-421F-C71C-4417A6F413ED}"/>
                </a:ext>
              </a:extLst>
            </p:cNvPr>
            <p:cNvSpPr/>
            <p:nvPr/>
          </p:nvSpPr>
          <p:spPr>
            <a:xfrm>
              <a:off x="3895344" y="987552"/>
              <a:ext cx="384048" cy="502920"/>
            </a:xfrm>
            <a:prstGeom prst="rect">
              <a:avLst/>
            </a:prstGeom>
            <a:solidFill>
              <a:srgbClr val="7C3AED"/>
            </a:solidFill>
            <a:ln/>
          </p:spPr>
          <p:txBody>
            <a:bodyPr/>
            <a:lstStyle/>
            <a:p>
              <a:endParaRPr lang="en-SG"/>
            </a:p>
          </p:txBody>
        </p:sp>
        <p:sp>
          <p:nvSpPr>
            <p:cNvPr id="16" name="Text 13">
              <a:extLst>
                <a:ext uri="{FF2B5EF4-FFF2-40B4-BE49-F238E27FC236}">
                  <a16:creationId xmlns:a16="http://schemas.microsoft.com/office/drawing/2014/main" id="{352BC64F-AB70-70A0-E1C8-52B9FE580E90}"/>
                </a:ext>
              </a:extLst>
            </p:cNvPr>
            <p:cNvSpPr/>
            <p:nvPr/>
          </p:nvSpPr>
          <p:spPr>
            <a:xfrm>
              <a:off x="3895344" y="987552"/>
              <a:ext cx="384048" cy="50292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A</a:t>
              </a:r>
              <a:endParaRPr lang="en-US" sz="1200"/>
            </a:p>
          </p:txBody>
        </p:sp>
        <p:sp>
          <p:nvSpPr>
            <p:cNvPr id="17" name="Shape 14">
              <a:extLst>
                <a:ext uri="{FF2B5EF4-FFF2-40B4-BE49-F238E27FC236}">
                  <a16:creationId xmlns:a16="http://schemas.microsoft.com/office/drawing/2014/main" id="{7EEFC815-4931-3675-C84F-06E192BFE7A5}"/>
                </a:ext>
              </a:extLst>
            </p:cNvPr>
            <p:cNvSpPr/>
            <p:nvPr/>
          </p:nvSpPr>
          <p:spPr>
            <a:xfrm>
              <a:off x="4334256" y="987552"/>
              <a:ext cx="384048" cy="502920"/>
            </a:xfrm>
            <a:prstGeom prst="rect">
              <a:avLst/>
            </a:prstGeom>
            <a:solidFill>
              <a:srgbClr val="7C3AED"/>
            </a:solidFill>
            <a:ln/>
          </p:spPr>
          <p:txBody>
            <a:bodyPr/>
            <a:lstStyle/>
            <a:p>
              <a:endParaRPr lang="en-SG"/>
            </a:p>
          </p:txBody>
        </p:sp>
        <p:sp>
          <p:nvSpPr>
            <p:cNvPr id="18" name="Text 15">
              <a:extLst>
                <a:ext uri="{FF2B5EF4-FFF2-40B4-BE49-F238E27FC236}">
                  <a16:creationId xmlns:a16="http://schemas.microsoft.com/office/drawing/2014/main" id="{CD1643D8-BE00-B6C2-782E-24E5E32DFE24}"/>
                </a:ext>
              </a:extLst>
            </p:cNvPr>
            <p:cNvSpPr/>
            <p:nvPr/>
          </p:nvSpPr>
          <p:spPr>
            <a:xfrm>
              <a:off x="4334256" y="987552"/>
              <a:ext cx="384048" cy="50292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B</a:t>
              </a:r>
              <a:endParaRPr lang="en-US" sz="1200"/>
            </a:p>
          </p:txBody>
        </p:sp>
        <p:sp>
          <p:nvSpPr>
            <p:cNvPr id="19" name="Shape 16">
              <a:extLst>
                <a:ext uri="{FF2B5EF4-FFF2-40B4-BE49-F238E27FC236}">
                  <a16:creationId xmlns:a16="http://schemas.microsoft.com/office/drawing/2014/main" id="{87698939-B80B-896C-F9BC-A176F02F4130}"/>
                </a:ext>
              </a:extLst>
            </p:cNvPr>
            <p:cNvSpPr/>
            <p:nvPr/>
          </p:nvSpPr>
          <p:spPr>
            <a:xfrm>
              <a:off x="4773168" y="987552"/>
              <a:ext cx="384048" cy="502920"/>
            </a:xfrm>
            <a:prstGeom prst="rect">
              <a:avLst/>
            </a:prstGeom>
            <a:solidFill>
              <a:srgbClr val="7C3AED"/>
            </a:solidFill>
            <a:ln/>
          </p:spPr>
          <p:txBody>
            <a:bodyPr/>
            <a:lstStyle/>
            <a:p>
              <a:endParaRPr lang="en-SG"/>
            </a:p>
          </p:txBody>
        </p:sp>
        <p:sp>
          <p:nvSpPr>
            <p:cNvPr id="20" name="Text 17">
              <a:extLst>
                <a:ext uri="{FF2B5EF4-FFF2-40B4-BE49-F238E27FC236}">
                  <a16:creationId xmlns:a16="http://schemas.microsoft.com/office/drawing/2014/main" id="{BD336EDC-A42B-56A0-03C1-0105C648E3AC}"/>
                </a:ext>
              </a:extLst>
            </p:cNvPr>
            <p:cNvSpPr/>
            <p:nvPr/>
          </p:nvSpPr>
          <p:spPr>
            <a:xfrm>
              <a:off x="4773168" y="987552"/>
              <a:ext cx="384048" cy="50292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C</a:t>
              </a:r>
              <a:endParaRPr lang="en-US" sz="1200"/>
            </a:p>
          </p:txBody>
        </p:sp>
        <p:sp>
          <p:nvSpPr>
            <p:cNvPr id="21" name="Shape 18">
              <a:extLst>
                <a:ext uri="{FF2B5EF4-FFF2-40B4-BE49-F238E27FC236}">
                  <a16:creationId xmlns:a16="http://schemas.microsoft.com/office/drawing/2014/main" id="{9E3D1DFA-7F4B-637A-903D-22F26B1E4BB4}"/>
                </a:ext>
              </a:extLst>
            </p:cNvPr>
            <p:cNvSpPr/>
            <p:nvPr/>
          </p:nvSpPr>
          <p:spPr>
            <a:xfrm>
              <a:off x="5989320" y="822960"/>
              <a:ext cx="2743200" cy="960120"/>
            </a:xfrm>
            <a:prstGeom prst="rect">
              <a:avLst/>
            </a:prstGeom>
            <a:solidFill>
              <a:srgbClr val="F3E8FF"/>
            </a:solidFill>
            <a:ln w="19050">
              <a:solidFill>
                <a:srgbClr val="7C3AED"/>
              </a:solidFill>
              <a:prstDash val="solid"/>
            </a:ln>
          </p:spPr>
          <p:txBody>
            <a:bodyPr/>
            <a:lstStyle/>
            <a:p>
              <a:endParaRPr lang="en-SG"/>
            </a:p>
          </p:txBody>
        </p:sp>
        <p:sp>
          <p:nvSpPr>
            <p:cNvPr id="22" name="Text 19">
              <a:extLst>
                <a:ext uri="{FF2B5EF4-FFF2-40B4-BE49-F238E27FC236}">
                  <a16:creationId xmlns:a16="http://schemas.microsoft.com/office/drawing/2014/main" id="{F0CC212C-50D8-43B7-008D-FCC4B2662FFE}"/>
                </a:ext>
              </a:extLst>
            </p:cNvPr>
            <p:cNvSpPr/>
            <p:nvPr/>
          </p:nvSpPr>
          <p:spPr>
            <a:xfrm>
              <a:off x="5989320" y="1783080"/>
              <a:ext cx="2743200" cy="228600"/>
            </a:xfrm>
            <a:prstGeom prst="rect">
              <a:avLst/>
            </a:prstGeom>
            <a:noFill/>
            <a:ln/>
          </p:spPr>
          <p:txBody>
            <a:bodyPr wrap="square" rtlCol="0" anchor="ctr"/>
            <a:lstStyle/>
            <a:p>
              <a:pPr marL="0" indent="0" algn="ctr">
                <a:buNone/>
              </a:pPr>
              <a:r>
                <a:rPr lang="en-US" sz="900">
                  <a:solidFill>
                    <a:srgbClr val="7C3AED"/>
                  </a:solidFill>
                  <a:latin typeface="Courier New" pitchFamily="34" charset="0"/>
                  <a:ea typeface="Courier New" pitchFamily="34" charset="-122"/>
                  <a:cs typeface="Courier New" pitchFamily="34" charset="-120"/>
                </a:rPr>
                <a:t>flex-end</a:t>
              </a:r>
              <a:endParaRPr lang="en-US" sz="900"/>
            </a:p>
          </p:txBody>
        </p:sp>
        <p:sp>
          <p:nvSpPr>
            <p:cNvPr id="23" name="Shape 20">
              <a:extLst>
                <a:ext uri="{FF2B5EF4-FFF2-40B4-BE49-F238E27FC236}">
                  <a16:creationId xmlns:a16="http://schemas.microsoft.com/office/drawing/2014/main" id="{8255FFDF-EEBB-A75C-77BA-0A6BBA6607AF}"/>
                </a:ext>
              </a:extLst>
            </p:cNvPr>
            <p:cNvSpPr/>
            <p:nvPr/>
          </p:nvSpPr>
          <p:spPr>
            <a:xfrm>
              <a:off x="7415784" y="987552"/>
              <a:ext cx="384048" cy="502920"/>
            </a:xfrm>
            <a:prstGeom prst="rect">
              <a:avLst/>
            </a:prstGeom>
            <a:solidFill>
              <a:srgbClr val="7C3AED"/>
            </a:solidFill>
            <a:ln/>
          </p:spPr>
          <p:txBody>
            <a:bodyPr/>
            <a:lstStyle/>
            <a:p>
              <a:endParaRPr lang="en-SG"/>
            </a:p>
          </p:txBody>
        </p:sp>
        <p:sp>
          <p:nvSpPr>
            <p:cNvPr id="24" name="Text 21">
              <a:extLst>
                <a:ext uri="{FF2B5EF4-FFF2-40B4-BE49-F238E27FC236}">
                  <a16:creationId xmlns:a16="http://schemas.microsoft.com/office/drawing/2014/main" id="{BB09D855-FEE3-6870-2502-AB5E2743E738}"/>
                </a:ext>
              </a:extLst>
            </p:cNvPr>
            <p:cNvSpPr/>
            <p:nvPr/>
          </p:nvSpPr>
          <p:spPr>
            <a:xfrm>
              <a:off x="7415784" y="987552"/>
              <a:ext cx="384048" cy="50292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A</a:t>
              </a:r>
              <a:endParaRPr lang="en-US" sz="1200"/>
            </a:p>
          </p:txBody>
        </p:sp>
        <p:sp>
          <p:nvSpPr>
            <p:cNvPr id="25" name="Shape 22">
              <a:extLst>
                <a:ext uri="{FF2B5EF4-FFF2-40B4-BE49-F238E27FC236}">
                  <a16:creationId xmlns:a16="http://schemas.microsoft.com/office/drawing/2014/main" id="{5CC84526-E448-EA19-30DD-3AA75D9169C1}"/>
                </a:ext>
              </a:extLst>
            </p:cNvPr>
            <p:cNvSpPr/>
            <p:nvPr/>
          </p:nvSpPr>
          <p:spPr>
            <a:xfrm>
              <a:off x="7854696" y="987552"/>
              <a:ext cx="384048" cy="502920"/>
            </a:xfrm>
            <a:prstGeom prst="rect">
              <a:avLst/>
            </a:prstGeom>
            <a:solidFill>
              <a:srgbClr val="7C3AED"/>
            </a:solidFill>
            <a:ln/>
          </p:spPr>
          <p:txBody>
            <a:bodyPr/>
            <a:lstStyle/>
            <a:p>
              <a:endParaRPr lang="en-SG"/>
            </a:p>
          </p:txBody>
        </p:sp>
        <p:sp>
          <p:nvSpPr>
            <p:cNvPr id="26" name="Text 23">
              <a:extLst>
                <a:ext uri="{FF2B5EF4-FFF2-40B4-BE49-F238E27FC236}">
                  <a16:creationId xmlns:a16="http://schemas.microsoft.com/office/drawing/2014/main" id="{B341C3D4-3419-1774-207B-1F9F98C39976}"/>
                </a:ext>
              </a:extLst>
            </p:cNvPr>
            <p:cNvSpPr/>
            <p:nvPr/>
          </p:nvSpPr>
          <p:spPr>
            <a:xfrm>
              <a:off x="7854696" y="987552"/>
              <a:ext cx="384048" cy="50292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B</a:t>
              </a:r>
              <a:endParaRPr lang="en-US" sz="1200"/>
            </a:p>
          </p:txBody>
        </p:sp>
        <p:sp>
          <p:nvSpPr>
            <p:cNvPr id="27" name="Shape 24">
              <a:extLst>
                <a:ext uri="{FF2B5EF4-FFF2-40B4-BE49-F238E27FC236}">
                  <a16:creationId xmlns:a16="http://schemas.microsoft.com/office/drawing/2014/main" id="{CB7FABB2-D302-0730-94CB-04E8247C164F}"/>
                </a:ext>
              </a:extLst>
            </p:cNvPr>
            <p:cNvSpPr/>
            <p:nvPr/>
          </p:nvSpPr>
          <p:spPr>
            <a:xfrm>
              <a:off x="8293608" y="987552"/>
              <a:ext cx="384048" cy="502920"/>
            </a:xfrm>
            <a:prstGeom prst="rect">
              <a:avLst/>
            </a:prstGeom>
            <a:solidFill>
              <a:srgbClr val="7C3AED"/>
            </a:solidFill>
            <a:ln/>
          </p:spPr>
          <p:txBody>
            <a:bodyPr/>
            <a:lstStyle/>
            <a:p>
              <a:endParaRPr lang="en-SG"/>
            </a:p>
          </p:txBody>
        </p:sp>
        <p:sp>
          <p:nvSpPr>
            <p:cNvPr id="28" name="Text 25">
              <a:extLst>
                <a:ext uri="{FF2B5EF4-FFF2-40B4-BE49-F238E27FC236}">
                  <a16:creationId xmlns:a16="http://schemas.microsoft.com/office/drawing/2014/main" id="{B56E892C-592B-CB1A-9BD5-A17DE1CD3A3B}"/>
                </a:ext>
              </a:extLst>
            </p:cNvPr>
            <p:cNvSpPr/>
            <p:nvPr/>
          </p:nvSpPr>
          <p:spPr>
            <a:xfrm>
              <a:off x="8293608" y="987552"/>
              <a:ext cx="384048" cy="50292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C</a:t>
              </a:r>
              <a:endParaRPr lang="en-US" sz="1200"/>
            </a:p>
          </p:txBody>
        </p:sp>
        <p:sp>
          <p:nvSpPr>
            <p:cNvPr id="29" name="Shape 26">
              <a:extLst>
                <a:ext uri="{FF2B5EF4-FFF2-40B4-BE49-F238E27FC236}">
                  <a16:creationId xmlns:a16="http://schemas.microsoft.com/office/drawing/2014/main" id="{B9ECD201-559F-0DB6-10C0-D3E767E1B28E}"/>
                </a:ext>
              </a:extLst>
            </p:cNvPr>
            <p:cNvSpPr/>
            <p:nvPr/>
          </p:nvSpPr>
          <p:spPr>
            <a:xfrm>
              <a:off x="320040" y="2194560"/>
              <a:ext cx="2743200" cy="960120"/>
            </a:xfrm>
            <a:prstGeom prst="rect">
              <a:avLst/>
            </a:prstGeom>
            <a:solidFill>
              <a:srgbClr val="F3E8FF"/>
            </a:solidFill>
            <a:ln w="19050">
              <a:solidFill>
                <a:srgbClr val="7C3AED"/>
              </a:solidFill>
              <a:prstDash val="solid"/>
            </a:ln>
          </p:spPr>
          <p:txBody>
            <a:bodyPr/>
            <a:lstStyle/>
            <a:p>
              <a:endParaRPr lang="en-SG"/>
            </a:p>
          </p:txBody>
        </p:sp>
        <p:sp>
          <p:nvSpPr>
            <p:cNvPr id="30" name="Text 27">
              <a:extLst>
                <a:ext uri="{FF2B5EF4-FFF2-40B4-BE49-F238E27FC236}">
                  <a16:creationId xmlns:a16="http://schemas.microsoft.com/office/drawing/2014/main" id="{B03FD83D-65B0-AC10-EABB-038B477E7775}"/>
                </a:ext>
              </a:extLst>
            </p:cNvPr>
            <p:cNvSpPr/>
            <p:nvPr/>
          </p:nvSpPr>
          <p:spPr>
            <a:xfrm>
              <a:off x="320040" y="3154680"/>
              <a:ext cx="2743200" cy="228600"/>
            </a:xfrm>
            <a:prstGeom prst="rect">
              <a:avLst/>
            </a:prstGeom>
            <a:noFill/>
            <a:ln/>
          </p:spPr>
          <p:txBody>
            <a:bodyPr wrap="square" rtlCol="0" anchor="ctr"/>
            <a:lstStyle/>
            <a:p>
              <a:pPr marL="0" indent="0" algn="ctr">
                <a:buNone/>
              </a:pPr>
              <a:r>
                <a:rPr lang="en-US" sz="900">
                  <a:solidFill>
                    <a:srgbClr val="7C3AED"/>
                  </a:solidFill>
                  <a:latin typeface="Courier New" pitchFamily="34" charset="0"/>
                  <a:ea typeface="Courier New" pitchFamily="34" charset="-122"/>
                  <a:cs typeface="Courier New" pitchFamily="34" charset="-120"/>
                </a:rPr>
                <a:t>space-between</a:t>
              </a:r>
              <a:endParaRPr lang="en-US" sz="900"/>
            </a:p>
          </p:txBody>
        </p:sp>
        <p:sp>
          <p:nvSpPr>
            <p:cNvPr id="31" name="Shape 28">
              <a:extLst>
                <a:ext uri="{FF2B5EF4-FFF2-40B4-BE49-F238E27FC236}">
                  <a16:creationId xmlns:a16="http://schemas.microsoft.com/office/drawing/2014/main" id="{6330F5CF-214B-782F-7507-7BC19CCAFA08}"/>
                </a:ext>
              </a:extLst>
            </p:cNvPr>
            <p:cNvSpPr/>
            <p:nvPr/>
          </p:nvSpPr>
          <p:spPr>
            <a:xfrm>
              <a:off x="374904" y="2359152"/>
              <a:ext cx="384048" cy="502920"/>
            </a:xfrm>
            <a:prstGeom prst="rect">
              <a:avLst/>
            </a:prstGeom>
            <a:solidFill>
              <a:srgbClr val="7C3AED"/>
            </a:solidFill>
            <a:ln/>
          </p:spPr>
          <p:txBody>
            <a:bodyPr/>
            <a:lstStyle/>
            <a:p>
              <a:endParaRPr lang="en-SG"/>
            </a:p>
          </p:txBody>
        </p:sp>
        <p:sp>
          <p:nvSpPr>
            <p:cNvPr id="32" name="Text 29">
              <a:extLst>
                <a:ext uri="{FF2B5EF4-FFF2-40B4-BE49-F238E27FC236}">
                  <a16:creationId xmlns:a16="http://schemas.microsoft.com/office/drawing/2014/main" id="{356AE4A1-F5E6-D042-C421-A6190DD1DCEB}"/>
                </a:ext>
              </a:extLst>
            </p:cNvPr>
            <p:cNvSpPr/>
            <p:nvPr/>
          </p:nvSpPr>
          <p:spPr>
            <a:xfrm>
              <a:off x="374904" y="2359152"/>
              <a:ext cx="384048" cy="50292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A</a:t>
              </a:r>
              <a:endParaRPr lang="en-US" sz="1200"/>
            </a:p>
          </p:txBody>
        </p:sp>
        <p:sp>
          <p:nvSpPr>
            <p:cNvPr id="33" name="Shape 30">
              <a:extLst>
                <a:ext uri="{FF2B5EF4-FFF2-40B4-BE49-F238E27FC236}">
                  <a16:creationId xmlns:a16="http://schemas.microsoft.com/office/drawing/2014/main" id="{FDCE1A33-891D-FFE3-D831-57D7D98CE9D8}"/>
                </a:ext>
              </a:extLst>
            </p:cNvPr>
            <p:cNvSpPr/>
            <p:nvPr/>
          </p:nvSpPr>
          <p:spPr>
            <a:xfrm>
              <a:off x="1517659" y="2359152"/>
              <a:ext cx="384048" cy="502920"/>
            </a:xfrm>
            <a:prstGeom prst="rect">
              <a:avLst/>
            </a:prstGeom>
            <a:solidFill>
              <a:srgbClr val="7C3AED"/>
            </a:solidFill>
            <a:ln/>
          </p:spPr>
          <p:txBody>
            <a:bodyPr/>
            <a:lstStyle/>
            <a:p>
              <a:endParaRPr lang="en-SG"/>
            </a:p>
          </p:txBody>
        </p:sp>
        <p:sp>
          <p:nvSpPr>
            <p:cNvPr id="34" name="Text 31">
              <a:extLst>
                <a:ext uri="{FF2B5EF4-FFF2-40B4-BE49-F238E27FC236}">
                  <a16:creationId xmlns:a16="http://schemas.microsoft.com/office/drawing/2014/main" id="{6A9D53C0-8435-8674-6111-355E7AEE2067}"/>
                </a:ext>
              </a:extLst>
            </p:cNvPr>
            <p:cNvSpPr/>
            <p:nvPr/>
          </p:nvSpPr>
          <p:spPr>
            <a:xfrm>
              <a:off x="1517659" y="2359152"/>
              <a:ext cx="384048" cy="50292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B</a:t>
              </a:r>
              <a:endParaRPr lang="en-US" sz="1200"/>
            </a:p>
          </p:txBody>
        </p:sp>
        <p:sp>
          <p:nvSpPr>
            <p:cNvPr id="35" name="Shape 32">
              <a:extLst>
                <a:ext uri="{FF2B5EF4-FFF2-40B4-BE49-F238E27FC236}">
                  <a16:creationId xmlns:a16="http://schemas.microsoft.com/office/drawing/2014/main" id="{B98C82A7-2DF9-6C0A-90A5-5E42D300A9F0}"/>
                </a:ext>
              </a:extLst>
            </p:cNvPr>
            <p:cNvSpPr/>
            <p:nvPr/>
          </p:nvSpPr>
          <p:spPr>
            <a:xfrm>
              <a:off x="2615184" y="2368296"/>
              <a:ext cx="384048" cy="502920"/>
            </a:xfrm>
            <a:prstGeom prst="rect">
              <a:avLst/>
            </a:prstGeom>
            <a:solidFill>
              <a:srgbClr val="7C3AED"/>
            </a:solidFill>
            <a:ln/>
          </p:spPr>
          <p:txBody>
            <a:bodyPr/>
            <a:lstStyle/>
            <a:p>
              <a:endParaRPr lang="en-SG"/>
            </a:p>
          </p:txBody>
        </p:sp>
        <p:sp>
          <p:nvSpPr>
            <p:cNvPr id="36" name="Text 33">
              <a:extLst>
                <a:ext uri="{FF2B5EF4-FFF2-40B4-BE49-F238E27FC236}">
                  <a16:creationId xmlns:a16="http://schemas.microsoft.com/office/drawing/2014/main" id="{4ED59A62-D1BD-0BE9-412F-63B9A45D799F}"/>
                </a:ext>
              </a:extLst>
            </p:cNvPr>
            <p:cNvSpPr/>
            <p:nvPr/>
          </p:nvSpPr>
          <p:spPr>
            <a:xfrm>
              <a:off x="2615182" y="2350892"/>
              <a:ext cx="384048" cy="50292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C</a:t>
              </a:r>
              <a:endParaRPr lang="en-US" sz="1200"/>
            </a:p>
          </p:txBody>
        </p:sp>
        <p:sp>
          <p:nvSpPr>
            <p:cNvPr id="37" name="Shape 34">
              <a:extLst>
                <a:ext uri="{FF2B5EF4-FFF2-40B4-BE49-F238E27FC236}">
                  <a16:creationId xmlns:a16="http://schemas.microsoft.com/office/drawing/2014/main" id="{E37DC577-9E52-983C-73E4-9A9C8DB96D80}"/>
                </a:ext>
              </a:extLst>
            </p:cNvPr>
            <p:cNvSpPr/>
            <p:nvPr/>
          </p:nvSpPr>
          <p:spPr>
            <a:xfrm>
              <a:off x="4663440" y="2194560"/>
              <a:ext cx="2743200" cy="960120"/>
            </a:xfrm>
            <a:prstGeom prst="rect">
              <a:avLst/>
            </a:prstGeom>
            <a:solidFill>
              <a:srgbClr val="F3E8FF"/>
            </a:solidFill>
            <a:ln w="19050">
              <a:solidFill>
                <a:srgbClr val="7C3AED"/>
              </a:solidFill>
              <a:prstDash val="solid"/>
            </a:ln>
          </p:spPr>
          <p:txBody>
            <a:bodyPr/>
            <a:lstStyle/>
            <a:p>
              <a:endParaRPr lang="en-SG"/>
            </a:p>
          </p:txBody>
        </p:sp>
        <p:sp>
          <p:nvSpPr>
            <p:cNvPr id="38" name="Text 35">
              <a:extLst>
                <a:ext uri="{FF2B5EF4-FFF2-40B4-BE49-F238E27FC236}">
                  <a16:creationId xmlns:a16="http://schemas.microsoft.com/office/drawing/2014/main" id="{CFA0258E-27DC-A39C-3305-962EB6C1EA9F}"/>
                </a:ext>
              </a:extLst>
            </p:cNvPr>
            <p:cNvSpPr/>
            <p:nvPr/>
          </p:nvSpPr>
          <p:spPr>
            <a:xfrm>
              <a:off x="4663440" y="3154680"/>
              <a:ext cx="2743200" cy="228600"/>
            </a:xfrm>
            <a:prstGeom prst="rect">
              <a:avLst/>
            </a:prstGeom>
            <a:noFill/>
            <a:ln/>
          </p:spPr>
          <p:txBody>
            <a:bodyPr wrap="square" rtlCol="0" anchor="ctr"/>
            <a:lstStyle/>
            <a:p>
              <a:pPr marL="0" indent="0" algn="ctr">
                <a:buNone/>
              </a:pPr>
              <a:r>
                <a:rPr lang="en-US" sz="900">
                  <a:solidFill>
                    <a:srgbClr val="7C3AED"/>
                  </a:solidFill>
                  <a:latin typeface="Courier New" pitchFamily="34" charset="0"/>
                  <a:ea typeface="Courier New" pitchFamily="34" charset="-122"/>
                  <a:cs typeface="Courier New" pitchFamily="34" charset="-120"/>
                </a:rPr>
                <a:t>space-around</a:t>
              </a:r>
              <a:endParaRPr lang="en-US" sz="900"/>
            </a:p>
          </p:txBody>
        </p:sp>
        <p:sp>
          <p:nvSpPr>
            <p:cNvPr id="39" name="Shape 36">
              <a:extLst>
                <a:ext uri="{FF2B5EF4-FFF2-40B4-BE49-F238E27FC236}">
                  <a16:creationId xmlns:a16="http://schemas.microsoft.com/office/drawing/2014/main" id="{A52411B9-CE24-5DA9-D7F8-889A7DAC4D56}"/>
                </a:ext>
              </a:extLst>
            </p:cNvPr>
            <p:cNvSpPr/>
            <p:nvPr/>
          </p:nvSpPr>
          <p:spPr>
            <a:xfrm>
              <a:off x="5033772" y="2359152"/>
              <a:ext cx="384048" cy="502920"/>
            </a:xfrm>
            <a:prstGeom prst="rect">
              <a:avLst/>
            </a:prstGeom>
            <a:solidFill>
              <a:srgbClr val="7C3AED"/>
            </a:solidFill>
            <a:ln/>
          </p:spPr>
          <p:txBody>
            <a:bodyPr/>
            <a:lstStyle/>
            <a:p>
              <a:endParaRPr lang="en-SG"/>
            </a:p>
          </p:txBody>
        </p:sp>
        <p:sp>
          <p:nvSpPr>
            <p:cNvPr id="40" name="Text 37">
              <a:extLst>
                <a:ext uri="{FF2B5EF4-FFF2-40B4-BE49-F238E27FC236}">
                  <a16:creationId xmlns:a16="http://schemas.microsoft.com/office/drawing/2014/main" id="{96F25E0B-E92D-0F14-D3A5-9D9CB86B3AB5}"/>
                </a:ext>
              </a:extLst>
            </p:cNvPr>
            <p:cNvSpPr/>
            <p:nvPr/>
          </p:nvSpPr>
          <p:spPr>
            <a:xfrm>
              <a:off x="5033772" y="2359152"/>
              <a:ext cx="384048" cy="50292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A</a:t>
              </a:r>
              <a:endParaRPr lang="en-US" sz="1200"/>
            </a:p>
          </p:txBody>
        </p:sp>
        <p:sp>
          <p:nvSpPr>
            <p:cNvPr id="41" name="Shape 38">
              <a:extLst>
                <a:ext uri="{FF2B5EF4-FFF2-40B4-BE49-F238E27FC236}">
                  <a16:creationId xmlns:a16="http://schemas.microsoft.com/office/drawing/2014/main" id="{4B02352B-3FF5-AA05-BF62-E5AE0FD2A036}"/>
                </a:ext>
              </a:extLst>
            </p:cNvPr>
            <p:cNvSpPr/>
            <p:nvPr/>
          </p:nvSpPr>
          <p:spPr>
            <a:xfrm>
              <a:off x="5788152" y="2359152"/>
              <a:ext cx="384048" cy="502920"/>
            </a:xfrm>
            <a:prstGeom prst="rect">
              <a:avLst/>
            </a:prstGeom>
            <a:solidFill>
              <a:srgbClr val="7C3AED"/>
            </a:solidFill>
            <a:ln/>
          </p:spPr>
          <p:txBody>
            <a:bodyPr/>
            <a:lstStyle/>
            <a:p>
              <a:endParaRPr lang="en-SG"/>
            </a:p>
          </p:txBody>
        </p:sp>
        <p:sp>
          <p:nvSpPr>
            <p:cNvPr id="42" name="Text 39">
              <a:extLst>
                <a:ext uri="{FF2B5EF4-FFF2-40B4-BE49-F238E27FC236}">
                  <a16:creationId xmlns:a16="http://schemas.microsoft.com/office/drawing/2014/main" id="{65CDCB72-0D49-F224-6EBC-EA2E336D1BCC}"/>
                </a:ext>
              </a:extLst>
            </p:cNvPr>
            <p:cNvSpPr/>
            <p:nvPr/>
          </p:nvSpPr>
          <p:spPr>
            <a:xfrm>
              <a:off x="5788152" y="2359152"/>
              <a:ext cx="384048" cy="50292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B</a:t>
              </a:r>
              <a:endParaRPr lang="en-US" sz="1200"/>
            </a:p>
          </p:txBody>
        </p:sp>
        <p:sp>
          <p:nvSpPr>
            <p:cNvPr id="43" name="Shape 40">
              <a:extLst>
                <a:ext uri="{FF2B5EF4-FFF2-40B4-BE49-F238E27FC236}">
                  <a16:creationId xmlns:a16="http://schemas.microsoft.com/office/drawing/2014/main" id="{C2CD4C09-E935-0BF2-9DF5-3DF62849F44B}"/>
                </a:ext>
              </a:extLst>
            </p:cNvPr>
            <p:cNvSpPr/>
            <p:nvPr/>
          </p:nvSpPr>
          <p:spPr>
            <a:xfrm>
              <a:off x="6542532" y="2359152"/>
              <a:ext cx="384048" cy="502920"/>
            </a:xfrm>
            <a:prstGeom prst="rect">
              <a:avLst/>
            </a:prstGeom>
            <a:solidFill>
              <a:srgbClr val="7C3AED"/>
            </a:solidFill>
            <a:ln/>
          </p:spPr>
          <p:txBody>
            <a:bodyPr/>
            <a:lstStyle/>
            <a:p>
              <a:endParaRPr lang="en-SG"/>
            </a:p>
          </p:txBody>
        </p:sp>
        <p:sp>
          <p:nvSpPr>
            <p:cNvPr id="44" name="Text 41">
              <a:extLst>
                <a:ext uri="{FF2B5EF4-FFF2-40B4-BE49-F238E27FC236}">
                  <a16:creationId xmlns:a16="http://schemas.microsoft.com/office/drawing/2014/main" id="{CD3B62F6-7C78-00E7-0853-794AD0666930}"/>
                </a:ext>
              </a:extLst>
            </p:cNvPr>
            <p:cNvSpPr/>
            <p:nvPr/>
          </p:nvSpPr>
          <p:spPr>
            <a:xfrm>
              <a:off x="6542532" y="2359152"/>
              <a:ext cx="384048" cy="502920"/>
            </a:xfrm>
            <a:prstGeom prst="rect">
              <a:avLst/>
            </a:prstGeom>
            <a:noFill/>
            <a:ln/>
          </p:spPr>
          <p:txBody>
            <a:bodyPr wrap="square"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C</a:t>
              </a:r>
              <a:endParaRPr lang="en-US" sz="1200"/>
            </a:p>
          </p:txBody>
        </p:sp>
        <p:sp>
          <p:nvSpPr>
            <p:cNvPr id="45" name="Text 42">
              <a:extLst>
                <a:ext uri="{FF2B5EF4-FFF2-40B4-BE49-F238E27FC236}">
                  <a16:creationId xmlns:a16="http://schemas.microsoft.com/office/drawing/2014/main" id="{C248B11D-03C7-8F79-C379-5625A104B3D8}"/>
                </a:ext>
              </a:extLst>
            </p:cNvPr>
            <p:cNvSpPr/>
            <p:nvPr/>
          </p:nvSpPr>
          <p:spPr>
            <a:xfrm>
              <a:off x="320040" y="3383280"/>
              <a:ext cx="8549640" cy="320040"/>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align-items (Cross Axis):</a:t>
              </a:r>
              <a:endParaRPr lang="en-US" sz="1300"/>
            </a:p>
          </p:txBody>
        </p:sp>
        <p:sp>
          <p:nvSpPr>
            <p:cNvPr id="46" name="Shape 43">
              <a:extLst>
                <a:ext uri="{FF2B5EF4-FFF2-40B4-BE49-F238E27FC236}">
                  <a16:creationId xmlns:a16="http://schemas.microsoft.com/office/drawing/2014/main" id="{6A8A0FC5-14B8-7DAC-37D6-5E6E49CADD8A}"/>
                </a:ext>
              </a:extLst>
            </p:cNvPr>
            <p:cNvSpPr/>
            <p:nvPr/>
          </p:nvSpPr>
          <p:spPr>
            <a:xfrm>
              <a:off x="320040" y="3749040"/>
              <a:ext cx="1965960" cy="1051560"/>
            </a:xfrm>
            <a:prstGeom prst="rect">
              <a:avLst/>
            </a:prstGeom>
            <a:solidFill>
              <a:srgbClr val="F3E8FF"/>
            </a:solidFill>
            <a:ln w="19050">
              <a:solidFill>
                <a:srgbClr val="7C3AED"/>
              </a:solidFill>
              <a:prstDash val="solid"/>
            </a:ln>
          </p:spPr>
          <p:txBody>
            <a:bodyPr/>
            <a:lstStyle/>
            <a:p>
              <a:endParaRPr lang="en-SG"/>
            </a:p>
          </p:txBody>
        </p:sp>
        <p:sp>
          <p:nvSpPr>
            <p:cNvPr id="47" name="Text 44">
              <a:extLst>
                <a:ext uri="{FF2B5EF4-FFF2-40B4-BE49-F238E27FC236}">
                  <a16:creationId xmlns:a16="http://schemas.microsoft.com/office/drawing/2014/main" id="{6A48C730-5814-0641-C4BC-1E5E966CDB6F}"/>
                </a:ext>
              </a:extLst>
            </p:cNvPr>
            <p:cNvSpPr/>
            <p:nvPr/>
          </p:nvSpPr>
          <p:spPr>
            <a:xfrm>
              <a:off x="320040" y="4800600"/>
              <a:ext cx="1965960" cy="201168"/>
            </a:xfrm>
            <a:prstGeom prst="rect">
              <a:avLst/>
            </a:prstGeom>
            <a:noFill/>
            <a:ln/>
          </p:spPr>
          <p:txBody>
            <a:bodyPr wrap="square" rtlCol="0" anchor="ctr"/>
            <a:lstStyle/>
            <a:p>
              <a:pPr marL="0" indent="0" algn="ctr">
                <a:buNone/>
              </a:pPr>
              <a:r>
                <a:rPr lang="en-US" sz="850">
                  <a:solidFill>
                    <a:srgbClr val="7C3AED"/>
                  </a:solidFill>
                  <a:latin typeface="Courier New" pitchFamily="34" charset="0"/>
                  <a:ea typeface="Courier New" pitchFamily="34" charset="-122"/>
                  <a:cs typeface="Courier New" pitchFamily="34" charset="-120"/>
                </a:rPr>
                <a:t>flex-start</a:t>
              </a:r>
              <a:endParaRPr lang="en-US" sz="850"/>
            </a:p>
          </p:txBody>
        </p:sp>
        <p:sp>
          <p:nvSpPr>
            <p:cNvPr id="48" name="Shape 45">
              <a:extLst>
                <a:ext uri="{FF2B5EF4-FFF2-40B4-BE49-F238E27FC236}">
                  <a16:creationId xmlns:a16="http://schemas.microsoft.com/office/drawing/2014/main" id="{BB7FF75C-357B-3F7F-6F03-52AABFAA7423}"/>
                </a:ext>
              </a:extLst>
            </p:cNvPr>
            <p:cNvSpPr/>
            <p:nvPr/>
          </p:nvSpPr>
          <p:spPr>
            <a:xfrm>
              <a:off x="393192" y="3822192"/>
              <a:ext cx="475488" cy="365760"/>
            </a:xfrm>
            <a:prstGeom prst="rect">
              <a:avLst/>
            </a:prstGeom>
            <a:solidFill>
              <a:srgbClr val="7C3AED"/>
            </a:solidFill>
            <a:ln/>
          </p:spPr>
          <p:txBody>
            <a:bodyPr/>
            <a:lstStyle/>
            <a:p>
              <a:endParaRPr lang="en-SG"/>
            </a:p>
          </p:txBody>
        </p:sp>
        <p:sp>
          <p:nvSpPr>
            <p:cNvPr id="49" name="Shape 46">
              <a:extLst>
                <a:ext uri="{FF2B5EF4-FFF2-40B4-BE49-F238E27FC236}">
                  <a16:creationId xmlns:a16="http://schemas.microsoft.com/office/drawing/2014/main" id="{2788A25D-D713-C7FC-D66E-86891F7AEE8F}"/>
                </a:ext>
              </a:extLst>
            </p:cNvPr>
            <p:cNvSpPr/>
            <p:nvPr/>
          </p:nvSpPr>
          <p:spPr>
            <a:xfrm>
              <a:off x="996696" y="3822192"/>
              <a:ext cx="475488" cy="365760"/>
            </a:xfrm>
            <a:prstGeom prst="rect">
              <a:avLst/>
            </a:prstGeom>
            <a:solidFill>
              <a:srgbClr val="7C3AED"/>
            </a:solidFill>
            <a:ln/>
          </p:spPr>
          <p:txBody>
            <a:bodyPr/>
            <a:lstStyle/>
            <a:p>
              <a:endParaRPr lang="en-SG"/>
            </a:p>
          </p:txBody>
        </p:sp>
        <p:sp>
          <p:nvSpPr>
            <p:cNvPr id="50" name="Shape 47">
              <a:extLst>
                <a:ext uri="{FF2B5EF4-FFF2-40B4-BE49-F238E27FC236}">
                  <a16:creationId xmlns:a16="http://schemas.microsoft.com/office/drawing/2014/main" id="{42650B28-FDA9-3A0C-D728-096A648A63B4}"/>
                </a:ext>
              </a:extLst>
            </p:cNvPr>
            <p:cNvSpPr/>
            <p:nvPr/>
          </p:nvSpPr>
          <p:spPr>
            <a:xfrm>
              <a:off x="1600200" y="3822192"/>
              <a:ext cx="475488" cy="365760"/>
            </a:xfrm>
            <a:prstGeom prst="rect">
              <a:avLst/>
            </a:prstGeom>
            <a:solidFill>
              <a:srgbClr val="7C3AED"/>
            </a:solidFill>
            <a:ln/>
          </p:spPr>
          <p:txBody>
            <a:bodyPr/>
            <a:lstStyle/>
            <a:p>
              <a:endParaRPr lang="en-SG"/>
            </a:p>
          </p:txBody>
        </p:sp>
        <p:sp>
          <p:nvSpPr>
            <p:cNvPr id="51" name="Shape 48">
              <a:extLst>
                <a:ext uri="{FF2B5EF4-FFF2-40B4-BE49-F238E27FC236}">
                  <a16:creationId xmlns:a16="http://schemas.microsoft.com/office/drawing/2014/main" id="{256250DD-AF15-2F7E-1F42-52061248CB44}"/>
                </a:ext>
              </a:extLst>
            </p:cNvPr>
            <p:cNvSpPr/>
            <p:nvPr/>
          </p:nvSpPr>
          <p:spPr>
            <a:xfrm>
              <a:off x="2496312" y="3749040"/>
              <a:ext cx="1965960" cy="1051560"/>
            </a:xfrm>
            <a:prstGeom prst="rect">
              <a:avLst/>
            </a:prstGeom>
            <a:solidFill>
              <a:srgbClr val="F3E8FF"/>
            </a:solidFill>
            <a:ln w="19050">
              <a:solidFill>
                <a:srgbClr val="7C3AED"/>
              </a:solidFill>
              <a:prstDash val="solid"/>
            </a:ln>
          </p:spPr>
          <p:txBody>
            <a:bodyPr/>
            <a:lstStyle/>
            <a:p>
              <a:endParaRPr lang="en-SG"/>
            </a:p>
          </p:txBody>
        </p:sp>
        <p:sp>
          <p:nvSpPr>
            <p:cNvPr id="52" name="Text 49">
              <a:extLst>
                <a:ext uri="{FF2B5EF4-FFF2-40B4-BE49-F238E27FC236}">
                  <a16:creationId xmlns:a16="http://schemas.microsoft.com/office/drawing/2014/main" id="{A0789C41-0E5D-3697-FB4F-2EDE660C07ED}"/>
                </a:ext>
              </a:extLst>
            </p:cNvPr>
            <p:cNvSpPr/>
            <p:nvPr/>
          </p:nvSpPr>
          <p:spPr>
            <a:xfrm>
              <a:off x="2496312" y="4800600"/>
              <a:ext cx="1965960" cy="201168"/>
            </a:xfrm>
            <a:prstGeom prst="rect">
              <a:avLst/>
            </a:prstGeom>
            <a:noFill/>
            <a:ln/>
          </p:spPr>
          <p:txBody>
            <a:bodyPr wrap="square" rtlCol="0" anchor="ctr"/>
            <a:lstStyle/>
            <a:p>
              <a:pPr marL="0" indent="0" algn="ctr">
                <a:buNone/>
              </a:pPr>
              <a:r>
                <a:rPr lang="en-US" sz="850">
                  <a:solidFill>
                    <a:srgbClr val="7C3AED"/>
                  </a:solidFill>
                  <a:latin typeface="Courier New" pitchFamily="34" charset="0"/>
                  <a:ea typeface="Courier New" pitchFamily="34" charset="-122"/>
                  <a:cs typeface="Courier New" pitchFamily="34" charset="-120"/>
                </a:rPr>
                <a:t>center</a:t>
              </a:r>
              <a:endParaRPr lang="en-US" sz="850"/>
            </a:p>
          </p:txBody>
        </p:sp>
        <p:sp>
          <p:nvSpPr>
            <p:cNvPr id="53" name="Shape 50">
              <a:extLst>
                <a:ext uri="{FF2B5EF4-FFF2-40B4-BE49-F238E27FC236}">
                  <a16:creationId xmlns:a16="http://schemas.microsoft.com/office/drawing/2014/main" id="{149BC2AB-9225-CE78-5634-C40E77B2C2CB}"/>
                </a:ext>
              </a:extLst>
            </p:cNvPr>
            <p:cNvSpPr/>
            <p:nvPr/>
          </p:nvSpPr>
          <p:spPr>
            <a:xfrm>
              <a:off x="2569464" y="4096512"/>
              <a:ext cx="475488" cy="365760"/>
            </a:xfrm>
            <a:prstGeom prst="rect">
              <a:avLst/>
            </a:prstGeom>
            <a:solidFill>
              <a:srgbClr val="7C3AED"/>
            </a:solidFill>
            <a:ln/>
          </p:spPr>
          <p:txBody>
            <a:bodyPr/>
            <a:lstStyle/>
            <a:p>
              <a:endParaRPr lang="en-SG"/>
            </a:p>
          </p:txBody>
        </p:sp>
        <p:sp>
          <p:nvSpPr>
            <p:cNvPr id="54" name="Shape 51">
              <a:extLst>
                <a:ext uri="{FF2B5EF4-FFF2-40B4-BE49-F238E27FC236}">
                  <a16:creationId xmlns:a16="http://schemas.microsoft.com/office/drawing/2014/main" id="{6E5CDF49-AF69-1557-BFCB-7AC9706917E2}"/>
                </a:ext>
              </a:extLst>
            </p:cNvPr>
            <p:cNvSpPr/>
            <p:nvPr/>
          </p:nvSpPr>
          <p:spPr>
            <a:xfrm>
              <a:off x="3172968" y="4096512"/>
              <a:ext cx="475488" cy="365760"/>
            </a:xfrm>
            <a:prstGeom prst="rect">
              <a:avLst/>
            </a:prstGeom>
            <a:solidFill>
              <a:srgbClr val="7C3AED"/>
            </a:solidFill>
            <a:ln/>
          </p:spPr>
          <p:txBody>
            <a:bodyPr/>
            <a:lstStyle/>
            <a:p>
              <a:endParaRPr lang="en-SG"/>
            </a:p>
          </p:txBody>
        </p:sp>
        <p:sp>
          <p:nvSpPr>
            <p:cNvPr id="55" name="Shape 52">
              <a:extLst>
                <a:ext uri="{FF2B5EF4-FFF2-40B4-BE49-F238E27FC236}">
                  <a16:creationId xmlns:a16="http://schemas.microsoft.com/office/drawing/2014/main" id="{869C8C20-C3DC-DA6A-F42C-E73836BF2C4F}"/>
                </a:ext>
              </a:extLst>
            </p:cNvPr>
            <p:cNvSpPr/>
            <p:nvPr/>
          </p:nvSpPr>
          <p:spPr>
            <a:xfrm>
              <a:off x="3776472" y="4096512"/>
              <a:ext cx="475488" cy="365760"/>
            </a:xfrm>
            <a:prstGeom prst="rect">
              <a:avLst/>
            </a:prstGeom>
            <a:solidFill>
              <a:srgbClr val="7C3AED"/>
            </a:solidFill>
            <a:ln/>
          </p:spPr>
          <p:txBody>
            <a:bodyPr/>
            <a:lstStyle/>
            <a:p>
              <a:endParaRPr lang="en-SG"/>
            </a:p>
          </p:txBody>
        </p:sp>
        <p:sp>
          <p:nvSpPr>
            <p:cNvPr id="56" name="Shape 53">
              <a:extLst>
                <a:ext uri="{FF2B5EF4-FFF2-40B4-BE49-F238E27FC236}">
                  <a16:creationId xmlns:a16="http://schemas.microsoft.com/office/drawing/2014/main" id="{6EE7F87A-5404-C0E6-8448-2AF33531874A}"/>
                </a:ext>
              </a:extLst>
            </p:cNvPr>
            <p:cNvSpPr/>
            <p:nvPr/>
          </p:nvSpPr>
          <p:spPr>
            <a:xfrm>
              <a:off x="4672584" y="3749040"/>
              <a:ext cx="1965960" cy="1051560"/>
            </a:xfrm>
            <a:prstGeom prst="rect">
              <a:avLst/>
            </a:prstGeom>
            <a:solidFill>
              <a:srgbClr val="F3E8FF"/>
            </a:solidFill>
            <a:ln w="19050">
              <a:solidFill>
                <a:srgbClr val="7C3AED"/>
              </a:solidFill>
              <a:prstDash val="solid"/>
            </a:ln>
          </p:spPr>
          <p:txBody>
            <a:bodyPr/>
            <a:lstStyle/>
            <a:p>
              <a:endParaRPr lang="en-SG"/>
            </a:p>
          </p:txBody>
        </p:sp>
        <p:sp>
          <p:nvSpPr>
            <p:cNvPr id="57" name="Text 54">
              <a:extLst>
                <a:ext uri="{FF2B5EF4-FFF2-40B4-BE49-F238E27FC236}">
                  <a16:creationId xmlns:a16="http://schemas.microsoft.com/office/drawing/2014/main" id="{56B3D09C-F94E-5ADC-BFEF-E7C37FBAE62A}"/>
                </a:ext>
              </a:extLst>
            </p:cNvPr>
            <p:cNvSpPr/>
            <p:nvPr/>
          </p:nvSpPr>
          <p:spPr>
            <a:xfrm>
              <a:off x="4672584" y="4800600"/>
              <a:ext cx="1965960" cy="201168"/>
            </a:xfrm>
            <a:prstGeom prst="rect">
              <a:avLst/>
            </a:prstGeom>
            <a:noFill/>
            <a:ln/>
          </p:spPr>
          <p:txBody>
            <a:bodyPr wrap="square" rtlCol="0" anchor="ctr"/>
            <a:lstStyle/>
            <a:p>
              <a:pPr marL="0" indent="0" algn="ctr">
                <a:buNone/>
              </a:pPr>
              <a:r>
                <a:rPr lang="en-US" sz="850">
                  <a:solidFill>
                    <a:srgbClr val="7C3AED"/>
                  </a:solidFill>
                  <a:latin typeface="Courier New" pitchFamily="34" charset="0"/>
                  <a:ea typeface="Courier New" pitchFamily="34" charset="-122"/>
                  <a:cs typeface="Courier New" pitchFamily="34" charset="-120"/>
                </a:rPr>
                <a:t>flex-end</a:t>
              </a:r>
              <a:endParaRPr lang="en-US" sz="850"/>
            </a:p>
          </p:txBody>
        </p:sp>
        <p:sp>
          <p:nvSpPr>
            <p:cNvPr id="58" name="Shape 55">
              <a:extLst>
                <a:ext uri="{FF2B5EF4-FFF2-40B4-BE49-F238E27FC236}">
                  <a16:creationId xmlns:a16="http://schemas.microsoft.com/office/drawing/2014/main" id="{DF147303-D72D-6DB2-3841-7D3B8502BB02}"/>
                </a:ext>
              </a:extLst>
            </p:cNvPr>
            <p:cNvSpPr/>
            <p:nvPr/>
          </p:nvSpPr>
          <p:spPr>
            <a:xfrm>
              <a:off x="4745736" y="4370832"/>
              <a:ext cx="475488" cy="365760"/>
            </a:xfrm>
            <a:prstGeom prst="rect">
              <a:avLst/>
            </a:prstGeom>
            <a:solidFill>
              <a:srgbClr val="7C3AED"/>
            </a:solidFill>
            <a:ln/>
          </p:spPr>
          <p:txBody>
            <a:bodyPr/>
            <a:lstStyle/>
            <a:p>
              <a:endParaRPr lang="en-SG"/>
            </a:p>
          </p:txBody>
        </p:sp>
        <p:sp>
          <p:nvSpPr>
            <p:cNvPr id="59" name="Shape 56">
              <a:extLst>
                <a:ext uri="{FF2B5EF4-FFF2-40B4-BE49-F238E27FC236}">
                  <a16:creationId xmlns:a16="http://schemas.microsoft.com/office/drawing/2014/main" id="{AE296CC0-1A30-353B-0E38-48506F459996}"/>
                </a:ext>
              </a:extLst>
            </p:cNvPr>
            <p:cNvSpPr/>
            <p:nvPr/>
          </p:nvSpPr>
          <p:spPr>
            <a:xfrm>
              <a:off x="5349240" y="4370832"/>
              <a:ext cx="475488" cy="365760"/>
            </a:xfrm>
            <a:prstGeom prst="rect">
              <a:avLst/>
            </a:prstGeom>
            <a:solidFill>
              <a:srgbClr val="7C3AED"/>
            </a:solidFill>
            <a:ln/>
          </p:spPr>
          <p:txBody>
            <a:bodyPr/>
            <a:lstStyle/>
            <a:p>
              <a:endParaRPr lang="en-SG"/>
            </a:p>
          </p:txBody>
        </p:sp>
        <p:sp>
          <p:nvSpPr>
            <p:cNvPr id="60" name="Shape 57">
              <a:extLst>
                <a:ext uri="{FF2B5EF4-FFF2-40B4-BE49-F238E27FC236}">
                  <a16:creationId xmlns:a16="http://schemas.microsoft.com/office/drawing/2014/main" id="{5A9F3E47-2F73-AE48-0C1C-CEDFBE1A2377}"/>
                </a:ext>
              </a:extLst>
            </p:cNvPr>
            <p:cNvSpPr/>
            <p:nvPr/>
          </p:nvSpPr>
          <p:spPr>
            <a:xfrm>
              <a:off x="5952744" y="4370832"/>
              <a:ext cx="475488" cy="365760"/>
            </a:xfrm>
            <a:prstGeom prst="rect">
              <a:avLst/>
            </a:prstGeom>
            <a:solidFill>
              <a:srgbClr val="7C3AED"/>
            </a:solidFill>
            <a:ln/>
          </p:spPr>
          <p:txBody>
            <a:bodyPr/>
            <a:lstStyle/>
            <a:p>
              <a:endParaRPr lang="en-SG"/>
            </a:p>
          </p:txBody>
        </p:sp>
        <p:sp>
          <p:nvSpPr>
            <p:cNvPr id="61" name="Shape 58">
              <a:extLst>
                <a:ext uri="{FF2B5EF4-FFF2-40B4-BE49-F238E27FC236}">
                  <a16:creationId xmlns:a16="http://schemas.microsoft.com/office/drawing/2014/main" id="{354D8BE2-1E36-5E3D-A607-8D9532E922EE}"/>
                </a:ext>
              </a:extLst>
            </p:cNvPr>
            <p:cNvSpPr/>
            <p:nvPr/>
          </p:nvSpPr>
          <p:spPr>
            <a:xfrm>
              <a:off x="6848856" y="3749040"/>
              <a:ext cx="1965960" cy="1051560"/>
            </a:xfrm>
            <a:prstGeom prst="rect">
              <a:avLst/>
            </a:prstGeom>
            <a:solidFill>
              <a:srgbClr val="F3E8FF"/>
            </a:solidFill>
            <a:ln w="19050">
              <a:solidFill>
                <a:srgbClr val="7C3AED"/>
              </a:solidFill>
              <a:prstDash val="solid"/>
            </a:ln>
          </p:spPr>
          <p:txBody>
            <a:bodyPr/>
            <a:lstStyle/>
            <a:p>
              <a:endParaRPr lang="en-SG"/>
            </a:p>
          </p:txBody>
        </p:sp>
        <p:sp>
          <p:nvSpPr>
            <p:cNvPr id="62" name="Text 59">
              <a:extLst>
                <a:ext uri="{FF2B5EF4-FFF2-40B4-BE49-F238E27FC236}">
                  <a16:creationId xmlns:a16="http://schemas.microsoft.com/office/drawing/2014/main" id="{BFB555B4-EE9B-3A67-4335-9C5708E86A9A}"/>
                </a:ext>
              </a:extLst>
            </p:cNvPr>
            <p:cNvSpPr/>
            <p:nvPr/>
          </p:nvSpPr>
          <p:spPr>
            <a:xfrm>
              <a:off x="6848856" y="4800600"/>
              <a:ext cx="1965960" cy="201168"/>
            </a:xfrm>
            <a:prstGeom prst="rect">
              <a:avLst/>
            </a:prstGeom>
            <a:noFill/>
            <a:ln/>
          </p:spPr>
          <p:txBody>
            <a:bodyPr wrap="square" rtlCol="0" anchor="ctr"/>
            <a:lstStyle/>
            <a:p>
              <a:pPr marL="0" indent="0" algn="ctr">
                <a:buNone/>
              </a:pPr>
              <a:r>
                <a:rPr lang="en-US" sz="850">
                  <a:solidFill>
                    <a:srgbClr val="7C3AED"/>
                  </a:solidFill>
                  <a:latin typeface="Courier New" pitchFamily="34" charset="0"/>
                  <a:ea typeface="Courier New" pitchFamily="34" charset="-122"/>
                  <a:cs typeface="Courier New" pitchFamily="34" charset="-120"/>
                </a:rPr>
                <a:t>stretch</a:t>
              </a:r>
              <a:endParaRPr lang="en-US" sz="850"/>
            </a:p>
          </p:txBody>
        </p:sp>
        <p:sp>
          <p:nvSpPr>
            <p:cNvPr id="63" name="Shape 60">
              <a:extLst>
                <a:ext uri="{FF2B5EF4-FFF2-40B4-BE49-F238E27FC236}">
                  <a16:creationId xmlns:a16="http://schemas.microsoft.com/office/drawing/2014/main" id="{60EAFBF7-4B79-5831-B763-22B82FE75471}"/>
                </a:ext>
              </a:extLst>
            </p:cNvPr>
            <p:cNvSpPr/>
            <p:nvPr/>
          </p:nvSpPr>
          <p:spPr>
            <a:xfrm>
              <a:off x="6922008" y="3822192"/>
              <a:ext cx="475488" cy="822960"/>
            </a:xfrm>
            <a:prstGeom prst="rect">
              <a:avLst/>
            </a:prstGeom>
            <a:solidFill>
              <a:srgbClr val="7C3AED"/>
            </a:solidFill>
            <a:ln/>
          </p:spPr>
          <p:txBody>
            <a:bodyPr/>
            <a:lstStyle/>
            <a:p>
              <a:endParaRPr lang="en-SG"/>
            </a:p>
          </p:txBody>
        </p:sp>
        <p:sp>
          <p:nvSpPr>
            <p:cNvPr id="64" name="Shape 61">
              <a:extLst>
                <a:ext uri="{FF2B5EF4-FFF2-40B4-BE49-F238E27FC236}">
                  <a16:creationId xmlns:a16="http://schemas.microsoft.com/office/drawing/2014/main" id="{8AA641B6-02FE-F714-5638-D78A82814E33}"/>
                </a:ext>
              </a:extLst>
            </p:cNvPr>
            <p:cNvSpPr/>
            <p:nvPr/>
          </p:nvSpPr>
          <p:spPr>
            <a:xfrm>
              <a:off x="7525512" y="3822192"/>
              <a:ext cx="475488" cy="822960"/>
            </a:xfrm>
            <a:prstGeom prst="rect">
              <a:avLst/>
            </a:prstGeom>
            <a:solidFill>
              <a:srgbClr val="7C3AED"/>
            </a:solidFill>
            <a:ln/>
          </p:spPr>
          <p:txBody>
            <a:bodyPr/>
            <a:lstStyle/>
            <a:p>
              <a:endParaRPr lang="en-SG"/>
            </a:p>
          </p:txBody>
        </p:sp>
        <p:sp>
          <p:nvSpPr>
            <p:cNvPr id="65" name="Shape 62">
              <a:extLst>
                <a:ext uri="{FF2B5EF4-FFF2-40B4-BE49-F238E27FC236}">
                  <a16:creationId xmlns:a16="http://schemas.microsoft.com/office/drawing/2014/main" id="{A10628FC-87C8-2983-0201-463BC0805286}"/>
                </a:ext>
              </a:extLst>
            </p:cNvPr>
            <p:cNvSpPr/>
            <p:nvPr/>
          </p:nvSpPr>
          <p:spPr>
            <a:xfrm>
              <a:off x="8129016" y="3822192"/>
              <a:ext cx="475488" cy="822960"/>
            </a:xfrm>
            <a:prstGeom prst="rect">
              <a:avLst/>
            </a:prstGeom>
            <a:solidFill>
              <a:srgbClr val="7C3AED"/>
            </a:solidFill>
            <a:ln/>
          </p:spPr>
          <p:txBody>
            <a:bodyPr/>
            <a:lstStyle/>
            <a:p>
              <a:endParaRPr lang="en-SG"/>
            </a:p>
          </p:txBody>
        </p:sp>
      </p:grpSp>
      <p:sp>
        <p:nvSpPr>
          <p:cNvPr id="67" name="Text 42">
            <a:extLst>
              <a:ext uri="{FF2B5EF4-FFF2-40B4-BE49-F238E27FC236}">
                <a16:creationId xmlns:a16="http://schemas.microsoft.com/office/drawing/2014/main" id="{C14211F3-891D-FA7A-7F5B-E5DE01B3C16A}"/>
              </a:ext>
            </a:extLst>
          </p:cNvPr>
          <p:cNvSpPr/>
          <p:nvPr/>
        </p:nvSpPr>
        <p:spPr>
          <a:xfrm>
            <a:off x="645857" y="923899"/>
            <a:ext cx="7775171" cy="291049"/>
          </a:xfrm>
          <a:prstGeom prst="rect">
            <a:avLst/>
          </a:prstGeom>
          <a:noFill/>
          <a:ln/>
        </p:spPr>
        <p:txBody>
          <a:bodyPr wrap="square" rtlCol="0" anchor="ctr"/>
          <a:lstStyle/>
          <a:p>
            <a:pPr marL="0" indent="0">
              <a:buNone/>
            </a:pPr>
            <a:r>
              <a:rPr lang="en-US" sz="1300" b="1">
                <a:solidFill>
                  <a:srgbClr val="0F172A"/>
                </a:solidFill>
                <a:latin typeface="Calibri" pitchFamily="34" charset="0"/>
                <a:ea typeface="Calibri" pitchFamily="34" charset="-122"/>
                <a:cs typeface="Calibri" pitchFamily="34" charset="-120"/>
              </a:rPr>
              <a:t>justify-content (Main Axis):</a:t>
            </a:r>
            <a:endParaRPr lang="en-US" sz="1300"/>
          </a:p>
        </p:txBody>
      </p:sp>
    </p:spTree>
    <p:extLst>
      <p:ext uri="{BB962C8B-B14F-4D97-AF65-F5344CB8AC3E}">
        <p14:creationId xmlns:p14="http://schemas.microsoft.com/office/powerpoint/2010/main" val="35269902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6AE5C-0E32-6433-08E7-1049AC4D209C}"/>
              </a:ext>
            </a:extLst>
          </p:cNvPr>
          <p:cNvSpPr>
            <a:spLocks noGrp="1"/>
          </p:cNvSpPr>
          <p:nvPr>
            <p:ph type="title"/>
          </p:nvPr>
        </p:nvSpPr>
        <p:spPr/>
        <p:txBody>
          <a:bodyPr/>
          <a:lstStyle/>
          <a:p>
            <a:r>
              <a:rPr lang="en-SG"/>
              <a:t>Flexbox</a:t>
            </a:r>
          </a:p>
        </p:txBody>
      </p:sp>
      <p:grpSp>
        <p:nvGrpSpPr>
          <p:cNvPr id="12" name="Group 11">
            <a:extLst>
              <a:ext uri="{FF2B5EF4-FFF2-40B4-BE49-F238E27FC236}">
                <a16:creationId xmlns:a16="http://schemas.microsoft.com/office/drawing/2014/main" id="{71AF7FE5-0D4A-4F9D-C2D2-6D2EA7062BD2}"/>
              </a:ext>
            </a:extLst>
          </p:cNvPr>
          <p:cNvGrpSpPr/>
          <p:nvPr/>
        </p:nvGrpSpPr>
        <p:grpSpPr>
          <a:xfrm>
            <a:off x="2644394" y="1383758"/>
            <a:ext cx="1651567" cy="2987762"/>
            <a:chOff x="4645324" y="1256695"/>
            <a:chExt cx="1651567" cy="2987762"/>
          </a:xfrm>
        </p:grpSpPr>
        <p:sp>
          <p:nvSpPr>
            <p:cNvPr id="5" name="Shape 7">
              <a:extLst>
                <a:ext uri="{FF2B5EF4-FFF2-40B4-BE49-F238E27FC236}">
                  <a16:creationId xmlns:a16="http://schemas.microsoft.com/office/drawing/2014/main" id="{127B602A-AA00-2300-8480-666723923FE7}"/>
                </a:ext>
              </a:extLst>
            </p:cNvPr>
            <p:cNvSpPr/>
            <p:nvPr/>
          </p:nvSpPr>
          <p:spPr>
            <a:xfrm>
              <a:off x="4645324" y="1256695"/>
              <a:ext cx="1651567" cy="2987762"/>
            </a:xfrm>
            <a:prstGeom prst="rect">
              <a:avLst/>
            </a:prstGeom>
            <a:solidFill>
              <a:srgbClr val="FFFFFF"/>
            </a:solidFill>
            <a:ln w="19050">
              <a:solidFill>
                <a:srgbClr val="CBD5E1"/>
              </a:solidFill>
              <a:prstDash val="solid"/>
            </a:ln>
          </p:spPr>
          <p:txBody>
            <a:bodyPr/>
            <a:lstStyle/>
            <a:p>
              <a:endParaRPr lang="en-SG"/>
            </a:p>
          </p:txBody>
        </p:sp>
        <p:sp>
          <p:nvSpPr>
            <p:cNvPr id="6" name="Shape 8">
              <a:extLst>
                <a:ext uri="{FF2B5EF4-FFF2-40B4-BE49-F238E27FC236}">
                  <a16:creationId xmlns:a16="http://schemas.microsoft.com/office/drawing/2014/main" id="{D3A012C5-3158-1173-8167-6111609BCB58}"/>
                </a:ext>
              </a:extLst>
            </p:cNvPr>
            <p:cNvSpPr/>
            <p:nvPr/>
          </p:nvSpPr>
          <p:spPr>
            <a:xfrm>
              <a:off x="4645324" y="1260965"/>
              <a:ext cx="1651567" cy="287579"/>
            </a:xfrm>
            <a:prstGeom prst="rect">
              <a:avLst/>
            </a:prstGeom>
            <a:solidFill>
              <a:srgbClr val="E2E8F0"/>
            </a:solidFill>
            <a:ln/>
          </p:spPr>
          <p:txBody>
            <a:bodyPr/>
            <a:lstStyle/>
            <a:p>
              <a:endParaRPr lang="en-SG"/>
            </a:p>
          </p:txBody>
        </p:sp>
        <p:sp>
          <p:nvSpPr>
            <p:cNvPr id="7" name="Text 9">
              <a:extLst>
                <a:ext uri="{FF2B5EF4-FFF2-40B4-BE49-F238E27FC236}">
                  <a16:creationId xmlns:a16="http://schemas.microsoft.com/office/drawing/2014/main" id="{C90ECF10-DB11-EC20-0634-AB32CB4828DF}"/>
                </a:ext>
              </a:extLst>
            </p:cNvPr>
            <p:cNvSpPr/>
            <p:nvPr/>
          </p:nvSpPr>
          <p:spPr>
            <a:xfrm>
              <a:off x="4645324" y="1281352"/>
              <a:ext cx="1651567" cy="201168"/>
            </a:xfrm>
            <a:prstGeom prst="rect">
              <a:avLst/>
            </a:prstGeom>
            <a:noFill/>
            <a:ln/>
          </p:spPr>
          <p:txBody>
            <a:bodyPr wrap="square" rtlCol="0" anchor="ctr"/>
            <a:lstStyle/>
            <a:p>
              <a:pPr marL="0" indent="0">
                <a:buNone/>
              </a:pPr>
              <a:r>
                <a:rPr lang="en-US" sz="800">
                  <a:solidFill>
                    <a:srgbClr val="94A3B8"/>
                  </a:solidFill>
                  <a:latin typeface="Calibri" pitchFamily="34" charset="0"/>
                  <a:ea typeface="Calibri" pitchFamily="34" charset="-122"/>
                  <a:cs typeface="Calibri" pitchFamily="34" charset="-120"/>
                </a:rPr>
                <a:t>● ● ●  Browser Preview</a:t>
              </a:r>
              <a:endParaRPr lang="en-US" sz="800"/>
            </a:p>
          </p:txBody>
        </p:sp>
        <p:pic>
          <p:nvPicPr>
            <p:cNvPr id="9" name="Picture 8">
              <a:extLst>
                <a:ext uri="{FF2B5EF4-FFF2-40B4-BE49-F238E27FC236}">
                  <a16:creationId xmlns:a16="http://schemas.microsoft.com/office/drawing/2014/main" id="{C4902516-D288-34F9-9F1A-FB54FF132840}"/>
                </a:ext>
              </a:extLst>
            </p:cNvPr>
            <p:cNvPicPr>
              <a:picLocks noChangeAspect="1"/>
            </p:cNvPicPr>
            <p:nvPr/>
          </p:nvPicPr>
          <p:blipFill>
            <a:blip r:embed="rId2"/>
            <a:stretch>
              <a:fillRect/>
            </a:stretch>
          </p:blipFill>
          <p:spPr>
            <a:xfrm>
              <a:off x="4670157" y="1548544"/>
              <a:ext cx="913614" cy="2695913"/>
            </a:xfrm>
            <a:prstGeom prst="rect">
              <a:avLst/>
            </a:prstGeom>
          </p:spPr>
        </p:pic>
      </p:grpSp>
      <p:pic>
        <p:nvPicPr>
          <p:cNvPr id="11" name="Picture 10">
            <a:extLst>
              <a:ext uri="{FF2B5EF4-FFF2-40B4-BE49-F238E27FC236}">
                <a16:creationId xmlns:a16="http://schemas.microsoft.com/office/drawing/2014/main" id="{8FBCAF68-6CC1-F953-A791-E78AD533EAD1}"/>
              </a:ext>
            </a:extLst>
          </p:cNvPr>
          <p:cNvPicPr>
            <a:picLocks noChangeAspect="1"/>
          </p:cNvPicPr>
          <p:nvPr/>
        </p:nvPicPr>
        <p:blipFill>
          <a:blip r:embed="rId3"/>
          <a:stretch>
            <a:fillRect/>
          </a:stretch>
        </p:blipFill>
        <p:spPr>
          <a:xfrm>
            <a:off x="422034" y="1383758"/>
            <a:ext cx="1916579" cy="3460829"/>
          </a:xfrm>
          <a:prstGeom prst="rect">
            <a:avLst/>
          </a:prstGeom>
        </p:spPr>
      </p:pic>
      <p:pic>
        <p:nvPicPr>
          <p:cNvPr id="14" name="Picture 13">
            <a:extLst>
              <a:ext uri="{FF2B5EF4-FFF2-40B4-BE49-F238E27FC236}">
                <a16:creationId xmlns:a16="http://schemas.microsoft.com/office/drawing/2014/main" id="{CB927C43-AAC9-D165-024E-39A01E889AAE}"/>
              </a:ext>
            </a:extLst>
          </p:cNvPr>
          <p:cNvPicPr>
            <a:picLocks noChangeAspect="1"/>
          </p:cNvPicPr>
          <p:nvPr/>
        </p:nvPicPr>
        <p:blipFill>
          <a:blip r:embed="rId4"/>
          <a:stretch>
            <a:fillRect/>
          </a:stretch>
        </p:blipFill>
        <p:spPr>
          <a:xfrm>
            <a:off x="4649919" y="2180461"/>
            <a:ext cx="1740410" cy="601005"/>
          </a:xfrm>
          <a:prstGeom prst="rect">
            <a:avLst/>
          </a:prstGeom>
        </p:spPr>
      </p:pic>
      <p:grpSp>
        <p:nvGrpSpPr>
          <p:cNvPr id="15" name="Group 14">
            <a:extLst>
              <a:ext uri="{FF2B5EF4-FFF2-40B4-BE49-F238E27FC236}">
                <a16:creationId xmlns:a16="http://schemas.microsoft.com/office/drawing/2014/main" id="{6B0E6B0B-0E91-00C6-DF9D-080B2174B8C5}"/>
              </a:ext>
            </a:extLst>
          </p:cNvPr>
          <p:cNvGrpSpPr/>
          <p:nvPr/>
        </p:nvGrpSpPr>
        <p:grpSpPr>
          <a:xfrm>
            <a:off x="6744287" y="1375104"/>
            <a:ext cx="2136654" cy="2987762"/>
            <a:chOff x="4645324" y="1256695"/>
            <a:chExt cx="1651567" cy="2987762"/>
          </a:xfrm>
        </p:grpSpPr>
        <p:sp>
          <p:nvSpPr>
            <p:cNvPr id="16" name="Shape 7">
              <a:extLst>
                <a:ext uri="{FF2B5EF4-FFF2-40B4-BE49-F238E27FC236}">
                  <a16:creationId xmlns:a16="http://schemas.microsoft.com/office/drawing/2014/main" id="{1F00671D-CB0B-0037-4DA3-BEFF6794B2EC}"/>
                </a:ext>
              </a:extLst>
            </p:cNvPr>
            <p:cNvSpPr/>
            <p:nvPr/>
          </p:nvSpPr>
          <p:spPr>
            <a:xfrm>
              <a:off x="4645324" y="1256695"/>
              <a:ext cx="1651567" cy="2987762"/>
            </a:xfrm>
            <a:prstGeom prst="rect">
              <a:avLst/>
            </a:prstGeom>
            <a:solidFill>
              <a:srgbClr val="FFFFFF"/>
            </a:solidFill>
            <a:ln w="19050">
              <a:solidFill>
                <a:srgbClr val="CBD5E1"/>
              </a:solidFill>
              <a:prstDash val="solid"/>
            </a:ln>
          </p:spPr>
          <p:txBody>
            <a:bodyPr/>
            <a:lstStyle/>
            <a:p>
              <a:endParaRPr lang="en-SG"/>
            </a:p>
          </p:txBody>
        </p:sp>
        <p:sp>
          <p:nvSpPr>
            <p:cNvPr id="17" name="Shape 8">
              <a:extLst>
                <a:ext uri="{FF2B5EF4-FFF2-40B4-BE49-F238E27FC236}">
                  <a16:creationId xmlns:a16="http://schemas.microsoft.com/office/drawing/2014/main" id="{FE4BF312-7D88-6FE9-F8BB-1C53AB903224}"/>
                </a:ext>
              </a:extLst>
            </p:cNvPr>
            <p:cNvSpPr/>
            <p:nvPr/>
          </p:nvSpPr>
          <p:spPr>
            <a:xfrm>
              <a:off x="4645324" y="1260965"/>
              <a:ext cx="1651567" cy="287579"/>
            </a:xfrm>
            <a:prstGeom prst="rect">
              <a:avLst/>
            </a:prstGeom>
            <a:solidFill>
              <a:srgbClr val="E2E8F0"/>
            </a:solidFill>
            <a:ln/>
          </p:spPr>
          <p:txBody>
            <a:bodyPr/>
            <a:lstStyle/>
            <a:p>
              <a:endParaRPr lang="en-SG"/>
            </a:p>
          </p:txBody>
        </p:sp>
        <p:sp>
          <p:nvSpPr>
            <p:cNvPr id="18" name="Text 9">
              <a:extLst>
                <a:ext uri="{FF2B5EF4-FFF2-40B4-BE49-F238E27FC236}">
                  <a16:creationId xmlns:a16="http://schemas.microsoft.com/office/drawing/2014/main" id="{512E9541-7E87-BC5A-ECAE-C5786FAB5849}"/>
                </a:ext>
              </a:extLst>
            </p:cNvPr>
            <p:cNvSpPr/>
            <p:nvPr/>
          </p:nvSpPr>
          <p:spPr>
            <a:xfrm>
              <a:off x="4645324" y="1281352"/>
              <a:ext cx="1651567" cy="201168"/>
            </a:xfrm>
            <a:prstGeom prst="rect">
              <a:avLst/>
            </a:prstGeom>
            <a:noFill/>
            <a:ln/>
          </p:spPr>
          <p:txBody>
            <a:bodyPr wrap="square" rtlCol="0" anchor="ctr"/>
            <a:lstStyle/>
            <a:p>
              <a:pPr marL="0" indent="0">
                <a:buNone/>
              </a:pPr>
              <a:r>
                <a:rPr lang="en-US" sz="800">
                  <a:solidFill>
                    <a:srgbClr val="94A3B8"/>
                  </a:solidFill>
                  <a:latin typeface="Calibri" pitchFamily="34" charset="0"/>
                  <a:ea typeface="Calibri" pitchFamily="34" charset="-122"/>
                  <a:cs typeface="Calibri" pitchFamily="34" charset="-120"/>
                </a:rPr>
                <a:t>● ● ●  Browser Preview</a:t>
              </a:r>
              <a:endParaRPr lang="en-US" sz="800"/>
            </a:p>
          </p:txBody>
        </p:sp>
      </p:grpSp>
      <p:sp>
        <p:nvSpPr>
          <p:cNvPr id="20" name="TextBox 19">
            <a:extLst>
              <a:ext uri="{FF2B5EF4-FFF2-40B4-BE49-F238E27FC236}">
                <a16:creationId xmlns:a16="http://schemas.microsoft.com/office/drawing/2014/main" id="{0AE4FB29-F663-D397-12DA-0641F1FEED8B}"/>
              </a:ext>
            </a:extLst>
          </p:cNvPr>
          <p:cNvSpPr txBox="1"/>
          <p:nvPr/>
        </p:nvSpPr>
        <p:spPr>
          <a:xfrm>
            <a:off x="383227" y="1059360"/>
            <a:ext cx="3912734" cy="307777"/>
          </a:xfrm>
          <a:prstGeom prst="rect">
            <a:avLst/>
          </a:prstGeom>
          <a:noFill/>
        </p:spPr>
        <p:txBody>
          <a:bodyPr wrap="square">
            <a:spAutoFit/>
          </a:bodyPr>
          <a:lstStyle/>
          <a:p>
            <a:r>
              <a:rPr lang="en" i="1"/>
              <a:t>wk2example22.html</a:t>
            </a:r>
            <a:endParaRPr lang="en-SG"/>
          </a:p>
        </p:txBody>
      </p:sp>
      <p:sp>
        <p:nvSpPr>
          <p:cNvPr id="21" name="TextBox 20">
            <a:extLst>
              <a:ext uri="{FF2B5EF4-FFF2-40B4-BE49-F238E27FC236}">
                <a16:creationId xmlns:a16="http://schemas.microsoft.com/office/drawing/2014/main" id="{5261A886-BBBC-C928-D111-8A6E71438769}"/>
              </a:ext>
            </a:extLst>
          </p:cNvPr>
          <p:cNvSpPr txBox="1"/>
          <p:nvPr/>
        </p:nvSpPr>
        <p:spPr>
          <a:xfrm>
            <a:off x="4649919" y="1900537"/>
            <a:ext cx="1527982" cy="307777"/>
          </a:xfrm>
          <a:prstGeom prst="rect">
            <a:avLst/>
          </a:prstGeom>
          <a:noFill/>
        </p:spPr>
        <p:txBody>
          <a:bodyPr wrap="none" rtlCol="0">
            <a:spAutoFit/>
          </a:bodyPr>
          <a:lstStyle/>
          <a:p>
            <a:r>
              <a:rPr lang="en-SG">
                <a:solidFill>
                  <a:srgbClr val="0070C0"/>
                </a:solidFill>
              </a:rPr>
              <a:t>After adding this:</a:t>
            </a:r>
          </a:p>
        </p:txBody>
      </p:sp>
      <p:pic>
        <p:nvPicPr>
          <p:cNvPr id="23" name="Picture 22">
            <a:extLst>
              <a:ext uri="{FF2B5EF4-FFF2-40B4-BE49-F238E27FC236}">
                <a16:creationId xmlns:a16="http://schemas.microsoft.com/office/drawing/2014/main" id="{37DD3186-8653-9683-BE4F-3FE6EEB96164}"/>
              </a:ext>
            </a:extLst>
          </p:cNvPr>
          <p:cNvPicPr>
            <a:picLocks noChangeAspect="1"/>
          </p:cNvPicPr>
          <p:nvPr/>
        </p:nvPicPr>
        <p:blipFill>
          <a:blip r:embed="rId5"/>
          <a:stretch>
            <a:fillRect/>
          </a:stretch>
        </p:blipFill>
        <p:spPr>
          <a:xfrm>
            <a:off x="6832543" y="1687340"/>
            <a:ext cx="1960141" cy="601005"/>
          </a:xfrm>
          <a:prstGeom prst="rect">
            <a:avLst/>
          </a:prstGeom>
        </p:spPr>
      </p:pic>
      <p:cxnSp>
        <p:nvCxnSpPr>
          <p:cNvPr id="25" name="Straight Arrow Connector 24">
            <a:extLst>
              <a:ext uri="{FF2B5EF4-FFF2-40B4-BE49-F238E27FC236}">
                <a16:creationId xmlns:a16="http://schemas.microsoft.com/office/drawing/2014/main" id="{E1138D9D-003D-933A-6057-8DB52E843E2D}"/>
              </a:ext>
            </a:extLst>
          </p:cNvPr>
          <p:cNvCxnSpPr>
            <a:stCxn id="5" idx="3"/>
            <a:endCxn id="16" idx="1"/>
          </p:cNvCxnSpPr>
          <p:nvPr/>
        </p:nvCxnSpPr>
        <p:spPr>
          <a:xfrm flipV="1">
            <a:off x="4295961" y="2868985"/>
            <a:ext cx="2448326" cy="8654"/>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850213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7F4E4-7EB6-B059-7262-AAB9725A65B9}"/>
              </a:ext>
            </a:extLst>
          </p:cNvPr>
          <p:cNvSpPr>
            <a:spLocks noGrp="1"/>
          </p:cNvSpPr>
          <p:nvPr>
            <p:ph type="title"/>
          </p:nvPr>
        </p:nvSpPr>
        <p:spPr>
          <a:xfrm>
            <a:off x="311700" y="191304"/>
            <a:ext cx="8520600" cy="831300"/>
          </a:xfrm>
        </p:spPr>
        <p:txBody>
          <a:bodyPr/>
          <a:lstStyle/>
          <a:p>
            <a:r>
              <a:rPr lang="en-SG"/>
              <a:t>Grid – Core concept</a:t>
            </a:r>
          </a:p>
        </p:txBody>
      </p:sp>
      <p:sp>
        <p:nvSpPr>
          <p:cNvPr id="5" name="Text 2">
            <a:extLst>
              <a:ext uri="{FF2B5EF4-FFF2-40B4-BE49-F238E27FC236}">
                <a16:creationId xmlns:a16="http://schemas.microsoft.com/office/drawing/2014/main" id="{F9CDD3FD-8CD1-8E9D-C07C-BBBA6347F9CF}"/>
              </a:ext>
            </a:extLst>
          </p:cNvPr>
          <p:cNvSpPr/>
          <p:nvPr/>
        </p:nvSpPr>
        <p:spPr>
          <a:xfrm>
            <a:off x="311700" y="1082040"/>
            <a:ext cx="8549640" cy="320040"/>
          </a:xfrm>
          <a:prstGeom prst="rect">
            <a:avLst/>
          </a:prstGeom>
          <a:noFill/>
          <a:ln/>
        </p:spPr>
        <p:txBody>
          <a:bodyPr wrap="square" rtlCol="0" anchor="ctr"/>
          <a:lstStyle/>
          <a:p>
            <a:pPr marL="0" indent="0">
              <a:buNone/>
            </a:pPr>
            <a:r>
              <a:rPr lang="en-US" sz="1250">
                <a:solidFill>
                  <a:srgbClr val="0F172A"/>
                </a:solidFill>
                <a:latin typeface="Calibri" pitchFamily="34" charset="0"/>
                <a:ea typeface="Calibri" pitchFamily="34" charset="-122"/>
                <a:cs typeface="Calibri" pitchFamily="34" charset="-120"/>
              </a:rPr>
              <a:t>Grid = explicit rows + columns. Items placed in cells or spanning across them.</a:t>
            </a:r>
            <a:endParaRPr lang="en-US" sz="1250"/>
          </a:p>
        </p:txBody>
      </p:sp>
      <p:sp>
        <p:nvSpPr>
          <p:cNvPr id="6" name="Shape 3">
            <a:extLst>
              <a:ext uri="{FF2B5EF4-FFF2-40B4-BE49-F238E27FC236}">
                <a16:creationId xmlns:a16="http://schemas.microsoft.com/office/drawing/2014/main" id="{83ED6EC7-AD19-594C-CCC2-F36C9FFC1B09}"/>
              </a:ext>
            </a:extLst>
          </p:cNvPr>
          <p:cNvSpPr/>
          <p:nvPr/>
        </p:nvSpPr>
        <p:spPr>
          <a:xfrm>
            <a:off x="311700" y="1475232"/>
            <a:ext cx="4572000" cy="3566160"/>
          </a:xfrm>
          <a:prstGeom prst="rect">
            <a:avLst/>
          </a:prstGeom>
          <a:solidFill>
            <a:srgbClr val="1E293B"/>
          </a:solidFill>
          <a:ln w="12700">
            <a:solidFill>
              <a:srgbClr val="334155"/>
            </a:solidFill>
            <a:prstDash val="solid"/>
          </a:ln>
        </p:spPr>
        <p:txBody>
          <a:bodyPr/>
          <a:lstStyle/>
          <a:p>
            <a:endParaRPr lang="en-SG"/>
          </a:p>
        </p:txBody>
      </p:sp>
      <p:sp>
        <p:nvSpPr>
          <p:cNvPr id="7" name="Text 4">
            <a:extLst>
              <a:ext uri="{FF2B5EF4-FFF2-40B4-BE49-F238E27FC236}">
                <a16:creationId xmlns:a16="http://schemas.microsoft.com/office/drawing/2014/main" id="{7F9F18AC-75D4-0A08-E298-9B204A0A73E5}"/>
              </a:ext>
            </a:extLst>
          </p:cNvPr>
          <p:cNvSpPr/>
          <p:nvPr/>
        </p:nvSpPr>
        <p:spPr>
          <a:xfrm>
            <a:off x="384852" y="1548384"/>
            <a:ext cx="4425696" cy="3419856"/>
          </a:xfrm>
          <a:prstGeom prst="rect">
            <a:avLst/>
          </a:prstGeom>
          <a:noFill/>
          <a:ln/>
        </p:spPr>
        <p:txBody>
          <a:bodyPr wrap="square" rtlCol="0" anchor="t"/>
          <a:lstStyle/>
          <a:p>
            <a:pPr marL="0" indent="0">
              <a:buNone/>
            </a:pPr>
            <a:r>
              <a:rPr lang="en-US" sz="1000">
                <a:solidFill>
                  <a:srgbClr val="E2E8F0"/>
                </a:solidFill>
                <a:latin typeface="Courier New" pitchFamily="34" charset="0"/>
                <a:ea typeface="Courier New" pitchFamily="34" charset="-122"/>
                <a:cs typeface="Courier New" pitchFamily="34" charset="-120"/>
              </a:rPr>
              <a:t>.grid-container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a:t>
            </a:r>
            <a:r>
              <a:rPr lang="en-US" sz="1000">
                <a:solidFill>
                  <a:srgbClr val="FDE68A"/>
                </a:solidFill>
                <a:latin typeface="Courier New" pitchFamily="34" charset="0"/>
                <a:ea typeface="Courier New" pitchFamily="34" charset="-122"/>
                <a:cs typeface="Courier New" pitchFamily="34" charset="-120"/>
              </a:rPr>
              <a:t>display</a:t>
            </a:r>
            <a:r>
              <a:rPr lang="en-US" sz="1000">
                <a:solidFill>
                  <a:srgbClr val="CBD5E1"/>
                </a:solidFill>
                <a:latin typeface="Courier New" pitchFamily="34" charset="0"/>
                <a:ea typeface="Courier New" pitchFamily="34" charset="-122"/>
                <a:cs typeface="Courier New" pitchFamily="34" charset="-120"/>
              </a:rPr>
              <a:t>: </a:t>
            </a:r>
            <a:r>
              <a:rPr lang="en-US" sz="1000">
                <a:solidFill>
                  <a:srgbClr val="FDE68A"/>
                </a:solidFill>
                <a:latin typeface="Courier New" pitchFamily="34" charset="0"/>
                <a:ea typeface="Courier New" pitchFamily="34" charset="-122"/>
                <a:cs typeface="Courier New" pitchFamily="34" charset="-120"/>
              </a:rPr>
              <a:t>grid</a:t>
            </a:r>
            <a:r>
              <a:rPr lang="en-US" sz="1000">
                <a:solidFill>
                  <a:srgbClr val="CBD5E1"/>
                </a:solidFill>
                <a:latin typeface="Courier New" pitchFamily="34" charset="0"/>
                <a:ea typeface="Courier New" pitchFamily="34" charset="-122"/>
                <a:cs typeface="Courier New" pitchFamily="34" charset="-120"/>
              </a:rPr>
              <a:t>;</a:t>
            </a:r>
            <a:endParaRPr lang="en-US" sz="1000"/>
          </a:p>
          <a:p>
            <a:pPr marL="0" indent="0">
              <a:buNone/>
            </a:pPr>
            <a:r>
              <a:rPr lang="en-US" sz="1000" i="1">
                <a:solidFill>
                  <a:srgbClr val="94A3B8"/>
                </a:solidFill>
                <a:latin typeface="Courier New" pitchFamily="34" charset="0"/>
                <a:ea typeface="Courier New" pitchFamily="34" charset="-122"/>
                <a:cs typeface="Courier New" pitchFamily="34" charset="-120"/>
              </a:rPr>
              <a:t>  /* 3 columns: first fixed, middle flexible, last fixed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a:t>
            </a:r>
            <a:r>
              <a:rPr lang="en-US" sz="1000">
                <a:solidFill>
                  <a:srgbClr val="FDE68A"/>
                </a:solidFill>
                <a:latin typeface="Courier New" pitchFamily="34" charset="0"/>
                <a:ea typeface="Courier New" pitchFamily="34" charset="-122"/>
                <a:cs typeface="Courier New" pitchFamily="34" charset="-120"/>
              </a:rPr>
              <a:t>grid-template-columns</a:t>
            </a:r>
            <a:r>
              <a:rPr lang="en-US" sz="1000">
                <a:solidFill>
                  <a:srgbClr val="CBD5E1"/>
                </a:solidFill>
                <a:latin typeface="Courier New" pitchFamily="34" charset="0"/>
                <a:ea typeface="Courier New" pitchFamily="34" charset="-122"/>
                <a:cs typeface="Courier New" pitchFamily="34" charset="-120"/>
              </a:rPr>
              <a:t>: </a:t>
            </a:r>
            <a:r>
              <a:rPr lang="en-US" sz="1000">
                <a:solidFill>
                  <a:srgbClr val="FDE68A"/>
                </a:solidFill>
                <a:latin typeface="Courier New" pitchFamily="34" charset="0"/>
                <a:ea typeface="Courier New" pitchFamily="34" charset="-122"/>
                <a:cs typeface="Courier New" pitchFamily="34" charset="-120"/>
              </a:rPr>
              <a:t>200px 1fr 200px</a:t>
            </a:r>
            <a:r>
              <a:rPr lang="en-US" sz="1000">
                <a:solidFill>
                  <a:srgbClr val="CBD5E1"/>
                </a:solidFill>
                <a:latin typeface="Courier New" pitchFamily="34" charset="0"/>
                <a:ea typeface="Courier New" pitchFamily="34" charset="-122"/>
                <a:cs typeface="Courier New" pitchFamily="34" charset="-120"/>
              </a:rPr>
              <a:t>;</a:t>
            </a:r>
            <a:endParaRPr lang="en-US" sz="1000"/>
          </a:p>
          <a:p>
            <a:pPr marL="0" indent="0">
              <a:buNone/>
            </a:pPr>
            <a:r>
              <a:rPr lang="en-US" sz="1000" i="1">
                <a:solidFill>
                  <a:srgbClr val="94A3B8"/>
                </a:solidFill>
                <a:latin typeface="Courier New" pitchFamily="34" charset="0"/>
                <a:ea typeface="Courier New" pitchFamily="34" charset="-122"/>
                <a:cs typeface="Courier New" pitchFamily="34" charset="-120"/>
              </a:rPr>
              <a:t>  /* 3 rows with explicit heights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a:t>
            </a:r>
            <a:r>
              <a:rPr lang="en-US" sz="1000">
                <a:solidFill>
                  <a:srgbClr val="FDE68A"/>
                </a:solidFill>
                <a:latin typeface="Courier New" pitchFamily="34" charset="0"/>
                <a:ea typeface="Courier New" pitchFamily="34" charset="-122"/>
                <a:cs typeface="Courier New" pitchFamily="34" charset="-120"/>
              </a:rPr>
              <a:t>grid-template-rows</a:t>
            </a:r>
            <a:r>
              <a:rPr lang="en-US" sz="1000">
                <a:solidFill>
                  <a:srgbClr val="CBD5E1"/>
                </a:solidFill>
                <a:latin typeface="Courier New" pitchFamily="34" charset="0"/>
                <a:ea typeface="Courier New" pitchFamily="34" charset="-122"/>
                <a:cs typeface="Courier New" pitchFamily="34" charset="-120"/>
              </a:rPr>
              <a:t>: </a:t>
            </a:r>
            <a:r>
              <a:rPr lang="en-US" sz="1000">
                <a:solidFill>
                  <a:srgbClr val="FDE68A"/>
                </a:solidFill>
                <a:latin typeface="Courier New" pitchFamily="34" charset="0"/>
                <a:ea typeface="Courier New" pitchFamily="34" charset="-122"/>
                <a:cs typeface="Courier New" pitchFamily="34" charset="-120"/>
              </a:rPr>
              <a:t>60px 1fr 40px</a:t>
            </a:r>
            <a:r>
              <a:rPr lang="en-US" sz="1000">
                <a:solidFill>
                  <a:srgbClr val="CBD5E1"/>
                </a:solidFill>
                <a:latin typeface="Courier New" pitchFamily="34" charset="0"/>
                <a:ea typeface="Courier New" pitchFamily="34" charset="-122"/>
                <a:cs typeface="Courier New" pitchFamily="34" charset="-120"/>
              </a:rPr>
              <a:t>;</a:t>
            </a:r>
            <a:endParaRPr lang="en-US" sz="1000"/>
          </a:p>
          <a:p>
            <a:pPr marL="0" indent="0">
              <a:buNone/>
            </a:pPr>
            <a:r>
              <a:rPr lang="en-US" sz="1000" i="1">
                <a:solidFill>
                  <a:srgbClr val="94A3B8"/>
                </a:solidFill>
                <a:latin typeface="Courier New" pitchFamily="34" charset="0"/>
                <a:ea typeface="Courier New" pitchFamily="34" charset="-122"/>
                <a:cs typeface="Courier New" pitchFamily="34" charset="-120"/>
              </a:rPr>
              <a:t>  /* Gap between cells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a:t>
            </a:r>
            <a:r>
              <a:rPr lang="en-US" sz="1000">
                <a:solidFill>
                  <a:srgbClr val="7DD3FC"/>
                </a:solidFill>
                <a:latin typeface="Courier New" pitchFamily="34" charset="0"/>
                <a:ea typeface="Courier New" pitchFamily="34" charset="-122"/>
                <a:cs typeface="Courier New" pitchFamily="34" charset="-120"/>
              </a:rPr>
              <a:t>gap</a:t>
            </a:r>
            <a:r>
              <a:rPr lang="en-US" sz="1000">
                <a:solidFill>
                  <a:srgbClr val="CBD5E1"/>
                </a:solidFill>
                <a:latin typeface="Courier New" pitchFamily="34" charset="0"/>
                <a:ea typeface="Courier New" pitchFamily="34" charset="-122"/>
                <a:cs typeface="Courier New" pitchFamily="34" charset="-120"/>
              </a:rPr>
              <a:t>: </a:t>
            </a:r>
            <a:r>
              <a:rPr lang="en-US" sz="1000">
                <a:solidFill>
                  <a:srgbClr val="86EFAC"/>
                </a:solidFill>
                <a:latin typeface="Courier New" pitchFamily="34" charset="0"/>
                <a:ea typeface="Courier New" pitchFamily="34" charset="-122"/>
                <a:cs typeface="Courier New" pitchFamily="34" charset="-120"/>
              </a:rPr>
              <a:t>12px</a:t>
            </a:r>
            <a:r>
              <a:rPr lang="en-US" sz="1000">
                <a:solidFill>
                  <a:srgbClr val="CBD5E1"/>
                </a:solidFill>
                <a:latin typeface="Courier New" pitchFamily="34" charset="0"/>
                <a:ea typeface="Courier New" pitchFamily="34" charset="-122"/>
                <a:cs typeface="Courier New" pitchFamily="34" charset="-120"/>
              </a:rPr>
              <a: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a:t>
            </a:r>
            <a:endParaRPr lang="en-US" sz="1000"/>
          </a:p>
          <a:p>
            <a:pPr marL="0" indent="0">
              <a:buNone/>
            </a:pPr>
            <a:endParaRPr lang="en-US" sz="1000"/>
          </a:p>
          <a:p>
            <a:pPr marL="0" indent="0">
              <a:buNone/>
            </a:pPr>
            <a:r>
              <a:rPr lang="en-US" sz="1000" i="1">
                <a:solidFill>
                  <a:srgbClr val="94A3B8"/>
                </a:solidFill>
                <a:latin typeface="Courier New" pitchFamily="34" charset="0"/>
                <a:ea typeface="Courier New" pitchFamily="34" charset="-122"/>
                <a:cs typeface="Courier New" pitchFamily="34" charset="-120"/>
              </a:rPr>
              <a:t>/* Child spanning multiple columns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header, footer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a:t>
            </a:r>
            <a:r>
              <a:rPr lang="en-US" sz="1000">
                <a:solidFill>
                  <a:srgbClr val="FDE68A"/>
                </a:solidFill>
                <a:latin typeface="Courier New" pitchFamily="34" charset="0"/>
                <a:ea typeface="Courier New" pitchFamily="34" charset="-122"/>
                <a:cs typeface="Courier New" pitchFamily="34" charset="-120"/>
              </a:rPr>
              <a:t>grid-column</a:t>
            </a:r>
            <a:r>
              <a:rPr lang="en-US" sz="1000">
                <a:solidFill>
                  <a:srgbClr val="CBD5E1"/>
                </a:solidFill>
                <a:latin typeface="Courier New" pitchFamily="34" charset="0"/>
                <a:ea typeface="Courier New" pitchFamily="34" charset="-122"/>
                <a:cs typeface="Courier New" pitchFamily="34" charset="-120"/>
              </a:rPr>
              <a:t>: </a:t>
            </a:r>
            <a:r>
              <a:rPr lang="en-US" sz="1000">
                <a:solidFill>
                  <a:srgbClr val="FDE68A"/>
                </a:solidFill>
                <a:latin typeface="Courier New" pitchFamily="34" charset="0"/>
                <a:ea typeface="Courier New" pitchFamily="34" charset="-122"/>
                <a:cs typeface="Courier New" pitchFamily="34" charset="-120"/>
              </a:rPr>
              <a:t>1 / 4;  /* span all 3 columns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a:t>
            </a:r>
            <a:endParaRPr lang="en-US" sz="1000"/>
          </a:p>
        </p:txBody>
      </p:sp>
      <p:sp>
        <p:nvSpPr>
          <p:cNvPr id="8" name="Shape 5">
            <a:extLst>
              <a:ext uri="{FF2B5EF4-FFF2-40B4-BE49-F238E27FC236}">
                <a16:creationId xmlns:a16="http://schemas.microsoft.com/office/drawing/2014/main" id="{3F06FC8C-BAB3-F881-9F87-0DC374B57636}"/>
              </a:ext>
            </a:extLst>
          </p:cNvPr>
          <p:cNvSpPr/>
          <p:nvPr/>
        </p:nvSpPr>
        <p:spPr>
          <a:xfrm>
            <a:off x="5007797" y="1475232"/>
            <a:ext cx="3749040" cy="3566160"/>
          </a:xfrm>
          <a:prstGeom prst="rect">
            <a:avLst/>
          </a:prstGeom>
          <a:solidFill>
            <a:srgbClr val="FFFFFF"/>
          </a:solidFill>
          <a:ln w="12700">
            <a:solidFill>
              <a:srgbClr val="CBD5E1"/>
            </a:solidFill>
            <a:prstDash val="solid"/>
          </a:ln>
        </p:spPr>
        <p:txBody>
          <a:bodyPr/>
          <a:lstStyle/>
          <a:p>
            <a:endParaRPr lang="en-SG"/>
          </a:p>
        </p:txBody>
      </p:sp>
      <p:sp>
        <p:nvSpPr>
          <p:cNvPr id="9" name="Shape 6">
            <a:extLst>
              <a:ext uri="{FF2B5EF4-FFF2-40B4-BE49-F238E27FC236}">
                <a16:creationId xmlns:a16="http://schemas.microsoft.com/office/drawing/2014/main" id="{F5F86FD8-31ED-7218-AD3F-F2C288974BEC}"/>
              </a:ext>
            </a:extLst>
          </p:cNvPr>
          <p:cNvSpPr/>
          <p:nvPr/>
        </p:nvSpPr>
        <p:spPr>
          <a:xfrm>
            <a:off x="5112300" y="1520952"/>
            <a:ext cx="3657600" cy="0"/>
          </a:xfrm>
          <a:prstGeom prst="rect">
            <a:avLst/>
          </a:prstGeom>
          <a:noFill/>
          <a:ln/>
        </p:spPr>
        <p:txBody>
          <a:bodyPr/>
          <a:lstStyle/>
          <a:p>
            <a:endParaRPr lang="en-SG"/>
          </a:p>
        </p:txBody>
      </p:sp>
      <p:sp>
        <p:nvSpPr>
          <p:cNvPr id="10" name="Shape 7">
            <a:extLst>
              <a:ext uri="{FF2B5EF4-FFF2-40B4-BE49-F238E27FC236}">
                <a16:creationId xmlns:a16="http://schemas.microsoft.com/office/drawing/2014/main" id="{C5323417-9C31-4621-43E4-1553956FF7DB}"/>
              </a:ext>
            </a:extLst>
          </p:cNvPr>
          <p:cNvSpPr/>
          <p:nvPr/>
        </p:nvSpPr>
        <p:spPr>
          <a:xfrm>
            <a:off x="5139732" y="1548384"/>
            <a:ext cx="3602736" cy="502920"/>
          </a:xfrm>
          <a:prstGeom prst="rect">
            <a:avLst/>
          </a:prstGeom>
          <a:solidFill>
            <a:srgbClr val="DC2626"/>
          </a:solidFill>
          <a:ln/>
        </p:spPr>
        <p:txBody>
          <a:bodyPr/>
          <a:lstStyle/>
          <a:p>
            <a:endParaRPr lang="en-SG"/>
          </a:p>
        </p:txBody>
      </p:sp>
      <p:sp>
        <p:nvSpPr>
          <p:cNvPr id="11" name="Text 8">
            <a:extLst>
              <a:ext uri="{FF2B5EF4-FFF2-40B4-BE49-F238E27FC236}">
                <a16:creationId xmlns:a16="http://schemas.microsoft.com/office/drawing/2014/main" id="{FAB33B99-2C4C-A1B6-00A5-99500294E7D8}"/>
              </a:ext>
            </a:extLst>
          </p:cNvPr>
          <p:cNvSpPr/>
          <p:nvPr/>
        </p:nvSpPr>
        <p:spPr>
          <a:xfrm>
            <a:off x="5139732" y="1548384"/>
            <a:ext cx="3602736" cy="502920"/>
          </a:xfrm>
          <a:prstGeom prst="rect">
            <a:avLst/>
          </a:prstGeom>
          <a:noFill/>
          <a:ln/>
        </p:spPr>
        <p:txBody>
          <a:bodyPr wrap="square" rtlCol="0" anchor="ctr"/>
          <a:lstStyle/>
          <a:p>
            <a:pPr marL="0" indent="0" algn="ctr">
              <a:buNone/>
            </a:pPr>
            <a:r>
              <a:rPr lang="en-US" sz="900" b="1">
                <a:solidFill>
                  <a:srgbClr val="FFFFFF"/>
                </a:solidFill>
                <a:latin typeface="Courier New" pitchFamily="34" charset="0"/>
                <a:ea typeface="Courier New" pitchFamily="34" charset="-122"/>
                <a:cs typeface="Courier New" pitchFamily="34" charset="-120"/>
              </a:rPr>
              <a:t>header  (grid-column: 1/4)</a:t>
            </a:r>
            <a:endParaRPr lang="en-US" sz="900"/>
          </a:p>
        </p:txBody>
      </p:sp>
      <p:sp>
        <p:nvSpPr>
          <p:cNvPr id="12" name="Shape 9">
            <a:extLst>
              <a:ext uri="{FF2B5EF4-FFF2-40B4-BE49-F238E27FC236}">
                <a16:creationId xmlns:a16="http://schemas.microsoft.com/office/drawing/2014/main" id="{8EB4EE95-AAC9-D0E2-A0AC-B48F2FCF31BD}"/>
              </a:ext>
            </a:extLst>
          </p:cNvPr>
          <p:cNvSpPr/>
          <p:nvPr/>
        </p:nvSpPr>
        <p:spPr>
          <a:xfrm>
            <a:off x="5139732" y="2142744"/>
            <a:ext cx="1005840" cy="2194560"/>
          </a:xfrm>
          <a:prstGeom prst="rect">
            <a:avLst/>
          </a:prstGeom>
          <a:solidFill>
            <a:srgbClr val="FCA5A5"/>
          </a:solidFill>
          <a:ln/>
        </p:spPr>
        <p:txBody>
          <a:bodyPr/>
          <a:lstStyle/>
          <a:p>
            <a:endParaRPr lang="en-SG"/>
          </a:p>
        </p:txBody>
      </p:sp>
      <p:sp>
        <p:nvSpPr>
          <p:cNvPr id="13" name="Text 10">
            <a:extLst>
              <a:ext uri="{FF2B5EF4-FFF2-40B4-BE49-F238E27FC236}">
                <a16:creationId xmlns:a16="http://schemas.microsoft.com/office/drawing/2014/main" id="{5386A4EC-7B7D-A5D9-35C1-618C5BB2E972}"/>
              </a:ext>
            </a:extLst>
          </p:cNvPr>
          <p:cNvSpPr/>
          <p:nvPr/>
        </p:nvSpPr>
        <p:spPr>
          <a:xfrm>
            <a:off x="5139732" y="2142744"/>
            <a:ext cx="1005840" cy="2194560"/>
          </a:xfrm>
          <a:prstGeom prst="rect">
            <a:avLst/>
          </a:prstGeom>
          <a:noFill/>
          <a:ln/>
        </p:spPr>
        <p:txBody>
          <a:bodyPr wrap="square" rtlCol="0" anchor="ctr"/>
          <a:lstStyle/>
          <a:p>
            <a:pPr marL="0" indent="0" algn="ctr">
              <a:buNone/>
            </a:pPr>
            <a:r>
              <a:rPr lang="en-US" sz="900">
                <a:solidFill>
                  <a:srgbClr val="7F1D1D"/>
                </a:solidFill>
                <a:latin typeface="Courier New" pitchFamily="34" charset="0"/>
                <a:ea typeface="Courier New" pitchFamily="34" charset="-122"/>
                <a:cs typeface="Courier New" pitchFamily="34" charset="-120"/>
              </a:rPr>
              <a:t>sidebar</a:t>
            </a:r>
            <a:endParaRPr lang="en-US" sz="900"/>
          </a:p>
        </p:txBody>
      </p:sp>
      <p:sp>
        <p:nvSpPr>
          <p:cNvPr id="14" name="Shape 11">
            <a:extLst>
              <a:ext uri="{FF2B5EF4-FFF2-40B4-BE49-F238E27FC236}">
                <a16:creationId xmlns:a16="http://schemas.microsoft.com/office/drawing/2014/main" id="{7F2880E8-6381-525A-2DC0-8DA69602C031}"/>
              </a:ext>
            </a:extLst>
          </p:cNvPr>
          <p:cNvSpPr/>
          <p:nvPr/>
        </p:nvSpPr>
        <p:spPr>
          <a:xfrm>
            <a:off x="6237012" y="2142744"/>
            <a:ext cx="1508760" cy="2194560"/>
          </a:xfrm>
          <a:prstGeom prst="rect">
            <a:avLst/>
          </a:prstGeom>
          <a:solidFill>
            <a:srgbClr val="FECACA"/>
          </a:solidFill>
          <a:ln/>
        </p:spPr>
        <p:txBody>
          <a:bodyPr/>
          <a:lstStyle/>
          <a:p>
            <a:endParaRPr lang="en-SG"/>
          </a:p>
        </p:txBody>
      </p:sp>
      <p:sp>
        <p:nvSpPr>
          <p:cNvPr id="15" name="Text 12">
            <a:extLst>
              <a:ext uri="{FF2B5EF4-FFF2-40B4-BE49-F238E27FC236}">
                <a16:creationId xmlns:a16="http://schemas.microsoft.com/office/drawing/2014/main" id="{54351728-A67E-81B7-A776-73E892DBD477}"/>
              </a:ext>
            </a:extLst>
          </p:cNvPr>
          <p:cNvSpPr/>
          <p:nvPr/>
        </p:nvSpPr>
        <p:spPr>
          <a:xfrm>
            <a:off x="6237012" y="2142744"/>
            <a:ext cx="1508760" cy="2194560"/>
          </a:xfrm>
          <a:prstGeom prst="rect">
            <a:avLst/>
          </a:prstGeom>
          <a:noFill/>
          <a:ln/>
        </p:spPr>
        <p:txBody>
          <a:bodyPr wrap="square" rtlCol="0" anchor="ctr"/>
          <a:lstStyle/>
          <a:p>
            <a:pPr marL="0" indent="0" algn="ctr">
              <a:buNone/>
            </a:pPr>
            <a:r>
              <a:rPr lang="en-US" sz="900">
                <a:solidFill>
                  <a:srgbClr val="7F1D1D"/>
                </a:solidFill>
                <a:latin typeface="Courier New" pitchFamily="34" charset="0"/>
                <a:ea typeface="Courier New" pitchFamily="34" charset="-122"/>
                <a:cs typeface="Courier New" pitchFamily="34" charset="-120"/>
              </a:rPr>
              <a:t>main</a:t>
            </a:r>
            <a:endParaRPr lang="en-US" sz="900"/>
          </a:p>
          <a:p>
            <a:pPr marL="0" indent="0" algn="ctr">
              <a:buNone/>
            </a:pPr>
            <a:r>
              <a:rPr lang="en-US" sz="900">
                <a:solidFill>
                  <a:srgbClr val="7F1D1D"/>
                </a:solidFill>
                <a:latin typeface="Courier New" pitchFamily="34" charset="0"/>
                <a:ea typeface="Courier New" pitchFamily="34" charset="-122"/>
                <a:cs typeface="Courier New" pitchFamily="34" charset="-120"/>
              </a:rPr>
              <a:t>(1fr)</a:t>
            </a:r>
            <a:endParaRPr lang="en-US" sz="900"/>
          </a:p>
        </p:txBody>
      </p:sp>
      <p:sp>
        <p:nvSpPr>
          <p:cNvPr id="16" name="Shape 13">
            <a:extLst>
              <a:ext uri="{FF2B5EF4-FFF2-40B4-BE49-F238E27FC236}">
                <a16:creationId xmlns:a16="http://schemas.microsoft.com/office/drawing/2014/main" id="{E46032D1-48D1-A90C-E069-29BF41869810}"/>
              </a:ext>
            </a:extLst>
          </p:cNvPr>
          <p:cNvSpPr/>
          <p:nvPr/>
        </p:nvSpPr>
        <p:spPr>
          <a:xfrm>
            <a:off x="7837212" y="2142744"/>
            <a:ext cx="914400" cy="2194560"/>
          </a:xfrm>
          <a:prstGeom prst="rect">
            <a:avLst/>
          </a:prstGeom>
          <a:solidFill>
            <a:srgbClr val="FCA5A5"/>
          </a:solidFill>
          <a:ln/>
        </p:spPr>
        <p:txBody>
          <a:bodyPr/>
          <a:lstStyle/>
          <a:p>
            <a:endParaRPr lang="en-SG"/>
          </a:p>
        </p:txBody>
      </p:sp>
      <p:sp>
        <p:nvSpPr>
          <p:cNvPr id="17" name="Text 14">
            <a:extLst>
              <a:ext uri="{FF2B5EF4-FFF2-40B4-BE49-F238E27FC236}">
                <a16:creationId xmlns:a16="http://schemas.microsoft.com/office/drawing/2014/main" id="{97D419E6-4CC0-E731-9671-F8E54658524F}"/>
              </a:ext>
            </a:extLst>
          </p:cNvPr>
          <p:cNvSpPr/>
          <p:nvPr/>
        </p:nvSpPr>
        <p:spPr>
          <a:xfrm>
            <a:off x="7837212" y="2142744"/>
            <a:ext cx="914400" cy="2194560"/>
          </a:xfrm>
          <a:prstGeom prst="rect">
            <a:avLst/>
          </a:prstGeom>
          <a:noFill/>
          <a:ln/>
        </p:spPr>
        <p:txBody>
          <a:bodyPr wrap="square" rtlCol="0" anchor="ctr"/>
          <a:lstStyle/>
          <a:p>
            <a:pPr marL="0" indent="0" algn="ctr">
              <a:buNone/>
            </a:pPr>
            <a:r>
              <a:rPr lang="en-US" sz="900">
                <a:solidFill>
                  <a:srgbClr val="7F1D1D"/>
                </a:solidFill>
                <a:latin typeface="Courier New" pitchFamily="34" charset="0"/>
                <a:ea typeface="Courier New" pitchFamily="34" charset="-122"/>
                <a:cs typeface="Courier New" pitchFamily="34" charset="-120"/>
              </a:rPr>
              <a:t>aside</a:t>
            </a:r>
            <a:endParaRPr lang="en-US" sz="900"/>
          </a:p>
        </p:txBody>
      </p:sp>
      <p:sp>
        <p:nvSpPr>
          <p:cNvPr id="18" name="Shape 15">
            <a:extLst>
              <a:ext uri="{FF2B5EF4-FFF2-40B4-BE49-F238E27FC236}">
                <a16:creationId xmlns:a16="http://schemas.microsoft.com/office/drawing/2014/main" id="{DB5F31C0-0889-145C-4DA5-244DCB65BDE7}"/>
              </a:ext>
            </a:extLst>
          </p:cNvPr>
          <p:cNvSpPr/>
          <p:nvPr/>
        </p:nvSpPr>
        <p:spPr>
          <a:xfrm>
            <a:off x="5139732" y="4428744"/>
            <a:ext cx="3602736" cy="384048"/>
          </a:xfrm>
          <a:prstGeom prst="rect">
            <a:avLst/>
          </a:prstGeom>
          <a:solidFill>
            <a:srgbClr val="DC2626"/>
          </a:solidFill>
          <a:ln/>
        </p:spPr>
        <p:txBody>
          <a:bodyPr/>
          <a:lstStyle/>
          <a:p>
            <a:endParaRPr lang="en-SG"/>
          </a:p>
        </p:txBody>
      </p:sp>
      <p:sp>
        <p:nvSpPr>
          <p:cNvPr id="19" name="Text 16">
            <a:extLst>
              <a:ext uri="{FF2B5EF4-FFF2-40B4-BE49-F238E27FC236}">
                <a16:creationId xmlns:a16="http://schemas.microsoft.com/office/drawing/2014/main" id="{E99351F9-5AA3-6AC8-7141-998C96148212}"/>
              </a:ext>
            </a:extLst>
          </p:cNvPr>
          <p:cNvSpPr/>
          <p:nvPr/>
        </p:nvSpPr>
        <p:spPr>
          <a:xfrm>
            <a:off x="5139732" y="4428744"/>
            <a:ext cx="3602736" cy="384048"/>
          </a:xfrm>
          <a:prstGeom prst="rect">
            <a:avLst/>
          </a:prstGeom>
          <a:noFill/>
          <a:ln/>
        </p:spPr>
        <p:txBody>
          <a:bodyPr wrap="square" rtlCol="0" anchor="ctr"/>
          <a:lstStyle/>
          <a:p>
            <a:pPr marL="0" indent="0" algn="ctr">
              <a:buNone/>
            </a:pPr>
            <a:r>
              <a:rPr lang="en-US" sz="900" b="1">
                <a:solidFill>
                  <a:srgbClr val="FFFFFF"/>
                </a:solidFill>
                <a:latin typeface="Courier New" pitchFamily="34" charset="0"/>
                <a:ea typeface="Courier New" pitchFamily="34" charset="-122"/>
                <a:cs typeface="Courier New" pitchFamily="34" charset="-120"/>
              </a:rPr>
              <a:t>footer  (grid-column: 1/4)</a:t>
            </a:r>
            <a:endParaRPr lang="en-US" sz="900"/>
          </a:p>
        </p:txBody>
      </p:sp>
      <p:sp>
        <p:nvSpPr>
          <p:cNvPr id="22" name="Google Shape;321;p38">
            <a:extLst>
              <a:ext uri="{FF2B5EF4-FFF2-40B4-BE49-F238E27FC236}">
                <a16:creationId xmlns:a16="http://schemas.microsoft.com/office/drawing/2014/main" id="{D82B2E11-3768-4DAB-DF4D-6FEDDD37C8F8}"/>
              </a:ext>
            </a:extLst>
          </p:cNvPr>
          <p:cNvSpPr/>
          <p:nvPr/>
        </p:nvSpPr>
        <p:spPr>
          <a:xfrm>
            <a:off x="5642652" y="855784"/>
            <a:ext cx="2280900" cy="520200"/>
          </a:xfrm>
          <a:prstGeom prst="wedgeRoundRectCallout">
            <a:avLst>
              <a:gd name="adj1" fmla="val 35375"/>
              <a:gd name="adj2" fmla="val 68918"/>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b="0" i="0" u="none" strike="noStrike" cap="none">
                <a:solidFill>
                  <a:srgbClr val="000000"/>
                </a:solidFill>
                <a:latin typeface="Arial"/>
                <a:ea typeface="Arial"/>
                <a:cs typeface="Arial"/>
                <a:sym typeface="Arial"/>
              </a:rPr>
              <a:t>Example: </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200" b="0" i="1" u="none" strike="noStrike" cap="none">
                <a:solidFill>
                  <a:srgbClr val="000000"/>
                </a:solidFill>
                <a:latin typeface="Arial"/>
                <a:ea typeface="Arial"/>
                <a:cs typeface="Arial"/>
                <a:sym typeface="Arial"/>
              </a:rPr>
              <a:t>wk2example23.html</a:t>
            </a:r>
            <a:endParaRPr sz="1200" b="0" i="1"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1588723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A7930-86A3-6831-05B3-F59D9C0202B8}"/>
              </a:ext>
            </a:extLst>
          </p:cNvPr>
          <p:cNvSpPr>
            <a:spLocks noGrp="1"/>
          </p:cNvSpPr>
          <p:nvPr>
            <p:ph type="title"/>
          </p:nvPr>
        </p:nvSpPr>
        <p:spPr>
          <a:xfrm>
            <a:off x="311700" y="196998"/>
            <a:ext cx="8520600" cy="831300"/>
          </a:xfrm>
        </p:spPr>
        <p:txBody>
          <a:bodyPr/>
          <a:lstStyle/>
          <a:p>
            <a:r>
              <a:rPr lang="en-SG"/>
              <a:t>Grid: Template areas</a:t>
            </a:r>
          </a:p>
        </p:txBody>
      </p:sp>
      <p:sp>
        <p:nvSpPr>
          <p:cNvPr id="5" name="Shape 2">
            <a:extLst>
              <a:ext uri="{FF2B5EF4-FFF2-40B4-BE49-F238E27FC236}">
                <a16:creationId xmlns:a16="http://schemas.microsoft.com/office/drawing/2014/main" id="{8E3C8DE0-BE23-E1BD-F3CD-8DCF4A330B6C}"/>
              </a:ext>
            </a:extLst>
          </p:cNvPr>
          <p:cNvSpPr/>
          <p:nvPr/>
        </p:nvSpPr>
        <p:spPr>
          <a:xfrm>
            <a:off x="320040" y="931301"/>
            <a:ext cx="4754880" cy="3174921"/>
          </a:xfrm>
          <a:prstGeom prst="rect">
            <a:avLst/>
          </a:prstGeom>
          <a:solidFill>
            <a:srgbClr val="1E293B"/>
          </a:solidFill>
          <a:ln w="12700">
            <a:solidFill>
              <a:srgbClr val="334155"/>
            </a:solidFill>
            <a:prstDash val="solid"/>
          </a:ln>
        </p:spPr>
        <p:txBody>
          <a:bodyPr/>
          <a:lstStyle/>
          <a:p>
            <a:endParaRPr lang="en-SG"/>
          </a:p>
        </p:txBody>
      </p:sp>
      <p:sp>
        <p:nvSpPr>
          <p:cNvPr id="6" name="Text 3">
            <a:extLst>
              <a:ext uri="{FF2B5EF4-FFF2-40B4-BE49-F238E27FC236}">
                <a16:creationId xmlns:a16="http://schemas.microsoft.com/office/drawing/2014/main" id="{2B2D7A37-B69F-B299-0A56-B417561F1994}"/>
              </a:ext>
            </a:extLst>
          </p:cNvPr>
          <p:cNvSpPr/>
          <p:nvPr/>
        </p:nvSpPr>
        <p:spPr>
          <a:xfrm>
            <a:off x="393192" y="896112"/>
            <a:ext cx="4608576" cy="2641229"/>
          </a:xfrm>
          <a:prstGeom prst="rect">
            <a:avLst/>
          </a:prstGeom>
          <a:noFill/>
          <a:ln/>
        </p:spPr>
        <p:txBody>
          <a:bodyPr wrap="square" rtlCol="0" anchor="t"/>
          <a:lstStyle/>
          <a:p>
            <a:pPr marL="0" indent="0">
              <a:buNone/>
            </a:pPr>
            <a:r>
              <a:rPr lang="en-US" sz="1000">
                <a:solidFill>
                  <a:srgbClr val="E2E8F0"/>
                </a:solidFill>
                <a:latin typeface="Courier New" pitchFamily="34" charset="0"/>
                <a:ea typeface="Courier New" pitchFamily="34" charset="-122"/>
                <a:cs typeface="Courier New" pitchFamily="34" charset="-120"/>
              </a:rPr>
              <a:t>.page {</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a:t>
            </a:r>
            <a:r>
              <a:rPr lang="en-US" sz="1000">
                <a:solidFill>
                  <a:srgbClr val="7DD3FC"/>
                </a:solidFill>
                <a:latin typeface="Courier New" pitchFamily="34" charset="0"/>
                <a:ea typeface="Courier New" pitchFamily="34" charset="-122"/>
                <a:cs typeface="Courier New" pitchFamily="34" charset="-120"/>
              </a:rPr>
              <a:t>display</a:t>
            </a:r>
            <a:r>
              <a:rPr lang="en-US" sz="1000">
                <a:solidFill>
                  <a:srgbClr val="CBD5E1"/>
                </a:solidFill>
                <a:latin typeface="Courier New" pitchFamily="34" charset="0"/>
                <a:ea typeface="Courier New" pitchFamily="34" charset="-122"/>
                <a:cs typeface="Courier New" pitchFamily="34" charset="-120"/>
              </a:rPr>
              <a:t>: </a:t>
            </a:r>
            <a:r>
              <a:rPr lang="en-US" sz="1000">
                <a:solidFill>
                  <a:srgbClr val="86EFAC"/>
                </a:solidFill>
                <a:latin typeface="Courier New" pitchFamily="34" charset="0"/>
                <a:ea typeface="Courier New" pitchFamily="34" charset="-122"/>
                <a:cs typeface="Courier New" pitchFamily="34" charset="-120"/>
              </a:rPr>
              <a:t>grid</a:t>
            </a:r>
            <a:r>
              <a:rPr lang="en-US" sz="1000">
                <a:solidFill>
                  <a:srgbClr val="CBD5E1"/>
                </a:solidFill>
                <a:latin typeface="Courier New" pitchFamily="34" charset="0"/>
                <a:ea typeface="Courier New" pitchFamily="34" charset="-122"/>
                <a:cs typeface="Courier New" pitchFamily="34" charset="-120"/>
              </a:rPr>
              <a: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a:t>
            </a:r>
            <a:r>
              <a:rPr lang="en-US" sz="1000">
                <a:solidFill>
                  <a:srgbClr val="7DD3FC"/>
                </a:solidFill>
                <a:latin typeface="Courier New" pitchFamily="34" charset="0"/>
                <a:ea typeface="Courier New" pitchFamily="34" charset="-122"/>
                <a:cs typeface="Courier New" pitchFamily="34" charset="-120"/>
              </a:rPr>
              <a:t>grid-template-columns</a:t>
            </a:r>
            <a:r>
              <a:rPr lang="en-US" sz="1000">
                <a:solidFill>
                  <a:srgbClr val="CBD5E1"/>
                </a:solidFill>
                <a:latin typeface="Courier New" pitchFamily="34" charset="0"/>
                <a:ea typeface="Courier New" pitchFamily="34" charset="-122"/>
                <a:cs typeface="Courier New" pitchFamily="34" charset="-120"/>
              </a:rPr>
              <a:t>: </a:t>
            </a:r>
            <a:r>
              <a:rPr lang="en-US" sz="1000">
                <a:solidFill>
                  <a:srgbClr val="86EFAC"/>
                </a:solidFill>
                <a:latin typeface="Courier New" pitchFamily="34" charset="0"/>
                <a:ea typeface="Courier New" pitchFamily="34" charset="-122"/>
                <a:cs typeface="Courier New" pitchFamily="34" charset="-120"/>
              </a:rPr>
              <a:t>1fr 3fr</a:t>
            </a:r>
            <a:r>
              <a:rPr lang="en-US" sz="1000">
                <a:solidFill>
                  <a:srgbClr val="CBD5E1"/>
                </a:solidFill>
                <a:latin typeface="Courier New" pitchFamily="34" charset="0"/>
                <a:ea typeface="Courier New" pitchFamily="34" charset="-122"/>
                <a:cs typeface="Courier New" pitchFamily="34" charset="-120"/>
              </a:rPr>
              <a: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a:t>
            </a:r>
            <a:r>
              <a:rPr lang="en-US" sz="1000">
                <a:solidFill>
                  <a:srgbClr val="7DD3FC"/>
                </a:solidFill>
                <a:latin typeface="Courier New" pitchFamily="34" charset="0"/>
                <a:ea typeface="Courier New" pitchFamily="34" charset="-122"/>
                <a:cs typeface="Courier New" pitchFamily="34" charset="-120"/>
              </a:rPr>
              <a:t>grid-template-rows</a:t>
            </a:r>
            <a:r>
              <a:rPr lang="en-US" sz="1000">
                <a:solidFill>
                  <a:srgbClr val="CBD5E1"/>
                </a:solidFill>
                <a:latin typeface="Courier New" pitchFamily="34" charset="0"/>
                <a:ea typeface="Courier New" pitchFamily="34" charset="-122"/>
                <a:cs typeface="Courier New" pitchFamily="34" charset="-120"/>
              </a:rPr>
              <a:t>: </a:t>
            </a:r>
            <a:r>
              <a:rPr lang="en-US" sz="1000">
                <a:solidFill>
                  <a:srgbClr val="86EFAC"/>
                </a:solidFill>
                <a:latin typeface="Courier New" pitchFamily="34" charset="0"/>
                <a:ea typeface="Courier New" pitchFamily="34" charset="-122"/>
                <a:cs typeface="Courier New" pitchFamily="34" charset="-120"/>
              </a:rPr>
              <a:t>auto 1fr auto</a:t>
            </a:r>
            <a:r>
              <a:rPr lang="en-US" sz="1000">
                <a:solidFill>
                  <a:srgbClr val="CBD5E1"/>
                </a:solidFill>
                <a:latin typeface="Courier New" pitchFamily="34" charset="0"/>
                <a:ea typeface="Courier New" pitchFamily="34" charset="-122"/>
                <a:cs typeface="Courier New" pitchFamily="34" charset="-120"/>
              </a:rPr>
              <a: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a:t>
            </a:r>
            <a:r>
              <a:rPr lang="en-US" sz="1000">
                <a:solidFill>
                  <a:srgbClr val="FDE68A"/>
                </a:solidFill>
                <a:latin typeface="Courier New" pitchFamily="34" charset="0"/>
                <a:ea typeface="Courier New" pitchFamily="34" charset="-122"/>
                <a:cs typeface="Courier New" pitchFamily="34" charset="-120"/>
              </a:rPr>
              <a:t>grid-template-areas</a:t>
            </a:r>
            <a:r>
              <a:rPr lang="en-US" sz="1000">
                <a:solidFill>
                  <a:srgbClr val="CBD5E1"/>
                </a:solidFill>
                <a:latin typeface="Courier New" pitchFamily="34" charset="0"/>
                <a:ea typeface="Courier New" pitchFamily="34" charset="-122"/>
                <a:cs typeface="Courier New" pitchFamily="34" charset="-120"/>
              </a:rPr>
              <a: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"header  header"</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“sidebar main"</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"footer  footer";</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a:t>
            </a:r>
            <a:r>
              <a:rPr lang="en-US" sz="1000">
                <a:solidFill>
                  <a:srgbClr val="7DD3FC"/>
                </a:solidFill>
                <a:latin typeface="Courier New" pitchFamily="34" charset="0"/>
                <a:ea typeface="Courier New" pitchFamily="34" charset="-122"/>
                <a:cs typeface="Courier New" pitchFamily="34" charset="-120"/>
              </a:rPr>
              <a:t>gap</a:t>
            </a:r>
            <a:r>
              <a:rPr lang="en-US" sz="1000">
                <a:solidFill>
                  <a:srgbClr val="CBD5E1"/>
                </a:solidFill>
                <a:latin typeface="Courier New" pitchFamily="34" charset="0"/>
                <a:ea typeface="Courier New" pitchFamily="34" charset="-122"/>
                <a:cs typeface="Courier New" pitchFamily="34" charset="-120"/>
              </a:rPr>
              <a:t>: </a:t>
            </a:r>
            <a:r>
              <a:rPr lang="en-US" sz="1000">
                <a:solidFill>
                  <a:srgbClr val="86EFAC"/>
                </a:solidFill>
                <a:latin typeface="Courier New" pitchFamily="34" charset="0"/>
                <a:ea typeface="Courier New" pitchFamily="34" charset="-122"/>
                <a:cs typeface="Courier New" pitchFamily="34" charset="-120"/>
              </a:rPr>
              <a:t>10px</a:t>
            </a:r>
            <a:r>
              <a:rPr lang="en-US" sz="1000">
                <a:solidFill>
                  <a:srgbClr val="CBD5E1"/>
                </a:solidFill>
                <a:latin typeface="Courier New" pitchFamily="34" charset="0"/>
                <a:ea typeface="Courier New" pitchFamily="34" charset="-122"/>
                <a:cs typeface="Courier New" pitchFamily="34" charset="-120"/>
              </a:rPr>
              <a: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  </a:t>
            </a:r>
            <a:r>
              <a:rPr lang="en-US" sz="1000">
                <a:solidFill>
                  <a:srgbClr val="7DD3FC"/>
                </a:solidFill>
                <a:latin typeface="Courier New" pitchFamily="34" charset="0"/>
                <a:ea typeface="Courier New" pitchFamily="34" charset="-122"/>
                <a:cs typeface="Courier New" pitchFamily="34" charset="-120"/>
              </a:rPr>
              <a:t>min-height</a:t>
            </a:r>
            <a:r>
              <a:rPr lang="en-US" sz="1000">
                <a:solidFill>
                  <a:srgbClr val="CBD5E1"/>
                </a:solidFill>
                <a:latin typeface="Courier New" pitchFamily="34" charset="0"/>
                <a:ea typeface="Courier New" pitchFamily="34" charset="-122"/>
                <a:cs typeface="Courier New" pitchFamily="34" charset="-120"/>
              </a:rPr>
              <a:t>: </a:t>
            </a:r>
            <a:r>
              <a:rPr lang="en-US" sz="1000">
                <a:solidFill>
                  <a:srgbClr val="86EFAC"/>
                </a:solidFill>
                <a:latin typeface="Courier New" pitchFamily="34" charset="0"/>
                <a:ea typeface="Courier New" pitchFamily="34" charset="-122"/>
                <a:cs typeface="Courier New" pitchFamily="34" charset="-120"/>
              </a:rPr>
              <a:t>90vh</a:t>
            </a:r>
            <a:r>
              <a:rPr lang="en-US" sz="1000">
                <a:solidFill>
                  <a:srgbClr val="CBD5E1"/>
                </a:solidFill>
                <a:latin typeface="Courier New" pitchFamily="34" charset="0"/>
                <a:ea typeface="Courier New" pitchFamily="34" charset="-122"/>
                <a:cs typeface="Courier New" pitchFamily="34" charset="-120"/>
              </a:rPr>
              <a:t>;</a:t>
            </a:r>
            <a:endParaRPr lang="en-US" sz="1000"/>
          </a:p>
          <a:p>
            <a:pPr marL="0" indent="0">
              <a:buNone/>
            </a:pPr>
            <a:r>
              <a:rPr lang="en-US" sz="1000">
                <a:solidFill>
                  <a:srgbClr val="E2E8F0"/>
                </a:solidFill>
                <a:latin typeface="Courier New" pitchFamily="34" charset="0"/>
                <a:ea typeface="Courier New" pitchFamily="34" charset="-122"/>
                <a:cs typeface="Courier New" pitchFamily="34" charset="-120"/>
              </a:rPr>
              <a:t>}</a:t>
            </a:r>
            <a:endParaRPr lang="en-US" sz="1000"/>
          </a:p>
          <a:p>
            <a:pPr marL="0" indent="0">
              <a:buNone/>
            </a:pPr>
            <a:endParaRPr lang="en-US" sz="1000"/>
          </a:p>
          <a:p>
            <a:pPr marL="0" indent="0">
              <a:buNone/>
            </a:pPr>
            <a:r>
              <a:rPr lang="en-US" sz="1000">
                <a:solidFill>
                  <a:srgbClr val="FDE68A"/>
                </a:solidFill>
                <a:latin typeface="Courier New" pitchFamily="34" charset="0"/>
                <a:ea typeface="Courier New" pitchFamily="34" charset="-122"/>
                <a:cs typeface="Courier New" pitchFamily="34" charset="-120"/>
              </a:rPr>
              <a:t>header  { grid-area: header;  }</a:t>
            </a:r>
            <a:endParaRPr lang="en-US" sz="1000"/>
          </a:p>
          <a:p>
            <a:pPr marL="0" indent="0">
              <a:buNone/>
            </a:pPr>
            <a:r>
              <a:rPr lang="en-US" sz="1000">
                <a:solidFill>
                  <a:srgbClr val="FDE68A"/>
                </a:solidFill>
                <a:latin typeface="Courier New" pitchFamily="34" charset="0"/>
                <a:ea typeface="Courier New" pitchFamily="34" charset="-122"/>
                <a:cs typeface="Courier New" pitchFamily="34" charset="-120"/>
              </a:rPr>
              <a:t>aside { grid-area: sidebar; }</a:t>
            </a:r>
            <a:endParaRPr lang="en-US" sz="1000"/>
          </a:p>
          <a:p>
            <a:pPr marL="0" indent="0">
              <a:buNone/>
            </a:pPr>
            <a:r>
              <a:rPr lang="en-US" sz="1000">
                <a:solidFill>
                  <a:srgbClr val="FDE68A"/>
                </a:solidFill>
                <a:latin typeface="Courier New" pitchFamily="34" charset="0"/>
                <a:ea typeface="Courier New" pitchFamily="34" charset="-122"/>
                <a:cs typeface="Courier New" pitchFamily="34" charset="-120"/>
              </a:rPr>
              <a:t>main    { grid-area: main;    }</a:t>
            </a:r>
            <a:endParaRPr lang="en-US" sz="1000"/>
          </a:p>
          <a:p>
            <a:pPr marL="0" indent="0">
              <a:buNone/>
            </a:pPr>
            <a:r>
              <a:rPr lang="en-US" sz="1000">
                <a:solidFill>
                  <a:srgbClr val="FDE68A"/>
                </a:solidFill>
                <a:latin typeface="Courier New" pitchFamily="34" charset="0"/>
                <a:ea typeface="Courier New" pitchFamily="34" charset="-122"/>
                <a:cs typeface="Courier New" pitchFamily="34" charset="-120"/>
              </a:rPr>
              <a:t>footer  { grid-area: footer;  }</a:t>
            </a:r>
            <a:endParaRPr lang="en-US" sz="1000"/>
          </a:p>
        </p:txBody>
      </p:sp>
      <p:sp>
        <p:nvSpPr>
          <p:cNvPr id="7" name="Shape 4">
            <a:extLst>
              <a:ext uri="{FF2B5EF4-FFF2-40B4-BE49-F238E27FC236}">
                <a16:creationId xmlns:a16="http://schemas.microsoft.com/office/drawing/2014/main" id="{4A0A9457-BA98-EC5F-F052-6EEC2F45C795}"/>
              </a:ext>
            </a:extLst>
          </p:cNvPr>
          <p:cNvSpPr/>
          <p:nvPr/>
        </p:nvSpPr>
        <p:spPr>
          <a:xfrm>
            <a:off x="5257800" y="931301"/>
            <a:ext cx="3566160" cy="594360"/>
          </a:xfrm>
          <a:prstGeom prst="rect">
            <a:avLst/>
          </a:prstGeom>
          <a:solidFill>
            <a:srgbClr val="DC2626"/>
          </a:solidFill>
          <a:ln/>
        </p:spPr>
        <p:txBody>
          <a:bodyPr/>
          <a:lstStyle/>
          <a:p>
            <a:endParaRPr lang="en-SG"/>
          </a:p>
        </p:txBody>
      </p:sp>
      <p:sp>
        <p:nvSpPr>
          <p:cNvPr id="8" name="Text 5">
            <a:extLst>
              <a:ext uri="{FF2B5EF4-FFF2-40B4-BE49-F238E27FC236}">
                <a16:creationId xmlns:a16="http://schemas.microsoft.com/office/drawing/2014/main" id="{E88AEE2B-FA8B-A940-15BB-30F9407F6251}"/>
              </a:ext>
            </a:extLst>
          </p:cNvPr>
          <p:cNvSpPr/>
          <p:nvPr/>
        </p:nvSpPr>
        <p:spPr>
          <a:xfrm>
            <a:off x="5257800" y="841248"/>
            <a:ext cx="3566160" cy="594360"/>
          </a:xfrm>
          <a:prstGeom prst="rect">
            <a:avLst/>
          </a:prstGeom>
          <a:noFill/>
          <a:ln/>
        </p:spPr>
        <p:txBody>
          <a:bodyPr wrap="square" rtlCol="0" anchor="ctr"/>
          <a:lstStyle/>
          <a:p>
            <a:pPr marL="0" indent="0" algn="ctr">
              <a:buNone/>
            </a:pPr>
            <a:r>
              <a:rPr lang="en-US" sz="1100" b="1">
                <a:solidFill>
                  <a:srgbClr val="FFFFFF"/>
                </a:solidFill>
                <a:latin typeface="Courier New" pitchFamily="34" charset="0"/>
                <a:ea typeface="Courier New" pitchFamily="34" charset="-122"/>
                <a:cs typeface="Courier New" pitchFamily="34" charset="-120"/>
              </a:rPr>
              <a:t>header</a:t>
            </a:r>
            <a:endParaRPr lang="en-US" sz="1100"/>
          </a:p>
        </p:txBody>
      </p:sp>
      <p:sp>
        <p:nvSpPr>
          <p:cNvPr id="9" name="Shape 6">
            <a:extLst>
              <a:ext uri="{FF2B5EF4-FFF2-40B4-BE49-F238E27FC236}">
                <a16:creationId xmlns:a16="http://schemas.microsoft.com/office/drawing/2014/main" id="{1CE7BBE4-2F26-C563-6C49-28948A8B5912}"/>
              </a:ext>
            </a:extLst>
          </p:cNvPr>
          <p:cNvSpPr/>
          <p:nvPr/>
        </p:nvSpPr>
        <p:spPr>
          <a:xfrm>
            <a:off x="5257800" y="1617101"/>
            <a:ext cx="1051560" cy="1828800"/>
          </a:xfrm>
          <a:prstGeom prst="rect">
            <a:avLst/>
          </a:prstGeom>
          <a:solidFill>
            <a:srgbClr val="FCA5A5"/>
          </a:solidFill>
          <a:ln/>
        </p:spPr>
        <p:txBody>
          <a:bodyPr/>
          <a:lstStyle/>
          <a:p>
            <a:endParaRPr lang="en-SG"/>
          </a:p>
        </p:txBody>
      </p:sp>
      <p:sp>
        <p:nvSpPr>
          <p:cNvPr id="10" name="Text 7">
            <a:extLst>
              <a:ext uri="{FF2B5EF4-FFF2-40B4-BE49-F238E27FC236}">
                <a16:creationId xmlns:a16="http://schemas.microsoft.com/office/drawing/2014/main" id="{630BD011-DDC4-D5B0-F08E-94F6757C3C99}"/>
              </a:ext>
            </a:extLst>
          </p:cNvPr>
          <p:cNvSpPr/>
          <p:nvPr/>
        </p:nvSpPr>
        <p:spPr>
          <a:xfrm>
            <a:off x="5257800" y="1617101"/>
            <a:ext cx="1051560" cy="1828800"/>
          </a:xfrm>
          <a:prstGeom prst="rect">
            <a:avLst/>
          </a:prstGeom>
          <a:noFill/>
          <a:ln/>
        </p:spPr>
        <p:txBody>
          <a:bodyPr wrap="square" rtlCol="0" anchor="ctr"/>
          <a:lstStyle/>
          <a:p>
            <a:pPr marL="0" indent="0" algn="ctr">
              <a:buNone/>
            </a:pPr>
            <a:r>
              <a:rPr lang="en-US" sz="1100" b="1">
                <a:solidFill>
                  <a:srgbClr val="7F1D1D"/>
                </a:solidFill>
                <a:latin typeface="Courier New" pitchFamily="34" charset="0"/>
                <a:ea typeface="Courier New" pitchFamily="34" charset="-122"/>
                <a:cs typeface="Courier New" pitchFamily="34" charset="-120"/>
              </a:rPr>
              <a:t>sidebar</a:t>
            </a:r>
            <a:endParaRPr lang="en-US" sz="1100"/>
          </a:p>
          <a:p>
            <a:pPr marL="0" indent="0" algn="ctr">
              <a:buNone/>
            </a:pPr>
            <a:r>
              <a:rPr lang="en-US" sz="1100" b="1">
                <a:solidFill>
                  <a:srgbClr val="7F1D1D"/>
                </a:solidFill>
                <a:latin typeface="Courier New" pitchFamily="34" charset="0"/>
                <a:ea typeface="Courier New" pitchFamily="34" charset="-122"/>
                <a:cs typeface="Courier New" pitchFamily="34" charset="-120"/>
              </a:rPr>
              <a:t>(1fr)</a:t>
            </a:r>
            <a:endParaRPr lang="en-US" sz="1100"/>
          </a:p>
        </p:txBody>
      </p:sp>
      <p:sp>
        <p:nvSpPr>
          <p:cNvPr id="11" name="Shape 8">
            <a:extLst>
              <a:ext uri="{FF2B5EF4-FFF2-40B4-BE49-F238E27FC236}">
                <a16:creationId xmlns:a16="http://schemas.microsoft.com/office/drawing/2014/main" id="{1602E27D-87BE-21E4-728F-F2509BC26232}"/>
              </a:ext>
            </a:extLst>
          </p:cNvPr>
          <p:cNvSpPr/>
          <p:nvPr/>
        </p:nvSpPr>
        <p:spPr>
          <a:xfrm>
            <a:off x="6400800" y="1617101"/>
            <a:ext cx="2423160" cy="1828800"/>
          </a:xfrm>
          <a:prstGeom prst="rect">
            <a:avLst/>
          </a:prstGeom>
          <a:solidFill>
            <a:srgbClr val="FECACA"/>
          </a:solidFill>
          <a:ln/>
        </p:spPr>
        <p:txBody>
          <a:bodyPr/>
          <a:lstStyle/>
          <a:p>
            <a:endParaRPr lang="en-SG"/>
          </a:p>
        </p:txBody>
      </p:sp>
      <p:sp>
        <p:nvSpPr>
          <p:cNvPr id="12" name="Text 9">
            <a:extLst>
              <a:ext uri="{FF2B5EF4-FFF2-40B4-BE49-F238E27FC236}">
                <a16:creationId xmlns:a16="http://schemas.microsoft.com/office/drawing/2014/main" id="{F5B93A6E-D790-2565-BD52-EFC81D4E94DA}"/>
              </a:ext>
            </a:extLst>
          </p:cNvPr>
          <p:cNvSpPr/>
          <p:nvPr/>
        </p:nvSpPr>
        <p:spPr>
          <a:xfrm>
            <a:off x="6400800" y="1617101"/>
            <a:ext cx="2423160" cy="1828800"/>
          </a:xfrm>
          <a:prstGeom prst="rect">
            <a:avLst/>
          </a:prstGeom>
          <a:noFill/>
          <a:ln/>
        </p:spPr>
        <p:txBody>
          <a:bodyPr wrap="square" rtlCol="0" anchor="ctr"/>
          <a:lstStyle/>
          <a:p>
            <a:pPr marL="0" indent="0" algn="ctr">
              <a:buNone/>
            </a:pPr>
            <a:r>
              <a:rPr lang="en-US" sz="1100" b="1">
                <a:solidFill>
                  <a:srgbClr val="7F1D1D"/>
                </a:solidFill>
                <a:latin typeface="Courier New" pitchFamily="34" charset="0"/>
                <a:ea typeface="Courier New" pitchFamily="34" charset="-122"/>
                <a:cs typeface="Courier New" pitchFamily="34" charset="-120"/>
              </a:rPr>
              <a:t>main</a:t>
            </a:r>
            <a:endParaRPr lang="en-US" sz="1100"/>
          </a:p>
          <a:p>
            <a:pPr marL="0" indent="0" algn="ctr">
              <a:buNone/>
            </a:pPr>
            <a:r>
              <a:rPr lang="en-US" sz="1100" b="1">
                <a:solidFill>
                  <a:srgbClr val="7F1D1D"/>
                </a:solidFill>
                <a:latin typeface="Courier New" pitchFamily="34" charset="0"/>
                <a:ea typeface="Courier New" pitchFamily="34" charset="-122"/>
                <a:cs typeface="Courier New" pitchFamily="34" charset="-120"/>
              </a:rPr>
              <a:t>(3fr)</a:t>
            </a:r>
            <a:endParaRPr lang="en-US" sz="1100"/>
          </a:p>
        </p:txBody>
      </p:sp>
      <p:sp>
        <p:nvSpPr>
          <p:cNvPr id="13" name="Shape 10">
            <a:extLst>
              <a:ext uri="{FF2B5EF4-FFF2-40B4-BE49-F238E27FC236}">
                <a16:creationId xmlns:a16="http://schemas.microsoft.com/office/drawing/2014/main" id="{7CBC7645-E481-0BB2-1E78-20EF19229516}"/>
              </a:ext>
            </a:extLst>
          </p:cNvPr>
          <p:cNvSpPr/>
          <p:nvPr/>
        </p:nvSpPr>
        <p:spPr>
          <a:xfrm>
            <a:off x="5257800" y="3537341"/>
            <a:ext cx="3566160" cy="594360"/>
          </a:xfrm>
          <a:prstGeom prst="rect">
            <a:avLst/>
          </a:prstGeom>
          <a:solidFill>
            <a:srgbClr val="DC2626"/>
          </a:solidFill>
          <a:ln/>
        </p:spPr>
        <p:txBody>
          <a:bodyPr/>
          <a:lstStyle/>
          <a:p>
            <a:endParaRPr lang="en-SG"/>
          </a:p>
        </p:txBody>
      </p:sp>
      <p:sp>
        <p:nvSpPr>
          <p:cNvPr id="14" name="Text 11">
            <a:extLst>
              <a:ext uri="{FF2B5EF4-FFF2-40B4-BE49-F238E27FC236}">
                <a16:creationId xmlns:a16="http://schemas.microsoft.com/office/drawing/2014/main" id="{47C4D693-45BF-6997-CBB1-19DA4AF3F5A5}"/>
              </a:ext>
            </a:extLst>
          </p:cNvPr>
          <p:cNvSpPr/>
          <p:nvPr/>
        </p:nvSpPr>
        <p:spPr>
          <a:xfrm>
            <a:off x="5257800" y="3537341"/>
            <a:ext cx="3566160" cy="594360"/>
          </a:xfrm>
          <a:prstGeom prst="rect">
            <a:avLst/>
          </a:prstGeom>
          <a:noFill/>
          <a:ln/>
        </p:spPr>
        <p:txBody>
          <a:bodyPr wrap="square" rtlCol="0" anchor="ctr"/>
          <a:lstStyle/>
          <a:p>
            <a:pPr marL="0" indent="0" algn="ctr">
              <a:buNone/>
            </a:pPr>
            <a:r>
              <a:rPr lang="en-US" sz="1100" b="1">
                <a:solidFill>
                  <a:srgbClr val="FFFFFF"/>
                </a:solidFill>
                <a:latin typeface="Courier New" pitchFamily="34" charset="0"/>
                <a:ea typeface="Courier New" pitchFamily="34" charset="-122"/>
                <a:cs typeface="Courier New" pitchFamily="34" charset="-120"/>
              </a:rPr>
              <a:t>footer</a:t>
            </a:r>
            <a:endParaRPr lang="en-US" sz="1100"/>
          </a:p>
        </p:txBody>
      </p:sp>
      <p:sp>
        <p:nvSpPr>
          <p:cNvPr id="15" name="Shape 12">
            <a:extLst>
              <a:ext uri="{FF2B5EF4-FFF2-40B4-BE49-F238E27FC236}">
                <a16:creationId xmlns:a16="http://schemas.microsoft.com/office/drawing/2014/main" id="{03328026-2E9A-5FFF-10A3-BDC7A99BE782}"/>
              </a:ext>
            </a:extLst>
          </p:cNvPr>
          <p:cNvSpPr/>
          <p:nvPr/>
        </p:nvSpPr>
        <p:spPr>
          <a:xfrm>
            <a:off x="320040" y="4289102"/>
            <a:ext cx="8503920" cy="548640"/>
          </a:xfrm>
          <a:prstGeom prst="rect">
            <a:avLst/>
          </a:prstGeom>
          <a:solidFill>
            <a:srgbClr val="FFF1F2"/>
          </a:solidFill>
          <a:ln w="12700">
            <a:solidFill>
              <a:srgbClr val="DC2626"/>
            </a:solidFill>
            <a:prstDash val="solid"/>
          </a:ln>
        </p:spPr>
        <p:txBody>
          <a:bodyPr/>
          <a:lstStyle/>
          <a:p>
            <a:endParaRPr lang="en-SG"/>
          </a:p>
        </p:txBody>
      </p:sp>
      <p:sp>
        <p:nvSpPr>
          <p:cNvPr id="16" name="Text 13">
            <a:extLst>
              <a:ext uri="{FF2B5EF4-FFF2-40B4-BE49-F238E27FC236}">
                <a16:creationId xmlns:a16="http://schemas.microsoft.com/office/drawing/2014/main" id="{D4C9F810-E0F4-032A-B974-1AA3BD07AEFF}"/>
              </a:ext>
            </a:extLst>
          </p:cNvPr>
          <p:cNvSpPr/>
          <p:nvPr/>
        </p:nvSpPr>
        <p:spPr>
          <a:xfrm>
            <a:off x="434340" y="4327731"/>
            <a:ext cx="8321040" cy="457200"/>
          </a:xfrm>
          <a:prstGeom prst="rect">
            <a:avLst/>
          </a:prstGeom>
          <a:noFill/>
          <a:ln/>
        </p:spPr>
        <p:txBody>
          <a:bodyPr wrap="square" rtlCol="0" anchor="ctr"/>
          <a:lstStyle/>
          <a:p>
            <a:pPr marL="0" indent="0">
              <a:buNone/>
            </a:pPr>
            <a:r>
              <a:rPr lang="en-US" sz="1050">
                <a:solidFill>
                  <a:srgbClr val="7F1D1D"/>
                </a:solidFill>
                <a:latin typeface="Calibri" pitchFamily="34" charset="0"/>
                <a:ea typeface="Calibri" pitchFamily="34" charset="-122"/>
                <a:cs typeface="Calibri" pitchFamily="34" charset="-120"/>
              </a:rPr>
              <a:t>fr = fractional unit — 1fr 3fr means sidebar gets ¼ of width, main gets ¾.</a:t>
            </a:r>
            <a:endParaRPr lang="en-US" sz="1050"/>
          </a:p>
          <a:p>
            <a:pPr marL="0" indent="0">
              <a:buNone/>
            </a:pPr>
            <a:r>
              <a:rPr lang="en-US" sz="1050">
                <a:solidFill>
                  <a:srgbClr val="7F1D1D"/>
                </a:solidFill>
                <a:latin typeface="Calibri" pitchFamily="34" charset="0"/>
                <a:ea typeface="Calibri" pitchFamily="34" charset="-122"/>
                <a:cs typeface="Calibri" pitchFamily="34" charset="-120"/>
              </a:rPr>
              <a:t>grid-template-areas uses named regions — readable and easy to reorganize.</a:t>
            </a:r>
            <a:endParaRPr lang="en-US" sz="1050"/>
          </a:p>
        </p:txBody>
      </p:sp>
      <p:sp>
        <p:nvSpPr>
          <p:cNvPr id="17" name="Google Shape;321;p38">
            <a:extLst>
              <a:ext uri="{FF2B5EF4-FFF2-40B4-BE49-F238E27FC236}">
                <a16:creationId xmlns:a16="http://schemas.microsoft.com/office/drawing/2014/main" id="{BDAD513A-09C3-472A-5AF2-46B21F79A0F0}"/>
              </a:ext>
            </a:extLst>
          </p:cNvPr>
          <p:cNvSpPr/>
          <p:nvPr/>
        </p:nvSpPr>
        <p:spPr>
          <a:xfrm>
            <a:off x="5670361" y="268237"/>
            <a:ext cx="2280900" cy="520200"/>
          </a:xfrm>
          <a:prstGeom prst="wedgeRoundRectCallout">
            <a:avLst>
              <a:gd name="adj1" fmla="val 35375"/>
              <a:gd name="adj2" fmla="val 68918"/>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200" b="0" i="0" u="none" strike="noStrike" cap="none">
                <a:solidFill>
                  <a:srgbClr val="000000"/>
                </a:solidFill>
                <a:latin typeface="Arial"/>
                <a:ea typeface="Arial"/>
                <a:cs typeface="Arial"/>
                <a:sym typeface="Arial"/>
              </a:rPr>
              <a:t>Example: </a:t>
            </a:r>
            <a:endParaRPr sz="12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200" b="0" i="1" u="none" strike="noStrike" cap="none">
                <a:solidFill>
                  <a:srgbClr val="000000"/>
                </a:solidFill>
                <a:latin typeface="Arial"/>
                <a:ea typeface="Arial"/>
                <a:cs typeface="Arial"/>
                <a:sym typeface="Arial"/>
              </a:rPr>
              <a:t>wk2example24.html</a:t>
            </a:r>
            <a:endParaRPr sz="1200" b="0" i="1"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289823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C24B7-1370-BC7B-F4EF-A77D6F06B7C4}"/>
              </a:ext>
            </a:extLst>
          </p:cNvPr>
          <p:cNvSpPr>
            <a:spLocks noGrp="1"/>
          </p:cNvSpPr>
          <p:nvPr>
            <p:ph type="title"/>
          </p:nvPr>
        </p:nvSpPr>
        <p:spPr/>
        <p:txBody>
          <a:bodyPr/>
          <a:lstStyle/>
          <a:p>
            <a:r>
              <a:rPr lang="en-SG"/>
              <a:t>Flexbox vs Grid</a:t>
            </a:r>
          </a:p>
        </p:txBody>
      </p:sp>
      <p:graphicFrame>
        <p:nvGraphicFramePr>
          <p:cNvPr id="5" name="Table 0">
            <a:extLst>
              <a:ext uri="{FF2B5EF4-FFF2-40B4-BE49-F238E27FC236}">
                <a16:creationId xmlns:a16="http://schemas.microsoft.com/office/drawing/2014/main" id="{34A08AEC-A99C-9946-27A3-BA7250A07001}"/>
              </a:ext>
            </a:extLst>
          </p:cNvPr>
          <p:cNvGraphicFramePr>
            <a:graphicFrameLocks noGrp="1"/>
          </p:cNvGraphicFramePr>
          <p:nvPr>
            <p:extLst>
              <p:ext uri="{D42A27DB-BD31-4B8C-83A1-F6EECF244321}">
                <p14:modId xmlns:p14="http://schemas.microsoft.com/office/powerpoint/2010/main" val="3783057899"/>
              </p:ext>
            </p:extLst>
          </p:nvPr>
        </p:nvGraphicFramePr>
        <p:xfrm>
          <a:off x="311700" y="1231670"/>
          <a:ext cx="8549640" cy="2560320"/>
        </p:xfrm>
        <a:graphic>
          <a:graphicData uri="http://schemas.openxmlformats.org/drawingml/2006/table">
            <a:tbl>
              <a:tblPr/>
              <a:tblGrid>
                <a:gridCol w="2849880">
                  <a:extLst>
                    <a:ext uri="{9D8B030D-6E8A-4147-A177-3AD203B41FA5}">
                      <a16:colId xmlns:a16="http://schemas.microsoft.com/office/drawing/2014/main" val="20000"/>
                    </a:ext>
                  </a:extLst>
                </a:gridCol>
                <a:gridCol w="2849880">
                  <a:extLst>
                    <a:ext uri="{9D8B030D-6E8A-4147-A177-3AD203B41FA5}">
                      <a16:colId xmlns:a16="http://schemas.microsoft.com/office/drawing/2014/main" val="20001"/>
                    </a:ext>
                  </a:extLst>
                </a:gridCol>
                <a:gridCol w="2849880">
                  <a:extLst>
                    <a:ext uri="{9D8B030D-6E8A-4147-A177-3AD203B41FA5}">
                      <a16:colId xmlns:a16="http://schemas.microsoft.com/office/drawing/2014/main" val="20002"/>
                    </a:ext>
                  </a:extLst>
                </a:gridCol>
              </a:tblGrid>
              <a:tr h="411480">
                <a:tc>
                  <a:txBody>
                    <a:bodyPr/>
                    <a:lstStyle/>
                    <a:p>
                      <a:pPr marL="0" indent="0">
                        <a:buNone/>
                      </a:pPr>
                      <a:endParaRPr lang="en-US" sz="110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2E4A"/>
                    </a:solidFill>
                  </a:tcPr>
                </a:tc>
                <a:tc>
                  <a:txBody>
                    <a:bodyPr/>
                    <a:lstStyle/>
                    <a:p>
                      <a:pPr marL="0" indent="0" algn="ctr">
                        <a:buNone/>
                      </a:pPr>
                      <a:r>
                        <a:rPr lang="en-US" sz="1400" b="1">
                          <a:solidFill>
                            <a:srgbClr val="FFFFFF"/>
                          </a:solidFill>
                          <a:latin typeface="Calibri" pitchFamily="34" charset="0"/>
                          <a:ea typeface="Calibri" pitchFamily="34" charset="-122"/>
                          <a:cs typeface="Calibri" pitchFamily="34" charset="-120"/>
                        </a:rPr>
                        <a:t>Flexbox</a:t>
                      </a:r>
                      <a:endParaRPr lang="en-US" sz="140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7C3AED"/>
                    </a:solidFill>
                  </a:tcPr>
                </a:tc>
                <a:tc>
                  <a:txBody>
                    <a:bodyPr/>
                    <a:lstStyle/>
                    <a:p>
                      <a:pPr marL="0" indent="0" algn="ctr">
                        <a:buNone/>
                      </a:pPr>
                      <a:r>
                        <a:rPr lang="en-US" sz="1400" b="1">
                          <a:solidFill>
                            <a:srgbClr val="FFFFFF"/>
                          </a:solidFill>
                          <a:latin typeface="Calibri" pitchFamily="34" charset="0"/>
                          <a:ea typeface="Calibri" pitchFamily="34" charset="-122"/>
                          <a:cs typeface="Calibri" pitchFamily="34" charset="-120"/>
                        </a:rPr>
                        <a:t>CSS Grid</a:t>
                      </a:r>
                      <a:endParaRPr lang="en-US" sz="140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DC2626"/>
                    </a:solidFill>
                  </a:tcPr>
                </a:tc>
                <a:extLst>
                  <a:ext uri="{0D108BD9-81ED-4DB2-BD59-A6C34878D82A}">
                    <a16:rowId xmlns:a16="http://schemas.microsoft.com/office/drawing/2014/main" val="10000"/>
                  </a:ext>
                </a:extLst>
              </a:tr>
              <a:tr h="640080">
                <a:tc>
                  <a:txBody>
                    <a:bodyPr/>
                    <a:lstStyle/>
                    <a:p>
                      <a:pPr marL="0" indent="0">
                        <a:buNone/>
                      </a:pPr>
                      <a:r>
                        <a:rPr lang="en-US" sz="1100" b="1">
                          <a:solidFill>
                            <a:srgbClr val="000000"/>
                          </a:solidFill>
                          <a:latin typeface="Calibri" pitchFamily="34" charset="0"/>
                          <a:ea typeface="Calibri" pitchFamily="34" charset="-122"/>
                          <a:cs typeface="Calibri" pitchFamily="34" charset="-120"/>
                        </a:rPr>
                        <a:t>Dimensions</a:t>
                      </a:r>
                      <a:endParaRPr lang="en-US" sz="110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100">
                          <a:solidFill>
                            <a:srgbClr val="000000"/>
                          </a:solidFill>
                          <a:latin typeface="Calibri" pitchFamily="34" charset="0"/>
                          <a:ea typeface="Calibri" pitchFamily="34" charset="-122"/>
                          <a:cs typeface="Calibri" pitchFamily="34" charset="-120"/>
                        </a:rPr>
                        <a:t>One-dimensional</a:t>
                      </a:r>
                      <a:endParaRPr lang="en-US" sz="1100">
                        <a:latin typeface="Calibri" charset="0"/>
                        <a:ea typeface="Calibri" charset="0"/>
                        <a:cs typeface="Calibri" charset="0"/>
                      </a:endParaRPr>
                    </a:p>
                    <a:p>
                      <a:pPr marL="0" indent="0">
                        <a:buNone/>
                      </a:pPr>
                      <a:r>
                        <a:rPr lang="en-US" sz="1100">
                          <a:solidFill>
                            <a:srgbClr val="000000"/>
                          </a:solidFill>
                          <a:latin typeface="Calibri" pitchFamily="34" charset="0"/>
                          <a:ea typeface="Calibri" pitchFamily="34" charset="-122"/>
                          <a:cs typeface="Calibri" pitchFamily="34" charset="-120"/>
                        </a:rPr>
                        <a:t>(row OR column)</a:t>
                      </a:r>
                      <a:endParaRPr lang="en-US" sz="110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3E8FF"/>
                    </a:solidFill>
                  </a:tcPr>
                </a:tc>
                <a:tc>
                  <a:txBody>
                    <a:bodyPr/>
                    <a:lstStyle/>
                    <a:p>
                      <a:pPr marL="0" indent="0">
                        <a:buNone/>
                      </a:pPr>
                      <a:r>
                        <a:rPr lang="en-US" sz="1100">
                          <a:solidFill>
                            <a:srgbClr val="000000"/>
                          </a:solidFill>
                          <a:latin typeface="Calibri" pitchFamily="34" charset="0"/>
                          <a:ea typeface="Calibri" pitchFamily="34" charset="-122"/>
                          <a:cs typeface="Calibri" pitchFamily="34" charset="-120"/>
                        </a:rPr>
                        <a:t>Two-dimensional</a:t>
                      </a:r>
                      <a:endParaRPr lang="en-US" sz="1100">
                        <a:latin typeface="Calibri" charset="0"/>
                        <a:ea typeface="Calibri" charset="0"/>
                        <a:cs typeface="Calibri" charset="0"/>
                      </a:endParaRPr>
                    </a:p>
                    <a:p>
                      <a:pPr marL="0" indent="0">
                        <a:buNone/>
                      </a:pPr>
                      <a:r>
                        <a:rPr lang="en-US" sz="1100">
                          <a:solidFill>
                            <a:srgbClr val="000000"/>
                          </a:solidFill>
                          <a:latin typeface="Calibri" pitchFamily="34" charset="0"/>
                          <a:ea typeface="Calibri" pitchFamily="34" charset="-122"/>
                          <a:cs typeface="Calibri" pitchFamily="34" charset="-120"/>
                        </a:rPr>
                        <a:t>(rows AND columns)</a:t>
                      </a:r>
                      <a:endParaRPr lang="en-US" sz="110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1"/>
                  </a:ext>
                </a:extLst>
              </a:tr>
              <a:tr h="868680">
                <a:tc>
                  <a:txBody>
                    <a:bodyPr/>
                    <a:lstStyle/>
                    <a:p>
                      <a:pPr marL="0" indent="0">
                        <a:buNone/>
                      </a:pPr>
                      <a:r>
                        <a:rPr lang="en-US" sz="1100" b="1">
                          <a:solidFill>
                            <a:srgbClr val="000000"/>
                          </a:solidFill>
                          <a:latin typeface="Calibri" pitchFamily="34" charset="0"/>
                          <a:ea typeface="Calibri" pitchFamily="34" charset="-122"/>
                          <a:cs typeface="Calibri" pitchFamily="34" charset="-120"/>
                        </a:rPr>
                        <a:t>Best For</a:t>
                      </a:r>
                      <a:endParaRPr lang="en-US" sz="110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100">
                          <a:solidFill>
                            <a:srgbClr val="000000"/>
                          </a:solidFill>
                          <a:latin typeface="Calibri" pitchFamily="34" charset="0"/>
                          <a:ea typeface="Calibri" pitchFamily="34" charset="-122"/>
                          <a:cs typeface="Calibri" pitchFamily="34" charset="-120"/>
                        </a:rPr>
                        <a:t>Navigation bars, toolbars, button groups, centering items</a:t>
                      </a:r>
                      <a:endParaRPr lang="en-US" sz="110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3E8FF"/>
                    </a:solidFill>
                  </a:tcPr>
                </a:tc>
                <a:tc>
                  <a:txBody>
                    <a:bodyPr/>
                    <a:lstStyle/>
                    <a:p>
                      <a:pPr marL="0" indent="0">
                        <a:buNone/>
                      </a:pPr>
                      <a:r>
                        <a:rPr lang="en-US" sz="1100">
                          <a:solidFill>
                            <a:srgbClr val="000000"/>
                          </a:solidFill>
                          <a:latin typeface="Calibri" pitchFamily="34" charset="0"/>
                          <a:ea typeface="Calibri" pitchFamily="34" charset="-122"/>
                          <a:cs typeface="Calibri" pitchFamily="34" charset="-120"/>
                        </a:rPr>
                        <a:t>Page layouts, dashboards, image galleries, complex arrangements</a:t>
                      </a:r>
                      <a:endParaRPr lang="en-US" sz="110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2"/>
                  </a:ext>
                </a:extLst>
              </a:tr>
              <a:tr h="640080">
                <a:tc>
                  <a:txBody>
                    <a:bodyPr/>
                    <a:lstStyle/>
                    <a:p>
                      <a:pPr marL="0" indent="0">
                        <a:buNone/>
                      </a:pPr>
                      <a:r>
                        <a:rPr lang="en-US" sz="1100" b="1">
                          <a:solidFill>
                            <a:srgbClr val="000000"/>
                          </a:solidFill>
                          <a:latin typeface="Calibri" pitchFamily="34" charset="0"/>
                          <a:ea typeface="Calibri" pitchFamily="34" charset="-122"/>
                          <a:cs typeface="Calibri" pitchFamily="34" charset="-120"/>
                        </a:rPr>
                        <a:t>Content vs Layout</a:t>
                      </a:r>
                      <a:endParaRPr lang="en-US" sz="110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marL="0" indent="0">
                        <a:buNone/>
                      </a:pPr>
                      <a:r>
                        <a:rPr lang="en-US" sz="1100">
                          <a:solidFill>
                            <a:srgbClr val="000000"/>
                          </a:solidFill>
                          <a:latin typeface="Calibri" pitchFamily="34" charset="0"/>
                          <a:ea typeface="Calibri" pitchFamily="34" charset="-122"/>
                          <a:cs typeface="Calibri" pitchFamily="34" charset="-120"/>
                        </a:rPr>
                        <a:t>Content-driven (items determine size)</a:t>
                      </a:r>
                      <a:endParaRPr lang="en-US" sz="110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3E8FF"/>
                    </a:solidFill>
                  </a:tcPr>
                </a:tc>
                <a:tc>
                  <a:txBody>
                    <a:bodyPr/>
                    <a:lstStyle/>
                    <a:p>
                      <a:pPr marL="0" indent="0">
                        <a:buNone/>
                      </a:pPr>
                      <a:r>
                        <a:rPr lang="en-US" sz="1100">
                          <a:solidFill>
                            <a:srgbClr val="000000"/>
                          </a:solidFill>
                          <a:latin typeface="Calibri" pitchFamily="34" charset="0"/>
                          <a:ea typeface="Calibri" pitchFamily="34" charset="-122"/>
                          <a:cs typeface="Calibri" pitchFamily="34" charset="-120"/>
                        </a:rPr>
                        <a:t>Layout-driven (grid defines structure)</a:t>
                      </a:r>
                      <a:endParaRPr lang="en-US" sz="110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3"/>
                  </a:ext>
                </a:extLst>
              </a:tr>
            </a:tbl>
          </a:graphicData>
        </a:graphic>
      </p:graphicFrame>
      <p:sp>
        <p:nvSpPr>
          <p:cNvPr id="6" name="Shape 2">
            <a:extLst>
              <a:ext uri="{FF2B5EF4-FFF2-40B4-BE49-F238E27FC236}">
                <a16:creationId xmlns:a16="http://schemas.microsoft.com/office/drawing/2014/main" id="{A32F9EF9-AF79-7948-5581-6305C7FA4972}"/>
              </a:ext>
            </a:extLst>
          </p:cNvPr>
          <p:cNvSpPr/>
          <p:nvPr/>
        </p:nvSpPr>
        <p:spPr>
          <a:xfrm>
            <a:off x="311700" y="4111392"/>
            <a:ext cx="8549640" cy="548640"/>
          </a:xfrm>
          <a:prstGeom prst="rect">
            <a:avLst/>
          </a:prstGeom>
          <a:solidFill>
            <a:srgbClr val="DBEAFE"/>
          </a:solidFill>
          <a:ln w="12700">
            <a:solidFill>
              <a:srgbClr val="2563EB"/>
            </a:solidFill>
            <a:prstDash val="solid"/>
          </a:ln>
        </p:spPr>
        <p:txBody>
          <a:bodyPr/>
          <a:lstStyle/>
          <a:p>
            <a:endParaRPr lang="en-SG"/>
          </a:p>
        </p:txBody>
      </p:sp>
      <p:sp>
        <p:nvSpPr>
          <p:cNvPr id="7" name="Text 3">
            <a:extLst>
              <a:ext uri="{FF2B5EF4-FFF2-40B4-BE49-F238E27FC236}">
                <a16:creationId xmlns:a16="http://schemas.microsoft.com/office/drawing/2014/main" id="{9699BF1F-BB3C-E626-BC03-E4224DB065C9}"/>
              </a:ext>
            </a:extLst>
          </p:cNvPr>
          <p:cNvSpPr/>
          <p:nvPr/>
        </p:nvSpPr>
        <p:spPr>
          <a:xfrm>
            <a:off x="426000" y="4202832"/>
            <a:ext cx="8321040" cy="365760"/>
          </a:xfrm>
          <a:prstGeom prst="rect">
            <a:avLst/>
          </a:prstGeom>
          <a:noFill/>
          <a:ln/>
        </p:spPr>
        <p:txBody>
          <a:bodyPr wrap="square" rtlCol="0" anchor="ctr"/>
          <a:lstStyle/>
          <a:p>
            <a:pPr marL="0" indent="0" algn="ctr">
              <a:buNone/>
            </a:pPr>
            <a:r>
              <a:rPr lang="en-US" sz="1150" b="1">
                <a:solidFill>
                  <a:srgbClr val="2563EB"/>
                </a:solidFill>
                <a:latin typeface="Calibri" pitchFamily="34" charset="0"/>
                <a:ea typeface="Calibri" pitchFamily="34" charset="-122"/>
                <a:cs typeface="Calibri" pitchFamily="34" charset="-120"/>
              </a:rPr>
              <a:t>💡  Use Grid for the page skeleton, Flexbox for components inside. </a:t>
            </a:r>
            <a:endParaRPr lang="en-US" sz="1150"/>
          </a:p>
        </p:txBody>
      </p:sp>
    </p:spTree>
    <p:extLst>
      <p:ext uri="{BB962C8B-B14F-4D97-AF65-F5344CB8AC3E}">
        <p14:creationId xmlns:p14="http://schemas.microsoft.com/office/powerpoint/2010/main" val="23405054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5F9C8-053C-89FB-2C77-2ED1E409ED88}"/>
              </a:ext>
            </a:extLst>
          </p:cNvPr>
          <p:cNvSpPr>
            <a:spLocks noGrp="1"/>
          </p:cNvSpPr>
          <p:nvPr>
            <p:ph type="title"/>
          </p:nvPr>
        </p:nvSpPr>
        <p:spPr/>
        <p:txBody>
          <a:bodyPr/>
          <a:lstStyle/>
          <a:p>
            <a:r>
              <a:rPr lang="en-US"/>
              <a:t>Exercise 7 – Flex and Grid Box</a:t>
            </a:r>
            <a:endParaRPr lang="en-SG"/>
          </a:p>
        </p:txBody>
      </p:sp>
      <p:sp>
        <p:nvSpPr>
          <p:cNvPr id="3" name="Text Placeholder 2">
            <a:extLst>
              <a:ext uri="{FF2B5EF4-FFF2-40B4-BE49-F238E27FC236}">
                <a16:creationId xmlns:a16="http://schemas.microsoft.com/office/drawing/2014/main" id="{B9649516-551C-ABED-711E-6448B08EA607}"/>
              </a:ext>
            </a:extLst>
          </p:cNvPr>
          <p:cNvSpPr>
            <a:spLocks noGrp="1"/>
          </p:cNvSpPr>
          <p:nvPr>
            <p:ph type="body" idx="1"/>
          </p:nvPr>
        </p:nvSpPr>
        <p:spPr/>
        <p:txBody>
          <a:bodyPr/>
          <a:lstStyle/>
          <a:p>
            <a:r>
              <a:rPr lang="en-US"/>
              <a:t>Use Flex box and Grid box to style ex7.html such that it looks like the screenshot on the right.</a:t>
            </a:r>
          </a:p>
          <a:p>
            <a:pPr lvl="1"/>
            <a:r>
              <a:rPr lang="en-US"/>
              <a:t>The nav bar items to be aligned in 1 line with “Dashboard” on the left and the nav items on the right.</a:t>
            </a:r>
          </a:p>
          <a:p>
            <a:pPr lvl="1"/>
            <a:r>
              <a:rPr lang="en-US"/>
              <a:t>A sidebar containing “Filters” and “Regions” with a width of 1/3 page width.</a:t>
            </a:r>
          </a:p>
          <a:p>
            <a:pPr lvl="1"/>
            <a:r>
              <a:rPr lang="en-US"/>
              <a:t>The 3 cards to be arranged in 1 line.</a:t>
            </a:r>
          </a:p>
          <a:p>
            <a:pPr lvl="1"/>
            <a:r>
              <a:rPr lang="en-US"/>
              <a:t>Detailed instructions are given in the CSS file.</a:t>
            </a:r>
            <a:endParaRPr lang="en-SG"/>
          </a:p>
        </p:txBody>
      </p:sp>
      <p:pic>
        <p:nvPicPr>
          <p:cNvPr id="6" name="Picture 5">
            <a:extLst>
              <a:ext uri="{FF2B5EF4-FFF2-40B4-BE49-F238E27FC236}">
                <a16:creationId xmlns:a16="http://schemas.microsoft.com/office/drawing/2014/main" id="{1C226768-5546-66BD-8019-064663C6C0B0}"/>
              </a:ext>
            </a:extLst>
          </p:cNvPr>
          <p:cNvPicPr>
            <a:picLocks noChangeAspect="1"/>
          </p:cNvPicPr>
          <p:nvPr/>
        </p:nvPicPr>
        <p:blipFill>
          <a:blip r:embed="rId2"/>
          <a:stretch>
            <a:fillRect/>
          </a:stretch>
        </p:blipFill>
        <p:spPr>
          <a:xfrm>
            <a:off x="4572000" y="1225225"/>
            <a:ext cx="4260300" cy="2315480"/>
          </a:xfrm>
          <a:prstGeom prst="rect">
            <a:avLst/>
          </a:prstGeom>
        </p:spPr>
      </p:pic>
    </p:spTree>
    <p:extLst>
      <p:ext uri="{BB962C8B-B14F-4D97-AF65-F5344CB8AC3E}">
        <p14:creationId xmlns:p14="http://schemas.microsoft.com/office/powerpoint/2010/main" val="11396308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4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Take Away Message</a:t>
            </a:r>
            <a:endParaRPr/>
          </a:p>
        </p:txBody>
      </p:sp>
      <p:sp>
        <p:nvSpPr>
          <p:cNvPr id="4" name="Shape 2">
            <a:extLst>
              <a:ext uri="{FF2B5EF4-FFF2-40B4-BE49-F238E27FC236}">
                <a16:creationId xmlns:a16="http://schemas.microsoft.com/office/drawing/2014/main" id="{0EDCD09C-B5B2-E4AF-B77F-3CE9AE1A2000}"/>
              </a:ext>
            </a:extLst>
          </p:cNvPr>
          <p:cNvSpPr/>
          <p:nvPr/>
        </p:nvSpPr>
        <p:spPr>
          <a:xfrm>
            <a:off x="371302" y="1143000"/>
            <a:ext cx="4114800" cy="1143000"/>
          </a:xfrm>
          <a:prstGeom prst="rect">
            <a:avLst/>
          </a:prstGeom>
          <a:noFill/>
          <a:ln w="25400">
            <a:solidFill>
              <a:srgbClr val="2563EB"/>
            </a:solidFill>
            <a:prstDash val="solid"/>
          </a:ln>
        </p:spPr>
        <p:txBody>
          <a:bodyPr/>
          <a:lstStyle/>
          <a:p>
            <a:endParaRPr lang="en-SG"/>
          </a:p>
        </p:txBody>
      </p:sp>
      <p:sp>
        <p:nvSpPr>
          <p:cNvPr id="5" name="Shape 3">
            <a:extLst>
              <a:ext uri="{FF2B5EF4-FFF2-40B4-BE49-F238E27FC236}">
                <a16:creationId xmlns:a16="http://schemas.microsoft.com/office/drawing/2014/main" id="{125A145E-96F4-14A9-A5D0-99AAE06D0F76}"/>
              </a:ext>
            </a:extLst>
          </p:cNvPr>
          <p:cNvSpPr/>
          <p:nvPr/>
        </p:nvSpPr>
        <p:spPr>
          <a:xfrm>
            <a:off x="371302" y="1143000"/>
            <a:ext cx="365760" cy="1143000"/>
          </a:xfrm>
          <a:prstGeom prst="rect">
            <a:avLst/>
          </a:prstGeom>
          <a:solidFill>
            <a:srgbClr val="2563EB"/>
          </a:solidFill>
          <a:ln/>
        </p:spPr>
        <p:txBody>
          <a:bodyPr/>
          <a:lstStyle/>
          <a:p>
            <a:endParaRPr lang="en-SG"/>
          </a:p>
        </p:txBody>
      </p:sp>
      <p:sp>
        <p:nvSpPr>
          <p:cNvPr id="6" name="Text 4">
            <a:extLst>
              <a:ext uri="{FF2B5EF4-FFF2-40B4-BE49-F238E27FC236}">
                <a16:creationId xmlns:a16="http://schemas.microsoft.com/office/drawing/2014/main" id="{C1DA18B5-262B-C78E-3C4D-F779CD0AFB5F}"/>
              </a:ext>
            </a:extLst>
          </p:cNvPr>
          <p:cNvSpPr/>
          <p:nvPr/>
        </p:nvSpPr>
        <p:spPr>
          <a:xfrm>
            <a:off x="371302" y="1143000"/>
            <a:ext cx="365760" cy="114300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1</a:t>
            </a:r>
            <a:endParaRPr lang="en-US" sz="1600"/>
          </a:p>
        </p:txBody>
      </p:sp>
      <p:sp>
        <p:nvSpPr>
          <p:cNvPr id="7" name="Text 5">
            <a:extLst>
              <a:ext uri="{FF2B5EF4-FFF2-40B4-BE49-F238E27FC236}">
                <a16:creationId xmlns:a16="http://schemas.microsoft.com/office/drawing/2014/main" id="{694BC60A-56EE-D154-8D8C-BB54BC1EDCA2}"/>
              </a:ext>
            </a:extLst>
          </p:cNvPr>
          <p:cNvSpPr/>
          <p:nvPr/>
        </p:nvSpPr>
        <p:spPr>
          <a:xfrm>
            <a:off x="828502" y="1234440"/>
            <a:ext cx="3566160" cy="347472"/>
          </a:xfrm>
          <a:prstGeom prst="rect">
            <a:avLst/>
          </a:prstGeom>
          <a:noFill/>
          <a:ln/>
        </p:spPr>
        <p:txBody>
          <a:bodyPr wrap="square" rtlCol="0" anchor="ctr"/>
          <a:lstStyle/>
          <a:p>
            <a:pPr marL="0" indent="0">
              <a:buNone/>
            </a:pPr>
            <a:r>
              <a:rPr lang="en-US" sz="1200" b="1">
                <a:solidFill>
                  <a:srgbClr val="0070C0"/>
                </a:solidFill>
                <a:latin typeface="Courier New" pitchFamily="34" charset="0"/>
                <a:ea typeface="Courier New" pitchFamily="34" charset="-122"/>
                <a:cs typeface="Courier New" pitchFamily="34" charset="-120"/>
              </a:rPr>
              <a:t>External &gt; Internal &gt; Inline</a:t>
            </a:r>
            <a:endParaRPr lang="en-US" sz="1200">
              <a:solidFill>
                <a:srgbClr val="0070C0"/>
              </a:solidFill>
            </a:endParaRPr>
          </a:p>
        </p:txBody>
      </p:sp>
      <p:sp>
        <p:nvSpPr>
          <p:cNvPr id="8" name="Text 6">
            <a:extLst>
              <a:ext uri="{FF2B5EF4-FFF2-40B4-BE49-F238E27FC236}">
                <a16:creationId xmlns:a16="http://schemas.microsoft.com/office/drawing/2014/main" id="{403B1DF2-5136-0427-54F7-74D6EFFB442D}"/>
              </a:ext>
            </a:extLst>
          </p:cNvPr>
          <p:cNvSpPr/>
          <p:nvPr/>
        </p:nvSpPr>
        <p:spPr>
          <a:xfrm>
            <a:off x="828502" y="1600200"/>
            <a:ext cx="3566160" cy="594360"/>
          </a:xfrm>
          <a:prstGeom prst="rect">
            <a:avLst/>
          </a:prstGeom>
          <a:noFill/>
          <a:ln/>
        </p:spPr>
        <p:txBody>
          <a:bodyPr wrap="square" rtlCol="0" anchor="ctr"/>
          <a:lstStyle/>
          <a:p>
            <a:pPr marL="0" indent="0">
              <a:buNone/>
            </a:pPr>
            <a:r>
              <a:rPr lang="en-US" sz="1000">
                <a:solidFill>
                  <a:schemeClr val="tx1">
                    <a:lumMod val="75000"/>
                    <a:lumOff val="25000"/>
                  </a:schemeClr>
                </a:solidFill>
                <a:latin typeface="Calibri" pitchFamily="34" charset="0"/>
                <a:ea typeface="Calibri" pitchFamily="34" charset="-122"/>
                <a:cs typeface="Calibri" pitchFamily="34" charset="-120"/>
              </a:rPr>
              <a:t>Use external stylesheets for all multi-page sites.</a:t>
            </a:r>
            <a:endParaRPr lang="en-US" sz="1000">
              <a:solidFill>
                <a:schemeClr val="tx1">
                  <a:lumMod val="75000"/>
                  <a:lumOff val="25000"/>
                </a:schemeClr>
              </a:solidFill>
            </a:endParaRPr>
          </a:p>
        </p:txBody>
      </p:sp>
      <p:sp>
        <p:nvSpPr>
          <p:cNvPr id="9" name="Shape 7">
            <a:extLst>
              <a:ext uri="{FF2B5EF4-FFF2-40B4-BE49-F238E27FC236}">
                <a16:creationId xmlns:a16="http://schemas.microsoft.com/office/drawing/2014/main" id="{EA7E730B-9A96-8247-2773-4B61795B04FB}"/>
              </a:ext>
            </a:extLst>
          </p:cNvPr>
          <p:cNvSpPr/>
          <p:nvPr/>
        </p:nvSpPr>
        <p:spPr>
          <a:xfrm>
            <a:off x="4714702" y="1143000"/>
            <a:ext cx="4114800" cy="1143000"/>
          </a:xfrm>
          <a:prstGeom prst="rect">
            <a:avLst/>
          </a:prstGeom>
          <a:noFill/>
          <a:ln w="25400">
            <a:solidFill>
              <a:srgbClr val="0891B2"/>
            </a:solidFill>
            <a:prstDash val="solid"/>
          </a:ln>
        </p:spPr>
        <p:txBody>
          <a:bodyPr/>
          <a:lstStyle/>
          <a:p>
            <a:endParaRPr lang="en-SG"/>
          </a:p>
        </p:txBody>
      </p:sp>
      <p:sp>
        <p:nvSpPr>
          <p:cNvPr id="10" name="Shape 8">
            <a:extLst>
              <a:ext uri="{FF2B5EF4-FFF2-40B4-BE49-F238E27FC236}">
                <a16:creationId xmlns:a16="http://schemas.microsoft.com/office/drawing/2014/main" id="{490C0AFB-2B45-BB96-5F86-73A2C1EDD185}"/>
              </a:ext>
            </a:extLst>
          </p:cNvPr>
          <p:cNvSpPr/>
          <p:nvPr/>
        </p:nvSpPr>
        <p:spPr>
          <a:xfrm>
            <a:off x="4714702" y="1143000"/>
            <a:ext cx="365760" cy="1143000"/>
          </a:xfrm>
          <a:prstGeom prst="rect">
            <a:avLst/>
          </a:prstGeom>
          <a:solidFill>
            <a:srgbClr val="0891B2"/>
          </a:solidFill>
          <a:ln/>
        </p:spPr>
        <p:txBody>
          <a:bodyPr/>
          <a:lstStyle/>
          <a:p>
            <a:endParaRPr lang="en-SG"/>
          </a:p>
        </p:txBody>
      </p:sp>
      <p:sp>
        <p:nvSpPr>
          <p:cNvPr id="11" name="Text 9">
            <a:extLst>
              <a:ext uri="{FF2B5EF4-FFF2-40B4-BE49-F238E27FC236}">
                <a16:creationId xmlns:a16="http://schemas.microsoft.com/office/drawing/2014/main" id="{2D694BB3-E035-363D-FC94-33E87387B7C9}"/>
              </a:ext>
            </a:extLst>
          </p:cNvPr>
          <p:cNvSpPr/>
          <p:nvPr/>
        </p:nvSpPr>
        <p:spPr>
          <a:xfrm>
            <a:off x="4714702" y="1143000"/>
            <a:ext cx="365760" cy="114300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2</a:t>
            </a:r>
            <a:endParaRPr lang="en-US" sz="1600"/>
          </a:p>
        </p:txBody>
      </p:sp>
      <p:sp>
        <p:nvSpPr>
          <p:cNvPr id="12" name="Text 10">
            <a:extLst>
              <a:ext uri="{FF2B5EF4-FFF2-40B4-BE49-F238E27FC236}">
                <a16:creationId xmlns:a16="http://schemas.microsoft.com/office/drawing/2014/main" id="{990C54E4-3B67-A28C-E84B-56B32CEB5690}"/>
              </a:ext>
            </a:extLst>
          </p:cNvPr>
          <p:cNvSpPr/>
          <p:nvPr/>
        </p:nvSpPr>
        <p:spPr>
          <a:xfrm>
            <a:off x="5171902" y="1234440"/>
            <a:ext cx="3566160" cy="347472"/>
          </a:xfrm>
          <a:prstGeom prst="rect">
            <a:avLst/>
          </a:prstGeom>
          <a:noFill/>
          <a:ln/>
        </p:spPr>
        <p:txBody>
          <a:bodyPr wrap="square" rtlCol="0" anchor="ctr"/>
          <a:lstStyle/>
          <a:p>
            <a:pPr marL="0" indent="0">
              <a:buNone/>
            </a:pPr>
            <a:r>
              <a:rPr lang="en-US" sz="1200" b="1">
                <a:solidFill>
                  <a:srgbClr val="0891B2"/>
                </a:solidFill>
                <a:latin typeface="Courier New" pitchFamily="34" charset="0"/>
                <a:ea typeface="Courier New" pitchFamily="34" charset="-122"/>
                <a:cs typeface="Courier New" pitchFamily="34" charset="-120"/>
              </a:rPr>
              <a:t>selector { property: value; }</a:t>
            </a:r>
            <a:endParaRPr lang="en-US" sz="1200">
              <a:solidFill>
                <a:srgbClr val="0891B2"/>
              </a:solidFill>
            </a:endParaRPr>
          </a:p>
        </p:txBody>
      </p:sp>
      <p:sp>
        <p:nvSpPr>
          <p:cNvPr id="13" name="Text 11">
            <a:extLst>
              <a:ext uri="{FF2B5EF4-FFF2-40B4-BE49-F238E27FC236}">
                <a16:creationId xmlns:a16="http://schemas.microsoft.com/office/drawing/2014/main" id="{1F46CD7C-F531-A857-9FC3-B134287BE7FF}"/>
              </a:ext>
            </a:extLst>
          </p:cNvPr>
          <p:cNvSpPr/>
          <p:nvPr/>
        </p:nvSpPr>
        <p:spPr>
          <a:xfrm>
            <a:off x="5171902" y="1600200"/>
            <a:ext cx="3566160" cy="594360"/>
          </a:xfrm>
          <a:prstGeom prst="rect">
            <a:avLst/>
          </a:prstGeom>
          <a:noFill/>
          <a:ln/>
        </p:spPr>
        <p:txBody>
          <a:bodyPr wrap="square" rtlCol="0" anchor="ctr"/>
          <a:lstStyle/>
          <a:p>
            <a:pPr marL="0" indent="0">
              <a:buNone/>
            </a:pPr>
            <a:r>
              <a:rPr lang="en-US" sz="1000">
                <a:solidFill>
                  <a:schemeClr val="tx1">
                    <a:lumMod val="75000"/>
                    <a:lumOff val="25000"/>
                  </a:schemeClr>
                </a:solidFill>
                <a:latin typeface="Calibri" pitchFamily="34" charset="0"/>
                <a:ea typeface="Calibri" pitchFamily="34" charset="-122"/>
                <a:cs typeface="Calibri" pitchFamily="34" charset="-120"/>
              </a:rPr>
              <a:t>Don't forget the semicolon! It's the most common CSS mistake.</a:t>
            </a:r>
            <a:endParaRPr lang="en-US" sz="1000">
              <a:solidFill>
                <a:schemeClr val="tx1">
                  <a:lumMod val="75000"/>
                  <a:lumOff val="25000"/>
                </a:schemeClr>
              </a:solidFill>
            </a:endParaRPr>
          </a:p>
        </p:txBody>
      </p:sp>
      <p:sp>
        <p:nvSpPr>
          <p:cNvPr id="14" name="Shape 12">
            <a:extLst>
              <a:ext uri="{FF2B5EF4-FFF2-40B4-BE49-F238E27FC236}">
                <a16:creationId xmlns:a16="http://schemas.microsoft.com/office/drawing/2014/main" id="{D4D7B4C5-2EF5-E989-9B09-C761628FD610}"/>
              </a:ext>
            </a:extLst>
          </p:cNvPr>
          <p:cNvSpPr/>
          <p:nvPr/>
        </p:nvSpPr>
        <p:spPr>
          <a:xfrm>
            <a:off x="371302" y="2441448"/>
            <a:ext cx="4114800" cy="1143000"/>
          </a:xfrm>
          <a:prstGeom prst="rect">
            <a:avLst/>
          </a:prstGeom>
          <a:noFill/>
          <a:ln w="25400">
            <a:solidFill>
              <a:srgbClr val="EA580C"/>
            </a:solidFill>
            <a:prstDash val="solid"/>
          </a:ln>
        </p:spPr>
        <p:txBody>
          <a:bodyPr/>
          <a:lstStyle/>
          <a:p>
            <a:endParaRPr lang="en-SG"/>
          </a:p>
        </p:txBody>
      </p:sp>
      <p:sp>
        <p:nvSpPr>
          <p:cNvPr id="15" name="Shape 13">
            <a:extLst>
              <a:ext uri="{FF2B5EF4-FFF2-40B4-BE49-F238E27FC236}">
                <a16:creationId xmlns:a16="http://schemas.microsoft.com/office/drawing/2014/main" id="{06715070-EEC2-D840-C6E6-CDE3A4F468A9}"/>
              </a:ext>
            </a:extLst>
          </p:cNvPr>
          <p:cNvSpPr/>
          <p:nvPr/>
        </p:nvSpPr>
        <p:spPr>
          <a:xfrm>
            <a:off x="371302" y="2441448"/>
            <a:ext cx="365760" cy="1143000"/>
          </a:xfrm>
          <a:prstGeom prst="rect">
            <a:avLst/>
          </a:prstGeom>
          <a:solidFill>
            <a:srgbClr val="EA580C"/>
          </a:solidFill>
          <a:ln/>
        </p:spPr>
        <p:txBody>
          <a:bodyPr/>
          <a:lstStyle/>
          <a:p>
            <a:endParaRPr lang="en-SG"/>
          </a:p>
        </p:txBody>
      </p:sp>
      <p:sp>
        <p:nvSpPr>
          <p:cNvPr id="16" name="Text 14">
            <a:extLst>
              <a:ext uri="{FF2B5EF4-FFF2-40B4-BE49-F238E27FC236}">
                <a16:creationId xmlns:a16="http://schemas.microsoft.com/office/drawing/2014/main" id="{A0233DAD-1578-E8C9-0A4B-373CCBCEB55A}"/>
              </a:ext>
            </a:extLst>
          </p:cNvPr>
          <p:cNvSpPr/>
          <p:nvPr/>
        </p:nvSpPr>
        <p:spPr>
          <a:xfrm>
            <a:off x="371302" y="2441448"/>
            <a:ext cx="365760" cy="114300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3</a:t>
            </a:r>
            <a:endParaRPr lang="en-US" sz="1600"/>
          </a:p>
        </p:txBody>
      </p:sp>
      <p:sp>
        <p:nvSpPr>
          <p:cNvPr id="17" name="Text 15">
            <a:extLst>
              <a:ext uri="{FF2B5EF4-FFF2-40B4-BE49-F238E27FC236}">
                <a16:creationId xmlns:a16="http://schemas.microsoft.com/office/drawing/2014/main" id="{843CB88A-D951-1F81-F64C-7ECB03D2A620}"/>
              </a:ext>
            </a:extLst>
          </p:cNvPr>
          <p:cNvSpPr/>
          <p:nvPr/>
        </p:nvSpPr>
        <p:spPr>
          <a:xfrm>
            <a:off x="828502" y="2532888"/>
            <a:ext cx="3566160" cy="347472"/>
          </a:xfrm>
          <a:prstGeom prst="rect">
            <a:avLst/>
          </a:prstGeom>
          <a:noFill/>
          <a:ln/>
        </p:spPr>
        <p:txBody>
          <a:bodyPr wrap="square" rtlCol="0" anchor="ctr"/>
          <a:lstStyle/>
          <a:p>
            <a:pPr marL="0" indent="0">
              <a:buNone/>
            </a:pPr>
            <a:r>
              <a:rPr lang="en-US" sz="1200" b="1">
                <a:solidFill>
                  <a:srgbClr val="EA580C"/>
                </a:solidFill>
                <a:latin typeface="Courier New" pitchFamily="34" charset="0"/>
                <a:ea typeface="Courier New" pitchFamily="34" charset="-122"/>
                <a:cs typeface="Courier New" pitchFamily="34" charset="-120"/>
              </a:rPr>
              <a:t>The Box Model</a:t>
            </a:r>
            <a:endParaRPr lang="en-US" sz="1200">
              <a:solidFill>
                <a:srgbClr val="EA580C"/>
              </a:solidFill>
            </a:endParaRPr>
          </a:p>
        </p:txBody>
      </p:sp>
      <p:sp>
        <p:nvSpPr>
          <p:cNvPr id="18" name="Text 16">
            <a:extLst>
              <a:ext uri="{FF2B5EF4-FFF2-40B4-BE49-F238E27FC236}">
                <a16:creationId xmlns:a16="http://schemas.microsoft.com/office/drawing/2014/main" id="{4D527C23-63FE-0E2B-D970-ADD2163B8456}"/>
              </a:ext>
            </a:extLst>
          </p:cNvPr>
          <p:cNvSpPr/>
          <p:nvPr/>
        </p:nvSpPr>
        <p:spPr>
          <a:xfrm>
            <a:off x="828502" y="2898648"/>
            <a:ext cx="3566160" cy="594360"/>
          </a:xfrm>
          <a:prstGeom prst="rect">
            <a:avLst/>
          </a:prstGeom>
          <a:noFill/>
          <a:ln/>
        </p:spPr>
        <p:txBody>
          <a:bodyPr wrap="square" rtlCol="0" anchor="ctr"/>
          <a:lstStyle/>
          <a:p>
            <a:pPr marL="0" indent="0">
              <a:buNone/>
            </a:pPr>
            <a:r>
              <a:rPr lang="en-US" sz="1000">
                <a:solidFill>
                  <a:schemeClr val="tx1">
                    <a:lumMod val="75000"/>
                    <a:lumOff val="25000"/>
                  </a:schemeClr>
                </a:solidFill>
                <a:latin typeface="Calibri" pitchFamily="34" charset="0"/>
                <a:ea typeface="Calibri" pitchFamily="34" charset="-122"/>
                <a:cs typeface="Calibri" pitchFamily="34" charset="-120"/>
              </a:rPr>
              <a:t>Every element = content + padding + border + margin. Use box-sizing: border-box.</a:t>
            </a:r>
            <a:endParaRPr lang="en-US" sz="1000">
              <a:solidFill>
                <a:schemeClr val="tx1">
                  <a:lumMod val="75000"/>
                  <a:lumOff val="25000"/>
                </a:schemeClr>
              </a:solidFill>
            </a:endParaRPr>
          </a:p>
        </p:txBody>
      </p:sp>
      <p:sp>
        <p:nvSpPr>
          <p:cNvPr id="19" name="Shape 17">
            <a:extLst>
              <a:ext uri="{FF2B5EF4-FFF2-40B4-BE49-F238E27FC236}">
                <a16:creationId xmlns:a16="http://schemas.microsoft.com/office/drawing/2014/main" id="{5F3A61A9-2407-8F59-9799-A842C28302DA}"/>
              </a:ext>
            </a:extLst>
          </p:cNvPr>
          <p:cNvSpPr/>
          <p:nvPr/>
        </p:nvSpPr>
        <p:spPr>
          <a:xfrm>
            <a:off x="4714702" y="2441448"/>
            <a:ext cx="4114800" cy="1143000"/>
          </a:xfrm>
          <a:prstGeom prst="rect">
            <a:avLst/>
          </a:prstGeom>
          <a:noFill/>
          <a:ln w="25400">
            <a:solidFill>
              <a:srgbClr val="7C3AED"/>
            </a:solidFill>
            <a:prstDash val="solid"/>
          </a:ln>
        </p:spPr>
        <p:txBody>
          <a:bodyPr/>
          <a:lstStyle/>
          <a:p>
            <a:endParaRPr lang="en-SG"/>
          </a:p>
        </p:txBody>
      </p:sp>
      <p:sp>
        <p:nvSpPr>
          <p:cNvPr id="20" name="Shape 18">
            <a:extLst>
              <a:ext uri="{FF2B5EF4-FFF2-40B4-BE49-F238E27FC236}">
                <a16:creationId xmlns:a16="http://schemas.microsoft.com/office/drawing/2014/main" id="{81ECA1E9-E13A-BD22-4456-9C87C34E35B7}"/>
              </a:ext>
            </a:extLst>
          </p:cNvPr>
          <p:cNvSpPr/>
          <p:nvPr/>
        </p:nvSpPr>
        <p:spPr>
          <a:xfrm>
            <a:off x="4714702" y="2441448"/>
            <a:ext cx="365760" cy="1143000"/>
          </a:xfrm>
          <a:prstGeom prst="rect">
            <a:avLst/>
          </a:prstGeom>
          <a:solidFill>
            <a:srgbClr val="7C3AED"/>
          </a:solidFill>
          <a:ln/>
        </p:spPr>
        <p:txBody>
          <a:bodyPr/>
          <a:lstStyle/>
          <a:p>
            <a:endParaRPr lang="en-SG"/>
          </a:p>
        </p:txBody>
      </p:sp>
      <p:sp>
        <p:nvSpPr>
          <p:cNvPr id="21" name="Text 19">
            <a:extLst>
              <a:ext uri="{FF2B5EF4-FFF2-40B4-BE49-F238E27FC236}">
                <a16:creationId xmlns:a16="http://schemas.microsoft.com/office/drawing/2014/main" id="{F12CF04E-3562-31E7-D178-FD34F6681488}"/>
              </a:ext>
            </a:extLst>
          </p:cNvPr>
          <p:cNvSpPr/>
          <p:nvPr/>
        </p:nvSpPr>
        <p:spPr>
          <a:xfrm>
            <a:off x="4714702" y="2441448"/>
            <a:ext cx="365760" cy="114300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4</a:t>
            </a:r>
            <a:endParaRPr lang="en-US" sz="1600"/>
          </a:p>
        </p:txBody>
      </p:sp>
      <p:sp>
        <p:nvSpPr>
          <p:cNvPr id="22" name="Text 20">
            <a:extLst>
              <a:ext uri="{FF2B5EF4-FFF2-40B4-BE49-F238E27FC236}">
                <a16:creationId xmlns:a16="http://schemas.microsoft.com/office/drawing/2014/main" id="{ACF279D7-191E-B933-C63F-76744958CAC9}"/>
              </a:ext>
            </a:extLst>
          </p:cNvPr>
          <p:cNvSpPr/>
          <p:nvPr/>
        </p:nvSpPr>
        <p:spPr>
          <a:xfrm>
            <a:off x="5171902" y="2532888"/>
            <a:ext cx="3566160" cy="347472"/>
          </a:xfrm>
          <a:prstGeom prst="rect">
            <a:avLst/>
          </a:prstGeom>
          <a:noFill/>
          <a:ln/>
        </p:spPr>
        <p:txBody>
          <a:bodyPr wrap="square" rtlCol="0" anchor="ctr"/>
          <a:lstStyle/>
          <a:p>
            <a:pPr marL="0" indent="0">
              <a:buNone/>
            </a:pPr>
            <a:r>
              <a:rPr lang="en-US" sz="1200" b="1">
                <a:solidFill>
                  <a:srgbClr val="7C3AED"/>
                </a:solidFill>
                <a:latin typeface="Courier New" pitchFamily="34" charset="0"/>
                <a:ea typeface="Courier New" pitchFamily="34" charset="-122"/>
                <a:cs typeface="Courier New" pitchFamily="34" charset="-120"/>
              </a:rPr>
              <a:t>Flexbox</a:t>
            </a:r>
            <a:endParaRPr lang="en-US" sz="1200">
              <a:solidFill>
                <a:srgbClr val="7C3AED"/>
              </a:solidFill>
            </a:endParaRPr>
          </a:p>
        </p:txBody>
      </p:sp>
      <p:sp>
        <p:nvSpPr>
          <p:cNvPr id="23" name="Text 21">
            <a:extLst>
              <a:ext uri="{FF2B5EF4-FFF2-40B4-BE49-F238E27FC236}">
                <a16:creationId xmlns:a16="http://schemas.microsoft.com/office/drawing/2014/main" id="{37B480A1-4A14-A75B-E84E-9DF7BE9D3C28}"/>
              </a:ext>
            </a:extLst>
          </p:cNvPr>
          <p:cNvSpPr/>
          <p:nvPr/>
        </p:nvSpPr>
        <p:spPr>
          <a:xfrm>
            <a:off x="5171902" y="2898648"/>
            <a:ext cx="3566160" cy="594360"/>
          </a:xfrm>
          <a:prstGeom prst="rect">
            <a:avLst/>
          </a:prstGeom>
          <a:noFill/>
          <a:ln/>
        </p:spPr>
        <p:txBody>
          <a:bodyPr wrap="square" rtlCol="0" anchor="ctr"/>
          <a:lstStyle/>
          <a:p>
            <a:pPr marL="0" indent="0">
              <a:buNone/>
            </a:pPr>
            <a:r>
              <a:rPr lang="en-US" sz="1000">
                <a:solidFill>
                  <a:schemeClr val="tx1">
                    <a:lumMod val="75000"/>
                    <a:lumOff val="25000"/>
                  </a:schemeClr>
                </a:solidFill>
                <a:latin typeface="Calibri" pitchFamily="34" charset="0"/>
                <a:ea typeface="Calibri" pitchFamily="34" charset="-122"/>
                <a:cs typeface="Calibri" pitchFamily="34" charset="-120"/>
              </a:rPr>
              <a:t>One dimension (row or column). Perfect for navbars, card rows, centering.</a:t>
            </a:r>
            <a:endParaRPr lang="en-US" sz="1000">
              <a:solidFill>
                <a:schemeClr val="tx1">
                  <a:lumMod val="75000"/>
                  <a:lumOff val="25000"/>
                </a:schemeClr>
              </a:solidFill>
            </a:endParaRPr>
          </a:p>
        </p:txBody>
      </p:sp>
      <p:sp>
        <p:nvSpPr>
          <p:cNvPr id="24" name="Shape 22">
            <a:extLst>
              <a:ext uri="{FF2B5EF4-FFF2-40B4-BE49-F238E27FC236}">
                <a16:creationId xmlns:a16="http://schemas.microsoft.com/office/drawing/2014/main" id="{4031580E-1F1F-B46B-5767-17CACF2A33D3}"/>
              </a:ext>
            </a:extLst>
          </p:cNvPr>
          <p:cNvSpPr/>
          <p:nvPr/>
        </p:nvSpPr>
        <p:spPr>
          <a:xfrm>
            <a:off x="371302" y="3739896"/>
            <a:ext cx="4114800" cy="1143000"/>
          </a:xfrm>
          <a:prstGeom prst="rect">
            <a:avLst/>
          </a:prstGeom>
          <a:noFill/>
          <a:ln w="25400">
            <a:solidFill>
              <a:srgbClr val="DC2626"/>
            </a:solidFill>
            <a:prstDash val="solid"/>
          </a:ln>
        </p:spPr>
        <p:txBody>
          <a:bodyPr/>
          <a:lstStyle/>
          <a:p>
            <a:endParaRPr lang="en-SG"/>
          </a:p>
        </p:txBody>
      </p:sp>
      <p:sp>
        <p:nvSpPr>
          <p:cNvPr id="25" name="Shape 23">
            <a:extLst>
              <a:ext uri="{FF2B5EF4-FFF2-40B4-BE49-F238E27FC236}">
                <a16:creationId xmlns:a16="http://schemas.microsoft.com/office/drawing/2014/main" id="{B32497CF-ADE5-63C1-915B-74B25452682C}"/>
              </a:ext>
            </a:extLst>
          </p:cNvPr>
          <p:cNvSpPr/>
          <p:nvPr/>
        </p:nvSpPr>
        <p:spPr>
          <a:xfrm>
            <a:off x="371302" y="3739896"/>
            <a:ext cx="365760" cy="1143000"/>
          </a:xfrm>
          <a:prstGeom prst="rect">
            <a:avLst/>
          </a:prstGeom>
          <a:solidFill>
            <a:srgbClr val="DC2626"/>
          </a:solidFill>
          <a:ln/>
        </p:spPr>
        <p:txBody>
          <a:bodyPr/>
          <a:lstStyle/>
          <a:p>
            <a:endParaRPr lang="en-SG"/>
          </a:p>
        </p:txBody>
      </p:sp>
      <p:sp>
        <p:nvSpPr>
          <p:cNvPr id="26" name="Text 24">
            <a:extLst>
              <a:ext uri="{FF2B5EF4-FFF2-40B4-BE49-F238E27FC236}">
                <a16:creationId xmlns:a16="http://schemas.microsoft.com/office/drawing/2014/main" id="{FD6BA0F3-3517-B818-7A88-0242C28EF566}"/>
              </a:ext>
            </a:extLst>
          </p:cNvPr>
          <p:cNvSpPr/>
          <p:nvPr/>
        </p:nvSpPr>
        <p:spPr>
          <a:xfrm>
            <a:off x="371302" y="3739896"/>
            <a:ext cx="365760" cy="114300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5</a:t>
            </a:r>
            <a:endParaRPr lang="en-US" sz="1600"/>
          </a:p>
        </p:txBody>
      </p:sp>
      <p:sp>
        <p:nvSpPr>
          <p:cNvPr id="27" name="Text 25">
            <a:extLst>
              <a:ext uri="{FF2B5EF4-FFF2-40B4-BE49-F238E27FC236}">
                <a16:creationId xmlns:a16="http://schemas.microsoft.com/office/drawing/2014/main" id="{C30B3E5A-95D9-2312-FC9B-EB0851FA12B4}"/>
              </a:ext>
            </a:extLst>
          </p:cNvPr>
          <p:cNvSpPr/>
          <p:nvPr/>
        </p:nvSpPr>
        <p:spPr>
          <a:xfrm>
            <a:off x="828502" y="3831336"/>
            <a:ext cx="3566160" cy="347472"/>
          </a:xfrm>
          <a:prstGeom prst="rect">
            <a:avLst/>
          </a:prstGeom>
          <a:noFill/>
          <a:ln/>
        </p:spPr>
        <p:txBody>
          <a:bodyPr wrap="square" rtlCol="0" anchor="ctr"/>
          <a:lstStyle/>
          <a:p>
            <a:pPr marL="0" indent="0">
              <a:buNone/>
            </a:pPr>
            <a:r>
              <a:rPr lang="en-US" sz="1200" b="1">
                <a:solidFill>
                  <a:srgbClr val="DC2626"/>
                </a:solidFill>
                <a:latin typeface="Courier New" pitchFamily="34" charset="0"/>
                <a:ea typeface="Courier New" pitchFamily="34" charset="-122"/>
                <a:cs typeface="Courier New" pitchFamily="34" charset="-120"/>
              </a:rPr>
              <a:t>CSS Grid</a:t>
            </a:r>
            <a:endParaRPr lang="en-US" sz="1200">
              <a:solidFill>
                <a:srgbClr val="DC2626"/>
              </a:solidFill>
            </a:endParaRPr>
          </a:p>
        </p:txBody>
      </p:sp>
      <p:sp>
        <p:nvSpPr>
          <p:cNvPr id="28" name="Text 26">
            <a:extLst>
              <a:ext uri="{FF2B5EF4-FFF2-40B4-BE49-F238E27FC236}">
                <a16:creationId xmlns:a16="http://schemas.microsoft.com/office/drawing/2014/main" id="{4F9270FD-5BC0-F40F-ABB6-D81D1FC1991E}"/>
              </a:ext>
            </a:extLst>
          </p:cNvPr>
          <p:cNvSpPr/>
          <p:nvPr/>
        </p:nvSpPr>
        <p:spPr>
          <a:xfrm>
            <a:off x="828502" y="4197096"/>
            <a:ext cx="3566160" cy="594360"/>
          </a:xfrm>
          <a:prstGeom prst="rect">
            <a:avLst/>
          </a:prstGeom>
          <a:noFill/>
          <a:ln/>
        </p:spPr>
        <p:txBody>
          <a:bodyPr wrap="square" rtlCol="0" anchor="ctr"/>
          <a:lstStyle/>
          <a:p>
            <a:pPr marL="0" indent="0">
              <a:buNone/>
            </a:pPr>
            <a:r>
              <a:rPr lang="en-US" sz="1000">
                <a:solidFill>
                  <a:schemeClr val="tx1">
                    <a:lumMod val="75000"/>
                    <a:lumOff val="25000"/>
                  </a:schemeClr>
                </a:solidFill>
                <a:latin typeface="Calibri" pitchFamily="34" charset="0"/>
                <a:ea typeface="Calibri" pitchFamily="34" charset="-122"/>
                <a:cs typeface="Calibri" pitchFamily="34" charset="-120"/>
              </a:rPr>
              <a:t>Two dimensions simultaneously. Use for page-level layouts and complex grids.</a:t>
            </a:r>
            <a:endParaRPr lang="en-US" sz="1000">
              <a:solidFill>
                <a:schemeClr val="tx1">
                  <a:lumMod val="75000"/>
                  <a:lumOff val="25000"/>
                </a:schemeClr>
              </a:solidFill>
            </a:endParaRPr>
          </a:p>
        </p:txBody>
      </p:sp>
      <p:sp>
        <p:nvSpPr>
          <p:cNvPr id="29" name="Shape 27">
            <a:extLst>
              <a:ext uri="{FF2B5EF4-FFF2-40B4-BE49-F238E27FC236}">
                <a16:creationId xmlns:a16="http://schemas.microsoft.com/office/drawing/2014/main" id="{AF7984FC-56EF-8E9C-B5AD-7202EB5DE48D}"/>
              </a:ext>
            </a:extLst>
          </p:cNvPr>
          <p:cNvSpPr/>
          <p:nvPr/>
        </p:nvSpPr>
        <p:spPr>
          <a:xfrm>
            <a:off x="4714702" y="3739896"/>
            <a:ext cx="4114800" cy="1143000"/>
          </a:xfrm>
          <a:prstGeom prst="rect">
            <a:avLst/>
          </a:prstGeom>
          <a:noFill/>
          <a:ln w="25400">
            <a:solidFill>
              <a:srgbClr val="16A34A"/>
            </a:solidFill>
            <a:prstDash val="solid"/>
          </a:ln>
        </p:spPr>
        <p:txBody>
          <a:bodyPr/>
          <a:lstStyle/>
          <a:p>
            <a:endParaRPr lang="en-SG"/>
          </a:p>
        </p:txBody>
      </p:sp>
      <p:sp>
        <p:nvSpPr>
          <p:cNvPr id="30" name="Shape 28">
            <a:extLst>
              <a:ext uri="{FF2B5EF4-FFF2-40B4-BE49-F238E27FC236}">
                <a16:creationId xmlns:a16="http://schemas.microsoft.com/office/drawing/2014/main" id="{50980181-1BC9-FF35-7054-E02B179D3B6D}"/>
              </a:ext>
            </a:extLst>
          </p:cNvPr>
          <p:cNvSpPr/>
          <p:nvPr/>
        </p:nvSpPr>
        <p:spPr>
          <a:xfrm>
            <a:off x="4714702" y="3739896"/>
            <a:ext cx="365760" cy="1143000"/>
          </a:xfrm>
          <a:prstGeom prst="rect">
            <a:avLst/>
          </a:prstGeom>
          <a:solidFill>
            <a:srgbClr val="16A34A"/>
          </a:solidFill>
          <a:ln/>
        </p:spPr>
        <p:txBody>
          <a:bodyPr/>
          <a:lstStyle/>
          <a:p>
            <a:endParaRPr lang="en-SG"/>
          </a:p>
        </p:txBody>
      </p:sp>
      <p:sp>
        <p:nvSpPr>
          <p:cNvPr id="31" name="Text 29">
            <a:extLst>
              <a:ext uri="{FF2B5EF4-FFF2-40B4-BE49-F238E27FC236}">
                <a16:creationId xmlns:a16="http://schemas.microsoft.com/office/drawing/2014/main" id="{55FCE1E0-6DFA-236E-37CC-1E0D44FD871B}"/>
              </a:ext>
            </a:extLst>
          </p:cNvPr>
          <p:cNvSpPr/>
          <p:nvPr/>
        </p:nvSpPr>
        <p:spPr>
          <a:xfrm>
            <a:off x="4714702" y="3739896"/>
            <a:ext cx="365760" cy="114300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6</a:t>
            </a:r>
            <a:endParaRPr lang="en-US" sz="1600"/>
          </a:p>
        </p:txBody>
      </p:sp>
      <p:sp>
        <p:nvSpPr>
          <p:cNvPr id="32" name="Text 30">
            <a:extLst>
              <a:ext uri="{FF2B5EF4-FFF2-40B4-BE49-F238E27FC236}">
                <a16:creationId xmlns:a16="http://schemas.microsoft.com/office/drawing/2014/main" id="{ED5A2DA7-D06C-7ACC-DAF3-269F90DFC3C1}"/>
              </a:ext>
            </a:extLst>
          </p:cNvPr>
          <p:cNvSpPr/>
          <p:nvPr/>
        </p:nvSpPr>
        <p:spPr>
          <a:xfrm>
            <a:off x="5171902" y="3831336"/>
            <a:ext cx="3566160" cy="347472"/>
          </a:xfrm>
          <a:prstGeom prst="rect">
            <a:avLst/>
          </a:prstGeom>
          <a:noFill/>
          <a:ln/>
        </p:spPr>
        <p:txBody>
          <a:bodyPr wrap="square" rtlCol="0" anchor="ctr"/>
          <a:lstStyle/>
          <a:p>
            <a:pPr marL="0" indent="0">
              <a:buNone/>
            </a:pPr>
            <a:r>
              <a:rPr lang="en-US" sz="1200" b="1">
                <a:solidFill>
                  <a:srgbClr val="16A34A"/>
                </a:solidFill>
                <a:latin typeface="Courier New" pitchFamily="34" charset="0"/>
                <a:ea typeface="Courier New" pitchFamily="34" charset="-122"/>
                <a:cs typeface="Courier New" pitchFamily="34" charset="-120"/>
              </a:rPr>
              <a:t>Use both together!</a:t>
            </a:r>
            <a:endParaRPr lang="en-US" sz="1200">
              <a:solidFill>
                <a:srgbClr val="16A34A"/>
              </a:solidFill>
            </a:endParaRPr>
          </a:p>
        </p:txBody>
      </p:sp>
      <p:sp>
        <p:nvSpPr>
          <p:cNvPr id="33" name="Text 31">
            <a:extLst>
              <a:ext uri="{FF2B5EF4-FFF2-40B4-BE49-F238E27FC236}">
                <a16:creationId xmlns:a16="http://schemas.microsoft.com/office/drawing/2014/main" id="{E96CED73-2836-81AC-BD64-36116CB2A4E5}"/>
              </a:ext>
            </a:extLst>
          </p:cNvPr>
          <p:cNvSpPr/>
          <p:nvPr/>
        </p:nvSpPr>
        <p:spPr>
          <a:xfrm>
            <a:off x="5171902" y="4197096"/>
            <a:ext cx="3566160" cy="594360"/>
          </a:xfrm>
          <a:prstGeom prst="rect">
            <a:avLst/>
          </a:prstGeom>
          <a:noFill/>
          <a:ln/>
        </p:spPr>
        <p:txBody>
          <a:bodyPr wrap="square" rtlCol="0" anchor="ctr"/>
          <a:lstStyle/>
          <a:p>
            <a:pPr marL="0" indent="0">
              <a:buNone/>
            </a:pPr>
            <a:r>
              <a:rPr lang="en-US" sz="1000">
                <a:solidFill>
                  <a:schemeClr val="tx1">
                    <a:lumMod val="75000"/>
                    <a:lumOff val="25000"/>
                  </a:schemeClr>
                </a:solidFill>
                <a:latin typeface="Calibri" pitchFamily="34" charset="0"/>
                <a:ea typeface="Calibri" pitchFamily="34" charset="-122"/>
                <a:cs typeface="Calibri" pitchFamily="34" charset="-120"/>
              </a:rPr>
              <a:t>Grid for the page skeleton, Flexbox for components inside. They complement each other.</a:t>
            </a:r>
            <a:endParaRPr lang="en-US" sz="1000">
              <a:solidFill>
                <a:schemeClr val="tx1">
                  <a:lumMod val="75000"/>
                  <a:lumOff val="25000"/>
                </a:schemeClr>
              </a:solidFill>
            </a:endParaRPr>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6951d41b-6b8e-4636-984f-012bff14ba18}" enabled="1" method="Privileged" siteId="{c98a79ca-5a9a-4791-a243-f06afd67464d}" removed="0"/>
</clbl:labelList>
</file>

<file path=docProps/app.xml><?xml version="1.0" encoding="utf-8"?>
<Properties xmlns="http://schemas.openxmlformats.org/officeDocument/2006/extended-properties" xmlns:vt="http://schemas.openxmlformats.org/officeDocument/2006/docPropsVTypes">
  <TotalTime>184</TotalTime>
  <Words>3512</Words>
  <Application>Microsoft Macintosh PowerPoint</Application>
  <PresentationFormat>On-screen Show (16:9)</PresentationFormat>
  <Paragraphs>565</Paragraphs>
  <Slides>49</Slides>
  <Notes>39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49</vt:i4>
      </vt:variant>
    </vt:vector>
  </HeadingPairs>
  <TitlesOfParts>
    <vt:vector size="55" baseType="lpstr">
      <vt:lpstr>Arial</vt:lpstr>
      <vt:lpstr>Calibri</vt:lpstr>
      <vt:lpstr>Cambria</vt:lpstr>
      <vt:lpstr>Courier New</vt:lpstr>
      <vt:lpstr>Wingdings</vt:lpstr>
      <vt:lpstr>Luxe</vt:lpstr>
      <vt:lpstr>Web Application Development II</vt:lpstr>
      <vt:lpstr>Agenda</vt:lpstr>
      <vt:lpstr>What is CSS?</vt:lpstr>
      <vt:lpstr>What is CSS?</vt:lpstr>
      <vt:lpstr>Using CSS</vt:lpstr>
      <vt:lpstr>CSS: Inline Style</vt:lpstr>
      <vt:lpstr>CSS: Internal Style Sheet</vt:lpstr>
      <vt:lpstr>CSS: External Style Sheet</vt:lpstr>
      <vt:lpstr>Using CSS</vt:lpstr>
      <vt:lpstr>CSS Syntax</vt:lpstr>
      <vt:lpstr>Exercise 1</vt:lpstr>
      <vt:lpstr>CSS Syntax: Selector types</vt:lpstr>
      <vt:lpstr>CSS Syntax: Class selector</vt:lpstr>
      <vt:lpstr>CSS Selectors</vt:lpstr>
      <vt:lpstr>CSS Cascading Order </vt:lpstr>
      <vt:lpstr>CSS Conflict Resolving</vt:lpstr>
      <vt:lpstr>Exercise 2</vt:lpstr>
      <vt:lpstr>CSS: Text properties</vt:lpstr>
      <vt:lpstr>CSS: Display properties</vt:lpstr>
      <vt:lpstr>CSS: Display properties</vt:lpstr>
      <vt:lpstr>CSS: Other properties </vt:lpstr>
      <vt:lpstr>CSS: Color values</vt:lpstr>
      <vt:lpstr>CSS: Units of Measurement </vt:lpstr>
      <vt:lpstr>Exercise 3</vt:lpstr>
      <vt:lpstr>The Box Model</vt:lpstr>
      <vt:lpstr>Decorating Content and Border</vt:lpstr>
      <vt:lpstr>Decorating Border</vt:lpstr>
      <vt:lpstr>Decorating Margin</vt:lpstr>
      <vt:lpstr>Decorating Padding</vt:lpstr>
      <vt:lpstr>Box-sizing</vt:lpstr>
      <vt:lpstr>Exercise 4</vt:lpstr>
      <vt:lpstr>Table Styling</vt:lpstr>
      <vt:lpstr>Table Styling</vt:lpstr>
      <vt:lpstr>Exercise 5: </vt:lpstr>
      <vt:lpstr>Link Properties</vt:lpstr>
      <vt:lpstr>List Properties</vt:lpstr>
      <vt:lpstr>Position Properties</vt:lpstr>
      <vt:lpstr>Relative vs Absolute</vt:lpstr>
      <vt:lpstr>Overlapping Elements</vt:lpstr>
      <vt:lpstr>Styling Forms</vt:lpstr>
      <vt:lpstr>Exercise 6</vt:lpstr>
      <vt:lpstr>Flexbox – Core concept</vt:lpstr>
      <vt:lpstr>Flexbox</vt:lpstr>
      <vt:lpstr>Flexbox</vt:lpstr>
      <vt:lpstr>Grid – Core concept</vt:lpstr>
      <vt:lpstr>Grid: Template areas</vt:lpstr>
      <vt:lpstr>Flexbox vs Grid</vt:lpstr>
      <vt:lpstr>Exercise 7 – Flex and Grid Box</vt:lpstr>
      <vt:lpstr>Take Away Message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 Development II</dc:title>
  <dc:creator>Keith</dc:creator>
  <cp:lastModifiedBy>SHAR Lwin Khin</cp:lastModifiedBy>
  <cp:revision>3</cp:revision>
  <dcterms:modified xsi:type="dcterms:W3CDTF">2026-08-18T09:02:45Z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951d41b-6b8e-4636-984f-012bff14ba18_Enabled">
    <vt:lpwstr>true</vt:lpwstr>
  </property>
  <property fmtid="{D5CDD505-2E9C-101B-9397-08002B2CF9AE}" pid="3" name="MSIP_Label_6951d41b-6b8e-4636-984f-012bff14ba18_SetDate">
    <vt:lpwstr>2022-06-25T16:26:20Z</vt:lpwstr>
  </property>
  <property fmtid="{D5CDD505-2E9C-101B-9397-08002B2CF9AE}" pid="4" name="MSIP_Label_6951d41b-6b8e-4636-984f-012bff14ba18_Method">
    <vt:lpwstr>Privileged</vt:lpwstr>
  </property>
  <property fmtid="{D5CDD505-2E9C-101B-9397-08002B2CF9AE}" pid="5" name="MSIP_Label_6951d41b-6b8e-4636-984f-012bff14ba18_Name">
    <vt:lpwstr>6951d41b-6b8e-4636-984f-012bff14ba18</vt:lpwstr>
  </property>
  <property fmtid="{D5CDD505-2E9C-101B-9397-08002B2CF9AE}" pid="6" name="MSIP_Label_6951d41b-6b8e-4636-984f-012bff14ba18_SiteId">
    <vt:lpwstr>c98a79ca-5a9a-4791-a243-f06afd67464d</vt:lpwstr>
  </property>
  <property fmtid="{D5CDD505-2E9C-101B-9397-08002B2CF9AE}" pid="7" name="MSIP_Label_6951d41b-6b8e-4636-984f-012bff14ba18_ActionId">
    <vt:lpwstr>23c9c33e-4767-4dd4-9127-e30bc8ff5bff</vt:lpwstr>
  </property>
  <property fmtid="{D5CDD505-2E9C-101B-9397-08002B2CF9AE}" pid="8" name="MSIP_Label_6951d41b-6b8e-4636-984f-012bff14ba18_ContentBits">
    <vt:lpwstr>1</vt:lpwstr>
  </property>
  <property fmtid="{D5CDD505-2E9C-101B-9397-08002B2CF9AE}" pid="9" name="ClassificationContentMarkingHeaderLocations">
    <vt:lpwstr>Luxe:3</vt:lpwstr>
  </property>
  <property fmtid="{D5CDD505-2E9C-101B-9397-08002B2CF9AE}" pid="10" name="ClassificationContentMarkingHeaderText">
    <vt:lpwstr>SMU Classification: Restricted</vt:lpwstr>
  </property>
</Properties>
</file>