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21"/>
  </p:notesMasterIdLst>
  <p:sldIdLst>
    <p:sldId id="256" r:id="rId2"/>
    <p:sldId id="258" r:id="rId3"/>
    <p:sldId id="378" r:id="rId4"/>
    <p:sldId id="372" r:id="rId5"/>
    <p:sldId id="371" r:id="rId6"/>
    <p:sldId id="383" r:id="rId7"/>
    <p:sldId id="370" r:id="rId8"/>
    <p:sldId id="365" r:id="rId9"/>
    <p:sldId id="359" r:id="rId10"/>
    <p:sldId id="386" r:id="rId11"/>
    <p:sldId id="387" r:id="rId12"/>
    <p:sldId id="389" r:id="rId13"/>
    <p:sldId id="388" r:id="rId14"/>
    <p:sldId id="390" r:id="rId15"/>
    <p:sldId id="391" r:id="rId16"/>
    <p:sldId id="392" r:id="rId17"/>
    <p:sldId id="385" r:id="rId18"/>
    <p:sldId id="382" r:id="rId19"/>
    <p:sldId id="384"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jaLgwvFmb99B6uTL6zwCSN3bxF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75D735A-9BCC-4A0A-8336-7D16119737FB}">
  <a:tblStyle styleId="{775D735A-9BCC-4A0A-8336-7D16119737FB}"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73"/>
    <p:restoredTop sz="89905" autoAdjust="0"/>
  </p:normalViewPr>
  <p:slideViewPr>
    <p:cSldViewPr snapToGrid="0">
      <p:cViewPr varScale="1">
        <p:scale>
          <a:sx n="150" d="100"/>
          <a:sy n="150" d="100"/>
        </p:scale>
        <p:origin x="348"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80" Type="http://customschemas.google.com/relationships/presentationmetadata" Target="metadata"/><Relationship Id="rId3" Type="http://schemas.openxmlformats.org/officeDocument/2006/relationships/slide" Target="slides/slide2.xml"/><Relationship Id="rId21" Type="http://schemas.openxmlformats.org/officeDocument/2006/relationships/notesMaster" Target="notesMasters/notesMaster1.xml"/><Relationship Id="rId8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86be9dc93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72" name="Google Shape;72;g86be9dc93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2D2B0-46AB-746C-E5F6-EBEED96D4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F7EF7-5BBA-F53E-28BF-C7CF3C9CCA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AD5DB65-ED5C-3CDA-387B-83C8D84CB2FD}"/>
              </a:ext>
            </a:extLst>
          </p:cNvPr>
          <p:cNvSpPr>
            <a:spLocks noGrp="1"/>
          </p:cNvSpPr>
          <p:nvPr>
            <p:ph type="body" idx="1"/>
          </p:nvPr>
        </p:nvSpPr>
        <p:spPr/>
        <p:txBody>
          <a:bodyPr/>
          <a:lstStyle/>
          <a:p>
            <a:endParaRPr lang="en-SG"/>
          </a:p>
        </p:txBody>
      </p:sp>
    </p:spTree>
    <p:extLst>
      <p:ext uri="{BB962C8B-B14F-4D97-AF65-F5344CB8AC3E}">
        <p14:creationId xmlns:p14="http://schemas.microsoft.com/office/powerpoint/2010/main" val="931468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SG"/>
          </a:p>
        </p:txBody>
      </p:sp>
    </p:spTree>
    <p:extLst>
      <p:ext uri="{BB962C8B-B14F-4D97-AF65-F5344CB8AC3E}">
        <p14:creationId xmlns:p14="http://schemas.microsoft.com/office/powerpoint/2010/main" val="2523083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2860-FA1D-4BA9-E55F-4F7BB0DA5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B5EB2-97D3-33A1-DC76-5C3A7BCE78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11AD22-58B0-F79F-A068-80483D53E49C}"/>
              </a:ext>
            </a:extLst>
          </p:cNvPr>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3249307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F2367-6470-3737-74C5-010BE3CC7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068D-8C3B-2C0B-5E3F-5D090E58490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F040C8F-C99D-D6F2-CD07-7C6F434D915D}"/>
              </a:ext>
            </a:extLst>
          </p:cNvPr>
          <p:cNvSpPr>
            <a:spLocks noGrp="1"/>
          </p:cNvSpPr>
          <p:nvPr>
            <p:ph type="body" idx="1"/>
          </p:nvPr>
        </p:nvSpPr>
        <p:spPr/>
        <p:txBody>
          <a:bodyPr/>
          <a:lstStyle/>
          <a:p>
            <a:endParaRPr lang="en-SG"/>
          </a:p>
        </p:txBody>
      </p:sp>
    </p:spTree>
    <p:extLst>
      <p:ext uri="{BB962C8B-B14F-4D97-AF65-F5344CB8AC3E}">
        <p14:creationId xmlns:p14="http://schemas.microsoft.com/office/powerpoint/2010/main" val="15007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31347-FD7B-D7DE-283C-D6233E0C2C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7DEBA6-8F0E-C867-C052-02B034F1C2F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E743FDA-3C35-F2AC-434E-86B8DD299C5D}"/>
              </a:ext>
            </a:extLst>
          </p:cNvPr>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3684076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D605E-A3B9-4059-05D9-B72BC3D35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70CA3-200E-A9DB-1445-163DCAD95B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961F467-0E15-A775-22F2-8D9E0BABAE95}"/>
              </a:ext>
            </a:extLst>
          </p:cNvPr>
          <p:cNvSpPr>
            <a:spLocks noGrp="1"/>
          </p:cNvSpPr>
          <p:nvPr>
            <p:ph type="body" idx="1"/>
          </p:nvPr>
        </p:nvSpPr>
        <p:spPr/>
        <p:txBody>
          <a:bodyPr/>
          <a:lstStyle/>
          <a:p>
            <a:endParaRPr lang="en-SG" dirty="0"/>
          </a:p>
        </p:txBody>
      </p:sp>
    </p:spTree>
    <p:extLst>
      <p:ext uri="{BB962C8B-B14F-4D97-AF65-F5344CB8AC3E}">
        <p14:creationId xmlns:p14="http://schemas.microsoft.com/office/powerpoint/2010/main" val="4289609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53220-115F-5A1B-1A48-CC3CC284A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6AF86F-348C-4556-1129-571E5C7C97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1E5E09-67FB-BB5A-DD4F-C75CD18BD8D8}"/>
              </a:ext>
            </a:extLst>
          </p:cNvPr>
          <p:cNvSpPr>
            <a:spLocks noGrp="1"/>
          </p:cNvSpPr>
          <p:nvPr>
            <p:ph type="body" idx="1"/>
          </p:nvPr>
        </p:nvSpPr>
        <p:spPr/>
        <p:txBody>
          <a:bodyPr/>
          <a:lstStyle/>
          <a:p>
            <a:endParaRPr lang="en-SG"/>
          </a:p>
        </p:txBody>
      </p:sp>
    </p:spTree>
    <p:extLst>
      <p:ext uri="{BB962C8B-B14F-4D97-AF65-F5344CB8AC3E}">
        <p14:creationId xmlns:p14="http://schemas.microsoft.com/office/powerpoint/2010/main" val="300930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6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6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6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0" name="Google Shape;20;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3" name="Google Shape;33;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sp>
        <p:nvSpPr>
          <p:cNvPr id="35" name="Google Shape;35;p65"/>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6" name="Google Shape;36;p65"/>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7" name="Google Shape;37;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6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6"/>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1" name="Google Shape;41;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67"/>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4" name="Google Shape;44;p67"/>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5" name="Google Shape;45;p67"/>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6" name="Google Shape;46;p67"/>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7" name="Google Shape;47;p67"/>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8" name="Google Shape;4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68"/>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1" name="Google Shape;51;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69"/>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69"/>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5" name="Google Shape;55;p69"/>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6" name="Google Shape;56;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
        <p:cNvGrpSpPr/>
        <p:nvPr/>
      </p:nvGrpSpPr>
      <p:grpSpPr>
        <a:xfrm>
          <a:off x="0" y="0"/>
          <a:ext cx="0" cy="0"/>
          <a:chOff x="0" y="0"/>
          <a:chExt cx="0" cy="0"/>
        </a:xfrm>
      </p:grpSpPr>
      <p:sp>
        <p:nvSpPr>
          <p:cNvPr id="11" name="Google Shape;11;p60"/>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2" name="Google Shape;12;p60"/>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US"/>
          </a:p>
        </p:txBody>
      </p:sp>
      <p:sp>
        <p:nvSpPr>
          <p:cNvPr id="13" name="Google Shape;13;p60"/>
          <p:cNvSpPr txBox="1">
            <a:spLocks noGrp="1"/>
          </p:cNvSpPr>
          <p:nvPr>
            <p:ph type="ctrTitle"/>
          </p:nvPr>
        </p:nvSpPr>
        <p:spPr>
          <a:xfrm>
            <a:off x="3044699" y="1444255"/>
            <a:ext cx="3144065"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4" name="Google Shape;14;p60"/>
          <p:cNvSpPr txBox="1">
            <a:spLocks noGrp="1"/>
          </p:cNvSpPr>
          <p:nvPr>
            <p:ph type="subTitle" idx="1"/>
          </p:nvPr>
        </p:nvSpPr>
        <p:spPr>
          <a:xfrm>
            <a:off x="3044700" y="3116580"/>
            <a:ext cx="3144064"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5" name="Google Shape;1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69083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5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5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vitest.dev/guide/learn/matchers.html#objects"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vitest.dev/guide/learn/matchers.html#asymmetric-matcher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
          <p:cNvSpPr txBox="1">
            <a:spLocks noGrp="1"/>
          </p:cNvSpPr>
          <p:nvPr>
            <p:ph type="ctrTitle"/>
          </p:nvPr>
        </p:nvSpPr>
        <p:spPr>
          <a:xfrm>
            <a:off x="2964232" y="880984"/>
            <a:ext cx="3651375"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4200"/>
              <a:buNone/>
            </a:pPr>
            <a:r>
              <a:rPr lang="en" sz="3600"/>
              <a:t>Web Application Development II</a:t>
            </a:r>
            <a:endParaRPr sz="3600"/>
          </a:p>
        </p:txBody>
      </p:sp>
      <p:sp>
        <p:nvSpPr>
          <p:cNvPr id="64" name="Google Shape;64;p1"/>
          <p:cNvSpPr txBox="1">
            <a:spLocks noGrp="1"/>
          </p:cNvSpPr>
          <p:nvPr>
            <p:ph type="subTitle" idx="1"/>
          </p:nvPr>
        </p:nvSpPr>
        <p:spPr>
          <a:xfrm>
            <a:off x="3052015" y="2725317"/>
            <a:ext cx="3304894"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10: Testing</a:t>
            </a:r>
          </a:p>
          <a:p>
            <a:pPr marL="0" lvl="0" indent="0" algn="ctr" rtl="0">
              <a:lnSpc>
                <a:spcPct val="100000"/>
              </a:lnSpc>
              <a:spcBef>
                <a:spcPts val="0"/>
              </a:spcBef>
              <a:spcAft>
                <a:spcPts val="0"/>
              </a:spcAft>
              <a:buSzPts val="2100"/>
              <a:buNone/>
            </a:pPr>
            <a:endParaRPr lang="en"/>
          </a:p>
          <a:p>
            <a:pPr marL="0" lvl="0" indent="0" algn="ctr" rtl="0">
              <a:lnSpc>
                <a:spcPct val="100000"/>
              </a:lnSpc>
              <a:spcBef>
                <a:spcPts val="0"/>
              </a:spcBef>
              <a:spcAft>
                <a:spcPts val="0"/>
              </a:spcAft>
              <a:buSzPts val="2100"/>
              <a:buNone/>
            </a:pPr>
            <a:r>
              <a:rPr lang="en" sz="1400"/>
              <a:t>10a: Unit Testing of JavaScript Functions using Vitest</a:t>
            </a:r>
            <a:endParaRPr sz="1400"/>
          </a:p>
          <a:p>
            <a:pPr marL="0" lvl="0" indent="0" algn="ctr" rtl="0">
              <a:lnSpc>
                <a:spcPct val="100000"/>
              </a:lnSpc>
              <a:spcBef>
                <a:spcPts val="0"/>
              </a:spcBef>
              <a:spcAft>
                <a:spcPts val="0"/>
              </a:spcAft>
              <a:buSzPts val="21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75" name="Google Shape;75;p1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482600" indent="-342900">
              <a:buFont typeface="+mj-lt"/>
              <a:buAutoNum type="arabicPeriod"/>
            </a:pPr>
            <a:r>
              <a:rPr lang="en-US" b="1">
                <a:solidFill>
                  <a:srgbClr val="0070C0"/>
                </a:solidFill>
              </a:rPr>
              <a:t>Definitions and Concepts</a:t>
            </a:r>
          </a:p>
          <a:p>
            <a:pPr marL="482600" indent="-342900">
              <a:buFont typeface="+mj-lt"/>
              <a:buAutoNum type="arabicPeriod"/>
            </a:pPr>
            <a:r>
              <a:rPr lang="en-US" b="1">
                <a:solidFill>
                  <a:srgbClr val="0070C0"/>
                </a:solidFill>
              </a:rPr>
              <a:t>Unit Testing: Functions</a:t>
            </a:r>
          </a:p>
          <a:p>
            <a:pPr marL="482600" indent="-342900">
              <a:buFont typeface="+mj-lt"/>
              <a:buAutoNum type="arabicPeriod"/>
            </a:pPr>
            <a:r>
              <a:rPr lang="en-US"/>
              <a:t>Component &amp; Integration Testing</a:t>
            </a:r>
          </a:p>
          <a:p>
            <a:pPr marL="482600" indent="-342900">
              <a:buFont typeface="+mj-lt"/>
              <a:buAutoNum type="arabicPeriod"/>
            </a:pPr>
            <a:r>
              <a:rPr lang="en-US"/>
              <a:t>E2E Testing</a:t>
            </a:r>
            <a:endParaRPr lang="en" dirty="0"/>
          </a:p>
          <a:p>
            <a:pPr marL="0" indent="0">
              <a:buNone/>
            </a:pPr>
            <a:endParaRPr lang="en" dirty="0"/>
          </a:p>
          <a:p>
            <a:pPr marL="0" indent="0">
              <a:buNone/>
            </a:pPr>
            <a:endParaRPr lang="en" dirty="0"/>
          </a:p>
          <a:p>
            <a:pPr marL="0" indent="0">
              <a:lnSpc>
                <a:spcPct val="114999"/>
              </a:lnSpc>
              <a:buNone/>
            </a:pPr>
            <a:endParaRPr lang="en" dirty="0"/>
          </a:p>
          <a:p>
            <a:pPr marL="0" indent="0">
              <a:lnSpc>
                <a:spcPct val="114999"/>
              </a:lnSpc>
              <a:spcBef>
                <a:spcPts val="1600"/>
              </a:spcBef>
              <a:buNone/>
            </a:pPr>
            <a:endParaRPr lang="en" dirty="0"/>
          </a:p>
          <a:p>
            <a:pPr marL="0" indent="0">
              <a:lnSpc>
                <a:spcPct val="114999"/>
              </a:lnSpc>
              <a:spcBef>
                <a:spcPts val="1600"/>
              </a:spcBef>
              <a:buNone/>
            </a:pPr>
            <a:endParaRPr lang="en" dirty="0"/>
          </a:p>
          <a:p>
            <a:pPr marL="0" lvl="0" indent="0" algn="l">
              <a:spcBef>
                <a:spcPts val="1600"/>
              </a:spcBef>
              <a:spcAft>
                <a:spcPts val="1600"/>
              </a:spcAft>
              <a:buNone/>
            </a:pPr>
            <a:endParaRPr lang="en-US" dirty="0"/>
          </a:p>
        </p:txBody>
      </p:sp>
      <p:sp>
        <p:nvSpPr>
          <p:cNvPr id="2" name="Google Shape;90;p17">
            <a:extLst>
              <a:ext uri="{FF2B5EF4-FFF2-40B4-BE49-F238E27FC236}">
                <a16:creationId xmlns:a16="http://schemas.microsoft.com/office/drawing/2014/main" id="{34A5EEB3-1421-3F27-09D2-D5341B5B98BE}"/>
              </a:ext>
            </a:extLst>
          </p:cNvPr>
          <p:cNvSpPr txBox="1">
            <a:spLocks noGrp="1"/>
          </p:cNvSpPr>
          <p:nvPr>
            <p:ph type="body" idx="2"/>
          </p:nvPr>
        </p:nvSpPr>
        <p:spPr>
          <a:xfrm>
            <a:off x="4572000" y="360642"/>
            <a:ext cx="4081549" cy="44669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Learning Outcomes</a:t>
            </a:r>
            <a:endParaRPr lang="en-SG" b="1" dirty="0"/>
          </a:p>
          <a:p>
            <a:pPr marL="0" lvl="0" indent="0" algn="l" rtl="0">
              <a:spcBef>
                <a:spcPts val="0"/>
              </a:spcBef>
              <a:spcAft>
                <a:spcPts val="0"/>
              </a:spcAft>
              <a:buNone/>
            </a:pPr>
            <a:endParaRPr lang="en-SG" b="1" dirty="0"/>
          </a:p>
          <a:p>
            <a:pPr marL="0" indent="0">
              <a:buNone/>
            </a:pPr>
            <a:r>
              <a:rPr lang="en-SG" dirty="0"/>
              <a:t>By the end of this lesson, </a:t>
            </a:r>
            <a:r>
              <a:rPr lang="en-SG"/>
              <a:t>you can explain the following:</a:t>
            </a:r>
            <a:endParaRPr lang="en-SG" dirty="0"/>
          </a:p>
          <a:p>
            <a:pPr>
              <a:buFont typeface="Arial" panose="020B0604020202020204" pitchFamily="34" charset="0"/>
              <a:buChar char="•"/>
            </a:pPr>
            <a:r>
              <a:rPr lang="en-SG"/>
              <a:t>Verification vs. validation</a:t>
            </a:r>
          </a:p>
          <a:p>
            <a:pPr>
              <a:buFont typeface="Arial" panose="020B0604020202020204" pitchFamily="34" charset="0"/>
              <a:buChar char="•"/>
            </a:pPr>
            <a:r>
              <a:rPr lang="en-SG"/>
              <a:t>Regression testing</a:t>
            </a:r>
          </a:p>
          <a:p>
            <a:pPr>
              <a:buFont typeface="Arial" panose="020B0604020202020204" pitchFamily="34" charset="0"/>
              <a:buChar char="•"/>
            </a:pPr>
            <a:r>
              <a:rPr lang="en-SG"/>
              <a:t>Test-Driven Development</a:t>
            </a:r>
          </a:p>
          <a:p>
            <a:pPr>
              <a:buFont typeface="Arial" panose="020B0604020202020204" pitchFamily="34" charset="0"/>
              <a:buChar char="•"/>
            </a:pPr>
            <a:r>
              <a:rPr lang="en-SG"/>
              <a:t>Load testing</a:t>
            </a:r>
          </a:p>
          <a:p>
            <a:pPr>
              <a:buFont typeface="Arial" panose="020B0604020202020204" pitchFamily="34" charset="0"/>
              <a:buChar char="•"/>
            </a:pPr>
            <a:r>
              <a:rPr lang="en-SG"/>
              <a:t>Different types of testing: Unit testing vs. integration testing vs. E2E testing.</a:t>
            </a:r>
          </a:p>
          <a:p>
            <a:pPr marL="0" lvl="0" indent="0" algn="l" rtl="0">
              <a:spcBef>
                <a:spcPts val="0"/>
              </a:spcBef>
              <a:spcAft>
                <a:spcPts val="0"/>
              </a:spcAft>
              <a:buNone/>
            </a:pPr>
            <a:endParaRPr lang="en" b="1"/>
          </a:p>
          <a:p>
            <a:pPr marL="0" indent="0">
              <a:buNone/>
            </a:pPr>
            <a:r>
              <a:rPr lang="en-SG"/>
              <a:t>Write &amp; run a unit test for a JavaScript function using Vitest. </a:t>
            </a:r>
          </a:p>
          <a:p>
            <a:pPr marL="0" indent="0">
              <a:buNone/>
            </a:pPr>
            <a:r>
              <a:rPr lang="en-SG"/>
              <a:t>Be familiar with how to use the following functions in test scripts: </a:t>
            </a:r>
            <a:r>
              <a:rPr lang="en-SG" b="1"/>
              <a:t>describe</a:t>
            </a:r>
            <a:r>
              <a:rPr lang="en-SG"/>
              <a:t>(), </a:t>
            </a:r>
            <a:r>
              <a:rPr lang="en-SG" b="1"/>
              <a:t>it</a:t>
            </a:r>
            <a:r>
              <a:rPr lang="en-SG"/>
              <a:t>()/</a:t>
            </a:r>
            <a:r>
              <a:rPr lang="en-SG" b="1"/>
              <a:t>test</a:t>
            </a:r>
            <a:r>
              <a:rPr lang="en-SG"/>
              <a:t>(), </a:t>
            </a:r>
            <a:r>
              <a:rPr lang="en-SG" b="1"/>
              <a:t>expect</a:t>
            </a:r>
            <a:r>
              <a:rPr lang="en-SG"/>
              <a:t>(), </a:t>
            </a:r>
            <a:r>
              <a:rPr lang="en-SG" b="1"/>
              <a:t>toBe</a:t>
            </a:r>
            <a:r>
              <a:rPr lang="en-SG"/>
              <a:t>(), and other matchers such as </a:t>
            </a:r>
            <a:r>
              <a:rPr lang="en-SG" b="1"/>
              <a:t>toBeTruthy</a:t>
            </a:r>
            <a:r>
              <a:rPr lang="en-SG"/>
              <a:t>(), </a:t>
            </a:r>
            <a:r>
              <a:rPr lang="en-SG" b="1"/>
              <a:t>toHaveLength</a:t>
            </a:r>
            <a:r>
              <a:rPr lang="en-SG"/>
              <a:t>() etc.</a:t>
            </a:r>
          </a:p>
          <a:p>
            <a:pPr marL="0" indent="0">
              <a:buNone/>
            </a:pPr>
            <a:endParaRPr lang="en-SG"/>
          </a:p>
          <a:p>
            <a:pPr marL="0" lvl="0" indent="0">
              <a:buNone/>
            </a:pPr>
            <a:endParaRPr lang="e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6FEDC-BEDF-116C-5118-DFE61AA52C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549B074-3854-09FE-0390-EC9196F242B1}"/>
              </a:ext>
            </a:extLst>
          </p:cNvPr>
          <p:cNvSpPr>
            <a:spLocks noGrp="1"/>
          </p:cNvSpPr>
          <p:nvPr>
            <p:ph type="title"/>
          </p:nvPr>
        </p:nvSpPr>
        <p:spPr>
          <a:xfrm>
            <a:off x="84721" y="0"/>
            <a:ext cx="8520600" cy="717046"/>
          </a:xfrm>
        </p:spPr>
        <p:txBody>
          <a:bodyPr/>
          <a:lstStyle/>
          <a:p>
            <a:r>
              <a:rPr lang="en-US" sz="2800"/>
              <a:t>1. Definitions &amp; Concepts</a:t>
            </a:r>
            <a:endParaRPr lang="en-US" sz="2800" dirty="0"/>
          </a:p>
        </p:txBody>
      </p:sp>
      <p:sp>
        <p:nvSpPr>
          <p:cNvPr id="4" name="Text Placeholder 3">
            <a:extLst>
              <a:ext uri="{FF2B5EF4-FFF2-40B4-BE49-F238E27FC236}">
                <a16:creationId xmlns:a16="http://schemas.microsoft.com/office/drawing/2014/main" id="{EB74B140-1FE4-D2AC-4C89-CC0BF8ECA7F5}"/>
              </a:ext>
            </a:extLst>
          </p:cNvPr>
          <p:cNvSpPr>
            <a:spLocks noGrp="1"/>
          </p:cNvSpPr>
          <p:nvPr>
            <p:ph type="body" idx="1"/>
          </p:nvPr>
        </p:nvSpPr>
        <p:spPr>
          <a:xfrm>
            <a:off x="405279" y="813717"/>
            <a:ext cx="3999900" cy="4014536"/>
          </a:xfrm>
        </p:spPr>
        <p:txBody>
          <a:bodyPr/>
          <a:lstStyle/>
          <a:p>
            <a:pPr marL="139700" indent="0">
              <a:buNone/>
            </a:pPr>
            <a:r>
              <a:rPr lang="en-US">
                <a:solidFill>
                  <a:srgbClr val="0070C0"/>
                </a:solidFill>
              </a:rPr>
              <a:t>Verification</a:t>
            </a:r>
            <a:r>
              <a:rPr lang="en-US"/>
              <a:t> vs. </a:t>
            </a:r>
            <a:r>
              <a:rPr lang="en-US">
                <a:solidFill>
                  <a:srgbClr val="0070C0"/>
                </a:solidFill>
              </a:rPr>
              <a:t>Validation</a:t>
            </a:r>
            <a:r>
              <a:rPr lang="en-US"/>
              <a:t>: </a:t>
            </a:r>
          </a:p>
          <a:p>
            <a:pPr>
              <a:buFont typeface="Arial" panose="020B0604020202020204" pitchFamily="34" charset="0"/>
              <a:buChar char="•"/>
            </a:pPr>
            <a:r>
              <a:rPr lang="en-US"/>
              <a:t>Verification = "</a:t>
            </a:r>
            <a:r>
              <a:rPr lang="en-US" i="1"/>
              <a:t>Are we building the product right?</a:t>
            </a:r>
            <a:r>
              <a:rPr lang="en-US"/>
              <a:t>". </a:t>
            </a:r>
            <a:r>
              <a:rPr lang="en-SG"/>
              <a:t>Ensures the </a:t>
            </a:r>
            <a:r>
              <a:rPr lang="en-SG" b="1"/>
              <a:t>software conforms to specifications and design documents</a:t>
            </a:r>
            <a:r>
              <a:rPr lang="en-SG"/>
              <a:t>. </a:t>
            </a:r>
            <a:r>
              <a:rPr lang="en-US"/>
              <a:t>Focuses on correctness. Usually performed during development.</a:t>
            </a:r>
          </a:p>
          <a:p>
            <a:pPr>
              <a:buFont typeface="Arial" panose="020B0604020202020204" pitchFamily="34" charset="0"/>
              <a:buChar char="•"/>
            </a:pPr>
            <a:r>
              <a:rPr lang="en-US"/>
              <a:t>Validation = "</a:t>
            </a:r>
            <a:r>
              <a:rPr lang="en-US" i="1"/>
              <a:t>Are we building the right product?</a:t>
            </a:r>
            <a:r>
              <a:rPr lang="en-US"/>
              <a:t>". </a:t>
            </a:r>
            <a:r>
              <a:rPr lang="en-SG"/>
              <a:t>Ensures the </a:t>
            </a:r>
            <a:r>
              <a:rPr lang="en-SG" b="1"/>
              <a:t>software meets the users' needs &amp; requirements</a:t>
            </a:r>
            <a:r>
              <a:rPr lang="en-SG"/>
              <a:t>. </a:t>
            </a:r>
            <a:r>
              <a:rPr lang="en-US"/>
              <a:t>Focuses on fitness for purpose. Usually performed near/after completion of development. </a:t>
            </a:r>
          </a:p>
          <a:p>
            <a:pPr>
              <a:buFont typeface="Arial" panose="020B0604020202020204" pitchFamily="34" charset="0"/>
              <a:buChar char="•"/>
            </a:pPr>
            <a:endParaRPr lang="en-US"/>
          </a:p>
          <a:p>
            <a:pPr marL="139700" indent="0">
              <a:buNone/>
            </a:pPr>
            <a:r>
              <a:rPr lang="en-US"/>
              <a:t>Software testing involves both verification &amp; validation to ensure that software is both correctly implemented &amp; fit for intended use.</a:t>
            </a:r>
          </a:p>
          <a:p>
            <a:pPr marL="139700" indent="0">
              <a:buNone/>
            </a:pPr>
            <a:endParaRPr lang="en-US"/>
          </a:p>
          <a:p>
            <a:pPr marL="139700" indent="0">
              <a:buNone/>
            </a:pPr>
            <a:endParaRPr lang="en-US"/>
          </a:p>
          <a:p>
            <a:pPr marL="139700" indent="0">
              <a:buNone/>
            </a:pPr>
            <a:endParaRPr lang="en-US"/>
          </a:p>
          <a:p>
            <a:pPr marL="139700" indent="0">
              <a:buNone/>
            </a:pPr>
            <a:endParaRPr lang="en-US" dirty="0"/>
          </a:p>
        </p:txBody>
      </p:sp>
      <p:sp>
        <p:nvSpPr>
          <p:cNvPr id="5" name="Text Placeholder 4">
            <a:extLst>
              <a:ext uri="{FF2B5EF4-FFF2-40B4-BE49-F238E27FC236}">
                <a16:creationId xmlns:a16="http://schemas.microsoft.com/office/drawing/2014/main" id="{729B6980-EB60-84D9-94CA-40E3141AB97F}"/>
              </a:ext>
            </a:extLst>
          </p:cNvPr>
          <p:cNvSpPr>
            <a:spLocks noGrp="1"/>
          </p:cNvSpPr>
          <p:nvPr>
            <p:ph type="body" idx="2"/>
          </p:nvPr>
        </p:nvSpPr>
        <p:spPr>
          <a:xfrm>
            <a:off x="4798980" y="192504"/>
            <a:ext cx="3999900" cy="4732421"/>
          </a:xfrm>
        </p:spPr>
        <p:txBody>
          <a:bodyPr/>
          <a:lstStyle/>
          <a:p>
            <a:pPr marL="139700" indent="0">
              <a:buNone/>
            </a:pPr>
            <a:r>
              <a:rPr lang="en-SG" sz="1100" b="1"/>
              <a:t>Verification example</a:t>
            </a:r>
          </a:p>
          <a:p>
            <a:r>
              <a:rPr lang="en-SG" sz="1100"/>
              <a:t>A requirement states: "The system shall lock a user account after five consecutive failed login attempts."</a:t>
            </a:r>
          </a:p>
          <a:p>
            <a:r>
              <a:rPr lang="en-SG" sz="1100"/>
              <a:t>The design and source code are reviewed to confirm that: </a:t>
            </a:r>
          </a:p>
          <a:p>
            <a:pPr marL="539750" indent="-400050">
              <a:buFont typeface="+mj-lt"/>
              <a:buAutoNum type="romanLcPeriod"/>
            </a:pPr>
            <a:r>
              <a:rPr lang="en-SG" sz="1100"/>
              <a:t>the threshold is exactly </a:t>
            </a:r>
            <a:r>
              <a:rPr lang="en-SG" sz="1100" b="1"/>
              <a:t>5</a:t>
            </a:r>
            <a:r>
              <a:rPr lang="en-SG" sz="1100"/>
              <a:t> attempts, </a:t>
            </a:r>
          </a:p>
          <a:p>
            <a:pPr marL="539750" indent="-400050">
              <a:buFont typeface="+mj-lt"/>
              <a:buAutoNum type="romanLcPeriod"/>
            </a:pPr>
            <a:r>
              <a:rPr lang="en-SG" sz="1100"/>
              <a:t>the lockout mechanism has been implemented correctly, and </a:t>
            </a:r>
          </a:p>
          <a:p>
            <a:pPr marL="539750" indent="-400050">
              <a:buFont typeface="+mj-lt"/>
              <a:buAutoNum type="romanLcPeriod"/>
            </a:pPr>
            <a:r>
              <a:rPr lang="en-SG" sz="1100"/>
              <a:t>the implementation matches the specification. </a:t>
            </a:r>
          </a:p>
          <a:p>
            <a:r>
              <a:rPr lang="en-SG" sz="1100"/>
              <a:t>This is </a:t>
            </a:r>
            <a:r>
              <a:rPr lang="en-SG" sz="1100" b="1"/>
              <a:t>verification</a:t>
            </a:r>
            <a:r>
              <a:rPr lang="en-SG" sz="1100"/>
              <a:t> because you are checking that the software has been built according to the specified requirements.</a:t>
            </a:r>
          </a:p>
          <a:p>
            <a:pPr marL="139700" indent="0">
              <a:buNone/>
            </a:pPr>
            <a:endParaRPr lang="en-SG" sz="1100" b="1"/>
          </a:p>
          <a:p>
            <a:pPr marL="139700" indent="0">
              <a:buNone/>
            </a:pPr>
            <a:r>
              <a:rPr lang="en-SG" sz="1100" b="1"/>
              <a:t>Validation example</a:t>
            </a:r>
          </a:p>
          <a:p>
            <a:r>
              <a:rPr lang="en-SG" sz="1100"/>
              <a:t>Suppose the software correctly locks the account after 5 failed attempts, but users complain that they frequently mistype passwords on mobile devices and are being locked out too often. After gathering user feedback, the team changes the policy to allow </a:t>
            </a:r>
            <a:r>
              <a:rPr lang="en-SG" sz="1100" b="1"/>
              <a:t>10</a:t>
            </a:r>
            <a:r>
              <a:rPr lang="en-SG" sz="1100"/>
              <a:t> failed attempts or to use CAPTCHA before locking the account.</a:t>
            </a:r>
          </a:p>
          <a:p>
            <a:r>
              <a:rPr lang="en-SG" sz="1100"/>
              <a:t>This is </a:t>
            </a:r>
            <a:r>
              <a:rPr lang="en-SG" sz="1100" b="1"/>
              <a:t>validation</a:t>
            </a:r>
            <a:r>
              <a:rPr lang="en-SG" sz="1100"/>
              <a:t> because you are determining whether the product satisfies the users' actual needs.</a:t>
            </a:r>
          </a:p>
          <a:p>
            <a:endParaRPr lang="en-SG" sz="1100"/>
          </a:p>
          <a:p>
            <a:endParaRPr lang="en-SG" sz="1100"/>
          </a:p>
          <a:p>
            <a:pPr marL="139700" indent="0">
              <a:buNone/>
            </a:pPr>
            <a:endParaRPr lang="en-SG" sz="1100"/>
          </a:p>
        </p:txBody>
      </p:sp>
      <p:cxnSp>
        <p:nvCxnSpPr>
          <p:cNvPr id="6" name="Straight Connector 5">
            <a:extLst>
              <a:ext uri="{FF2B5EF4-FFF2-40B4-BE49-F238E27FC236}">
                <a16:creationId xmlns:a16="http://schemas.microsoft.com/office/drawing/2014/main" id="{9F6ABBA0-139F-F6E1-00E5-4B87272FE238}"/>
              </a:ext>
            </a:extLst>
          </p:cNvPr>
          <p:cNvCxnSpPr>
            <a:cxnSpLocks/>
          </p:cNvCxnSpPr>
          <p:nvPr/>
        </p:nvCxnSpPr>
        <p:spPr>
          <a:xfrm>
            <a:off x="4653375" y="242933"/>
            <a:ext cx="0" cy="46819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1976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29E69-6B89-DE73-91A0-26202B3D08D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F9CCFF-856A-1825-1CDB-76BA16F76BC4}"/>
              </a:ext>
            </a:extLst>
          </p:cNvPr>
          <p:cNvSpPr>
            <a:spLocks noGrp="1"/>
          </p:cNvSpPr>
          <p:nvPr>
            <p:ph type="title"/>
          </p:nvPr>
        </p:nvSpPr>
        <p:spPr>
          <a:xfrm>
            <a:off x="84721" y="0"/>
            <a:ext cx="8520600" cy="717046"/>
          </a:xfrm>
        </p:spPr>
        <p:txBody>
          <a:bodyPr/>
          <a:lstStyle/>
          <a:p>
            <a:r>
              <a:rPr lang="en-US" sz="2800"/>
              <a:t>Regression Testing</a:t>
            </a:r>
            <a:endParaRPr lang="en-US" sz="2800" dirty="0"/>
          </a:p>
        </p:txBody>
      </p:sp>
      <p:sp>
        <p:nvSpPr>
          <p:cNvPr id="4" name="Text Placeholder 3">
            <a:extLst>
              <a:ext uri="{FF2B5EF4-FFF2-40B4-BE49-F238E27FC236}">
                <a16:creationId xmlns:a16="http://schemas.microsoft.com/office/drawing/2014/main" id="{A677444D-9013-2E93-AD69-4F56C5705F6B}"/>
              </a:ext>
            </a:extLst>
          </p:cNvPr>
          <p:cNvSpPr>
            <a:spLocks noGrp="1"/>
          </p:cNvSpPr>
          <p:nvPr>
            <p:ph type="body" idx="1"/>
          </p:nvPr>
        </p:nvSpPr>
        <p:spPr>
          <a:xfrm>
            <a:off x="345121" y="1134979"/>
            <a:ext cx="3999900" cy="3291475"/>
          </a:xfrm>
        </p:spPr>
        <p:txBody>
          <a:bodyPr/>
          <a:lstStyle/>
          <a:p>
            <a:pPr marL="139700" indent="0">
              <a:buNone/>
            </a:pPr>
            <a:r>
              <a:rPr lang="en-US">
                <a:solidFill>
                  <a:srgbClr val="0070C0"/>
                </a:solidFill>
              </a:rPr>
              <a:t>Regression testing </a:t>
            </a:r>
            <a:r>
              <a:rPr lang="en-US"/>
              <a:t>= process of re-executing previously passed test cases after modifications are made to software to verify that existing features continue to function as expected.</a:t>
            </a:r>
          </a:p>
          <a:p>
            <a:pPr marL="139700" indent="0">
              <a:buNone/>
            </a:pPr>
            <a:endParaRPr lang="en-US"/>
          </a:p>
          <a:p>
            <a:pPr marL="139700" indent="0">
              <a:buNone/>
            </a:pPr>
            <a:r>
              <a:rPr lang="en-SG"/>
              <a:t>Even a small change in one part of the code can unintentionally affect another part. Regression testing helps detect these unintended side effects.</a:t>
            </a:r>
            <a:endParaRPr lang="en-US" dirty="0"/>
          </a:p>
        </p:txBody>
      </p:sp>
      <p:sp>
        <p:nvSpPr>
          <p:cNvPr id="5" name="Text Placeholder 4">
            <a:extLst>
              <a:ext uri="{FF2B5EF4-FFF2-40B4-BE49-F238E27FC236}">
                <a16:creationId xmlns:a16="http://schemas.microsoft.com/office/drawing/2014/main" id="{899B4738-C155-F8BD-CABB-1DB83A65624A}"/>
              </a:ext>
            </a:extLst>
          </p:cNvPr>
          <p:cNvSpPr>
            <a:spLocks noGrp="1"/>
          </p:cNvSpPr>
          <p:nvPr>
            <p:ph type="body" idx="2"/>
          </p:nvPr>
        </p:nvSpPr>
        <p:spPr>
          <a:xfrm>
            <a:off x="4729577" y="424276"/>
            <a:ext cx="3999900" cy="4352259"/>
          </a:xfrm>
        </p:spPr>
        <p:txBody>
          <a:bodyPr/>
          <a:lstStyle/>
          <a:p>
            <a:pPr marL="139700" indent="0">
              <a:buNone/>
            </a:pPr>
            <a:r>
              <a:rPr lang="en-US"/>
              <a:t>"Retesting" verifies that a specific bug has been fixed using test cases related to the bug. </a:t>
            </a:r>
            <a:r>
              <a:rPr lang="en-SG"/>
              <a:t>whereas</a:t>
            </a:r>
            <a:r>
              <a:rPr lang="en-US"/>
              <a:t> "regression testing" verifies that existing features still work after changes are made - includes testing both changed &amp; unaffected functionality.</a:t>
            </a:r>
          </a:p>
          <a:p>
            <a:pPr marL="139700" indent="0">
              <a:buNone/>
            </a:pPr>
            <a:endParaRPr lang="en-US"/>
          </a:p>
          <a:p>
            <a:pPr marL="139700" indent="0">
              <a:buNone/>
            </a:pPr>
            <a:r>
              <a:rPr lang="en-US"/>
              <a:t>Modern software teams automate regression tests using tools such as:</a:t>
            </a:r>
          </a:p>
          <a:p>
            <a:pPr>
              <a:buFont typeface="Arial" panose="020B0604020202020204" pitchFamily="34" charset="0"/>
              <a:buChar char="•"/>
            </a:pPr>
            <a:r>
              <a:rPr lang="en-US"/>
              <a:t>JUnit (for Java), pytest (for Python)</a:t>
            </a:r>
          </a:p>
          <a:p>
            <a:pPr>
              <a:buFont typeface="Arial" panose="020B0604020202020204" pitchFamily="34" charset="0"/>
              <a:buChar char="•"/>
            </a:pPr>
            <a:r>
              <a:rPr lang="en-US"/>
              <a:t>Selenium, Cypress, Playwright (for Web apps) </a:t>
            </a:r>
          </a:p>
          <a:p>
            <a:pPr>
              <a:buFontTx/>
              <a:buChar char="-"/>
            </a:pPr>
            <a:endParaRPr lang="en-US"/>
          </a:p>
          <a:p>
            <a:pPr marL="139700" indent="0">
              <a:buNone/>
            </a:pPr>
            <a:r>
              <a:rPr lang="en-US"/>
              <a:t>Automated regression testing is integrated into a CI/CD pipeline so that tests run automatically whenever developers commit new code. </a:t>
            </a:r>
            <a:endParaRPr lang="en-US" dirty="0"/>
          </a:p>
        </p:txBody>
      </p:sp>
      <p:cxnSp>
        <p:nvCxnSpPr>
          <p:cNvPr id="6" name="Straight Connector 5">
            <a:extLst>
              <a:ext uri="{FF2B5EF4-FFF2-40B4-BE49-F238E27FC236}">
                <a16:creationId xmlns:a16="http://schemas.microsoft.com/office/drawing/2014/main" id="{A77613B7-AF38-349B-6C82-9759028B040F}"/>
              </a:ext>
            </a:extLst>
          </p:cNvPr>
          <p:cNvCxnSpPr>
            <a:cxnSpLocks/>
          </p:cNvCxnSpPr>
          <p:nvPr/>
        </p:nvCxnSpPr>
        <p:spPr>
          <a:xfrm>
            <a:off x="4500664" y="424276"/>
            <a:ext cx="0" cy="442009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9147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47EB7-5887-9E4C-3F6D-97DDF9E6F6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674C4E-700A-2BFD-787F-627C91002637}"/>
              </a:ext>
            </a:extLst>
          </p:cNvPr>
          <p:cNvSpPr>
            <a:spLocks noGrp="1"/>
          </p:cNvSpPr>
          <p:nvPr>
            <p:ph type="title"/>
          </p:nvPr>
        </p:nvSpPr>
        <p:spPr>
          <a:xfrm>
            <a:off x="84721" y="0"/>
            <a:ext cx="8520600" cy="717046"/>
          </a:xfrm>
        </p:spPr>
        <p:txBody>
          <a:bodyPr/>
          <a:lstStyle/>
          <a:p>
            <a:r>
              <a:rPr lang="en-US" sz="2800" dirty="0"/>
              <a:t>Test-Driven Development (TDD)</a:t>
            </a:r>
          </a:p>
        </p:txBody>
      </p:sp>
      <p:sp>
        <p:nvSpPr>
          <p:cNvPr id="4" name="Text Placeholder 3">
            <a:extLst>
              <a:ext uri="{FF2B5EF4-FFF2-40B4-BE49-F238E27FC236}">
                <a16:creationId xmlns:a16="http://schemas.microsoft.com/office/drawing/2014/main" id="{29CBEA50-26B8-D61F-011D-063B9A4B11DB}"/>
              </a:ext>
            </a:extLst>
          </p:cNvPr>
          <p:cNvSpPr>
            <a:spLocks noGrp="1"/>
          </p:cNvSpPr>
          <p:nvPr>
            <p:ph type="body" idx="1"/>
          </p:nvPr>
        </p:nvSpPr>
        <p:spPr>
          <a:xfrm>
            <a:off x="345121" y="1031129"/>
            <a:ext cx="3999900" cy="2951463"/>
          </a:xfrm>
        </p:spPr>
        <p:txBody>
          <a:bodyPr/>
          <a:lstStyle/>
          <a:p>
            <a:pPr marL="139700" indent="0">
              <a:buNone/>
            </a:pPr>
            <a:r>
              <a:rPr lang="en-US"/>
              <a:t>TDD = Software </a:t>
            </a:r>
            <a:r>
              <a:rPr lang="en-US" dirty="0"/>
              <a:t>development practice that emphasizes writing tests before writing the actual code. </a:t>
            </a:r>
          </a:p>
          <a:p>
            <a:pPr marL="139700" indent="0">
              <a:buNone/>
            </a:pPr>
            <a:endParaRPr lang="en-US" dirty="0"/>
          </a:p>
          <a:p>
            <a:pPr marL="139700" indent="0">
              <a:buNone/>
            </a:pPr>
            <a:r>
              <a:rPr lang="en-US" dirty="0"/>
              <a:t>It follows a cyclical process of </a:t>
            </a:r>
            <a:r>
              <a:rPr lang="en-US"/>
              <a:t>writing an automated test</a:t>
            </a:r>
            <a:r>
              <a:rPr lang="en-US" dirty="0"/>
              <a:t>, writing the minimum code to make the test pass, and then refactoring the code. </a:t>
            </a:r>
          </a:p>
          <a:p>
            <a:pPr marL="139700" indent="0">
              <a:buNone/>
            </a:pPr>
            <a:endParaRPr lang="en-US" dirty="0"/>
          </a:p>
          <a:p>
            <a:pPr marL="139700" indent="0">
              <a:buNone/>
            </a:pPr>
            <a:r>
              <a:rPr lang="en-US" dirty="0"/>
              <a:t>This cycle is often referred to as the "</a:t>
            </a:r>
            <a:r>
              <a:rPr lang="en-US" b="1" dirty="0">
                <a:solidFill>
                  <a:srgbClr val="FF0000"/>
                </a:solidFill>
              </a:rPr>
              <a:t>Red</a:t>
            </a:r>
            <a:r>
              <a:rPr lang="en-US" b="1" dirty="0"/>
              <a:t>-</a:t>
            </a:r>
            <a:r>
              <a:rPr lang="en-US" b="1" dirty="0">
                <a:solidFill>
                  <a:schemeClr val="accent5"/>
                </a:solidFill>
              </a:rPr>
              <a:t>Green</a:t>
            </a:r>
            <a:r>
              <a:rPr lang="en-US" b="1" dirty="0"/>
              <a:t>-</a:t>
            </a:r>
            <a:r>
              <a:rPr lang="en-US" b="1" dirty="0">
                <a:solidFill>
                  <a:srgbClr val="00B0F0"/>
                </a:solidFill>
              </a:rPr>
              <a:t>Refactor</a:t>
            </a:r>
            <a:r>
              <a:rPr lang="en-US" dirty="0"/>
              <a:t>" cycle.</a:t>
            </a:r>
          </a:p>
        </p:txBody>
      </p:sp>
      <p:sp>
        <p:nvSpPr>
          <p:cNvPr id="5" name="Text Placeholder 4">
            <a:extLst>
              <a:ext uri="{FF2B5EF4-FFF2-40B4-BE49-F238E27FC236}">
                <a16:creationId xmlns:a16="http://schemas.microsoft.com/office/drawing/2014/main" id="{E7EC35A8-E54A-06DC-4819-0D2A1E0CD139}"/>
              </a:ext>
            </a:extLst>
          </p:cNvPr>
          <p:cNvSpPr>
            <a:spLocks noGrp="1"/>
          </p:cNvSpPr>
          <p:nvPr>
            <p:ph type="body" idx="2"/>
          </p:nvPr>
        </p:nvSpPr>
        <p:spPr>
          <a:xfrm>
            <a:off x="4798981" y="975929"/>
            <a:ext cx="3999900" cy="3354000"/>
          </a:xfrm>
        </p:spPr>
        <p:txBody>
          <a:bodyPr/>
          <a:lstStyle/>
          <a:p>
            <a:pPr marL="139700" indent="0">
              <a:buNone/>
            </a:pPr>
            <a:r>
              <a:rPr lang="en-US" dirty="0"/>
              <a:t>Write a Test (</a:t>
            </a:r>
            <a:r>
              <a:rPr lang="en-US" b="1" dirty="0">
                <a:solidFill>
                  <a:srgbClr val="FF0000"/>
                </a:solidFill>
              </a:rPr>
              <a:t>Red</a:t>
            </a:r>
            <a:r>
              <a:rPr lang="en-US" dirty="0"/>
              <a:t>): start by writing a test that defines the behavior you want to implement. This test should initially fail because you haven't written the corresponding code yet. </a:t>
            </a:r>
          </a:p>
          <a:p>
            <a:pPr marL="139700" indent="0">
              <a:buNone/>
            </a:pPr>
            <a:endParaRPr lang="en-US" dirty="0"/>
          </a:p>
          <a:p>
            <a:pPr marL="139700" indent="0">
              <a:buNone/>
            </a:pPr>
            <a:r>
              <a:rPr lang="en-US" dirty="0"/>
              <a:t>Write the Minimum Code (</a:t>
            </a:r>
            <a:r>
              <a:rPr lang="en-US" b="1" dirty="0">
                <a:solidFill>
                  <a:schemeClr val="accent5"/>
                </a:solidFill>
              </a:rPr>
              <a:t>Green</a:t>
            </a:r>
            <a:r>
              <a:rPr lang="en-US" dirty="0"/>
              <a:t>): write </a:t>
            </a:r>
            <a:r>
              <a:rPr lang="en-US"/>
              <a:t>the simplest code </a:t>
            </a:r>
            <a:r>
              <a:rPr lang="en-US" dirty="0"/>
              <a:t>necessary to make the test pass. This </a:t>
            </a:r>
            <a:r>
              <a:rPr lang="en-US"/>
              <a:t>code need </a:t>
            </a:r>
            <a:r>
              <a:rPr lang="en-US" dirty="0"/>
              <a:t>not </a:t>
            </a:r>
            <a:r>
              <a:rPr lang="en-US"/>
              <a:t>be perfect.</a:t>
            </a:r>
            <a:endParaRPr lang="en-US" dirty="0"/>
          </a:p>
          <a:p>
            <a:pPr marL="139700" indent="0">
              <a:buNone/>
            </a:pPr>
            <a:endParaRPr lang="en-US" dirty="0"/>
          </a:p>
          <a:p>
            <a:pPr marL="139700" indent="0">
              <a:buNone/>
            </a:pPr>
            <a:r>
              <a:rPr lang="en-US" dirty="0"/>
              <a:t>Refactor (</a:t>
            </a:r>
            <a:r>
              <a:rPr lang="en-US" b="1" dirty="0">
                <a:solidFill>
                  <a:srgbClr val="00B0F0"/>
                </a:solidFill>
              </a:rPr>
              <a:t>Refactor</a:t>
            </a:r>
            <a:r>
              <a:rPr lang="en-US"/>
              <a:t>): refactor </a:t>
            </a:r>
            <a:r>
              <a:rPr lang="en-US" dirty="0"/>
              <a:t>the code to improve its structure, readability, and performance while ensuring that the tests continue to pass. </a:t>
            </a:r>
          </a:p>
        </p:txBody>
      </p:sp>
      <p:cxnSp>
        <p:nvCxnSpPr>
          <p:cNvPr id="6" name="Straight Connector 5">
            <a:extLst>
              <a:ext uri="{FF2B5EF4-FFF2-40B4-BE49-F238E27FC236}">
                <a16:creationId xmlns:a16="http://schemas.microsoft.com/office/drawing/2014/main" id="{444B17FC-7E24-D308-0620-19C1260FE6F6}"/>
              </a:ext>
            </a:extLst>
          </p:cNvPr>
          <p:cNvCxnSpPr>
            <a:cxnSpLocks/>
          </p:cNvCxnSpPr>
          <p:nvPr/>
        </p:nvCxnSpPr>
        <p:spPr>
          <a:xfrm>
            <a:off x="4500664" y="1057071"/>
            <a:ext cx="0" cy="3424138"/>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0AFB33E-99A8-82BC-0343-66321FF56D89}"/>
              </a:ext>
            </a:extLst>
          </p:cNvPr>
          <p:cNvSpPr txBox="1"/>
          <p:nvPr/>
        </p:nvSpPr>
        <p:spPr>
          <a:xfrm>
            <a:off x="2263302" y="4740095"/>
            <a:ext cx="4708185" cy="338554"/>
          </a:xfrm>
          <a:prstGeom prst="rect">
            <a:avLst/>
          </a:prstGeom>
          <a:noFill/>
        </p:spPr>
        <p:txBody>
          <a:bodyPr wrap="square">
            <a:spAutoFit/>
          </a:bodyPr>
          <a:lstStyle/>
          <a:p>
            <a:pPr algn="ctr"/>
            <a:r>
              <a:rPr lang="en-SG" sz="1600" i="1">
                <a:solidFill>
                  <a:srgbClr val="0070C0"/>
                </a:solidFill>
                <a:latin typeface="Times New Roman" panose="02020603050405020304" pitchFamily="18" charset="0"/>
                <a:cs typeface="Times New Roman" panose="02020603050405020304" pitchFamily="18" charset="0"/>
              </a:rPr>
              <a:t>TDD applies to Unit Testing</a:t>
            </a:r>
          </a:p>
        </p:txBody>
      </p:sp>
    </p:spTree>
    <p:extLst>
      <p:ext uri="{BB962C8B-B14F-4D97-AF65-F5344CB8AC3E}">
        <p14:creationId xmlns:p14="http://schemas.microsoft.com/office/powerpoint/2010/main" val="2231905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E50C8-084B-EFE4-DC35-1E589D6C3E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301646-C3F0-059A-1D00-B6F227F570A4}"/>
              </a:ext>
            </a:extLst>
          </p:cNvPr>
          <p:cNvSpPr>
            <a:spLocks noGrp="1"/>
          </p:cNvSpPr>
          <p:nvPr>
            <p:ph type="title"/>
          </p:nvPr>
        </p:nvSpPr>
        <p:spPr>
          <a:xfrm>
            <a:off x="345121" y="0"/>
            <a:ext cx="8260200" cy="717046"/>
          </a:xfrm>
        </p:spPr>
        <p:txBody>
          <a:bodyPr/>
          <a:lstStyle/>
          <a:p>
            <a:r>
              <a:rPr lang="en-US" sz="2800"/>
              <a:t>Load Testing</a:t>
            </a:r>
            <a:endParaRPr lang="en-US" sz="2800" dirty="0"/>
          </a:p>
        </p:txBody>
      </p:sp>
      <p:sp>
        <p:nvSpPr>
          <p:cNvPr id="4" name="Text Placeholder 3">
            <a:extLst>
              <a:ext uri="{FF2B5EF4-FFF2-40B4-BE49-F238E27FC236}">
                <a16:creationId xmlns:a16="http://schemas.microsoft.com/office/drawing/2014/main" id="{459251C9-0898-058E-7958-B7BB9B94A91C}"/>
              </a:ext>
            </a:extLst>
          </p:cNvPr>
          <p:cNvSpPr>
            <a:spLocks noGrp="1"/>
          </p:cNvSpPr>
          <p:nvPr>
            <p:ph type="body" idx="1"/>
          </p:nvPr>
        </p:nvSpPr>
        <p:spPr>
          <a:xfrm>
            <a:off x="286610" y="1194192"/>
            <a:ext cx="3360549" cy="3544480"/>
          </a:xfrm>
        </p:spPr>
        <p:txBody>
          <a:bodyPr/>
          <a:lstStyle/>
          <a:p>
            <a:pPr marL="139700" indent="0">
              <a:buNone/>
            </a:pPr>
            <a:r>
              <a:rPr lang="en-US" sz="1200"/>
              <a:t>Load testing is a type of performance testing:</a:t>
            </a:r>
          </a:p>
          <a:p>
            <a:pPr>
              <a:buFont typeface="Arial" panose="020B0604020202020204" pitchFamily="34" charset="0"/>
              <a:buChar char="•"/>
            </a:pPr>
            <a:r>
              <a:rPr lang="en-US" sz="1200"/>
              <a:t>We want to evaluate a system's performance under its anticipated workload to verify that it meets performance requirements</a:t>
            </a:r>
          </a:p>
          <a:p>
            <a:pPr>
              <a:buFont typeface="Arial" panose="020B0604020202020204" pitchFamily="34" charset="0"/>
              <a:buChar char="•"/>
            </a:pPr>
            <a:r>
              <a:rPr lang="en-US" sz="1200"/>
              <a:t>the emphasis is on expected/normal usage, not extreme conditions (that will be a "stress test")</a:t>
            </a:r>
          </a:p>
          <a:p>
            <a:pPr>
              <a:buFont typeface="Arial" panose="020B0604020202020204" pitchFamily="34" charset="0"/>
              <a:buChar char="•"/>
            </a:pPr>
            <a:r>
              <a:rPr lang="en-US" sz="1200"/>
              <a:t>For e.g., an online e-commerce website is expected to support 1000 concurrent users A load test will check if the system can handle 1000 concurrent users while maintaining acceptable performance. </a:t>
            </a:r>
            <a:endParaRPr lang="en-US" sz="1200" dirty="0"/>
          </a:p>
        </p:txBody>
      </p:sp>
      <p:sp>
        <p:nvSpPr>
          <p:cNvPr id="5" name="Text Placeholder 4">
            <a:extLst>
              <a:ext uri="{FF2B5EF4-FFF2-40B4-BE49-F238E27FC236}">
                <a16:creationId xmlns:a16="http://schemas.microsoft.com/office/drawing/2014/main" id="{E5E83960-86C2-568F-88B4-1E6235EACEAA}"/>
              </a:ext>
            </a:extLst>
          </p:cNvPr>
          <p:cNvSpPr>
            <a:spLocks noGrp="1"/>
          </p:cNvSpPr>
          <p:nvPr>
            <p:ph type="body" idx="2"/>
          </p:nvPr>
        </p:nvSpPr>
        <p:spPr>
          <a:xfrm>
            <a:off x="4135876" y="306703"/>
            <a:ext cx="4500249" cy="2970179"/>
          </a:xfrm>
        </p:spPr>
        <p:txBody>
          <a:bodyPr/>
          <a:lstStyle/>
          <a:p>
            <a:pPr marL="139700" indent="0">
              <a:buNone/>
            </a:pPr>
            <a:r>
              <a:rPr lang="en-SG" sz="1200"/>
              <a:t>A load testing tool simulates multiple concurrent </a:t>
            </a:r>
            <a:r>
              <a:rPr lang="en-SG" sz="1200" b="1"/>
              <a:t>virtual users </a:t>
            </a:r>
            <a:r>
              <a:rPr lang="en-SG" sz="1200"/>
              <a:t>executing realistic user scenarios to evaluate a system's performance under load</a:t>
            </a:r>
            <a:r>
              <a:rPr lang="en-SG" sz="1200" i="1"/>
              <a:t>.</a:t>
            </a:r>
            <a:r>
              <a:rPr lang="en-SG" sz="1200"/>
              <a:t> A virtual user is a process or thread that behaves like a real user.</a:t>
            </a:r>
            <a:endParaRPr lang="en-US" sz="1200"/>
          </a:p>
          <a:p>
            <a:pPr marL="139700" indent="0">
              <a:buNone/>
            </a:pPr>
            <a:endParaRPr lang="en-US" sz="1200"/>
          </a:p>
          <a:p>
            <a:pPr marL="139700" indent="0">
              <a:buNone/>
            </a:pPr>
            <a:r>
              <a:rPr lang="en-US" sz="1200"/>
              <a:t>Common tools used for load testing Web apps:</a:t>
            </a:r>
          </a:p>
          <a:p>
            <a:pPr>
              <a:buFont typeface="Arial" panose="020B0604020202020204" pitchFamily="34" charset="0"/>
              <a:buChar char="•"/>
            </a:pPr>
            <a:r>
              <a:rPr lang="en-US" sz="1200"/>
              <a:t>Apache JMeter</a:t>
            </a:r>
          </a:p>
          <a:p>
            <a:pPr>
              <a:buFont typeface="Arial" panose="020B0604020202020204" pitchFamily="34" charset="0"/>
              <a:buChar char="•"/>
            </a:pPr>
            <a:r>
              <a:rPr lang="en-US" sz="1200"/>
              <a:t>k6 (using Javascript)</a:t>
            </a:r>
          </a:p>
          <a:p>
            <a:pPr>
              <a:buFont typeface="Arial" panose="020B0604020202020204" pitchFamily="34" charset="0"/>
              <a:buChar char="•"/>
            </a:pPr>
            <a:r>
              <a:rPr lang="en-US" sz="1200"/>
              <a:t>LoadRunner</a:t>
            </a:r>
          </a:p>
          <a:p>
            <a:pPr>
              <a:buFont typeface="Arial" panose="020B0604020202020204" pitchFamily="34" charset="0"/>
              <a:buChar char="•"/>
            </a:pPr>
            <a:endParaRPr lang="en-US" sz="1200" dirty="0"/>
          </a:p>
        </p:txBody>
      </p:sp>
      <p:cxnSp>
        <p:nvCxnSpPr>
          <p:cNvPr id="6" name="Straight Connector 5">
            <a:extLst>
              <a:ext uri="{FF2B5EF4-FFF2-40B4-BE49-F238E27FC236}">
                <a16:creationId xmlns:a16="http://schemas.microsoft.com/office/drawing/2014/main" id="{1F13502A-38E8-75BF-FBF3-57678CDA3DB6}"/>
              </a:ext>
            </a:extLst>
          </p:cNvPr>
          <p:cNvCxnSpPr>
            <a:cxnSpLocks/>
          </p:cNvCxnSpPr>
          <p:nvPr/>
        </p:nvCxnSpPr>
        <p:spPr>
          <a:xfrm>
            <a:off x="3975370" y="317570"/>
            <a:ext cx="0" cy="4539573"/>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Retour dans le passé, voici les différentes versions de JMeter – MilamberSpace – Apache JMeter">
            <a:extLst>
              <a:ext uri="{FF2B5EF4-FFF2-40B4-BE49-F238E27FC236}">
                <a16:creationId xmlns:a16="http://schemas.microsoft.com/office/drawing/2014/main" id="{23A29812-EB95-C435-467A-4ADC0F3B90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4843" y="2485635"/>
            <a:ext cx="2228249" cy="20727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pache JMeter - Installation and Overview - Cloudkul">
            <a:extLst>
              <a:ext uri="{FF2B5EF4-FFF2-40B4-BE49-F238E27FC236}">
                <a16:creationId xmlns:a16="http://schemas.microsoft.com/office/drawing/2014/main" id="{9FE785A7-C4E4-FA95-C6AD-8581EEB2A7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6819" y="1843351"/>
            <a:ext cx="893542" cy="3053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 grafana/k6: A modern load testing tool, using Go and JavaScript ·  GitHub">
            <a:extLst>
              <a:ext uri="{FF2B5EF4-FFF2-40B4-BE49-F238E27FC236}">
                <a16:creationId xmlns:a16="http://schemas.microsoft.com/office/drawing/2014/main" id="{4E474683-EECD-9CF6-4F9B-5DD154E1E2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851" r="28532"/>
          <a:stretch>
            <a:fillRect/>
          </a:stretch>
        </p:blipFill>
        <p:spPr bwMode="auto">
          <a:xfrm>
            <a:off x="6341976" y="1733121"/>
            <a:ext cx="512324" cy="44516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LoadRunner - Average Transaction Response Time Graph |">
            <a:extLst>
              <a:ext uri="{FF2B5EF4-FFF2-40B4-BE49-F238E27FC236}">
                <a16:creationId xmlns:a16="http://schemas.microsoft.com/office/drawing/2014/main" id="{68C02EDE-BEDF-1F5E-567A-208F734D20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94373" y="2587357"/>
            <a:ext cx="2139965" cy="207279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156832C-F5B9-4882-FAC7-E0769981C37A}"/>
              </a:ext>
            </a:extLst>
          </p:cNvPr>
          <p:cNvSpPr txBox="1"/>
          <p:nvPr/>
        </p:nvSpPr>
        <p:spPr>
          <a:xfrm>
            <a:off x="4193312" y="4638645"/>
            <a:ext cx="2404826" cy="200055"/>
          </a:xfrm>
          <a:prstGeom prst="rect">
            <a:avLst/>
          </a:prstGeom>
          <a:noFill/>
        </p:spPr>
        <p:txBody>
          <a:bodyPr wrap="none" rtlCol="0">
            <a:spAutoFit/>
          </a:bodyPr>
          <a:lstStyle/>
          <a:p>
            <a:pPr marL="139700" indent="0" algn="l">
              <a:buNone/>
            </a:pPr>
            <a:r>
              <a:rPr lang="en-US" sz="700"/>
              <a:t>LoadRunner screen showing average response time</a:t>
            </a:r>
            <a:endParaRPr lang="en-SG" sz="1200"/>
          </a:p>
        </p:txBody>
      </p:sp>
      <p:sp>
        <p:nvSpPr>
          <p:cNvPr id="8" name="TextBox 7">
            <a:extLst>
              <a:ext uri="{FF2B5EF4-FFF2-40B4-BE49-F238E27FC236}">
                <a16:creationId xmlns:a16="http://schemas.microsoft.com/office/drawing/2014/main" id="{22E94D10-C7B9-4AB5-BEAF-EAF4ADFCC7FD}"/>
              </a:ext>
            </a:extLst>
          </p:cNvPr>
          <p:cNvSpPr txBox="1"/>
          <p:nvPr/>
        </p:nvSpPr>
        <p:spPr>
          <a:xfrm>
            <a:off x="7951851" y="4530516"/>
            <a:ext cx="896399" cy="200055"/>
          </a:xfrm>
          <a:prstGeom prst="rect">
            <a:avLst/>
          </a:prstGeom>
          <a:noFill/>
        </p:spPr>
        <p:txBody>
          <a:bodyPr wrap="none" rtlCol="0">
            <a:spAutoFit/>
          </a:bodyPr>
          <a:lstStyle/>
          <a:p>
            <a:pPr marL="139700" indent="0" algn="l">
              <a:buNone/>
            </a:pPr>
            <a:r>
              <a:rPr lang="en-US" sz="700"/>
              <a:t>JMeter screen</a:t>
            </a:r>
            <a:endParaRPr lang="en-SG" sz="1200"/>
          </a:p>
        </p:txBody>
      </p:sp>
      <p:pic>
        <p:nvPicPr>
          <p:cNvPr id="1036" name="Picture 12" descr="LoadRunner - Average Transaction Response Time Graph">
            <a:extLst>
              <a:ext uri="{FF2B5EF4-FFF2-40B4-BE49-F238E27FC236}">
                <a16:creationId xmlns:a16="http://schemas.microsoft.com/office/drawing/2014/main" id="{7B94C62F-F2F1-CB90-DD3F-1C5E838EC22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5035" t="7025" r="25038" b="31972"/>
          <a:stretch>
            <a:fillRect/>
          </a:stretch>
        </p:blipFill>
        <p:spPr bwMode="auto">
          <a:xfrm>
            <a:off x="8292881" y="1760392"/>
            <a:ext cx="578507" cy="471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026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F4B97-293C-4C3B-6065-D5E4546DED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0A5113-6393-ABFC-0A84-92AA8021F10F}"/>
              </a:ext>
            </a:extLst>
          </p:cNvPr>
          <p:cNvSpPr>
            <a:spLocks noGrp="1"/>
          </p:cNvSpPr>
          <p:nvPr>
            <p:ph type="title"/>
          </p:nvPr>
        </p:nvSpPr>
        <p:spPr>
          <a:xfrm>
            <a:off x="84721" y="0"/>
            <a:ext cx="8520600" cy="629055"/>
          </a:xfrm>
        </p:spPr>
        <p:txBody>
          <a:bodyPr/>
          <a:lstStyle/>
          <a:p>
            <a:r>
              <a:rPr lang="en-US" sz="2800"/>
              <a:t>Different Types of Tests</a:t>
            </a:r>
            <a:endParaRPr lang="en-US" sz="2800" dirty="0"/>
          </a:p>
        </p:txBody>
      </p:sp>
      <p:sp>
        <p:nvSpPr>
          <p:cNvPr id="4" name="Text Placeholder 3">
            <a:extLst>
              <a:ext uri="{FF2B5EF4-FFF2-40B4-BE49-F238E27FC236}">
                <a16:creationId xmlns:a16="http://schemas.microsoft.com/office/drawing/2014/main" id="{1155259D-7284-6646-83E9-37681D95153B}"/>
              </a:ext>
            </a:extLst>
          </p:cNvPr>
          <p:cNvSpPr>
            <a:spLocks noGrp="1"/>
          </p:cNvSpPr>
          <p:nvPr>
            <p:ph type="body" idx="1"/>
          </p:nvPr>
        </p:nvSpPr>
        <p:spPr>
          <a:xfrm>
            <a:off x="332520" y="870375"/>
            <a:ext cx="8328379" cy="663324"/>
          </a:xfrm>
        </p:spPr>
        <p:txBody>
          <a:bodyPr/>
          <a:lstStyle/>
          <a:p>
            <a:pPr marL="139700" indent="0">
              <a:buNone/>
            </a:pPr>
            <a:r>
              <a:rPr lang="en-US">
                <a:solidFill>
                  <a:srgbClr val="0070C0"/>
                </a:solidFill>
              </a:rPr>
              <a:t>Unit tests</a:t>
            </a:r>
            <a:r>
              <a:rPr lang="en-US"/>
              <a:t>, </a:t>
            </a:r>
            <a:r>
              <a:rPr lang="en-US">
                <a:solidFill>
                  <a:srgbClr val="0070C0"/>
                </a:solidFill>
              </a:rPr>
              <a:t>Integration tests </a:t>
            </a:r>
            <a:r>
              <a:rPr lang="en-US"/>
              <a:t>and </a:t>
            </a:r>
            <a:r>
              <a:rPr lang="en-US">
                <a:solidFill>
                  <a:srgbClr val="0070C0"/>
                </a:solidFill>
              </a:rPr>
              <a:t>E2E</a:t>
            </a:r>
            <a:r>
              <a:rPr lang="en-US"/>
              <a:t> (end-to-end) tests different in what they test, their scope &amp; how many components are involved.</a:t>
            </a:r>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a:p>
            <a:pPr marL="139700" indent="0">
              <a:buNone/>
            </a:pPr>
            <a:endParaRPr lang="en-US"/>
          </a:p>
        </p:txBody>
      </p:sp>
      <p:graphicFrame>
        <p:nvGraphicFramePr>
          <p:cNvPr id="8" name="Table 7">
            <a:extLst>
              <a:ext uri="{FF2B5EF4-FFF2-40B4-BE49-F238E27FC236}">
                <a16:creationId xmlns:a16="http://schemas.microsoft.com/office/drawing/2014/main" id="{9694C72A-F64A-AE38-5320-3BC86F18742F}"/>
              </a:ext>
            </a:extLst>
          </p:cNvPr>
          <p:cNvGraphicFramePr>
            <a:graphicFrameLocks noGrp="1"/>
          </p:cNvGraphicFramePr>
          <p:nvPr>
            <p:extLst>
              <p:ext uri="{D42A27DB-BD31-4B8C-83A1-F6EECF244321}">
                <p14:modId xmlns:p14="http://schemas.microsoft.com/office/powerpoint/2010/main" val="1014954815"/>
              </p:ext>
            </p:extLst>
          </p:nvPr>
        </p:nvGraphicFramePr>
        <p:xfrm>
          <a:off x="793107" y="1708714"/>
          <a:ext cx="7336958" cy="2466833"/>
        </p:xfrm>
        <a:graphic>
          <a:graphicData uri="http://schemas.openxmlformats.org/drawingml/2006/table">
            <a:tbl>
              <a:tblPr>
                <a:tableStyleId>{775D735A-9BCC-4A0A-8336-7D16119737FB}</a:tableStyleId>
              </a:tblPr>
              <a:tblGrid>
                <a:gridCol w="1683068">
                  <a:extLst>
                    <a:ext uri="{9D8B030D-6E8A-4147-A177-3AD203B41FA5}">
                      <a16:colId xmlns:a16="http://schemas.microsoft.com/office/drawing/2014/main" val="701099666"/>
                    </a:ext>
                  </a:extLst>
                </a:gridCol>
                <a:gridCol w="1980912">
                  <a:extLst>
                    <a:ext uri="{9D8B030D-6E8A-4147-A177-3AD203B41FA5}">
                      <a16:colId xmlns:a16="http://schemas.microsoft.com/office/drawing/2014/main" val="923549860"/>
                    </a:ext>
                  </a:extLst>
                </a:gridCol>
                <a:gridCol w="1874878">
                  <a:extLst>
                    <a:ext uri="{9D8B030D-6E8A-4147-A177-3AD203B41FA5}">
                      <a16:colId xmlns:a16="http://schemas.microsoft.com/office/drawing/2014/main" val="1422199311"/>
                    </a:ext>
                  </a:extLst>
                </a:gridCol>
                <a:gridCol w="1798100">
                  <a:extLst>
                    <a:ext uri="{9D8B030D-6E8A-4147-A177-3AD203B41FA5}">
                      <a16:colId xmlns:a16="http://schemas.microsoft.com/office/drawing/2014/main" val="3548501995"/>
                    </a:ext>
                  </a:extLst>
                </a:gridCol>
              </a:tblGrid>
              <a:tr h="359096">
                <a:tc>
                  <a:txBody>
                    <a:bodyPr/>
                    <a:lstStyle/>
                    <a:p>
                      <a:pPr algn="l" fontAlgn="b">
                        <a:buNone/>
                      </a:pPr>
                      <a:r>
                        <a:rPr lang="en-SG" sz="1100" b="1" u="none" strike="noStrike">
                          <a:effectLst/>
                        </a:rPr>
                        <a:t>Test Type</a:t>
                      </a:r>
                      <a:endParaRPr lang="en-SG" sz="1100" b="1" i="0" u="none" strike="noStrike">
                        <a:solidFill>
                          <a:srgbClr val="000000"/>
                        </a:solidFill>
                        <a:effectLst/>
                        <a:latin typeface="Aptos Narrow" panose="020B0004020202020204" pitchFamily="34" charset="0"/>
                      </a:endParaRPr>
                    </a:p>
                  </a:txBody>
                  <a:tcPr marT="91440" marB="91440" anchor="b"/>
                </a:tc>
                <a:tc>
                  <a:txBody>
                    <a:bodyPr/>
                    <a:lstStyle/>
                    <a:p>
                      <a:pPr algn="l" fontAlgn="b">
                        <a:buNone/>
                      </a:pPr>
                      <a:r>
                        <a:rPr lang="en-SG" sz="1100" b="1" u="none" strike="noStrike">
                          <a:effectLst/>
                        </a:rPr>
                        <a:t>What is Tested?</a:t>
                      </a:r>
                      <a:endParaRPr lang="en-SG" sz="1100" b="1" i="0" u="none" strike="noStrike">
                        <a:solidFill>
                          <a:srgbClr val="000000"/>
                        </a:solidFill>
                        <a:effectLst/>
                        <a:latin typeface="Aptos Narrow" panose="020B0004020202020204" pitchFamily="34" charset="0"/>
                      </a:endParaRPr>
                    </a:p>
                  </a:txBody>
                  <a:tcPr marT="91440" marB="91440" anchor="b"/>
                </a:tc>
                <a:tc>
                  <a:txBody>
                    <a:bodyPr/>
                    <a:lstStyle/>
                    <a:p>
                      <a:pPr algn="l" fontAlgn="b">
                        <a:buNone/>
                      </a:pPr>
                      <a:r>
                        <a:rPr lang="en-SG" sz="1100" b="1" u="none" strike="noStrike">
                          <a:effectLst/>
                        </a:rPr>
                        <a:t>Components Involved</a:t>
                      </a:r>
                      <a:endParaRPr lang="en-SG" sz="1100" b="1" i="0" u="none" strike="noStrike">
                        <a:solidFill>
                          <a:srgbClr val="000000"/>
                        </a:solidFill>
                        <a:effectLst/>
                        <a:latin typeface="Aptos Narrow" panose="020B0004020202020204" pitchFamily="34" charset="0"/>
                      </a:endParaRPr>
                    </a:p>
                  </a:txBody>
                  <a:tcPr marT="91440" marB="91440" anchor="b"/>
                </a:tc>
                <a:tc>
                  <a:txBody>
                    <a:bodyPr/>
                    <a:lstStyle/>
                    <a:p>
                      <a:pPr algn="l" fontAlgn="b">
                        <a:buNone/>
                      </a:pPr>
                      <a:r>
                        <a:rPr lang="en-SG" sz="1100" b="1" u="none" strike="noStrike">
                          <a:effectLst/>
                        </a:rPr>
                        <a:t>Goal</a:t>
                      </a:r>
                      <a:endParaRPr lang="en-SG" sz="1100" b="1" i="0" u="none" strike="noStrike">
                        <a:solidFill>
                          <a:srgbClr val="000000"/>
                        </a:solidFill>
                        <a:effectLst/>
                        <a:latin typeface="Aptos Narrow" panose="020B0004020202020204" pitchFamily="34" charset="0"/>
                      </a:endParaRPr>
                    </a:p>
                  </a:txBody>
                  <a:tcPr marT="91440" marB="91440" anchor="b"/>
                </a:tc>
                <a:extLst>
                  <a:ext uri="{0D108BD9-81ED-4DB2-BD59-A6C34878D82A}">
                    <a16:rowId xmlns:a16="http://schemas.microsoft.com/office/drawing/2014/main" val="4182278927"/>
                  </a:ext>
                </a:extLst>
              </a:tr>
              <a:tr h="702579">
                <a:tc>
                  <a:txBody>
                    <a:bodyPr/>
                    <a:lstStyle/>
                    <a:p>
                      <a:pPr algn="l" fontAlgn="ctr">
                        <a:buNone/>
                      </a:pPr>
                      <a:r>
                        <a:rPr lang="en-SG" sz="1100" b="1" u="none" strike="noStrike">
                          <a:solidFill>
                            <a:srgbClr val="0070C0"/>
                          </a:solidFill>
                          <a:effectLst/>
                        </a:rPr>
                        <a:t>Unit Test</a:t>
                      </a:r>
                      <a:endParaRPr lang="en-SG" sz="1100" b="1" i="0" u="none" strike="noStrike">
                        <a:solidFill>
                          <a:srgbClr val="0070C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A single unit (e.g., a function, method, or class)</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One component in isolation</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Verify that an individual unit works correctly.</a:t>
                      </a:r>
                      <a:endParaRPr lang="en-SG" sz="1100" b="0" i="0" u="none" strike="noStrike">
                        <a:solidFill>
                          <a:srgbClr val="000000"/>
                        </a:solidFill>
                        <a:effectLst/>
                        <a:latin typeface="Aptos Narrow" panose="020B0004020202020204" pitchFamily="34" charset="0"/>
                      </a:endParaRPr>
                    </a:p>
                  </a:txBody>
                  <a:tcPr marT="91440" marB="91440" anchor="ctr"/>
                </a:tc>
                <a:extLst>
                  <a:ext uri="{0D108BD9-81ED-4DB2-BD59-A6C34878D82A}">
                    <a16:rowId xmlns:a16="http://schemas.microsoft.com/office/drawing/2014/main" val="163843095"/>
                  </a:ext>
                </a:extLst>
              </a:tr>
              <a:tr h="702579">
                <a:tc>
                  <a:txBody>
                    <a:bodyPr/>
                    <a:lstStyle/>
                    <a:p>
                      <a:pPr algn="l" fontAlgn="ctr">
                        <a:buNone/>
                      </a:pPr>
                      <a:r>
                        <a:rPr lang="en-SG" sz="1100" b="1" u="none" strike="noStrike">
                          <a:solidFill>
                            <a:srgbClr val="0070C0"/>
                          </a:solidFill>
                          <a:effectLst/>
                        </a:rPr>
                        <a:t>Integration Test</a:t>
                      </a:r>
                      <a:endParaRPr lang="en-SG" sz="1100" b="1" i="0" u="none" strike="noStrike">
                        <a:solidFill>
                          <a:srgbClr val="0070C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The interaction between multiple units or modules</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Two or more integrated components</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Verify that the components work correctly together.</a:t>
                      </a:r>
                      <a:endParaRPr lang="en-SG" sz="1100" b="0" i="0" u="none" strike="noStrike">
                        <a:solidFill>
                          <a:srgbClr val="000000"/>
                        </a:solidFill>
                        <a:effectLst/>
                        <a:latin typeface="Aptos Narrow" panose="020B0004020202020204" pitchFamily="34" charset="0"/>
                      </a:endParaRPr>
                    </a:p>
                  </a:txBody>
                  <a:tcPr marT="91440" marB="91440" anchor="ctr"/>
                </a:tc>
                <a:extLst>
                  <a:ext uri="{0D108BD9-81ED-4DB2-BD59-A6C34878D82A}">
                    <a16:rowId xmlns:a16="http://schemas.microsoft.com/office/drawing/2014/main" val="2920546947"/>
                  </a:ext>
                </a:extLst>
              </a:tr>
              <a:tr h="702579">
                <a:tc>
                  <a:txBody>
                    <a:bodyPr/>
                    <a:lstStyle/>
                    <a:p>
                      <a:pPr algn="l" fontAlgn="ctr">
                        <a:buNone/>
                      </a:pPr>
                      <a:r>
                        <a:rPr lang="en-SG" sz="1100" b="1" u="none" strike="noStrike">
                          <a:solidFill>
                            <a:srgbClr val="0070C0"/>
                          </a:solidFill>
                          <a:effectLst/>
                        </a:rPr>
                        <a:t>End-to-End (E2E) Test</a:t>
                      </a:r>
                      <a:endParaRPr lang="en-SG" sz="1100" b="1" i="0" u="none" strike="noStrike">
                        <a:solidFill>
                          <a:srgbClr val="0070C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The complete system from the user's perspective</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Entire application, including databases, APIs, and UI</a:t>
                      </a:r>
                      <a:endParaRPr lang="en-SG" sz="1100" b="0" i="0" u="none" strike="noStrike">
                        <a:solidFill>
                          <a:srgbClr val="000000"/>
                        </a:solidFill>
                        <a:effectLst/>
                        <a:latin typeface="Aptos Narrow" panose="020B0004020202020204" pitchFamily="34" charset="0"/>
                      </a:endParaRPr>
                    </a:p>
                  </a:txBody>
                  <a:tcPr marT="91440" marB="91440" anchor="ctr"/>
                </a:tc>
                <a:tc>
                  <a:txBody>
                    <a:bodyPr/>
                    <a:lstStyle/>
                    <a:p>
                      <a:pPr algn="l" fontAlgn="ctr">
                        <a:buNone/>
                      </a:pPr>
                      <a:r>
                        <a:rPr lang="en-SG" sz="1100" u="none" strike="noStrike">
                          <a:effectLst/>
                        </a:rPr>
                        <a:t>Verify that complete user workflows function correctly.</a:t>
                      </a:r>
                      <a:endParaRPr lang="en-SG" sz="1100" b="0" i="0" u="none" strike="noStrike">
                        <a:solidFill>
                          <a:srgbClr val="000000"/>
                        </a:solidFill>
                        <a:effectLst/>
                        <a:latin typeface="Aptos Narrow" panose="020B0004020202020204" pitchFamily="34" charset="0"/>
                      </a:endParaRPr>
                    </a:p>
                  </a:txBody>
                  <a:tcPr marT="91440" marB="91440" anchor="ctr"/>
                </a:tc>
                <a:extLst>
                  <a:ext uri="{0D108BD9-81ED-4DB2-BD59-A6C34878D82A}">
                    <a16:rowId xmlns:a16="http://schemas.microsoft.com/office/drawing/2014/main" val="565354910"/>
                  </a:ext>
                </a:extLst>
              </a:tr>
            </a:tbl>
          </a:graphicData>
        </a:graphic>
      </p:graphicFrame>
      <p:sp>
        <p:nvSpPr>
          <p:cNvPr id="5" name="TextBox 4">
            <a:extLst>
              <a:ext uri="{FF2B5EF4-FFF2-40B4-BE49-F238E27FC236}">
                <a16:creationId xmlns:a16="http://schemas.microsoft.com/office/drawing/2014/main" id="{3B29FA89-6D22-F0C8-62FF-326DC346FB8F}"/>
              </a:ext>
            </a:extLst>
          </p:cNvPr>
          <p:cNvSpPr txBox="1"/>
          <p:nvPr/>
        </p:nvSpPr>
        <p:spPr>
          <a:xfrm>
            <a:off x="459277" y="4480457"/>
            <a:ext cx="4592782" cy="307777"/>
          </a:xfrm>
          <a:prstGeom prst="rect">
            <a:avLst/>
          </a:prstGeom>
          <a:noFill/>
        </p:spPr>
        <p:txBody>
          <a:bodyPr wrap="square">
            <a:spAutoFit/>
          </a:bodyPr>
          <a:lstStyle/>
          <a:p>
            <a:r>
              <a:rPr lang="en-US" sz="1400"/>
              <a:t>We will focus on unit testing of functions for now. </a:t>
            </a:r>
            <a:endParaRPr lang="en-SG"/>
          </a:p>
        </p:txBody>
      </p:sp>
    </p:spTree>
    <p:extLst>
      <p:ext uri="{BB962C8B-B14F-4D97-AF65-F5344CB8AC3E}">
        <p14:creationId xmlns:p14="http://schemas.microsoft.com/office/powerpoint/2010/main" val="2180566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D2784-110D-86E2-779E-2752A4D420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9783D0-89EF-DB99-534B-C4682D595A03}"/>
              </a:ext>
            </a:extLst>
          </p:cNvPr>
          <p:cNvSpPr>
            <a:spLocks noGrp="1"/>
          </p:cNvSpPr>
          <p:nvPr>
            <p:ph type="title"/>
          </p:nvPr>
        </p:nvSpPr>
        <p:spPr>
          <a:xfrm>
            <a:off x="175513" y="148625"/>
            <a:ext cx="7632555" cy="603647"/>
          </a:xfrm>
        </p:spPr>
        <p:txBody>
          <a:bodyPr/>
          <a:lstStyle/>
          <a:p>
            <a:r>
              <a:rPr lang="en-US" sz="3200"/>
              <a:t>2. Unit Test</a:t>
            </a:r>
            <a:endParaRPr lang="en-US" sz="3600" dirty="0"/>
          </a:p>
        </p:txBody>
      </p:sp>
      <p:sp>
        <p:nvSpPr>
          <p:cNvPr id="4" name="Text Placeholder 3">
            <a:extLst>
              <a:ext uri="{FF2B5EF4-FFF2-40B4-BE49-F238E27FC236}">
                <a16:creationId xmlns:a16="http://schemas.microsoft.com/office/drawing/2014/main" id="{F3144AB3-78BE-3860-45DB-08D3C0DE8B4E}"/>
              </a:ext>
            </a:extLst>
          </p:cNvPr>
          <p:cNvSpPr>
            <a:spLocks noGrp="1"/>
          </p:cNvSpPr>
          <p:nvPr>
            <p:ph type="body" idx="1"/>
          </p:nvPr>
        </p:nvSpPr>
        <p:spPr>
          <a:xfrm>
            <a:off x="272791" y="996042"/>
            <a:ext cx="3102176" cy="1003170"/>
          </a:xfrm>
        </p:spPr>
        <p:txBody>
          <a:bodyPr/>
          <a:lstStyle/>
          <a:p>
            <a:pPr marL="139700" indent="0">
              <a:buNone/>
            </a:pPr>
            <a:r>
              <a:rPr lang="en-GB"/>
              <a:t>Traditional unit testing focuses on a single function or class method.</a:t>
            </a:r>
          </a:p>
          <a:p>
            <a:pPr marL="139700" indent="0">
              <a:buNone/>
            </a:pPr>
            <a:endParaRPr lang="en-GB"/>
          </a:p>
          <a:p>
            <a:pPr marL="139700" indent="0">
              <a:buNone/>
            </a:pPr>
            <a:r>
              <a:rPr lang="en-GB"/>
              <a:t>E.g.:</a:t>
            </a:r>
          </a:p>
          <a:p>
            <a:pPr marL="139700" indent="0">
              <a:buNone/>
            </a:pPr>
            <a:endParaRPr lang="en-GB"/>
          </a:p>
          <a:p>
            <a:pPr marL="139700" indent="0">
              <a:buNone/>
            </a:pPr>
            <a:endParaRPr lang="en-GB" sz="1050"/>
          </a:p>
          <a:p>
            <a:pPr marL="139700" indent="0">
              <a:buNone/>
            </a:pPr>
            <a:endParaRPr lang="en-GB" sz="1050"/>
          </a:p>
          <a:p>
            <a:pPr marL="139700" indent="0">
              <a:buNone/>
            </a:pPr>
            <a:endParaRPr lang="en-US" dirty="0"/>
          </a:p>
        </p:txBody>
      </p:sp>
      <p:sp>
        <p:nvSpPr>
          <p:cNvPr id="6" name="Text Placeholder 5">
            <a:extLst>
              <a:ext uri="{FF2B5EF4-FFF2-40B4-BE49-F238E27FC236}">
                <a16:creationId xmlns:a16="http://schemas.microsoft.com/office/drawing/2014/main" id="{FCA44DA2-C19C-4C09-00E3-732B57A9B0BE}"/>
              </a:ext>
            </a:extLst>
          </p:cNvPr>
          <p:cNvSpPr>
            <a:spLocks noGrp="1"/>
          </p:cNvSpPr>
          <p:nvPr>
            <p:ph type="body" idx="2"/>
          </p:nvPr>
        </p:nvSpPr>
        <p:spPr>
          <a:xfrm>
            <a:off x="455951" y="1999212"/>
            <a:ext cx="2801565" cy="2121302"/>
          </a:xfrm>
        </p:spPr>
        <p:txBody>
          <a:bodyPr/>
          <a:lstStyle/>
          <a:p>
            <a:pPr marL="139700" indent="0">
              <a:buNone/>
            </a:pPr>
            <a:r>
              <a:rPr lang="en-GB" sz="1100">
                <a:solidFill>
                  <a:schemeClr val="accent5">
                    <a:lumMod val="75000"/>
                  </a:schemeClr>
                </a:solidFill>
                <a:latin typeface="Consolas" panose="020B0609020204030204" pitchFamily="49" charset="0"/>
              </a:rPr>
              <a:t>// function under test</a:t>
            </a:r>
          </a:p>
          <a:p>
            <a:pPr marL="139700" indent="0">
              <a:buNone/>
            </a:pPr>
            <a:r>
              <a:rPr lang="en-GB" sz="1100">
                <a:latin typeface="Consolas" panose="020B0609020204030204" pitchFamily="49" charset="0"/>
              </a:rPr>
              <a:t>function add(a, b) {  </a:t>
            </a:r>
            <a:br>
              <a:rPr lang="en-GB" sz="1100">
                <a:latin typeface="Consolas" panose="020B0609020204030204" pitchFamily="49" charset="0"/>
              </a:rPr>
            </a:br>
            <a:r>
              <a:rPr lang="en-GB" sz="1100">
                <a:latin typeface="Consolas" panose="020B0609020204030204" pitchFamily="49" charset="0"/>
              </a:rPr>
              <a:t>  return a + b</a:t>
            </a:r>
            <a:br>
              <a:rPr lang="en-GB" sz="1100">
                <a:latin typeface="Consolas" panose="020B0609020204030204" pitchFamily="49" charset="0"/>
              </a:rPr>
            </a:br>
            <a:r>
              <a:rPr lang="en-GB" sz="1100">
                <a:latin typeface="Consolas" panose="020B0609020204030204" pitchFamily="49" charset="0"/>
              </a:rPr>
              <a:t>}</a:t>
            </a:r>
            <a:br>
              <a:rPr lang="en-GB" sz="1100">
                <a:latin typeface="Consolas" panose="020B0609020204030204" pitchFamily="49" charset="0"/>
              </a:rPr>
            </a:br>
            <a:endParaRPr lang="en-GB" sz="1100">
              <a:latin typeface="Consolas" panose="020B0609020204030204" pitchFamily="49" charset="0"/>
            </a:endParaRPr>
          </a:p>
          <a:p>
            <a:pPr marL="139700" indent="0">
              <a:buNone/>
            </a:pPr>
            <a:r>
              <a:rPr lang="en-GB" sz="1100">
                <a:solidFill>
                  <a:schemeClr val="accent5">
                    <a:lumMod val="75000"/>
                  </a:schemeClr>
                </a:solidFill>
                <a:latin typeface="Consolas" panose="020B0609020204030204" pitchFamily="49" charset="0"/>
              </a:rPr>
              <a:t>// 3 test cases</a:t>
            </a:r>
            <a:br>
              <a:rPr lang="en-GB" sz="1100">
                <a:latin typeface="Consolas" panose="020B0609020204030204" pitchFamily="49" charset="0"/>
              </a:rPr>
            </a:br>
            <a:r>
              <a:rPr lang="en-GB" sz="1100">
                <a:latin typeface="Consolas" panose="020B0609020204030204" pitchFamily="49" charset="0"/>
              </a:rPr>
              <a:t>expect(add(2, 3)).toBe(5)</a:t>
            </a:r>
            <a:endParaRPr lang="en-GB" sz="1100">
              <a:solidFill>
                <a:schemeClr val="accent5">
                  <a:lumMod val="75000"/>
                </a:schemeClr>
              </a:solidFill>
              <a:latin typeface="Consolas" panose="020B0609020204030204" pitchFamily="49" charset="0"/>
            </a:endParaRPr>
          </a:p>
          <a:p>
            <a:pPr marL="139700" indent="0">
              <a:buNone/>
            </a:pPr>
            <a:r>
              <a:rPr lang="en-GB" sz="1100">
                <a:latin typeface="Consolas" panose="020B0609020204030204" pitchFamily="49" charset="0"/>
              </a:rPr>
              <a:t>expect(add(-1, 3)).toBe(2)</a:t>
            </a:r>
            <a:endParaRPr lang="en-GB" sz="1100">
              <a:solidFill>
                <a:schemeClr val="accent5">
                  <a:lumMod val="75000"/>
                </a:schemeClr>
              </a:solidFill>
              <a:latin typeface="Consolas" panose="020B0609020204030204" pitchFamily="49" charset="0"/>
            </a:endParaRPr>
          </a:p>
          <a:p>
            <a:pPr marL="139700" indent="0">
              <a:buNone/>
            </a:pPr>
            <a:r>
              <a:rPr lang="en-GB" sz="1100">
                <a:latin typeface="Consolas" panose="020B0609020204030204" pitchFamily="49" charset="0"/>
              </a:rPr>
              <a:t>expect(add(-3, -3)).toBe(-6)</a:t>
            </a:r>
            <a:endParaRPr lang="en-GB" sz="1100">
              <a:solidFill>
                <a:schemeClr val="accent5">
                  <a:lumMod val="75000"/>
                </a:schemeClr>
              </a:solidFill>
              <a:latin typeface="Consolas" panose="020B0609020204030204" pitchFamily="49" charset="0"/>
            </a:endParaRPr>
          </a:p>
          <a:p>
            <a:pPr marL="139700" indent="0">
              <a:buNone/>
            </a:pPr>
            <a:endParaRPr lang="en-GB" sz="1100">
              <a:solidFill>
                <a:schemeClr val="accent5">
                  <a:lumMod val="75000"/>
                </a:schemeClr>
              </a:solidFill>
              <a:latin typeface="Consolas" panose="020B0609020204030204" pitchFamily="49" charset="0"/>
            </a:endParaRPr>
          </a:p>
          <a:p>
            <a:pPr marL="139700" indent="0">
              <a:buNone/>
            </a:pPr>
            <a:endParaRPr lang="en-SG" sz="1100">
              <a:solidFill>
                <a:schemeClr val="accent5">
                  <a:lumMod val="75000"/>
                </a:schemeClr>
              </a:solidFill>
              <a:latin typeface="Consolas" panose="020B0609020204030204" pitchFamily="49" charset="0"/>
            </a:endParaRPr>
          </a:p>
        </p:txBody>
      </p:sp>
      <p:sp>
        <p:nvSpPr>
          <p:cNvPr id="5" name="TextBox 4">
            <a:extLst>
              <a:ext uri="{FF2B5EF4-FFF2-40B4-BE49-F238E27FC236}">
                <a16:creationId xmlns:a16="http://schemas.microsoft.com/office/drawing/2014/main" id="{2D1B3A02-A710-78F8-3853-D1CB79BFBA69}"/>
              </a:ext>
            </a:extLst>
          </p:cNvPr>
          <p:cNvSpPr txBox="1"/>
          <p:nvPr/>
        </p:nvSpPr>
        <p:spPr>
          <a:xfrm>
            <a:off x="3857353" y="2826326"/>
            <a:ext cx="5003795" cy="1731243"/>
          </a:xfrm>
          <a:prstGeom prst="rect">
            <a:avLst/>
          </a:prstGeom>
          <a:noFill/>
        </p:spPr>
        <p:txBody>
          <a:bodyPr wrap="square" rtlCol="0">
            <a:spAutoFit/>
          </a:bodyPr>
          <a:lstStyle/>
          <a:p>
            <a:pPr marL="139700" indent="0" algn="l">
              <a:buNone/>
            </a:pPr>
            <a:r>
              <a:rPr lang="en-US" sz="1050" b="1"/>
              <a:t>expect() </a:t>
            </a:r>
            <a:r>
              <a:rPr lang="en-US" sz="1050"/>
              <a:t>and </a:t>
            </a:r>
            <a:r>
              <a:rPr lang="en-US" sz="1050" b="1"/>
              <a:t>toBe() </a:t>
            </a:r>
            <a:r>
              <a:rPr lang="en-US" sz="1050"/>
              <a:t>are part of a testing framework such as </a:t>
            </a:r>
            <a:r>
              <a:rPr lang="en-US" sz="1050">
                <a:solidFill>
                  <a:srgbClr val="0070C0"/>
                </a:solidFill>
              </a:rPr>
              <a:t>Vitest</a:t>
            </a:r>
            <a:r>
              <a:rPr lang="en-US" sz="1050"/>
              <a:t> or Jest. Together they form an </a:t>
            </a:r>
            <a:r>
              <a:rPr lang="en-US" sz="1050">
                <a:solidFill>
                  <a:srgbClr val="0070C0"/>
                </a:solidFill>
              </a:rPr>
              <a:t>assertion</a:t>
            </a:r>
            <a:r>
              <a:rPr lang="en-US" sz="1050"/>
              <a:t>, which checks whether the actual result matche the expected result. </a:t>
            </a:r>
          </a:p>
          <a:p>
            <a:pPr marL="139700" indent="0" algn="l">
              <a:buNone/>
            </a:pPr>
            <a:endParaRPr lang="en-US" sz="1050"/>
          </a:p>
          <a:p>
            <a:pPr marL="139700"/>
            <a:r>
              <a:rPr lang="en-GB" sz="1050">
                <a:solidFill>
                  <a:schemeClr val="accent5">
                    <a:lumMod val="75000"/>
                  </a:schemeClr>
                </a:solidFill>
                <a:latin typeface="Consolas" panose="020B0609020204030204" pitchFamily="49" charset="0"/>
              </a:rPr>
              <a:t>// add(2,3) returns the actual value</a:t>
            </a:r>
          </a:p>
          <a:p>
            <a:pPr marL="139700"/>
            <a:r>
              <a:rPr lang="en-GB" sz="1050">
                <a:solidFill>
                  <a:schemeClr val="accent5">
                    <a:lumMod val="75000"/>
                  </a:schemeClr>
                </a:solidFill>
                <a:latin typeface="Consolas" panose="020B0609020204030204" pitchFamily="49" charset="0"/>
              </a:rPr>
              <a:t>// 5 is the expected value</a:t>
            </a:r>
          </a:p>
          <a:p>
            <a:pPr marL="139700"/>
            <a:r>
              <a:rPr lang="en-GB" sz="1050">
                <a:latin typeface="Consolas" panose="020B0609020204030204" pitchFamily="49" charset="0"/>
              </a:rPr>
              <a:t>expect(add(2, 3)).toBe(5)</a:t>
            </a:r>
            <a:endParaRPr lang="en-GB" sz="1050">
              <a:solidFill>
                <a:schemeClr val="accent5">
                  <a:lumMod val="75000"/>
                </a:schemeClr>
              </a:solidFill>
              <a:latin typeface="Consolas" panose="020B0609020204030204" pitchFamily="49" charset="0"/>
            </a:endParaRPr>
          </a:p>
          <a:p>
            <a:pPr marL="139700"/>
            <a:endParaRPr lang="en-SG" sz="1100"/>
          </a:p>
          <a:p>
            <a:pPr marL="139700"/>
            <a:r>
              <a:rPr lang="en-SG" sz="1100"/>
              <a:t>If the actual value equals the expected value, the test passes. Otherwise, the test fails.</a:t>
            </a:r>
          </a:p>
        </p:txBody>
      </p:sp>
      <p:cxnSp>
        <p:nvCxnSpPr>
          <p:cNvPr id="7" name="Straight Connector 6">
            <a:extLst>
              <a:ext uri="{FF2B5EF4-FFF2-40B4-BE49-F238E27FC236}">
                <a16:creationId xmlns:a16="http://schemas.microsoft.com/office/drawing/2014/main" id="{872CD4DB-B3A8-3B76-8CFA-D0F5A7F136B3}"/>
              </a:ext>
            </a:extLst>
          </p:cNvPr>
          <p:cNvCxnSpPr>
            <a:cxnSpLocks/>
          </p:cNvCxnSpPr>
          <p:nvPr/>
        </p:nvCxnSpPr>
        <p:spPr>
          <a:xfrm>
            <a:off x="3537954" y="325160"/>
            <a:ext cx="0" cy="4654615"/>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81E3BA7-910F-BC36-79A1-5D6E3B01A973}"/>
              </a:ext>
            </a:extLst>
          </p:cNvPr>
          <p:cNvSpPr txBox="1"/>
          <p:nvPr/>
        </p:nvSpPr>
        <p:spPr>
          <a:xfrm>
            <a:off x="3821476" y="450448"/>
            <a:ext cx="5039672" cy="1900520"/>
          </a:xfrm>
          <a:prstGeom prst="rect">
            <a:avLst/>
          </a:prstGeom>
          <a:noFill/>
        </p:spPr>
        <p:txBody>
          <a:bodyPr wrap="square">
            <a:spAutoFit/>
          </a:bodyPr>
          <a:lstStyle/>
          <a:p>
            <a:pPr marL="139700" indent="0">
              <a:buNone/>
            </a:pPr>
            <a:r>
              <a:rPr lang="en-GB" sz="1050"/>
              <a:t>These 3 test cases provide good input coverage by testing different categories of input: </a:t>
            </a:r>
          </a:p>
          <a:p>
            <a:pPr marL="311150" indent="-171450">
              <a:buFont typeface="Arial" panose="020B0604020202020204" pitchFamily="34" charset="0"/>
              <a:buChar char="•"/>
            </a:pPr>
            <a:r>
              <a:rPr lang="en-GB" sz="1050"/>
              <a:t>positive + positive</a:t>
            </a:r>
          </a:p>
          <a:p>
            <a:pPr marL="311150" indent="-171450">
              <a:buFont typeface="Arial" panose="020B0604020202020204" pitchFamily="34" charset="0"/>
              <a:buChar char="•"/>
            </a:pPr>
            <a:r>
              <a:rPr lang="en-GB" sz="1050"/>
              <a:t>negative + positive </a:t>
            </a:r>
          </a:p>
          <a:p>
            <a:pPr marL="311150" indent="-171450">
              <a:buFont typeface="Arial" panose="020B0604020202020204" pitchFamily="34" charset="0"/>
              <a:buChar char="•"/>
            </a:pPr>
            <a:r>
              <a:rPr lang="en-GB" sz="1050"/>
              <a:t>negative + negative</a:t>
            </a:r>
          </a:p>
          <a:p>
            <a:pPr>
              <a:buFont typeface="Arial" panose="020B0604020202020204" pitchFamily="34" charset="0"/>
              <a:buChar char="•"/>
            </a:pPr>
            <a:endParaRPr lang="en-GB" sz="1050"/>
          </a:p>
          <a:p>
            <a:pPr marL="139700" indent="0">
              <a:buNone/>
            </a:pPr>
            <a:r>
              <a:rPr lang="en-GB" sz="1050"/>
              <a:t>However, </a:t>
            </a:r>
            <a:r>
              <a:rPr lang="en-SG" sz="1050"/>
              <a:t>the test suite can be improved by adding more edge cases, such as:</a:t>
            </a:r>
          </a:p>
          <a:p>
            <a:pPr marL="311150" indent="-171450">
              <a:buFont typeface="Arial" panose="020B0604020202020204" pitchFamily="34" charset="0"/>
              <a:buChar char="•"/>
            </a:pPr>
            <a:r>
              <a:rPr lang="en-SG" sz="1100">
                <a:latin typeface="Consolas" panose="020B0609020204030204" pitchFamily="49" charset="0"/>
              </a:rPr>
              <a:t>expect(add(0, 0)).toBe(0); </a:t>
            </a:r>
            <a:r>
              <a:rPr lang="en-SG" sz="1050">
                <a:solidFill>
                  <a:schemeClr val="accent5">
                    <a:lumMod val="75000"/>
                  </a:schemeClr>
                </a:solidFill>
                <a:latin typeface="Consolas" panose="020B0609020204030204" pitchFamily="49" charset="0"/>
              </a:rPr>
              <a:t>// both zero </a:t>
            </a:r>
          </a:p>
          <a:p>
            <a:pPr marL="311150" indent="-171450">
              <a:buFont typeface="Arial" panose="020B0604020202020204" pitchFamily="34" charset="0"/>
              <a:buChar char="•"/>
            </a:pPr>
            <a:r>
              <a:rPr lang="en-SG" sz="1100">
                <a:latin typeface="Consolas" panose="020B0609020204030204" pitchFamily="49" charset="0"/>
              </a:rPr>
              <a:t>expect(add(0, 5)).toBe(5); </a:t>
            </a:r>
            <a:r>
              <a:rPr lang="en-SG" sz="1050">
                <a:solidFill>
                  <a:schemeClr val="accent5">
                    <a:lumMod val="75000"/>
                  </a:schemeClr>
                </a:solidFill>
                <a:latin typeface="Consolas" panose="020B0609020204030204" pitchFamily="49" charset="0"/>
              </a:rPr>
              <a:t>// zero and positive </a:t>
            </a:r>
          </a:p>
          <a:p>
            <a:pPr marL="311150" indent="-171450">
              <a:buFont typeface="Arial" panose="020B0604020202020204" pitchFamily="34" charset="0"/>
              <a:buChar char="•"/>
            </a:pPr>
            <a:r>
              <a:rPr lang="en-SG" sz="1100">
                <a:latin typeface="Consolas" panose="020B0609020204030204" pitchFamily="49" charset="0"/>
              </a:rPr>
              <a:t>expect(add(5, 0)).toBe(5); </a:t>
            </a:r>
            <a:r>
              <a:rPr lang="en-SG" sz="1050">
                <a:solidFill>
                  <a:schemeClr val="accent5">
                    <a:lumMod val="75000"/>
                  </a:schemeClr>
                </a:solidFill>
                <a:latin typeface="Consolas" panose="020B0609020204030204" pitchFamily="49" charset="0"/>
              </a:rPr>
              <a:t>// positive and zero </a:t>
            </a:r>
          </a:p>
          <a:p>
            <a:pPr marL="311150" indent="-171450">
              <a:buFont typeface="Arial" panose="020B0604020202020204" pitchFamily="34" charset="0"/>
              <a:buChar char="•"/>
            </a:pPr>
            <a:r>
              <a:rPr lang="en-SG" sz="1100">
                <a:latin typeface="Consolas" panose="020B0609020204030204" pitchFamily="49" charset="0"/>
              </a:rPr>
              <a:t>expect(add(1000000, 1)).toBe(1000001); </a:t>
            </a:r>
            <a:r>
              <a:rPr lang="en-SG" sz="1050">
                <a:solidFill>
                  <a:schemeClr val="accent5">
                    <a:lumMod val="75000"/>
                  </a:schemeClr>
                </a:solidFill>
                <a:latin typeface="Consolas" panose="020B0609020204030204" pitchFamily="49" charset="0"/>
              </a:rPr>
              <a:t>// large numbers</a:t>
            </a:r>
            <a:endParaRPr lang="en-GB" sz="1050">
              <a:solidFill>
                <a:schemeClr val="accent5">
                  <a:lumMod val="75000"/>
                </a:schemeClr>
              </a:solidFill>
              <a:latin typeface="Consolas" panose="020B0609020204030204" pitchFamily="49" charset="0"/>
            </a:endParaRPr>
          </a:p>
        </p:txBody>
      </p:sp>
    </p:spTree>
    <p:extLst>
      <p:ext uri="{BB962C8B-B14F-4D97-AF65-F5344CB8AC3E}">
        <p14:creationId xmlns:p14="http://schemas.microsoft.com/office/powerpoint/2010/main" val="19284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E8416C-E47B-9781-B1ED-F6174B92D2DA}"/>
              </a:ext>
            </a:extLst>
          </p:cNvPr>
          <p:cNvSpPr>
            <a:spLocks noGrp="1"/>
          </p:cNvSpPr>
          <p:nvPr>
            <p:ph type="title"/>
          </p:nvPr>
        </p:nvSpPr>
        <p:spPr>
          <a:xfrm>
            <a:off x="291821" y="110229"/>
            <a:ext cx="7241346" cy="507796"/>
          </a:xfrm>
        </p:spPr>
        <p:txBody>
          <a:bodyPr/>
          <a:lstStyle/>
          <a:p>
            <a:r>
              <a:rPr lang="en-US" sz="2400"/>
              <a:t>Example of Unit Testing (for a JavaScript Function)</a:t>
            </a:r>
            <a:endParaRPr lang="en-US" sz="2400" dirty="0"/>
          </a:p>
        </p:txBody>
      </p:sp>
      <p:sp>
        <p:nvSpPr>
          <p:cNvPr id="5" name="Text Placeholder 4">
            <a:extLst>
              <a:ext uri="{FF2B5EF4-FFF2-40B4-BE49-F238E27FC236}">
                <a16:creationId xmlns:a16="http://schemas.microsoft.com/office/drawing/2014/main" id="{223D1FCF-5C92-AB09-EEAB-64D97D7D08A1}"/>
              </a:ext>
            </a:extLst>
          </p:cNvPr>
          <p:cNvSpPr>
            <a:spLocks noGrp="1"/>
          </p:cNvSpPr>
          <p:nvPr>
            <p:ph type="body" idx="2"/>
          </p:nvPr>
        </p:nvSpPr>
        <p:spPr>
          <a:xfrm>
            <a:off x="3543319" y="743579"/>
            <a:ext cx="1874909" cy="468040"/>
          </a:xfrm>
        </p:spPr>
        <p:txBody>
          <a:bodyPr/>
          <a:lstStyle/>
          <a:p>
            <a:pPr marL="139700" indent="0">
              <a:buNone/>
            </a:pPr>
            <a:r>
              <a:rPr lang="en-US"/>
              <a:t>Test code:</a:t>
            </a:r>
            <a:endParaRPr lang="en-US" dirty="0"/>
          </a:p>
        </p:txBody>
      </p:sp>
      <p:sp>
        <p:nvSpPr>
          <p:cNvPr id="9" name="Text Placeholder 4">
            <a:extLst>
              <a:ext uri="{FF2B5EF4-FFF2-40B4-BE49-F238E27FC236}">
                <a16:creationId xmlns:a16="http://schemas.microsoft.com/office/drawing/2014/main" id="{6702A780-51BF-520B-4C61-A295367FFFA8}"/>
              </a:ext>
            </a:extLst>
          </p:cNvPr>
          <p:cNvSpPr txBox="1">
            <a:spLocks/>
          </p:cNvSpPr>
          <p:nvPr/>
        </p:nvSpPr>
        <p:spPr>
          <a:xfrm>
            <a:off x="272774" y="1107591"/>
            <a:ext cx="2714155" cy="507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139700" indent="0">
              <a:buFont typeface="Arial"/>
              <a:buNone/>
            </a:pPr>
            <a:r>
              <a:rPr lang="en-US"/>
              <a:t>Function to be tested:</a:t>
            </a:r>
            <a:endParaRPr lang="en-US" dirty="0"/>
          </a:p>
        </p:txBody>
      </p:sp>
      <p:sp>
        <p:nvSpPr>
          <p:cNvPr id="10" name="Text Placeholder 4">
            <a:extLst>
              <a:ext uri="{FF2B5EF4-FFF2-40B4-BE49-F238E27FC236}">
                <a16:creationId xmlns:a16="http://schemas.microsoft.com/office/drawing/2014/main" id="{E0C61F19-5538-7B54-F9F1-FDA7C1B6B9BC}"/>
              </a:ext>
            </a:extLst>
          </p:cNvPr>
          <p:cNvSpPr txBox="1">
            <a:spLocks/>
          </p:cNvSpPr>
          <p:nvPr/>
        </p:nvSpPr>
        <p:spPr>
          <a:xfrm>
            <a:off x="75254" y="3200401"/>
            <a:ext cx="3109197" cy="15253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139700" indent="0">
              <a:buFont typeface="Arial"/>
              <a:buNone/>
            </a:pPr>
            <a:r>
              <a:rPr lang="en-US" b="1"/>
              <a:t>Vitest </a:t>
            </a:r>
            <a:r>
              <a:rPr lang="en-US"/>
              <a:t>is a modern unit &amp; integration testing framework for JavaScript apps optimized for projects built with Vite (e.g. Vue3 apps). </a:t>
            </a:r>
            <a:endParaRPr lang="en-US" dirty="0"/>
          </a:p>
        </p:txBody>
      </p:sp>
      <p:pic>
        <p:nvPicPr>
          <p:cNvPr id="12" name="Picture 11">
            <a:extLst>
              <a:ext uri="{FF2B5EF4-FFF2-40B4-BE49-F238E27FC236}">
                <a16:creationId xmlns:a16="http://schemas.microsoft.com/office/drawing/2014/main" id="{C27616B0-7437-3F05-24C3-781C8E2E6EC8}"/>
              </a:ext>
            </a:extLst>
          </p:cNvPr>
          <p:cNvPicPr>
            <a:picLocks noChangeAspect="1"/>
          </p:cNvPicPr>
          <p:nvPr/>
        </p:nvPicPr>
        <p:blipFill>
          <a:blip r:embed="rId3"/>
          <a:srcRect t="7187"/>
          <a:stretch>
            <a:fillRect/>
          </a:stretch>
        </p:blipFill>
        <p:spPr>
          <a:xfrm>
            <a:off x="473056" y="1575793"/>
            <a:ext cx="2920611" cy="1076501"/>
          </a:xfrm>
          <a:prstGeom prst="rect">
            <a:avLst/>
          </a:prstGeom>
        </p:spPr>
      </p:pic>
      <p:pic>
        <p:nvPicPr>
          <p:cNvPr id="14" name="Picture 13">
            <a:extLst>
              <a:ext uri="{FF2B5EF4-FFF2-40B4-BE49-F238E27FC236}">
                <a16:creationId xmlns:a16="http://schemas.microsoft.com/office/drawing/2014/main" id="{E498DBF5-2B11-25D7-59BB-30C3D6ABA966}"/>
              </a:ext>
            </a:extLst>
          </p:cNvPr>
          <p:cNvPicPr>
            <a:picLocks noChangeAspect="1"/>
          </p:cNvPicPr>
          <p:nvPr/>
        </p:nvPicPr>
        <p:blipFill>
          <a:blip r:embed="rId4"/>
          <a:srcRect t="1743"/>
          <a:stretch>
            <a:fillRect/>
          </a:stretch>
        </p:blipFill>
        <p:spPr>
          <a:xfrm>
            <a:off x="3431243" y="1211619"/>
            <a:ext cx="5572553" cy="3625176"/>
          </a:xfrm>
          <a:prstGeom prst="rect">
            <a:avLst/>
          </a:prstGeom>
        </p:spPr>
      </p:pic>
    </p:spTree>
    <p:extLst>
      <p:ext uri="{BB962C8B-B14F-4D97-AF65-F5344CB8AC3E}">
        <p14:creationId xmlns:p14="http://schemas.microsoft.com/office/powerpoint/2010/main" val="2536286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11B53A-C0B8-D4B6-0574-A424F22055C4}"/>
              </a:ext>
            </a:extLst>
          </p:cNvPr>
          <p:cNvPicPr>
            <a:picLocks noChangeAspect="1"/>
          </p:cNvPicPr>
          <p:nvPr/>
        </p:nvPicPr>
        <p:blipFill>
          <a:blip r:embed="rId2"/>
          <a:srcRect t="21400" r="37910" b="49422"/>
          <a:stretch>
            <a:fillRect/>
          </a:stretch>
        </p:blipFill>
        <p:spPr>
          <a:xfrm>
            <a:off x="1545641" y="1206117"/>
            <a:ext cx="4685628" cy="1457858"/>
          </a:xfrm>
          <a:prstGeom prst="rect">
            <a:avLst/>
          </a:prstGeom>
        </p:spPr>
      </p:pic>
      <p:sp>
        <p:nvSpPr>
          <p:cNvPr id="5" name="Title 2">
            <a:extLst>
              <a:ext uri="{FF2B5EF4-FFF2-40B4-BE49-F238E27FC236}">
                <a16:creationId xmlns:a16="http://schemas.microsoft.com/office/drawing/2014/main" id="{B7601B46-5AB4-AAFF-E155-EEA62285BB24}"/>
              </a:ext>
            </a:extLst>
          </p:cNvPr>
          <p:cNvSpPr txBox="1">
            <a:spLocks/>
          </p:cNvSpPr>
          <p:nvPr/>
        </p:nvSpPr>
        <p:spPr>
          <a:xfrm>
            <a:off x="291820" y="110229"/>
            <a:ext cx="8191317" cy="5077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r>
              <a:rPr lang="en-US" sz="2400"/>
              <a:t>Example of Unit Testing (for a JavaScript Function) (2)</a:t>
            </a:r>
            <a:endParaRPr lang="en-US" sz="2400" dirty="0"/>
          </a:p>
        </p:txBody>
      </p:sp>
      <p:sp>
        <p:nvSpPr>
          <p:cNvPr id="6" name="Rectangle 5">
            <a:extLst>
              <a:ext uri="{FF2B5EF4-FFF2-40B4-BE49-F238E27FC236}">
                <a16:creationId xmlns:a16="http://schemas.microsoft.com/office/drawing/2014/main" id="{67B61A7A-6F7D-7FE3-7BE9-1E7E5612EB38}"/>
              </a:ext>
            </a:extLst>
          </p:cNvPr>
          <p:cNvSpPr/>
          <p:nvPr/>
        </p:nvSpPr>
        <p:spPr>
          <a:xfrm>
            <a:off x="1992284" y="1321724"/>
            <a:ext cx="723207" cy="199505"/>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Connector 7">
            <a:extLst>
              <a:ext uri="{FF2B5EF4-FFF2-40B4-BE49-F238E27FC236}">
                <a16:creationId xmlns:a16="http://schemas.microsoft.com/office/drawing/2014/main" id="{30F4EFEA-F84B-1516-EC32-1D894B99410F}"/>
              </a:ext>
            </a:extLst>
          </p:cNvPr>
          <p:cNvCxnSpPr>
            <a:cxnSpLocks/>
            <a:stCxn id="6" idx="3"/>
            <a:endCxn id="9" idx="1"/>
          </p:cNvCxnSpPr>
          <p:nvPr/>
        </p:nvCxnSpPr>
        <p:spPr>
          <a:xfrm flipV="1">
            <a:off x="2715491" y="1064809"/>
            <a:ext cx="2285260" cy="356668"/>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10873FE-7F51-C6C4-6D8B-6EFEC140CD57}"/>
              </a:ext>
            </a:extLst>
          </p:cNvPr>
          <p:cNvSpPr txBox="1"/>
          <p:nvPr/>
        </p:nvSpPr>
        <p:spPr>
          <a:xfrm>
            <a:off x="5000751" y="776268"/>
            <a:ext cx="3354322" cy="577081"/>
          </a:xfrm>
          <a:prstGeom prst="rect">
            <a:avLst/>
          </a:prstGeom>
          <a:noFill/>
        </p:spPr>
        <p:txBody>
          <a:bodyPr wrap="square" rtlCol="0">
            <a:spAutoFit/>
          </a:bodyPr>
          <a:lstStyle/>
          <a:p>
            <a:pPr marL="139700" indent="0" algn="l">
              <a:buNone/>
            </a:pPr>
            <a:r>
              <a:rPr lang="en-US" sz="1050" b="1"/>
              <a:t>describe()</a:t>
            </a:r>
            <a:r>
              <a:rPr lang="en-US" sz="1050"/>
              <a:t> defines a test suite (a group of related test cases). In this case, the name of the test suite is "TestSuite1: add")</a:t>
            </a:r>
            <a:endParaRPr lang="en-SG" sz="1050"/>
          </a:p>
        </p:txBody>
      </p:sp>
      <p:sp>
        <p:nvSpPr>
          <p:cNvPr id="10" name="Rectangle 9">
            <a:extLst>
              <a:ext uri="{FF2B5EF4-FFF2-40B4-BE49-F238E27FC236}">
                <a16:creationId xmlns:a16="http://schemas.microsoft.com/office/drawing/2014/main" id="{BDD139DA-4AAF-30D4-C224-C1C4764B59A0}"/>
              </a:ext>
            </a:extLst>
          </p:cNvPr>
          <p:cNvSpPr/>
          <p:nvPr/>
        </p:nvSpPr>
        <p:spPr>
          <a:xfrm>
            <a:off x="2103122" y="1554472"/>
            <a:ext cx="321426" cy="164727"/>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 name="Straight Connector 10">
            <a:extLst>
              <a:ext uri="{FF2B5EF4-FFF2-40B4-BE49-F238E27FC236}">
                <a16:creationId xmlns:a16="http://schemas.microsoft.com/office/drawing/2014/main" id="{277D5187-4567-AF9E-5D31-F4C7DDF4B9A8}"/>
              </a:ext>
            </a:extLst>
          </p:cNvPr>
          <p:cNvCxnSpPr>
            <a:cxnSpLocks/>
          </p:cNvCxnSpPr>
          <p:nvPr/>
        </p:nvCxnSpPr>
        <p:spPr>
          <a:xfrm flipH="1">
            <a:off x="1545641" y="1632556"/>
            <a:ext cx="557481" cy="1222866"/>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B97BD00-4D16-9CE7-C30C-AC2B3F3AEBF5}"/>
              </a:ext>
            </a:extLst>
          </p:cNvPr>
          <p:cNvSpPr txBox="1"/>
          <p:nvPr/>
        </p:nvSpPr>
        <p:spPr>
          <a:xfrm>
            <a:off x="77333" y="2895050"/>
            <a:ext cx="3449782" cy="1223412"/>
          </a:xfrm>
          <a:prstGeom prst="rect">
            <a:avLst/>
          </a:prstGeom>
          <a:noFill/>
        </p:spPr>
        <p:txBody>
          <a:bodyPr wrap="square" rtlCol="0">
            <a:spAutoFit/>
          </a:bodyPr>
          <a:lstStyle/>
          <a:p>
            <a:pPr marL="139700" indent="0" algn="l">
              <a:buNone/>
            </a:pPr>
            <a:r>
              <a:rPr lang="en-US" sz="1050" b="1"/>
              <a:t>it(…) </a:t>
            </a:r>
            <a:r>
              <a:rPr lang="en-US" sz="1050"/>
              <a:t>defines an individual test case. </a:t>
            </a:r>
          </a:p>
          <a:p>
            <a:pPr marL="139700" indent="0" algn="l">
              <a:buNone/>
            </a:pPr>
            <a:r>
              <a:rPr lang="en-US" sz="1050"/>
              <a:t>The test case name here is "Test1: adds two…".</a:t>
            </a:r>
          </a:p>
          <a:p>
            <a:pPr marL="139700" indent="0" algn="l">
              <a:buNone/>
            </a:pPr>
            <a:endParaRPr lang="en-US" sz="1050"/>
          </a:p>
          <a:p>
            <a:pPr marL="139700" indent="0" algn="l">
              <a:buNone/>
            </a:pPr>
            <a:r>
              <a:rPr lang="en-US" sz="1050"/>
              <a:t>You can either use </a:t>
            </a:r>
            <a:r>
              <a:rPr lang="en-US" sz="1050" b="1"/>
              <a:t>it() </a:t>
            </a:r>
            <a:r>
              <a:rPr lang="en-US" sz="1050"/>
              <a:t>or </a:t>
            </a:r>
            <a:r>
              <a:rPr lang="en-US" sz="1050" b="1"/>
              <a:t>test()</a:t>
            </a:r>
            <a:r>
              <a:rPr lang="en-US" sz="1050"/>
              <a:t>, they are identical &amp; can be used interchangeably. </a:t>
            </a:r>
          </a:p>
          <a:p>
            <a:pPr marL="139700" indent="0" algn="l">
              <a:buNone/>
            </a:pPr>
            <a:r>
              <a:rPr lang="en-US" sz="1050"/>
              <a:t>Note: please stick to either it() or test() in your script for consistency</a:t>
            </a:r>
            <a:endParaRPr lang="en-SG" sz="1050"/>
          </a:p>
        </p:txBody>
      </p:sp>
      <p:sp>
        <p:nvSpPr>
          <p:cNvPr id="21" name="Rectangle 20">
            <a:extLst>
              <a:ext uri="{FF2B5EF4-FFF2-40B4-BE49-F238E27FC236}">
                <a16:creationId xmlns:a16="http://schemas.microsoft.com/office/drawing/2014/main" id="{962AA7A5-DAA4-4DBC-64AC-FE418DE01BBB}"/>
              </a:ext>
            </a:extLst>
          </p:cNvPr>
          <p:cNvSpPr/>
          <p:nvPr/>
        </p:nvSpPr>
        <p:spPr>
          <a:xfrm>
            <a:off x="2263834" y="1770319"/>
            <a:ext cx="568035" cy="164727"/>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2" name="Straight Connector 21">
            <a:extLst>
              <a:ext uri="{FF2B5EF4-FFF2-40B4-BE49-F238E27FC236}">
                <a16:creationId xmlns:a16="http://schemas.microsoft.com/office/drawing/2014/main" id="{80DAD6FB-2C90-3BCB-35A3-1B945C7BB15C}"/>
              </a:ext>
            </a:extLst>
          </p:cNvPr>
          <p:cNvCxnSpPr>
            <a:cxnSpLocks/>
            <a:stCxn id="21" idx="2"/>
            <a:endCxn id="23" idx="1"/>
          </p:cNvCxnSpPr>
          <p:nvPr/>
        </p:nvCxnSpPr>
        <p:spPr>
          <a:xfrm>
            <a:off x="2547852" y="1935046"/>
            <a:ext cx="2679211" cy="998160"/>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1024F71-1C67-2371-1F28-C82233EE1DC0}"/>
              </a:ext>
            </a:extLst>
          </p:cNvPr>
          <p:cNvSpPr txBox="1"/>
          <p:nvPr/>
        </p:nvSpPr>
        <p:spPr>
          <a:xfrm>
            <a:off x="5227063" y="2240708"/>
            <a:ext cx="3449782" cy="1384995"/>
          </a:xfrm>
          <a:prstGeom prst="rect">
            <a:avLst/>
          </a:prstGeom>
          <a:noFill/>
        </p:spPr>
        <p:txBody>
          <a:bodyPr wrap="square" rtlCol="0">
            <a:spAutoFit/>
          </a:bodyPr>
          <a:lstStyle/>
          <a:p>
            <a:pPr marL="139700" indent="0" algn="l">
              <a:buNone/>
            </a:pPr>
            <a:r>
              <a:rPr lang="en-US" sz="1050" b="1" dirty="0"/>
              <a:t>expect(…) </a:t>
            </a:r>
            <a:r>
              <a:rPr lang="en-US" sz="1050" dirty="0"/>
              <a:t>creates an expectation: it specifies the actual result that you want to check. </a:t>
            </a:r>
          </a:p>
          <a:p>
            <a:pPr marL="139700" indent="0" algn="l">
              <a:buNone/>
            </a:pPr>
            <a:r>
              <a:rPr lang="en-US" sz="1050" dirty="0"/>
              <a:t>So expect(add(2,3)) takes the actual result returned by add(2,3), which should be 5. </a:t>
            </a:r>
          </a:p>
          <a:p>
            <a:pPr marL="139700" indent="0" algn="l">
              <a:buNone/>
            </a:pPr>
            <a:endParaRPr lang="en-US" sz="1050" dirty="0"/>
          </a:p>
          <a:p>
            <a:pPr marL="139700" indent="0" algn="l">
              <a:buNone/>
            </a:pPr>
            <a:r>
              <a:rPr lang="en-US" sz="1050" dirty="0"/>
              <a:t>This statement: </a:t>
            </a:r>
          </a:p>
          <a:p>
            <a:pPr marL="139700" indent="0" algn="l">
              <a:buNone/>
            </a:pPr>
            <a:r>
              <a:rPr lang="en-US" sz="1050" dirty="0"/>
              <a:t>    expect(add(2,3)).</a:t>
            </a:r>
            <a:r>
              <a:rPr lang="en-US" sz="1050" dirty="0" err="1"/>
              <a:t>toBe</a:t>
            </a:r>
            <a:r>
              <a:rPr lang="en-US" sz="1050" dirty="0"/>
              <a:t>(5);</a:t>
            </a:r>
          </a:p>
          <a:p>
            <a:pPr marL="139700" indent="0" algn="l">
              <a:buNone/>
            </a:pPr>
            <a:r>
              <a:rPr lang="en-US" sz="1050" dirty="0"/>
              <a:t>Is an assertion</a:t>
            </a:r>
            <a:endParaRPr lang="en-SG" sz="1050" dirty="0"/>
          </a:p>
        </p:txBody>
      </p:sp>
      <p:sp>
        <p:nvSpPr>
          <p:cNvPr id="30" name="Rectangle 29">
            <a:extLst>
              <a:ext uri="{FF2B5EF4-FFF2-40B4-BE49-F238E27FC236}">
                <a16:creationId xmlns:a16="http://schemas.microsoft.com/office/drawing/2014/main" id="{6B737D0C-1D0E-E4DB-8F8B-911045A60A7F}"/>
              </a:ext>
            </a:extLst>
          </p:cNvPr>
          <p:cNvSpPr/>
          <p:nvPr/>
        </p:nvSpPr>
        <p:spPr>
          <a:xfrm>
            <a:off x="3786447" y="1754611"/>
            <a:ext cx="321426" cy="164727"/>
          </a:xfrm>
          <a:prstGeom prst="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31" name="Straight Connector 30">
            <a:extLst>
              <a:ext uri="{FF2B5EF4-FFF2-40B4-BE49-F238E27FC236}">
                <a16:creationId xmlns:a16="http://schemas.microsoft.com/office/drawing/2014/main" id="{994556F4-1269-6DA9-D2C0-96EBCF97D2EB}"/>
              </a:ext>
            </a:extLst>
          </p:cNvPr>
          <p:cNvCxnSpPr>
            <a:cxnSpLocks/>
            <a:stCxn id="30" idx="3"/>
            <a:endCxn id="32" idx="1"/>
          </p:cNvCxnSpPr>
          <p:nvPr/>
        </p:nvCxnSpPr>
        <p:spPr>
          <a:xfrm flipV="1">
            <a:off x="4107873" y="1836974"/>
            <a:ext cx="1982583" cy="1"/>
          </a:xfrm>
          <a:prstGeom prst="line">
            <a:avLst/>
          </a:prstGeom>
          <a:ln w="15875">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2644D03-D3A2-E8D7-332E-A3872109CA07}"/>
              </a:ext>
            </a:extLst>
          </p:cNvPr>
          <p:cNvSpPr txBox="1"/>
          <p:nvPr/>
        </p:nvSpPr>
        <p:spPr>
          <a:xfrm>
            <a:off x="6090456" y="1548433"/>
            <a:ext cx="2392681" cy="577081"/>
          </a:xfrm>
          <a:prstGeom prst="rect">
            <a:avLst/>
          </a:prstGeom>
          <a:noFill/>
        </p:spPr>
        <p:txBody>
          <a:bodyPr wrap="square" rtlCol="0">
            <a:spAutoFit/>
          </a:bodyPr>
          <a:lstStyle/>
          <a:p>
            <a:pPr marL="139700" indent="0" algn="l">
              <a:buNone/>
            </a:pPr>
            <a:r>
              <a:rPr lang="en-US" sz="1050" b="1"/>
              <a:t>.toBe(…)</a:t>
            </a:r>
            <a:r>
              <a:rPr lang="en-US" sz="1050"/>
              <a:t> is a matcher that checks whether the actual result is exactly equal to 5.</a:t>
            </a:r>
            <a:endParaRPr lang="en-SG" sz="1050"/>
          </a:p>
        </p:txBody>
      </p:sp>
      <p:sp>
        <p:nvSpPr>
          <p:cNvPr id="40" name="TextBox 39">
            <a:extLst>
              <a:ext uri="{FF2B5EF4-FFF2-40B4-BE49-F238E27FC236}">
                <a16:creationId xmlns:a16="http://schemas.microsoft.com/office/drawing/2014/main" id="{5CD4CE7C-E575-2203-3274-18276943332A}"/>
              </a:ext>
            </a:extLst>
          </p:cNvPr>
          <p:cNvSpPr txBox="1"/>
          <p:nvPr/>
        </p:nvSpPr>
        <p:spPr>
          <a:xfrm>
            <a:off x="4063710" y="3863720"/>
            <a:ext cx="4291363" cy="1169551"/>
          </a:xfrm>
          <a:prstGeom prst="rect">
            <a:avLst/>
          </a:prstGeom>
          <a:noFill/>
        </p:spPr>
        <p:txBody>
          <a:bodyPr wrap="square" rtlCol="0">
            <a:spAutoFit/>
          </a:bodyPr>
          <a:lstStyle/>
          <a:p>
            <a:pPr marL="139700" indent="0" algn="l">
              <a:buNone/>
            </a:pPr>
            <a:r>
              <a:rPr lang="en-US"/>
              <a:t>In plain English:</a:t>
            </a:r>
          </a:p>
          <a:p>
            <a:pPr marL="139700" indent="0" algn="l">
              <a:buNone/>
            </a:pPr>
            <a:r>
              <a:rPr lang="en-US" i="1">
                <a:latin typeface="Times New Roman" panose="02020603050405020304" pitchFamily="18" charset="0"/>
                <a:cs typeface="Times New Roman" panose="02020603050405020304" pitchFamily="18" charset="0"/>
              </a:rPr>
              <a:t>In the test suite for the add function, verify that:</a:t>
            </a:r>
          </a:p>
          <a:p>
            <a:pPr marL="425450" indent="-285750" algn="l">
              <a:buFont typeface="Arial" panose="020B0604020202020204" pitchFamily="34" charset="0"/>
              <a:buChar char="•"/>
            </a:pPr>
            <a:r>
              <a:rPr lang="en-US" i="1">
                <a:latin typeface="Times New Roman" panose="02020603050405020304" pitchFamily="18" charset="0"/>
                <a:cs typeface="Times New Roman" panose="02020603050405020304" pitchFamily="18" charset="0"/>
              </a:rPr>
              <a:t>adding 2 &amp; 3 produces 5,</a:t>
            </a:r>
          </a:p>
          <a:p>
            <a:pPr marL="425450" indent="-285750" algn="l">
              <a:buFont typeface="Arial" panose="020B0604020202020204" pitchFamily="34" charset="0"/>
              <a:buChar char="•"/>
            </a:pPr>
            <a:r>
              <a:rPr lang="en-US" i="1">
                <a:latin typeface="Times New Roman" panose="02020603050405020304" pitchFamily="18" charset="0"/>
                <a:cs typeface="Times New Roman" panose="02020603050405020304" pitchFamily="18" charset="0"/>
              </a:rPr>
              <a:t>adding 1 &amp; 3 produces 4</a:t>
            </a:r>
          </a:p>
          <a:p>
            <a:pPr marL="425450" indent="-285750" algn="l">
              <a:buFont typeface="Arial" panose="020B0604020202020204" pitchFamily="34" charset="0"/>
              <a:buChar char="•"/>
            </a:pPr>
            <a:r>
              <a:rPr lang="en-US" i="1">
                <a:latin typeface="Times New Roman" panose="02020603050405020304" pitchFamily="18" charset="0"/>
                <a:cs typeface="Times New Roman" panose="02020603050405020304" pitchFamily="18" charset="0"/>
              </a:rPr>
              <a:t>adding 999 &amp; 999 produces 1998.</a:t>
            </a:r>
            <a:endParaRPr lang="en-SG"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0748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E50C-F0CD-234A-A4D8-32A3BB19A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CE689-DA12-A39B-4E3C-10DB5729F187}"/>
              </a:ext>
            </a:extLst>
          </p:cNvPr>
          <p:cNvSpPr>
            <a:spLocks noGrp="1"/>
          </p:cNvSpPr>
          <p:nvPr>
            <p:ph type="title"/>
          </p:nvPr>
        </p:nvSpPr>
        <p:spPr>
          <a:xfrm>
            <a:off x="150766" y="67208"/>
            <a:ext cx="8520600" cy="630901"/>
          </a:xfrm>
        </p:spPr>
        <p:txBody>
          <a:bodyPr/>
          <a:lstStyle/>
          <a:p>
            <a:r>
              <a:rPr lang="en-US" sz="3200"/>
              <a:t>Matchers</a:t>
            </a:r>
            <a:endParaRPr lang="en-US"/>
          </a:p>
        </p:txBody>
      </p:sp>
      <p:sp>
        <p:nvSpPr>
          <p:cNvPr id="3" name="Text Placeholder 2">
            <a:extLst>
              <a:ext uri="{FF2B5EF4-FFF2-40B4-BE49-F238E27FC236}">
                <a16:creationId xmlns:a16="http://schemas.microsoft.com/office/drawing/2014/main" id="{40E2A210-FDB2-BE71-6005-25E014D11EF6}"/>
              </a:ext>
            </a:extLst>
          </p:cNvPr>
          <p:cNvSpPr>
            <a:spLocks noGrp="1"/>
          </p:cNvSpPr>
          <p:nvPr>
            <p:ph type="body" idx="1"/>
          </p:nvPr>
        </p:nvSpPr>
        <p:spPr>
          <a:xfrm>
            <a:off x="663827" y="842916"/>
            <a:ext cx="7816345" cy="590452"/>
          </a:xfrm>
        </p:spPr>
        <p:txBody>
          <a:bodyPr/>
          <a:lstStyle/>
          <a:p>
            <a:pPr marL="139700" indent="0">
              <a:buNone/>
            </a:pPr>
            <a:r>
              <a:rPr lang="en-SG" sz="1200" dirty="0"/>
              <a:t>There are other matchers besides </a:t>
            </a:r>
            <a:r>
              <a:rPr lang="en-SG" sz="1200" b="1" dirty="0" err="1"/>
              <a:t>toBe</a:t>
            </a:r>
            <a:r>
              <a:rPr lang="en-SG" sz="1200" b="1" dirty="0"/>
              <a:t>()</a:t>
            </a:r>
            <a:r>
              <a:rPr lang="en-SG" sz="1200" dirty="0"/>
              <a:t>:</a:t>
            </a:r>
            <a:endParaRPr lang="en-US" dirty="0"/>
          </a:p>
          <a:p>
            <a:pPr marL="139700" indent="0">
              <a:lnSpc>
                <a:spcPct val="114999"/>
              </a:lnSpc>
              <a:buNone/>
            </a:pPr>
            <a:br>
              <a:rPr lang="en-SG" sz="1200" dirty="0"/>
            </a:br>
            <a:br>
              <a:rPr lang="en-SG" sz="1200" dirty="0"/>
            </a:br>
            <a:endParaRPr lang="en-SG" sz="1200" dirty="0"/>
          </a:p>
        </p:txBody>
      </p:sp>
      <p:graphicFrame>
        <p:nvGraphicFramePr>
          <p:cNvPr id="4" name="Table 3">
            <a:extLst>
              <a:ext uri="{FF2B5EF4-FFF2-40B4-BE49-F238E27FC236}">
                <a16:creationId xmlns:a16="http://schemas.microsoft.com/office/drawing/2014/main" id="{F5699F1B-DF56-E9B4-4097-1E9AF84563BB}"/>
              </a:ext>
            </a:extLst>
          </p:cNvPr>
          <p:cNvGraphicFramePr>
            <a:graphicFrameLocks noGrp="1"/>
          </p:cNvGraphicFramePr>
          <p:nvPr>
            <p:extLst>
              <p:ext uri="{D42A27DB-BD31-4B8C-83A1-F6EECF244321}">
                <p14:modId xmlns:p14="http://schemas.microsoft.com/office/powerpoint/2010/main" val="2562188243"/>
              </p:ext>
            </p:extLst>
          </p:nvPr>
        </p:nvGraphicFramePr>
        <p:xfrm>
          <a:off x="1063981" y="1903476"/>
          <a:ext cx="6694170" cy="1854200"/>
        </p:xfrm>
        <a:graphic>
          <a:graphicData uri="http://schemas.openxmlformats.org/drawingml/2006/table">
            <a:tbl>
              <a:tblPr firstRow="1" bandRow="1">
                <a:tableStyleId>{775D735A-9BCC-4A0A-8336-7D16119737FB}</a:tableStyleId>
              </a:tblPr>
              <a:tblGrid>
                <a:gridCol w="2369820">
                  <a:extLst>
                    <a:ext uri="{9D8B030D-6E8A-4147-A177-3AD203B41FA5}">
                      <a16:colId xmlns:a16="http://schemas.microsoft.com/office/drawing/2014/main" val="1283711622"/>
                    </a:ext>
                  </a:extLst>
                </a:gridCol>
                <a:gridCol w="4324350">
                  <a:extLst>
                    <a:ext uri="{9D8B030D-6E8A-4147-A177-3AD203B41FA5}">
                      <a16:colId xmlns:a16="http://schemas.microsoft.com/office/drawing/2014/main" val="862811742"/>
                    </a:ext>
                  </a:extLst>
                </a:gridCol>
              </a:tblGrid>
              <a:tr h="370840">
                <a:tc>
                  <a:txBody>
                    <a:bodyPr/>
                    <a:lstStyle/>
                    <a:p>
                      <a:pPr indent="0" algn="l">
                        <a:buNone/>
                      </a:pPr>
                      <a:r>
                        <a:rPr lang="en-SG" sz="1200" b="1" i="0" dirty="0">
                          <a:solidFill>
                            <a:srgbClr val="24292F"/>
                          </a:solidFill>
                          <a:effectLst/>
                          <a:latin typeface="+mn-lt"/>
                        </a:rPr>
                        <a:t>Matcher</a:t>
                      </a:r>
                    </a:p>
                  </a:txBody>
                  <a:tcPr marL="123825" marR="123825" marT="57150" marB="57150" anchor="ctr"/>
                </a:tc>
                <a:tc>
                  <a:txBody>
                    <a:bodyPr/>
                    <a:lstStyle/>
                    <a:p>
                      <a:pPr indent="0" algn="l">
                        <a:buNone/>
                      </a:pPr>
                      <a:r>
                        <a:rPr lang="en-SG" sz="1200" b="1" i="0" dirty="0">
                          <a:solidFill>
                            <a:srgbClr val="24292F"/>
                          </a:solidFill>
                          <a:effectLst/>
                          <a:latin typeface="+mn-lt"/>
                        </a:rPr>
                        <a:t>What it checks</a:t>
                      </a:r>
                    </a:p>
                  </a:txBody>
                  <a:tcPr marL="123825" marR="123825" marT="57150" marB="57150" anchor="ctr"/>
                </a:tc>
                <a:extLst>
                  <a:ext uri="{0D108BD9-81ED-4DB2-BD59-A6C34878D82A}">
                    <a16:rowId xmlns:a16="http://schemas.microsoft.com/office/drawing/2014/main" val="3953996436"/>
                  </a:ext>
                </a:extLst>
              </a:tr>
              <a:tr h="370840">
                <a:tc>
                  <a:txBody>
                    <a:bodyPr/>
                    <a:lstStyle/>
                    <a:p>
                      <a:pPr indent="0" algn="l">
                        <a:buNone/>
                      </a:pPr>
                      <a:r>
                        <a:rPr lang="en-SG" sz="1200" b="0" i="0" dirty="0" err="1">
                          <a:solidFill>
                            <a:srgbClr val="24292F"/>
                          </a:solidFill>
                          <a:effectLst/>
                          <a:latin typeface="+mn-lt"/>
                        </a:rPr>
                        <a:t>toEqual</a:t>
                      </a:r>
                      <a:r>
                        <a:rPr lang="en-SG" sz="1200" b="0" i="0" dirty="0">
                          <a:solidFill>
                            <a:srgbClr val="24292F"/>
                          </a:solidFill>
                          <a:effectLst/>
                          <a:latin typeface="+mn-lt"/>
                        </a:rPr>
                        <a:t>()</a:t>
                      </a:r>
                    </a:p>
                  </a:txBody>
                  <a:tcPr marL="123825" marR="123825" marT="57150" marB="57150" anchor="ctr"/>
                </a:tc>
                <a:tc>
                  <a:txBody>
                    <a:bodyPr/>
                    <a:lstStyle/>
                    <a:p>
                      <a:pPr indent="0" algn="l">
                        <a:buNone/>
                      </a:pPr>
                      <a:r>
                        <a:rPr lang="en-SG" sz="1200" b="0" i="0" dirty="0">
                          <a:solidFill>
                            <a:srgbClr val="24292F"/>
                          </a:solidFill>
                          <a:effectLst/>
                          <a:latin typeface="+mn-lt"/>
                        </a:rPr>
                        <a:t>Deep equality of objects/arrays (contents, not identity)</a:t>
                      </a:r>
                    </a:p>
                  </a:txBody>
                  <a:tcPr marL="123825" marR="123825" marT="57150" marB="57150" anchor="ctr"/>
                </a:tc>
                <a:extLst>
                  <a:ext uri="{0D108BD9-81ED-4DB2-BD59-A6C34878D82A}">
                    <a16:rowId xmlns:a16="http://schemas.microsoft.com/office/drawing/2014/main" val="3053471529"/>
                  </a:ext>
                </a:extLst>
              </a:tr>
              <a:tr h="370840">
                <a:tc>
                  <a:txBody>
                    <a:bodyPr/>
                    <a:lstStyle/>
                    <a:p>
                      <a:pPr indent="0" algn="l">
                        <a:buNone/>
                      </a:pPr>
                      <a:r>
                        <a:rPr lang="en-SG" sz="1200" b="0" i="0" dirty="0" err="1">
                          <a:solidFill>
                            <a:srgbClr val="24292F"/>
                          </a:solidFill>
                          <a:effectLst/>
                          <a:latin typeface="+mn-lt"/>
                        </a:rPr>
                        <a:t>toBeTruthy</a:t>
                      </a:r>
                      <a:r>
                        <a:rPr lang="en-SG" sz="1200" b="0" i="0" dirty="0">
                          <a:solidFill>
                            <a:srgbClr val="24292F"/>
                          </a:solidFill>
                          <a:effectLst/>
                          <a:latin typeface="+mn-lt"/>
                        </a:rPr>
                        <a:t>() / </a:t>
                      </a:r>
                      <a:r>
                        <a:rPr lang="en-SG" sz="1200" b="0" i="0" dirty="0" err="1">
                          <a:solidFill>
                            <a:srgbClr val="24292F"/>
                          </a:solidFill>
                          <a:effectLst/>
                          <a:latin typeface="+mn-lt"/>
                        </a:rPr>
                        <a:t>toBeFalsy</a:t>
                      </a:r>
                      <a:r>
                        <a:rPr lang="en-SG" sz="1200" b="0" i="0" dirty="0">
                          <a:solidFill>
                            <a:srgbClr val="24292F"/>
                          </a:solidFill>
                          <a:effectLst/>
                          <a:latin typeface="+mn-lt"/>
                        </a:rPr>
                        <a:t>()</a:t>
                      </a:r>
                    </a:p>
                  </a:txBody>
                  <a:tcPr marL="123825" marR="123825" marT="57150" marB="57150" anchor="ctr"/>
                </a:tc>
                <a:tc>
                  <a:txBody>
                    <a:bodyPr/>
                    <a:lstStyle/>
                    <a:p>
                      <a:pPr indent="0" algn="l">
                        <a:buNone/>
                      </a:pPr>
                      <a:r>
                        <a:rPr lang="en-SG" sz="1200" b="0" i="0" dirty="0">
                          <a:solidFill>
                            <a:srgbClr val="24292F"/>
                          </a:solidFill>
                          <a:effectLst/>
                          <a:latin typeface="+mn-lt"/>
                        </a:rPr>
                        <a:t>Whether a value evaluates to true/false in a </a:t>
                      </a:r>
                      <a:r>
                        <a:rPr lang="en-SG" sz="1200" b="0" i="0" dirty="0" err="1">
                          <a:solidFill>
                            <a:srgbClr val="24292F"/>
                          </a:solidFill>
                          <a:effectLst/>
                          <a:latin typeface="+mn-lt"/>
                        </a:rPr>
                        <a:t>boolean</a:t>
                      </a:r>
                      <a:r>
                        <a:rPr lang="en-SG" sz="1200" b="0" i="0" dirty="0">
                          <a:solidFill>
                            <a:srgbClr val="24292F"/>
                          </a:solidFill>
                          <a:effectLst/>
                          <a:latin typeface="+mn-lt"/>
                        </a:rPr>
                        <a:t> context</a:t>
                      </a:r>
                    </a:p>
                  </a:txBody>
                  <a:tcPr marL="123825" marR="123825" marT="57150" marB="57150" anchor="ctr"/>
                </a:tc>
                <a:extLst>
                  <a:ext uri="{0D108BD9-81ED-4DB2-BD59-A6C34878D82A}">
                    <a16:rowId xmlns:a16="http://schemas.microsoft.com/office/drawing/2014/main" val="2048265291"/>
                  </a:ext>
                </a:extLst>
              </a:tr>
              <a:tr h="370840">
                <a:tc>
                  <a:txBody>
                    <a:bodyPr/>
                    <a:lstStyle/>
                    <a:p>
                      <a:pPr indent="0" algn="l">
                        <a:buNone/>
                      </a:pPr>
                      <a:r>
                        <a:rPr lang="en-SG" sz="1200" b="0" i="0" dirty="0" err="1">
                          <a:solidFill>
                            <a:srgbClr val="24292F"/>
                          </a:solidFill>
                          <a:effectLst/>
                          <a:latin typeface="+mn-lt"/>
                        </a:rPr>
                        <a:t>toHaveLength</a:t>
                      </a:r>
                      <a:r>
                        <a:rPr lang="en-SG" sz="1200" b="0" i="0" dirty="0">
                          <a:solidFill>
                            <a:srgbClr val="24292F"/>
                          </a:solidFill>
                          <a:effectLst/>
                          <a:latin typeface="+mn-lt"/>
                        </a:rPr>
                        <a:t>()</a:t>
                      </a:r>
                    </a:p>
                  </a:txBody>
                  <a:tcPr marL="123825" marR="123825" marT="57150" marB="57150" anchor="ctr"/>
                </a:tc>
                <a:tc>
                  <a:txBody>
                    <a:bodyPr/>
                    <a:lstStyle/>
                    <a:p>
                      <a:pPr indent="0" algn="l">
                        <a:buNone/>
                      </a:pPr>
                      <a:r>
                        <a:rPr lang="en-SG" sz="1200" b="0" i="0" dirty="0">
                          <a:solidFill>
                            <a:srgbClr val="24292F"/>
                          </a:solidFill>
                          <a:effectLst/>
                          <a:latin typeface="+mn-lt"/>
                        </a:rPr>
                        <a:t>The .length of a string or array</a:t>
                      </a:r>
                    </a:p>
                  </a:txBody>
                  <a:tcPr marL="123825" marR="123825" marT="57150" marB="57150" anchor="ctr"/>
                </a:tc>
                <a:extLst>
                  <a:ext uri="{0D108BD9-81ED-4DB2-BD59-A6C34878D82A}">
                    <a16:rowId xmlns:a16="http://schemas.microsoft.com/office/drawing/2014/main" val="1312127347"/>
                  </a:ext>
                </a:extLst>
              </a:tr>
              <a:tr h="370840">
                <a:tc>
                  <a:txBody>
                    <a:bodyPr/>
                    <a:lstStyle/>
                    <a:p>
                      <a:pPr indent="0" algn="l">
                        <a:buNone/>
                      </a:pPr>
                      <a:r>
                        <a:rPr lang="en-SG" sz="1200" b="0" i="0" dirty="0" err="1">
                          <a:solidFill>
                            <a:srgbClr val="24292F"/>
                          </a:solidFill>
                          <a:effectLst/>
                          <a:latin typeface="+mn-lt"/>
                        </a:rPr>
                        <a:t>toContain</a:t>
                      </a:r>
                      <a:r>
                        <a:rPr lang="en-SG" sz="1200" b="0" i="0" dirty="0">
                          <a:solidFill>
                            <a:srgbClr val="24292F"/>
                          </a:solidFill>
                          <a:effectLst/>
                          <a:latin typeface="+mn-lt"/>
                        </a:rPr>
                        <a:t>()</a:t>
                      </a:r>
                    </a:p>
                  </a:txBody>
                  <a:tcPr marL="123825" marR="123825" marT="57150" marB="57150" anchor="ctr"/>
                </a:tc>
                <a:tc>
                  <a:txBody>
                    <a:bodyPr/>
                    <a:lstStyle/>
                    <a:p>
                      <a:pPr indent="0" algn="l">
                        <a:buNone/>
                      </a:pPr>
                      <a:r>
                        <a:rPr lang="en-SG" sz="1200" b="0" i="0" dirty="0">
                          <a:solidFill>
                            <a:srgbClr val="24292F"/>
                          </a:solidFill>
                          <a:effectLst/>
                          <a:latin typeface="+mn-lt"/>
                        </a:rPr>
                        <a:t>Whether an array/string contains an item/substring</a:t>
                      </a:r>
                    </a:p>
                  </a:txBody>
                  <a:tcPr marL="123825" marR="123825" marT="57150" marB="57150" anchor="ctr"/>
                </a:tc>
                <a:extLst>
                  <a:ext uri="{0D108BD9-81ED-4DB2-BD59-A6C34878D82A}">
                    <a16:rowId xmlns:a16="http://schemas.microsoft.com/office/drawing/2014/main" val="1628232492"/>
                  </a:ext>
                </a:extLst>
              </a:tr>
            </a:tbl>
          </a:graphicData>
        </a:graphic>
      </p:graphicFrame>
    </p:spTree>
    <p:extLst>
      <p:ext uri="{BB962C8B-B14F-4D97-AF65-F5344CB8AC3E}">
        <p14:creationId xmlns:p14="http://schemas.microsoft.com/office/powerpoint/2010/main" val="4221506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B9821-3FB3-5507-1C3C-DA76A872DE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9BBC8CB-AC0E-15B2-E13C-7C4F74C106C0}"/>
              </a:ext>
            </a:extLst>
          </p:cNvPr>
          <p:cNvSpPr>
            <a:spLocks noGrp="1"/>
          </p:cNvSpPr>
          <p:nvPr>
            <p:ph type="title"/>
          </p:nvPr>
        </p:nvSpPr>
        <p:spPr>
          <a:xfrm>
            <a:off x="291821" y="110229"/>
            <a:ext cx="7241346" cy="507796"/>
          </a:xfrm>
        </p:spPr>
        <p:txBody>
          <a:bodyPr/>
          <a:lstStyle/>
          <a:p>
            <a:r>
              <a:rPr lang="en-US" sz="2400" dirty="0"/>
              <a:t>Matcher: </a:t>
            </a:r>
            <a:r>
              <a:rPr lang="en-SG" sz="2400" dirty="0" err="1">
                <a:solidFill>
                  <a:srgbClr val="24292F"/>
                </a:solidFill>
              </a:rPr>
              <a:t>toEqual</a:t>
            </a:r>
            <a:r>
              <a:rPr lang="en-SG" sz="2400" dirty="0">
                <a:solidFill>
                  <a:srgbClr val="24292F"/>
                </a:solidFill>
              </a:rPr>
              <a:t>()</a:t>
            </a:r>
            <a:endParaRPr lang="en-US" sz="2400" dirty="0"/>
          </a:p>
        </p:txBody>
      </p:sp>
      <p:sp>
        <p:nvSpPr>
          <p:cNvPr id="5" name="Text Placeholder 4">
            <a:extLst>
              <a:ext uri="{FF2B5EF4-FFF2-40B4-BE49-F238E27FC236}">
                <a16:creationId xmlns:a16="http://schemas.microsoft.com/office/drawing/2014/main" id="{E5CF6131-F3F7-571C-25E1-8ECF8C2BDD8B}"/>
              </a:ext>
            </a:extLst>
          </p:cNvPr>
          <p:cNvSpPr>
            <a:spLocks noGrp="1"/>
          </p:cNvSpPr>
          <p:nvPr>
            <p:ph type="body" idx="2"/>
          </p:nvPr>
        </p:nvSpPr>
        <p:spPr>
          <a:xfrm>
            <a:off x="3543319" y="743579"/>
            <a:ext cx="1874909" cy="468040"/>
          </a:xfrm>
        </p:spPr>
        <p:txBody>
          <a:bodyPr/>
          <a:lstStyle/>
          <a:p>
            <a:pPr marL="139700" indent="0">
              <a:buNone/>
            </a:pPr>
            <a:r>
              <a:rPr lang="en-US"/>
              <a:t>Test code:</a:t>
            </a:r>
            <a:endParaRPr lang="en-US" dirty="0"/>
          </a:p>
        </p:txBody>
      </p:sp>
      <p:sp>
        <p:nvSpPr>
          <p:cNvPr id="9" name="Text Placeholder 4">
            <a:extLst>
              <a:ext uri="{FF2B5EF4-FFF2-40B4-BE49-F238E27FC236}">
                <a16:creationId xmlns:a16="http://schemas.microsoft.com/office/drawing/2014/main" id="{5485C84C-8A88-528B-6E87-834BB37FA23F}"/>
              </a:ext>
            </a:extLst>
          </p:cNvPr>
          <p:cNvSpPr txBox="1">
            <a:spLocks/>
          </p:cNvSpPr>
          <p:nvPr/>
        </p:nvSpPr>
        <p:spPr>
          <a:xfrm>
            <a:off x="272774" y="1107591"/>
            <a:ext cx="2714155" cy="507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139700" indent="0">
              <a:buFont typeface="Arial"/>
              <a:buNone/>
            </a:pPr>
            <a:r>
              <a:rPr lang="en-US" dirty="0"/>
              <a:t>Function to be tested:</a:t>
            </a:r>
          </a:p>
          <a:p>
            <a:pPr marL="139700" indent="0">
              <a:buFont typeface="Arial"/>
              <a:buNone/>
            </a:pPr>
            <a:endParaRPr lang="en-US" dirty="0"/>
          </a:p>
          <a:p>
            <a:pPr marL="139700" indent="0">
              <a:buFont typeface="Arial"/>
              <a:buNone/>
            </a:pPr>
            <a:endParaRPr lang="en-US" dirty="0"/>
          </a:p>
        </p:txBody>
      </p:sp>
      <p:sp>
        <p:nvSpPr>
          <p:cNvPr id="10" name="Text Placeholder 4">
            <a:extLst>
              <a:ext uri="{FF2B5EF4-FFF2-40B4-BE49-F238E27FC236}">
                <a16:creationId xmlns:a16="http://schemas.microsoft.com/office/drawing/2014/main" id="{755CEB7A-DD13-5D4A-1CDD-E77703061FE4}"/>
              </a:ext>
            </a:extLst>
          </p:cNvPr>
          <p:cNvSpPr txBox="1">
            <a:spLocks/>
          </p:cNvSpPr>
          <p:nvPr/>
        </p:nvSpPr>
        <p:spPr>
          <a:xfrm>
            <a:off x="272775" y="1636924"/>
            <a:ext cx="2933976" cy="15253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marR="0" indent="0" algn="l">
              <a:spcAft>
                <a:spcPts val="1200"/>
              </a:spcAft>
              <a:buNone/>
            </a:pPr>
            <a:r>
              <a:rPr lang="en-SG" sz="1050" b="0" i="0" dirty="0">
                <a:solidFill>
                  <a:srgbClr val="002060"/>
                </a:solidFill>
                <a:effectLst/>
                <a:latin typeface="+mn-lt"/>
              </a:rPr>
              <a:t>function </a:t>
            </a:r>
            <a:r>
              <a:rPr lang="en-SG" sz="1050" b="0" i="0" dirty="0" err="1">
                <a:solidFill>
                  <a:srgbClr val="002060"/>
                </a:solidFill>
                <a:effectLst/>
                <a:latin typeface="+mn-lt"/>
              </a:rPr>
              <a:t>makeStudent</a:t>
            </a:r>
            <a:r>
              <a:rPr lang="en-SG" sz="1050" b="0" i="0" dirty="0">
                <a:solidFill>
                  <a:srgbClr val="002060"/>
                </a:solidFill>
                <a:effectLst/>
                <a:latin typeface="+mn-lt"/>
              </a:rPr>
              <a:t>(name, id) {</a:t>
            </a:r>
          </a:p>
          <a:p>
            <a:pPr marL="0" marR="0" indent="0" algn="l">
              <a:spcAft>
                <a:spcPts val="1200"/>
              </a:spcAft>
              <a:buNone/>
            </a:pPr>
            <a:r>
              <a:rPr lang="en-SG" sz="1050" b="0" i="0" dirty="0">
                <a:solidFill>
                  <a:srgbClr val="002060"/>
                </a:solidFill>
                <a:effectLst/>
                <a:latin typeface="+mn-lt"/>
              </a:rPr>
              <a:t>    return </a:t>
            </a:r>
          </a:p>
          <a:p>
            <a:pPr marL="0" marR="0" indent="0" algn="l">
              <a:spcAft>
                <a:spcPts val="1200"/>
              </a:spcAft>
              <a:buNone/>
            </a:pPr>
            <a:r>
              <a:rPr lang="en-SG" sz="1050" dirty="0">
                <a:solidFill>
                  <a:srgbClr val="002060"/>
                </a:solidFill>
                <a:latin typeface="+mn-lt"/>
              </a:rPr>
              <a:t>        </a:t>
            </a:r>
            <a:r>
              <a:rPr lang="en-SG" sz="1050" b="0" i="0" dirty="0">
                <a:solidFill>
                  <a:srgbClr val="002060"/>
                </a:solidFill>
                <a:effectLst/>
                <a:latin typeface="+mn-lt"/>
              </a:rPr>
              <a:t>{ name: name, id: id, courses: [] }</a:t>
            </a:r>
          </a:p>
          <a:p>
            <a:pPr marL="0" marR="0" indent="0" algn="l">
              <a:spcAft>
                <a:spcPts val="1200"/>
              </a:spcAft>
              <a:buNone/>
            </a:pPr>
            <a:r>
              <a:rPr lang="en-SG" sz="1050" b="0" i="0" dirty="0">
                <a:solidFill>
                  <a:srgbClr val="002060"/>
                </a:solidFill>
                <a:effectLst/>
                <a:latin typeface="+mn-lt"/>
              </a:rPr>
              <a:t>}</a:t>
            </a:r>
          </a:p>
        </p:txBody>
      </p:sp>
      <p:sp>
        <p:nvSpPr>
          <p:cNvPr id="2" name="TextBox 1">
            <a:extLst>
              <a:ext uri="{FF2B5EF4-FFF2-40B4-BE49-F238E27FC236}">
                <a16:creationId xmlns:a16="http://schemas.microsoft.com/office/drawing/2014/main" id="{D10050C3-E2BF-98AE-19FB-159A3C57554E}"/>
              </a:ext>
            </a:extLst>
          </p:cNvPr>
          <p:cNvSpPr txBox="1"/>
          <p:nvPr/>
        </p:nvSpPr>
        <p:spPr>
          <a:xfrm>
            <a:off x="3454695" y="1141828"/>
            <a:ext cx="5689305" cy="3093154"/>
          </a:xfrm>
          <a:prstGeom prst="rect">
            <a:avLst/>
          </a:prstGeom>
          <a:noFill/>
        </p:spPr>
        <p:txBody>
          <a:bodyPr wrap="square" rtlCol="0">
            <a:spAutoFit/>
          </a:bodyPr>
          <a:lstStyle/>
          <a:p>
            <a:pPr marL="0" marR="0" indent="0" algn="l">
              <a:spcAft>
                <a:spcPts val="1200"/>
              </a:spcAft>
              <a:buNone/>
            </a:pPr>
            <a:r>
              <a:rPr lang="en-SG" sz="1050" b="0" i="0" dirty="0">
                <a:solidFill>
                  <a:srgbClr val="002060"/>
                </a:solidFill>
                <a:effectLst/>
                <a:latin typeface="+mn-lt"/>
              </a:rPr>
              <a:t>describe('</a:t>
            </a:r>
            <a:r>
              <a:rPr lang="en-SG" sz="1050" b="0" i="0" dirty="0" err="1">
                <a:solidFill>
                  <a:srgbClr val="002060"/>
                </a:solidFill>
                <a:effectLst/>
                <a:latin typeface="+mn-lt"/>
              </a:rPr>
              <a:t>TestSuite</a:t>
            </a:r>
            <a:r>
              <a:rPr lang="en-SG" sz="1050" b="0" i="0" dirty="0">
                <a:solidFill>
                  <a:srgbClr val="002060"/>
                </a:solidFill>
                <a:effectLst/>
                <a:latin typeface="+mn-lt"/>
              </a:rPr>
              <a:t>: </a:t>
            </a:r>
            <a:r>
              <a:rPr lang="en-SG" sz="1050" b="0" i="0" dirty="0" err="1">
                <a:solidFill>
                  <a:srgbClr val="002060"/>
                </a:solidFill>
                <a:effectLst/>
                <a:latin typeface="+mn-lt"/>
              </a:rPr>
              <a:t>makeStudent</a:t>
            </a:r>
            <a:r>
              <a:rPr lang="en-SG" sz="1050" b="0" i="0" dirty="0">
                <a:solidFill>
                  <a:srgbClr val="002060"/>
                </a:solidFill>
                <a:effectLst/>
                <a:latin typeface="+mn-lt"/>
              </a:rPr>
              <a:t>', () =&gt; {</a:t>
            </a:r>
          </a:p>
          <a:p>
            <a:pPr marL="0" marR="0" indent="0" algn="l">
              <a:spcAft>
                <a:spcPts val="1200"/>
              </a:spcAft>
              <a:buNone/>
            </a:pPr>
            <a:r>
              <a:rPr lang="en-SG" sz="1050" b="0" i="0" dirty="0">
                <a:solidFill>
                  <a:srgbClr val="002060"/>
                </a:solidFill>
                <a:effectLst/>
                <a:latin typeface="+mn-lt"/>
              </a:rPr>
              <a:t>    it('Test1: creates a student object with correct fields', () =&gt; {</a:t>
            </a:r>
          </a:p>
          <a:p>
            <a:pPr marL="0" marR="0" indent="0" algn="l">
              <a:spcAft>
                <a:spcPts val="1200"/>
              </a:spcAft>
              <a:buNone/>
            </a:pPr>
            <a:r>
              <a:rPr lang="en-SG" sz="1050" b="0" i="0" dirty="0">
                <a:solidFill>
                  <a:srgbClr val="002060"/>
                </a:solidFill>
                <a:effectLst/>
                <a:latin typeface="+mn-lt"/>
              </a:rPr>
              <a:t>        // This FAILS — two different objects are never === equal</a:t>
            </a:r>
          </a:p>
          <a:p>
            <a:pPr marL="0" marR="0" indent="0" algn="l">
              <a:spcAft>
                <a:spcPts val="1200"/>
              </a:spcAft>
              <a:buNone/>
            </a:pPr>
            <a:r>
              <a:rPr lang="en-SG" sz="1050" b="0" i="0" dirty="0">
                <a:solidFill>
                  <a:srgbClr val="002060"/>
                </a:solidFill>
                <a:effectLst/>
                <a:latin typeface="+mn-lt"/>
              </a:rPr>
              <a:t>        // expect(</a:t>
            </a:r>
            <a:r>
              <a:rPr lang="en-SG" sz="1050" b="0" i="0" dirty="0" err="1">
                <a:solidFill>
                  <a:srgbClr val="002060"/>
                </a:solidFill>
                <a:effectLst/>
                <a:latin typeface="+mn-lt"/>
              </a:rPr>
              <a:t>makeStudent</a:t>
            </a:r>
            <a:r>
              <a:rPr lang="en-SG" sz="1050" b="0" i="0" dirty="0">
                <a:solidFill>
                  <a:srgbClr val="002060"/>
                </a:solidFill>
                <a:effectLst/>
                <a:latin typeface="+mn-lt"/>
              </a:rPr>
              <a:t>('Alice', 101)).</a:t>
            </a:r>
            <a:r>
              <a:rPr lang="en-SG" sz="1050" b="0" i="0" dirty="0" err="1">
                <a:solidFill>
                  <a:srgbClr val="002060"/>
                </a:solidFill>
                <a:effectLst/>
                <a:latin typeface="+mn-lt"/>
              </a:rPr>
              <a:t>toBe</a:t>
            </a:r>
            <a:r>
              <a:rPr lang="en-SG" sz="1050" b="0" i="0" dirty="0">
                <a:solidFill>
                  <a:srgbClr val="002060"/>
                </a:solidFill>
                <a:effectLst/>
                <a:latin typeface="+mn-lt"/>
              </a:rPr>
              <a:t>({ name: 'Alice', id: 101, courses: [] })</a:t>
            </a:r>
          </a:p>
          <a:p>
            <a:pPr marL="0" marR="0" indent="0" algn="l">
              <a:spcAft>
                <a:spcPts val="1200"/>
              </a:spcAft>
              <a:buNone/>
            </a:pPr>
            <a:endParaRPr lang="en-SG" sz="1050" b="0" i="0" dirty="0">
              <a:solidFill>
                <a:srgbClr val="002060"/>
              </a:solidFill>
              <a:effectLst/>
              <a:latin typeface="+mn-lt"/>
            </a:endParaRPr>
          </a:p>
          <a:p>
            <a:pPr marL="0" marR="0" indent="0" algn="l">
              <a:spcAft>
                <a:spcPts val="1200"/>
              </a:spcAft>
              <a:buNone/>
            </a:pPr>
            <a:r>
              <a:rPr lang="en-SG" sz="1050" b="0" i="0" dirty="0">
                <a:solidFill>
                  <a:srgbClr val="002060"/>
                </a:solidFill>
                <a:effectLst/>
                <a:latin typeface="+mn-lt"/>
              </a:rPr>
              <a:t>        // This PASSES — </a:t>
            </a:r>
            <a:r>
              <a:rPr lang="en-SG" sz="1050" b="0" i="0" dirty="0" err="1">
                <a:solidFill>
                  <a:srgbClr val="002060"/>
                </a:solidFill>
                <a:effectLst/>
                <a:latin typeface="+mn-lt"/>
              </a:rPr>
              <a:t>toEqual</a:t>
            </a:r>
            <a:r>
              <a:rPr lang="en-SG" sz="1050" b="0" i="0" dirty="0">
                <a:solidFill>
                  <a:srgbClr val="002060"/>
                </a:solidFill>
                <a:effectLst/>
                <a:latin typeface="+mn-lt"/>
              </a:rPr>
              <a:t>() compares contents recursively</a:t>
            </a:r>
          </a:p>
          <a:p>
            <a:pPr marL="0" marR="0" indent="0" algn="l">
              <a:spcAft>
                <a:spcPts val="1200"/>
              </a:spcAft>
              <a:buNone/>
            </a:pPr>
            <a:r>
              <a:rPr lang="en-SG" sz="1050" b="0" i="0" dirty="0">
                <a:solidFill>
                  <a:srgbClr val="002060"/>
                </a:solidFill>
                <a:effectLst/>
                <a:latin typeface="+mn-lt"/>
              </a:rPr>
              <a:t>        expect(</a:t>
            </a:r>
            <a:r>
              <a:rPr lang="en-SG" sz="1050" b="0" i="0" dirty="0" err="1">
                <a:solidFill>
                  <a:srgbClr val="002060"/>
                </a:solidFill>
                <a:effectLst/>
                <a:latin typeface="+mn-lt"/>
              </a:rPr>
              <a:t>makeStudent</a:t>
            </a:r>
            <a:r>
              <a:rPr lang="en-SG" sz="1050" b="0" i="0" dirty="0">
                <a:solidFill>
                  <a:srgbClr val="002060"/>
                </a:solidFill>
                <a:effectLst/>
                <a:latin typeface="+mn-lt"/>
              </a:rPr>
              <a:t>('Alice', 101))</a:t>
            </a:r>
          </a:p>
          <a:p>
            <a:pPr marL="0" marR="0" indent="0" algn="l">
              <a:spcAft>
                <a:spcPts val="1200"/>
              </a:spcAft>
              <a:buNone/>
            </a:pPr>
            <a:r>
              <a:rPr lang="en-SG" sz="1050" b="0" i="0" dirty="0">
                <a:solidFill>
                  <a:srgbClr val="002060"/>
                </a:solidFill>
                <a:effectLst/>
                <a:latin typeface="+mn-lt"/>
              </a:rPr>
              <a:t>            .</a:t>
            </a:r>
            <a:r>
              <a:rPr lang="en-SG" sz="1050" b="0" i="0" dirty="0" err="1">
                <a:solidFill>
                  <a:srgbClr val="002060"/>
                </a:solidFill>
                <a:effectLst/>
                <a:latin typeface="+mn-lt"/>
              </a:rPr>
              <a:t>toEqual</a:t>
            </a:r>
            <a:r>
              <a:rPr lang="en-SG" sz="1050" b="0" i="0" dirty="0">
                <a:solidFill>
                  <a:srgbClr val="002060"/>
                </a:solidFill>
                <a:effectLst/>
                <a:latin typeface="+mn-lt"/>
              </a:rPr>
              <a:t>({ name: 'Alice', id: 101, courses: [] })</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a:t>
            </a:r>
          </a:p>
        </p:txBody>
      </p:sp>
      <p:sp>
        <p:nvSpPr>
          <p:cNvPr id="4" name="TextBox 3">
            <a:extLst>
              <a:ext uri="{FF2B5EF4-FFF2-40B4-BE49-F238E27FC236}">
                <a16:creationId xmlns:a16="http://schemas.microsoft.com/office/drawing/2014/main" id="{3D9FAA49-B3B3-BC84-4F1A-6F478E25801E}"/>
              </a:ext>
            </a:extLst>
          </p:cNvPr>
          <p:cNvSpPr txBox="1"/>
          <p:nvPr/>
        </p:nvSpPr>
        <p:spPr>
          <a:xfrm>
            <a:off x="95250" y="3530600"/>
            <a:ext cx="3187700" cy="1508105"/>
          </a:xfrm>
          <a:prstGeom prst="rect">
            <a:avLst/>
          </a:prstGeom>
          <a:solidFill>
            <a:schemeClr val="bg1">
              <a:lumMod val="95000"/>
            </a:schemeClr>
          </a:solidFill>
        </p:spPr>
        <p:txBody>
          <a:bodyPr wrap="square" rtlCol="0">
            <a:spAutoFit/>
          </a:bodyPr>
          <a:lstStyle/>
          <a:p>
            <a:pPr marR="0" lvl="0" algn="l">
              <a:spcAft>
                <a:spcPts val="1200"/>
              </a:spcAft>
            </a:pPr>
            <a:r>
              <a:rPr lang="en-SG" sz="1200" b="1" i="0" dirty="0" err="1">
                <a:solidFill>
                  <a:schemeClr val="tx1"/>
                </a:solidFill>
                <a:effectLst/>
                <a:latin typeface="+mn-lt"/>
              </a:rPr>
              <a:t>toBe</a:t>
            </a:r>
            <a:r>
              <a:rPr lang="en-SG" sz="1200" b="1" i="0" dirty="0">
                <a:solidFill>
                  <a:schemeClr val="tx1"/>
                </a:solidFill>
                <a:effectLst/>
                <a:latin typeface="+mn-lt"/>
              </a:rPr>
              <a:t>() </a:t>
            </a:r>
            <a:r>
              <a:rPr lang="en-SG" sz="1200" b="0" i="0" dirty="0">
                <a:solidFill>
                  <a:schemeClr val="tx1"/>
                </a:solidFill>
                <a:effectLst/>
                <a:latin typeface="+mn-lt"/>
              </a:rPr>
              <a:t>asks: </a:t>
            </a:r>
            <a:r>
              <a:rPr lang="en-SG" sz="1200" b="0" i="1" dirty="0">
                <a:solidFill>
                  <a:schemeClr val="tx1"/>
                </a:solidFill>
                <a:effectLst/>
                <a:latin typeface="+mn-lt"/>
              </a:rPr>
              <a:t>"Are these the </a:t>
            </a:r>
            <a:r>
              <a:rPr lang="en-SG" sz="1200" b="1" i="1" dirty="0">
                <a:solidFill>
                  <a:schemeClr val="tx1"/>
                </a:solidFill>
                <a:effectLst/>
                <a:latin typeface="+mn-lt"/>
              </a:rPr>
              <a:t>same object</a:t>
            </a:r>
            <a:r>
              <a:rPr lang="en-SG" sz="1200" b="0" i="1" dirty="0">
                <a:solidFill>
                  <a:schemeClr val="tx1"/>
                </a:solidFill>
                <a:effectLst/>
                <a:latin typeface="+mn-lt"/>
              </a:rPr>
              <a:t> in memory?"</a:t>
            </a:r>
            <a:endParaRPr lang="en-SG" sz="1200" b="0" i="0" dirty="0">
              <a:solidFill>
                <a:schemeClr val="tx1"/>
              </a:solidFill>
              <a:effectLst/>
              <a:latin typeface="+mn-lt"/>
            </a:endParaRPr>
          </a:p>
          <a:p>
            <a:pPr marR="0" lvl="0" algn="l">
              <a:spcAft>
                <a:spcPts val="1200"/>
              </a:spcAft>
            </a:pPr>
            <a:r>
              <a:rPr lang="en-SG" sz="1200" b="1" i="0" dirty="0" err="1">
                <a:solidFill>
                  <a:schemeClr val="tx1"/>
                </a:solidFill>
                <a:effectLst/>
                <a:latin typeface="+mn-lt"/>
              </a:rPr>
              <a:t>toEqual</a:t>
            </a:r>
            <a:r>
              <a:rPr lang="en-SG" sz="1200" b="1" i="0" dirty="0">
                <a:solidFill>
                  <a:schemeClr val="tx1"/>
                </a:solidFill>
                <a:effectLst/>
                <a:latin typeface="+mn-lt"/>
              </a:rPr>
              <a:t>() </a:t>
            </a:r>
            <a:r>
              <a:rPr lang="en-SG" sz="1200" b="0" i="0" dirty="0">
                <a:solidFill>
                  <a:schemeClr val="tx1"/>
                </a:solidFill>
                <a:effectLst/>
                <a:latin typeface="+mn-lt"/>
              </a:rPr>
              <a:t>asks: </a:t>
            </a:r>
            <a:r>
              <a:rPr lang="en-SG" sz="1200" b="0" i="1" dirty="0">
                <a:solidFill>
                  <a:schemeClr val="tx1"/>
                </a:solidFill>
                <a:effectLst/>
                <a:latin typeface="+mn-lt"/>
              </a:rPr>
              <a:t>"Do these objects have the </a:t>
            </a:r>
            <a:r>
              <a:rPr lang="en-SG" sz="1200" b="1" i="1" dirty="0">
                <a:solidFill>
                  <a:schemeClr val="tx1"/>
                </a:solidFill>
                <a:effectLst/>
                <a:latin typeface="+mn-lt"/>
              </a:rPr>
              <a:t>same contents</a:t>
            </a:r>
            <a:r>
              <a:rPr lang="en-SG" sz="1200" b="0" i="1" dirty="0">
                <a:solidFill>
                  <a:schemeClr val="tx1"/>
                </a:solidFill>
                <a:effectLst/>
                <a:latin typeface="+mn-lt"/>
              </a:rPr>
              <a:t>?"</a:t>
            </a:r>
            <a:endParaRPr lang="en-SG" sz="1200" b="0" i="0" dirty="0">
              <a:solidFill>
                <a:schemeClr val="tx1"/>
              </a:solidFill>
              <a:effectLst/>
              <a:latin typeface="+mn-lt"/>
            </a:endParaRPr>
          </a:p>
          <a:p>
            <a:pPr marL="0" marR="0" indent="0" algn="l">
              <a:spcAft>
                <a:spcPts val="1200"/>
              </a:spcAft>
              <a:buNone/>
            </a:pPr>
            <a:r>
              <a:rPr lang="en-SG" sz="1200" b="1" i="0" dirty="0">
                <a:solidFill>
                  <a:schemeClr val="tx1"/>
                </a:solidFill>
                <a:effectLst/>
                <a:latin typeface="+mn-lt"/>
              </a:rPr>
              <a:t>Rule of thumb:</a:t>
            </a:r>
            <a:r>
              <a:rPr lang="en-SG" sz="1200" b="0" i="0" dirty="0">
                <a:solidFill>
                  <a:schemeClr val="tx1"/>
                </a:solidFill>
                <a:effectLst/>
                <a:latin typeface="+mn-lt"/>
              </a:rPr>
              <a:t> primitives → </a:t>
            </a:r>
            <a:r>
              <a:rPr lang="en-SG" sz="1200" b="0" i="0" dirty="0" err="1">
                <a:solidFill>
                  <a:schemeClr val="tx1"/>
                </a:solidFill>
                <a:effectLst/>
                <a:latin typeface="+mn-lt"/>
              </a:rPr>
              <a:t>toBe</a:t>
            </a:r>
            <a:r>
              <a:rPr lang="en-SG" sz="1200" b="0" i="0" dirty="0">
                <a:solidFill>
                  <a:schemeClr val="tx1"/>
                </a:solidFill>
                <a:effectLst/>
                <a:latin typeface="+mn-lt"/>
              </a:rPr>
              <a:t>(); objects &amp; arrays → </a:t>
            </a:r>
            <a:r>
              <a:rPr lang="en-SG" sz="1200" b="0" i="0" dirty="0" err="1">
                <a:solidFill>
                  <a:schemeClr val="tx1"/>
                </a:solidFill>
                <a:effectLst/>
                <a:latin typeface="+mn-lt"/>
              </a:rPr>
              <a:t>toEqual</a:t>
            </a:r>
            <a:r>
              <a:rPr lang="en-SG" sz="1200" b="0" i="0" dirty="0">
                <a:solidFill>
                  <a:schemeClr val="tx1"/>
                </a:solidFill>
                <a:effectLst/>
                <a:latin typeface="+mn-lt"/>
              </a:rPr>
              <a:t>()</a:t>
            </a:r>
          </a:p>
        </p:txBody>
      </p:sp>
    </p:spTree>
    <p:extLst>
      <p:ext uri="{BB962C8B-B14F-4D97-AF65-F5344CB8AC3E}">
        <p14:creationId xmlns:p14="http://schemas.microsoft.com/office/powerpoint/2010/main" val="4126580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DA33A-4BD4-5170-8812-6B418B48AA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74B225-5160-DAF7-3C4B-0AD76C14869B}"/>
              </a:ext>
            </a:extLst>
          </p:cNvPr>
          <p:cNvSpPr>
            <a:spLocks noGrp="1"/>
          </p:cNvSpPr>
          <p:nvPr>
            <p:ph type="title"/>
          </p:nvPr>
        </p:nvSpPr>
        <p:spPr>
          <a:xfrm>
            <a:off x="291821" y="110229"/>
            <a:ext cx="7241346" cy="507796"/>
          </a:xfrm>
        </p:spPr>
        <p:txBody>
          <a:bodyPr/>
          <a:lstStyle/>
          <a:p>
            <a:r>
              <a:rPr lang="en-US" sz="2400" dirty="0"/>
              <a:t>Matcher: </a:t>
            </a:r>
            <a:r>
              <a:rPr lang="en-SG" sz="2400" dirty="0" err="1">
                <a:solidFill>
                  <a:srgbClr val="24292F"/>
                </a:solidFill>
              </a:rPr>
              <a:t>toBeTruthy</a:t>
            </a:r>
            <a:r>
              <a:rPr lang="en-SG" sz="2400" dirty="0">
                <a:solidFill>
                  <a:srgbClr val="24292F"/>
                </a:solidFill>
              </a:rPr>
              <a:t>() / </a:t>
            </a:r>
            <a:r>
              <a:rPr lang="en-SG" sz="2400" dirty="0" err="1">
                <a:solidFill>
                  <a:srgbClr val="24292F"/>
                </a:solidFill>
              </a:rPr>
              <a:t>toBeFalsy</a:t>
            </a:r>
            <a:r>
              <a:rPr lang="en-SG" sz="2400" dirty="0">
                <a:solidFill>
                  <a:srgbClr val="24292F"/>
                </a:solidFill>
              </a:rPr>
              <a:t>()</a:t>
            </a:r>
            <a:endParaRPr lang="en-US" sz="2400" dirty="0"/>
          </a:p>
        </p:txBody>
      </p:sp>
      <p:sp>
        <p:nvSpPr>
          <p:cNvPr id="5" name="Text Placeholder 4">
            <a:extLst>
              <a:ext uri="{FF2B5EF4-FFF2-40B4-BE49-F238E27FC236}">
                <a16:creationId xmlns:a16="http://schemas.microsoft.com/office/drawing/2014/main" id="{2412E468-865F-C905-372F-32F87610A09F}"/>
              </a:ext>
            </a:extLst>
          </p:cNvPr>
          <p:cNvSpPr>
            <a:spLocks noGrp="1"/>
          </p:cNvSpPr>
          <p:nvPr>
            <p:ph type="body" idx="2"/>
          </p:nvPr>
        </p:nvSpPr>
        <p:spPr>
          <a:xfrm>
            <a:off x="3543319" y="743579"/>
            <a:ext cx="1874909" cy="468040"/>
          </a:xfrm>
        </p:spPr>
        <p:txBody>
          <a:bodyPr/>
          <a:lstStyle/>
          <a:p>
            <a:pPr marL="139700" indent="0">
              <a:buNone/>
            </a:pPr>
            <a:r>
              <a:rPr lang="en-US"/>
              <a:t>Test code:</a:t>
            </a:r>
            <a:endParaRPr lang="en-US" dirty="0"/>
          </a:p>
        </p:txBody>
      </p:sp>
      <p:sp>
        <p:nvSpPr>
          <p:cNvPr id="9" name="Text Placeholder 4">
            <a:extLst>
              <a:ext uri="{FF2B5EF4-FFF2-40B4-BE49-F238E27FC236}">
                <a16:creationId xmlns:a16="http://schemas.microsoft.com/office/drawing/2014/main" id="{91E91F68-116D-98FC-14A1-F2A10C8991D5}"/>
              </a:ext>
            </a:extLst>
          </p:cNvPr>
          <p:cNvSpPr txBox="1">
            <a:spLocks/>
          </p:cNvSpPr>
          <p:nvPr/>
        </p:nvSpPr>
        <p:spPr>
          <a:xfrm>
            <a:off x="272774" y="1107591"/>
            <a:ext cx="2714155" cy="507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139700" indent="0">
              <a:buFont typeface="Arial"/>
              <a:buNone/>
            </a:pPr>
            <a:r>
              <a:rPr lang="en-US" dirty="0"/>
              <a:t>Function to be tested:</a:t>
            </a:r>
          </a:p>
          <a:p>
            <a:pPr marL="139700" indent="0">
              <a:buFont typeface="Arial"/>
              <a:buNone/>
            </a:pPr>
            <a:endParaRPr lang="en-US" dirty="0"/>
          </a:p>
          <a:p>
            <a:pPr marL="139700" indent="0">
              <a:buFont typeface="Arial"/>
              <a:buNone/>
            </a:pPr>
            <a:endParaRPr lang="en-US" dirty="0"/>
          </a:p>
        </p:txBody>
      </p:sp>
      <p:sp>
        <p:nvSpPr>
          <p:cNvPr id="10" name="Text Placeholder 4">
            <a:extLst>
              <a:ext uri="{FF2B5EF4-FFF2-40B4-BE49-F238E27FC236}">
                <a16:creationId xmlns:a16="http://schemas.microsoft.com/office/drawing/2014/main" id="{D43BE6BA-460B-8D54-EC76-14462C34B264}"/>
              </a:ext>
            </a:extLst>
          </p:cNvPr>
          <p:cNvSpPr txBox="1">
            <a:spLocks/>
          </p:cNvSpPr>
          <p:nvPr/>
        </p:nvSpPr>
        <p:spPr>
          <a:xfrm>
            <a:off x="272774" y="1497224"/>
            <a:ext cx="3340375" cy="19762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marR="0" indent="0" algn="l">
              <a:spcAft>
                <a:spcPts val="1200"/>
              </a:spcAft>
              <a:buNone/>
            </a:pPr>
            <a:r>
              <a:rPr lang="en-US" sz="1050" b="0" i="0" dirty="0">
                <a:solidFill>
                  <a:srgbClr val="002060"/>
                </a:solidFill>
                <a:effectLst/>
                <a:latin typeface="+mn-lt"/>
              </a:rPr>
              <a:t>function </a:t>
            </a:r>
            <a:r>
              <a:rPr lang="en-US" sz="1050" b="0" i="0" dirty="0" err="1">
                <a:solidFill>
                  <a:srgbClr val="002060"/>
                </a:solidFill>
                <a:effectLst/>
                <a:latin typeface="+mn-lt"/>
              </a:rPr>
              <a:t>isValidUsername</a:t>
            </a:r>
            <a:r>
              <a:rPr lang="en-US" sz="1050" b="0" i="0" dirty="0">
                <a:solidFill>
                  <a:srgbClr val="002060"/>
                </a:solidFill>
                <a:effectLst/>
                <a:latin typeface="+mn-lt"/>
              </a:rPr>
              <a:t>(username) {</a:t>
            </a:r>
          </a:p>
          <a:p>
            <a:pPr marL="0" marR="0" indent="0" algn="l">
              <a:spcAft>
                <a:spcPts val="1200"/>
              </a:spcAft>
              <a:buNone/>
            </a:pPr>
            <a:r>
              <a:rPr lang="en-US" sz="1050" b="0" i="0" dirty="0">
                <a:solidFill>
                  <a:srgbClr val="002060"/>
                </a:solidFill>
                <a:effectLst/>
                <a:latin typeface="+mn-lt"/>
              </a:rPr>
              <a:t>    // returns the username if valid</a:t>
            </a:r>
          </a:p>
          <a:p>
            <a:pPr marL="0" marR="0" indent="0" algn="l">
              <a:spcAft>
                <a:spcPts val="1200"/>
              </a:spcAft>
              <a:buNone/>
            </a:pPr>
            <a:r>
              <a:rPr lang="en-US" sz="1050" dirty="0">
                <a:solidFill>
                  <a:srgbClr val="002060"/>
                </a:solidFill>
                <a:latin typeface="+mn-lt"/>
              </a:rPr>
              <a:t>    // </a:t>
            </a:r>
            <a:r>
              <a:rPr lang="en-US" sz="1050" b="0" i="0" dirty="0">
                <a:solidFill>
                  <a:srgbClr val="002060"/>
                </a:solidFill>
                <a:effectLst/>
                <a:latin typeface="+mn-lt"/>
              </a:rPr>
              <a:t>otherwise an empty string</a:t>
            </a:r>
          </a:p>
          <a:p>
            <a:pPr marL="0" marR="0" indent="0" algn="l">
              <a:spcAft>
                <a:spcPts val="1200"/>
              </a:spcAft>
              <a:buNone/>
            </a:pPr>
            <a:r>
              <a:rPr lang="en-US" sz="1050" b="0" i="0" dirty="0">
                <a:solidFill>
                  <a:srgbClr val="002060"/>
                </a:solidFill>
                <a:effectLst/>
                <a:latin typeface="+mn-lt"/>
              </a:rPr>
              <a:t>    return </a:t>
            </a:r>
            <a:r>
              <a:rPr lang="en-US" sz="1050" b="0" i="0" dirty="0" err="1">
                <a:solidFill>
                  <a:srgbClr val="002060"/>
                </a:solidFill>
                <a:effectLst/>
                <a:latin typeface="+mn-lt"/>
              </a:rPr>
              <a:t>username.length</a:t>
            </a:r>
            <a:r>
              <a:rPr lang="en-US" sz="1050" b="0" i="0" dirty="0">
                <a:solidFill>
                  <a:srgbClr val="002060"/>
                </a:solidFill>
                <a:effectLst/>
                <a:latin typeface="+mn-lt"/>
              </a:rPr>
              <a:t> &gt;= 3 ? username : ''</a:t>
            </a:r>
          </a:p>
          <a:p>
            <a:pPr marL="0" marR="0" indent="0" algn="l">
              <a:spcAft>
                <a:spcPts val="1200"/>
              </a:spcAft>
              <a:buNone/>
            </a:pPr>
            <a:r>
              <a:rPr lang="en-US" sz="1050" b="0" i="0" dirty="0">
                <a:solidFill>
                  <a:srgbClr val="002060"/>
                </a:solidFill>
                <a:effectLst/>
                <a:latin typeface="+mn-lt"/>
              </a:rPr>
              <a:t>}</a:t>
            </a:r>
            <a:endParaRPr lang="en-SG" sz="1050" b="0" i="0" dirty="0">
              <a:solidFill>
                <a:srgbClr val="002060"/>
              </a:solidFill>
              <a:effectLst/>
              <a:latin typeface="+mn-lt"/>
            </a:endParaRPr>
          </a:p>
          <a:p>
            <a:pPr marL="0" marR="0" indent="0" algn="l">
              <a:spcAft>
                <a:spcPts val="1200"/>
              </a:spcAft>
              <a:buNone/>
            </a:pPr>
            <a:endParaRPr lang="en-SG" sz="1050" b="0" i="0" dirty="0">
              <a:solidFill>
                <a:srgbClr val="002060"/>
              </a:solidFill>
              <a:effectLst/>
              <a:latin typeface="ui-monospace"/>
            </a:endParaRPr>
          </a:p>
        </p:txBody>
      </p:sp>
      <p:sp>
        <p:nvSpPr>
          <p:cNvPr id="2" name="TextBox 1">
            <a:extLst>
              <a:ext uri="{FF2B5EF4-FFF2-40B4-BE49-F238E27FC236}">
                <a16:creationId xmlns:a16="http://schemas.microsoft.com/office/drawing/2014/main" id="{F7BB42D3-E597-745E-2FF9-5C9B8E9222BD}"/>
              </a:ext>
            </a:extLst>
          </p:cNvPr>
          <p:cNvSpPr txBox="1"/>
          <p:nvPr/>
        </p:nvSpPr>
        <p:spPr>
          <a:xfrm>
            <a:off x="3763141" y="1141828"/>
            <a:ext cx="5108085" cy="2462213"/>
          </a:xfrm>
          <a:prstGeom prst="rect">
            <a:avLst/>
          </a:prstGeom>
          <a:noFill/>
        </p:spPr>
        <p:txBody>
          <a:bodyPr wrap="square" rtlCol="0">
            <a:spAutoFit/>
          </a:bodyPr>
          <a:lstStyle/>
          <a:p>
            <a:pPr marL="0" marR="0" indent="0" algn="l">
              <a:spcAft>
                <a:spcPts val="1200"/>
              </a:spcAft>
              <a:buNone/>
            </a:pPr>
            <a:r>
              <a:rPr lang="en-SG" sz="1050" b="0" i="0" dirty="0">
                <a:solidFill>
                  <a:srgbClr val="002060"/>
                </a:solidFill>
                <a:effectLst/>
                <a:latin typeface="+mn-lt"/>
              </a:rPr>
              <a:t>describe('</a:t>
            </a:r>
            <a:r>
              <a:rPr lang="en-SG" sz="1050" b="0" i="0" dirty="0" err="1">
                <a:solidFill>
                  <a:srgbClr val="002060"/>
                </a:solidFill>
                <a:effectLst/>
                <a:latin typeface="+mn-lt"/>
              </a:rPr>
              <a:t>TestSuite</a:t>
            </a:r>
            <a:r>
              <a:rPr lang="en-SG" sz="1050" b="0" i="0" dirty="0">
                <a:solidFill>
                  <a:srgbClr val="002060"/>
                </a:solidFill>
                <a:effectLst/>
                <a:latin typeface="+mn-lt"/>
              </a:rPr>
              <a:t>: </a:t>
            </a:r>
            <a:r>
              <a:rPr lang="en-SG" sz="1050" b="0" i="0" dirty="0" err="1">
                <a:solidFill>
                  <a:srgbClr val="002060"/>
                </a:solidFill>
                <a:effectLst/>
                <a:latin typeface="+mn-lt"/>
              </a:rPr>
              <a:t>isValidUsername</a:t>
            </a:r>
            <a:r>
              <a:rPr lang="en-SG" sz="1050" b="0" i="0" dirty="0">
                <a:solidFill>
                  <a:srgbClr val="002060"/>
                </a:solidFill>
                <a:effectLst/>
                <a:latin typeface="+mn-lt"/>
              </a:rPr>
              <a:t>', () =&gt; {</a:t>
            </a:r>
          </a:p>
          <a:p>
            <a:pPr marL="0" marR="0" indent="0" algn="l">
              <a:spcAft>
                <a:spcPts val="1200"/>
              </a:spcAft>
              <a:buNone/>
            </a:pPr>
            <a:r>
              <a:rPr lang="en-SG" sz="1050" b="0" i="0" dirty="0">
                <a:solidFill>
                  <a:srgbClr val="002060"/>
                </a:solidFill>
                <a:effectLst/>
                <a:latin typeface="+mn-lt"/>
              </a:rPr>
              <a:t>    it('Test1: a valid username is truthy', () =&gt; {</a:t>
            </a:r>
          </a:p>
          <a:p>
            <a:pPr marL="0" marR="0" indent="0" algn="l">
              <a:spcAft>
                <a:spcPts val="1200"/>
              </a:spcAft>
              <a:buNone/>
            </a:pPr>
            <a:r>
              <a:rPr lang="en-SG" sz="1050" b="0" i="0" dirty="0">
                <a:solidFill>
                  <a:srgbClr val="002060"/>
                </a:solidFill>
                <a:effectLst/>
                <a:latin typeface="+mn-lt"/>
              </a:rPr>
              <a:t>        expect(</a:t>
            </a:r>
            <a:r>
              <a:rPr lang="en-SG" sz="1050" b="0" i="0" dirty="0" err="1">
                <a:solidFill>
                  <a:srgbClr val="002060"/>
                </a:solidFill>
                <a:effectLst/>
                <a:latin typeface="+mn-lt"/>
              </a:rPr>
              <a:t>isValidUsername</a:t>
            </a:r>
            <a:r>
              <a:rPr lang="en-SG" sz="1050" b="0" i="0" dirty="0">
                <a:solidFill>
                  <a:srgbClr val="002060"/>
                </a:solidFill>
                <a:effectLst/>
                <a:latin typeface="+mn-lt"/>
              </a:rPr>
              <a:t>('</a:t>
            </a:r>
            <a:r>
              <a:rPr lang="en-SG" sz="1050" b="0" i="0" dirty="0" err="1">
                <a:solidFill>
                  <a:srgbClr val="002060"/>
                </a:solidFill>
                <a:effectLst/>
                <a:latin typeface="+mn-lt"/>
              </a:rPr>
              <a:t>jacky</a:t>
            </a:r>
            <a:r>
              <a:rPr lang="en-SG" sz="1050" b="0" i="0" dirty="0">
                <a:solidFill>
                  <a:srgbClr val="002060"/>
                </a:solidFill>
                <a:effectLst/>
                <a:latin typeface="+mn-lt"/>
              </a:rPr>
              <a:t>')).</a:t>
            </a:r>
            <a:r>
              <a:rPr lang="en-SG" sz="1050" b="0" i="0" dirty="0" err="1">
                <a:solidFill>
                  <a:srgbClr val="002060"/>
                </a:solidFill>
                <a:effectLst/>
                <a:latin typeface="+mn-lt"/>
              </a:rPr>
              <a:t>toBeTruthy</a:t>
            </a:r>
            <a:r>
              <a:rPr lang="en-SG" sz="1050" b="0" i="0" dirty="0">
                <a:solidFill>
                  <a:srgbClr val="002060"/>
                </a:solidFill>
                <a:effectLst/>
                <a:latin typeface="+mn-lt"/>
              </a:rPr>
              <a:t>()   // '</a:t>
            </a:r>
            <a:r>
              <a:rPr lang="en-SG" sz="1050" b="0" i="0" dirty="0" err="1">
                <a:solidFill>
                  <a:srgbClr val="002060"/>
                </a:solidFill>
                <a:effectLst/>
                <a:latin typeface="+mn-lt"/>
              </a:rPr>
              <a:t>jacky</a:t>
            </a:r>
            <a:r>
              <a:rPr lang="en-SG" sz="1050" b="0" i="0" dirty="0">
                <a:solidFill>
                  <a:srgbClr val="002060"/>
                </a:solidFill>
                <a:effectLst/>
                <a:latin typeface="+mn-lt"/>
              </a:rPr>
              <a:t>' → truthy </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    it('Test2: a too-short username is </a:t>
            </a:r>
            <a:r>
              <a:rPr lang="en-SG" sz="1050" b="0" i="0" dirty="0" err="1">
                <a:solidFill>
                  <a:srgbClr val="002060"/>
                </a:solidFill>
                <a:effectLst/>
                <a:latin typeface="+mn-lt"/>
              </a:rPr>
              <a:t>falsy</a:t>
            </a:r>
            <a:r>
              <a:rPr lang="en-SG" sz="1050" b="0" i="0" dirty="0">
                <a:solidFill>
                  <a:srgbClr val="002060"/>
                </a:solidFill>
                <a:effectLst/>
                <a:latin typeface="+mn-lt"/>
              </a:rPr>
              <a:t>', () =&gt; {</a:t>
            </a:r>
          </a:p>
          <a:p>
            <a:pPr marL="0" marR="0" indent="0" algn="l">
              <a:spcAft>
                <a:spcPts val="1200"/>
              </a:spcAft>
              <a:buNone/>
            </a:pPr>
            <a:r>
              <a:rPr lang="en-SG" sz="1050" b="0" i="0" dirty="0">
                <a:solidFill>
                  <a:srgbClr val="002060"/>
                </a:solidFill>
                <a:effectLst/>
                <a:latin typeface="+mn-lt"/>
              </a:rPr>
              <a:t>        expect(</a:t>
            </a:r>
            <a:r>
              <a:rPr lang="en-SG" sz="1050" b="0" i="0" dirty="0" err="1">
                <a:solidFill>
                  <a:srgbClr val="002060"/>
                </a:solidFill>
                <a:effectLst/>
                <a:latin typeface="+mn-lt"/>
              </a:rPr>
              <a:t>isValidUsername</a:t>
            </a:r>
            <a:r>
              <a:rPr lang="en-SG" sz="1050" b="0" i="0" dirty="0">
                <a:solidFill>
                  <a:srgbClr val="002060"/>
                </a:solidFill>
                <a:effectLst/>
                <a:latin typeface="+mn-lt"/>
              </a:rPr>
              <a:t>('ab')).</a:t>
            </a:r>
            <a:r>
              <a:rPr lang="en-SG" sz="1050" b="0" i="0" dirty="0" err="1">
                <a:solidFill>
                  <a:srgbClr val="002060"/>
                </a:solidFill>
                <a:effectLst/>
                <a:latin typeface="+mn-lt"/>
              </a:rPr>
              <a:t>toBeFalsy</a:t>
            </a:r>
            <a:r>
              <a:rPr lang="en-SG" sz="1050" b="0" i="0" dirty="0">
                <a:solidFill>
                  <a:srgbClr val="002060"/>
                </a:solidFill>
                <a:effectLst/>
                <a:latin typeface="+mn-lt"/>
              </a:rPr>
              <a:t>()       // '' → </a:t>
            </a:r>
            <a:r>
              <a:rPr lang="en-SG" sz="1050" b="0" i="0" dirty="0" err="1">
                <a:solidFill>
                  <a:srgbClr val="002060"/>
                </a:solidFill>
                <a:effectLst/>
                <a:latin typeface="+mn-lt"/>
              </a:rPr>
              <a:t>falsy</a:t>
            </a: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a:t>
            </a:r>
          </a:p>
        </p:txBody>
      </p:sp>
      <p:sp>
        <p:nvSpPr>
          <p:cNvPr id="6" name="TextBox 5">
            <a:extLst>
              <a:ext uri="{FF2B5EF4-FFF2-40B4-BE49-F238E27FC236}">
                <a16:creationId xmlns:a16="http://schemas.microsoft.com/office/drawing/2014/main" id="{C85058AD-DD82-7654-7064-066BEFF1DA10}"/>
              </a:ext>
            </a:extLst>
          </p:cNvPr>
          <p:cNvSpPr txBox="1"/>
          <p:nvPr/>
        </p:nvSpPr>
        <p:spPr>
          <a:xfrm>
            <a:off x="88900" y="3788706"/>
            <a:ext cx="4737100" cy="1292662"/>
          </a:xfrm>
          <a:prstGeom prst="rect">
            <a:avLst/>
          </a:prstGeom>
          <a:solidFill>
            <a:schemeClr val="bg1">
              <a:lumMod val="95000"/>
            </a:schemeClr>
          </a:solidFill>
        </p:spPr>
        <p:txBody>
          <a:bodyPr wrap="square" rtlCol="0">
            <a:spAutoFit/>
          </a:bodyPr>
          <a:lstStyle/>
          <a:p>
            <a:pPr marR="0" lvl="0" algn="l">
              <a:spcAft>
                <a:spcPts val="1200"/>
              </a:spcAft>
            </a:pPr>
            <a:r>
              <a:rPr lang="en-US" sz="1200" b="0" i="0" dirty="0">
                <a:solidFill>
                  <a:schemeClr val="tx1"/>
                </a:solidFill>
                <a:effectLst/>
                <a:latin typeface="+mn-lt"/>
              </a:rPr>
              <a:t>Note: JavaScript's </a:t>
            </a:r>
            <a:r>
              <a:rPr lang="en-US" sz="1200" b="0" i="0" dirty="0" err="1">
                <a:solidFill>
                  <a:schemeClr val="tx1"/>
                </a:solidFill>
                <a:effectLst/>
                <a:latin typeface="+mn-lt"/>
              </a:rPr>
              <a:t>falsy</a:t>
            </a:r>
            <a:r>
              <a:rPr lang="en-US" sz="1200" b="0" i="0" dirty="0">
                <a:solidFill>
                  <a:schemeClr val="tx1"/>
                </a:solidFill>
                <a:effectLst/>
                <a:latin typeface="+mn-lt"/>
              </a:rPr>
              <a:t> values</a:t>
            </a:r>
          </a:p>
          <a:p>
            <a:pPr marR="0" lvl="0" algn="l">
              <a:spcAft>
                <a:spcPts val="1200"/>
              </a:spcAft>
            </a:pPr>
            <a:r>
              <a:rPr lang="en-US" sz="1200" b="0" i="0" dirty="0">
                <a:solidFill>
                  <a:schemeClr val="tx1"/>
                </a:solidFill>
                <a:effectLst/>
                <a:latin typeface="Aptos Mono" panose="020F0502020204030204" pitchFamily="49" charset="0"/>
              </a:rPr>
              <a:t>false, 0, '' (empty string), null, undefined, </a:t>
            </a:r>
            <a:r>
              <a:rPr lang="en-US" sz="1200" b="0" i="0" dirty="0" err="1">
                <a:solidFill>
                  <a:schemeClr val="tx1"/>
                </a:solidFill>
                <a:effectLst/>
                <a:latin typeface="Aptos Mono" panose="020F0502020204030204" pitchFamily="49" charset="0"/>
              </a:rPr>
              <a:t>NaN</a:t>
            </a:r>
            <a:endParaRPr lang="en-US" sz="1200" b="0" i="0" dirty="0">
              <a:solidFill>
                <a:schemeClr val="tx1"/>
              </a:solidFill>
              <a:effectLst/>
              <a:latin typeface="Aptos Mono" panose="020F0502020204030204" pitchFamily="49" charset="0"/>
            </a:endParaRPr>
          </a:p>
          <a:p>
            <a:pPr marR="0" lvl="0" algn="l">
              <a:spcAft>
                <a:spcPts val="1200"/>
              </a:spcAft>
            </a:pPr>
            <a:endParaRPr lang="en-US" sz="1200" b="1" i="0" dirty="0">
              <a:solidFill>
                <a:schemeClr val="tx1"/>
              </a:solidFill>
              <a:effectLst/>
              <a:latin typeface="+mn-lt"/>
            </a:endParaRPr>
          </a:p>
          <a:p>
            <a:pPr marR="0" lvl="0" algn="l">
              <a:spcAft>
                <a:spcPts val="1200"/>
              </a:spcAft>
            </a:pPr>
            <a:r>
              <a:rPr lang="en-US" sz="1200" b="1" i="0" dirty="0" err="1">
                <a:solidFill>
                  <a:schemeClr val="tx1"/>
                </a:solidFill>
                <a:effectLst/>
                <a:latin typeface="+mn-lt"/>
              </a:rPr>
              <a:t>toBeTruthy</a:t>
            </a:r>
            <a:r>
              <a:rPr lang="en-US" sz="1200" b="1" i="0" dirty="0">
                <a:solidFill>
                  <a:schemeClr val="tx1"/>
                </a:solidFill>
                <a:effectLst/>
                <a:latin typeface="+mn-lt"/>
              </a:rPr>
              <a:t>() </a:t>
            </a:r>
            <a:r>
              <a:rPr lang="en-US" sz="1200" b="0" i="0" dirty="0">
                <a:solidFill>
                  <a:schemeClr val="tx1"/>
                </a:solidFill>
                <a:effectLst/>
                <a:latin typeface="+mn-lt"/>
              </a:rPr>
              <a:t>would pass for </a:t>
            </a:r>
            <a:r>
              <a:rPr lang="en-US" sz="1200" b="0" i="0" dirty="0">
                <a:solidFill>
                  <a:schemeClr val="tx1"/>
                </a:solidFill>
                <a:effectLst/>
                <a:latin typeface="Aptos Mono" panose="020B0009020202020204" pitchFamily="49" charset="0"/>
              </a:rPr>
              <a:t>1, 'yes', []</a:t>
            </a:r>
            <a:endParaRPr lang="en-SG" sz="1200" b="0" i="0" dirty="0">
              <a:solidFill>
                <a:schemeClr val="tx1"/>
              </a:solidFill>
              <a:effectLst/>
              <a:latin typeface="+mn-lt"/>
            </a:endParaRPr>
          </a:p>
        </p:txBody>
      </p:sp>
    </p:spTree>
    <p:extLst>
      <p:ext uri="{BB962C8B-B14F-4D97-AF65-F5344CB8AC3E}">
        <p14:creationId xmlns:p14="http://schemas.microsoft.com/office/powerpoint/2010/main" val="11902255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6F431-71E5-6143-A0C1-C8EC2BD857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FD08047-3F4E-ADD1-A6D2-B3EA1D479A32}"/>
              </a:ext>
            </a:extLst>
          </p:cNvPr>
          <p:cNvSpPr>
            <a:spLocks noGrp="1"/>
          </p:cNvSpPr>
          <p:nvPr>
            <p:ph type="title"/>
          </p:nvPr>
        </p:nvSpPr>
        <p:spPr>
          <a:xfrm>
            <a:off x="291821" y="110229"/>
            <a:ext cx="7241346" cy="507796"/>
          </a:xfrm>
        </p:spPr>
        <p:txBody>
          <a:bodyPr/>
          <a:lstStyle/>
          <a:p>
            <a:r>
              <a:rPr lang="en-US" sz="2400" dirty="0"/>
              <a:t>Matcher: </a:t>
            </a:r>
            <a:r>
              <a:rPr lang="en-SG" sz="2400" dirty="0" err="1">
                <a:solidFill>
                  <a:srgbClr val="24292F"/>
                </a:solidFill>
              </a:rPr>
              <a:t>toHaveLength</a:t>
            </a:r>
            <a:r>
              <a:rPr lang="en-SG" sz="2400" dirty="0">
                <a:solidFill>
                  <a:srgbClr val="24292F"/>
                </a:solidFill>
              </a:rPr>
              <a:t>()</a:t>
            </a:r>
            <a:endParaRPr lang="en-US" sz="2400" dirty="0"/>
          </a:p>
        </p:txBody>
      </p:sp>
      <p:sp>
        <p:nvSpPr>
          <p:cNvPr id="5" name="Text Placeholder 4">
            <a:extLst>
              <a:ext uri="{FF2B5EF4-FFF2-40B4-BE49-F238E27FC236}">
                <a16:creationId xmlns:a16="http://schemas.microsoft.com/office/drawing/2014/main" id="{F9612E7C-492C-2F59-15D6-A5646DDFAF71}"/>
              </a:ext>
            </a:extLst>
          </p:cNvPr>
          <p:cNvSpPr>
            <a:spLocks noGrp="1"/>
          </p:cNvSpPr>
          <p:nvPr>
            <p:ph type="body" idx="2"/>
          </p:nvPr>
        </p:nvSpPr>
        <p:spPr>
          <a:xfrm>
            <a:off x="3543319" y="743579"/>
            <a:ext cx="1874909" cy="468040"/>
          </a:xfrm>
        </p:spPr>
        <p:txBody>
          <a:bodyPr/>
          <a:lstStyle/>
          <a:p>
            <a:pPr marL="139700" indent="0">
              <a:buNone/>
            </a:pPr>
            <a:r>
              <a:rPr lang="en-US"/>
              <a:t>Test code:</a:t>
            </a:r>
            <a:endParaRPr lang="en-US" dirty="0"/>
          </a:p>
        </p:txBody>
      </p:sp>
      <p:sp>
        <p:nvSpPr>
          <p:cNvPr id="9" name="Text Placeholder 4">
            <a:extLst>
              <a:ext uri="{FF2B5EF4-FFF2-40B4-BE49-F238E27FC236}">
                <a16:creationId xmlns:a16="http://schemas.microsoft.com/office/drawing/2014/main" id="{44180520-D96B-64F3-EA79-EBDFB5B3D9FD}"/>
              </a:ext>
            </a:extLst>
          </p:cNvPr>
          <p:cNvSpPr txBox="1">
            <a:spLocks/>
          </p:cNvSpPr>
          <p:nvPr/>
        </p:nvSpPr>
        <p:spPr>
          <a:xfrm>
            <a:off x="272774" y="1107591"/>
            <a:ext cx="2714155" cy="507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139700" indent="0">
              <a:buFont typeface="Arial"/>
              <a:buNone/>
            </a:pPr>
            <a:r>
              <a:rPr lang="en-US" dirty="0"/>
              <a:t>Function to be tested:</a:t>
            </a:r>
          </a:p>
          <a:p>
            <a:pPr marL="139700" indent="0">
              <a:buFont typeface="Arial"/>
              <a:buNone/>
            </a:pPr>
            <a:endParaRPr lang="en-US" dirty="0"/>
          </a:p>
          <a:p>
            <a:pPr marL="139700" indent="0">
              <a:buFont typeface="Arial"/>
              <a:buNone/>
            </a:pPr>
            <a:endParaRPr lang="en-US" dirty="0"/>
          </a:p>
        </p:txBody>
      </p:sp>
      <p:sp>
        <p:nvSpPr>
          <p:cNvPr id="10" name="Text Placeholder 4">
            <a:extLst>
              <a:ext uri="{FF2B5EF4-FFF2-40B4-BE49-F238E27FC236}">
                <a16:creationId xmlns:a16="http://schemas.microsoft.com/office/drawing/2014/main" id="{1EB328AD-F2AD-C80B-66EB-BA209C59BBEF}"/>
              </a:ext>
            </a:extLst>
          </p:cNvPr>
          <p:cNvSpPr txBox="1">
            <a:spLocks/>
          </p:cNvSpPr>
          <p:nvPr/>
        </p:nvSpPr>
        <p:spPr>
          <a:xfrm>
            <a:off x="272775" y="1497224"/>
            <a:ext cx="2933976" cy="19762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marR="0" indent="0" algn="l">
              <a:spcAft>
                <a:spcPts val="1200"/>
              </a:spcAft>
              <a:buNone/>
            </a:pPr>
            <a:r>
              <a:rPr lang="en-SG" sz="1050" b="0" i="0" dirty="0">
                <a:solidFill>
                  <a:srgbClr val="002060"/>
                </a:solidFill>
                <a:effectLst/>
                <a:latin typeface="+mn-lt"/>
              </a:rPr>
              <a:t>function </a:t>
            </a:r>
            <a:r>
              <a:rPr lang="en-SG" sz="1050" b="0" i="0" dirty="0" err="1">
                <a:solidFill>
                  <a:srgbClr val="002060"/>
                </a:solidFill>
                <a:effectLst/>
                <a:latin typeface="+mn-lt"/>
              </a:rPr>
              <a:t>getTopScorers</a:t>
            </a:r>
            <a:r>
              <a:rPr lang="en-SG" sz="1050" b="0" i="0" dirty="0">
                <a:solidFill>
                  <a:srgbClr val="002060"/>
                </a:solidFill>
                <a:effectLst/>
                <a:latin typeface="+mn-lt"/>
              </a:rPr>
              <a:t>(students, </a:t>
            </a:r>
            <a:r>
              <a:rPr lang="en-SG" sz="1050" b="0" i="0" dirty="0" err="1">
                <a:solidFill>
                  <a:srgbClr val="002060"/>
                </a:solidFill>
                <a:effectLst/>
                <a:latin typeface="+mn-lt"/>
              </a:rPr>
              <a:t>minScore</a:t>
            </a: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    return </a:t>
            </a:r>
          </a:p>
          <a:p>
            <a:pPr marL="0" marR="0" indent="0" algn="l">
              <a:spcAft>
                <a:spcPts val="1200"/>
              </a:spcAft>
              <a:buNone/>
            </a:pPr>
            <a:r>
              <a:rPr lang="en-SG" sz="1050" dirty="0">
                <a:solidFill>
                  <a:srgbClr val="002060"/>
                </a:solidFill>
                <a:latin typeface="+mn-lt"/>
              </a:rPr>
              <a:t>       </a:t>
            </a:r>
            <a:r>
              <a:rPr lang="en-SG" sz="1050" b="0" i="0" dirty="0" err="1">
                <a:solidFill>
                  <a:srgbClr val="002060"/>
                </a:solidFill>
                <a:effectLst/>
                <a:latin typeface="+mn-lt"/>
              </a:rPr>
              <a:t>students.filter</a:t>
            </a:r>
            <a:r>
              <a:rPr lang="en-SG" sz="1050" b="0" i="0" dirty="0">
                <a:solidFill>
                  <a:srgbClr val="002060"/>
                </a:solidFill>
                <a:effectLst/>
                <a:latin typeface="+mn-lt"/>
              </a:rPr>
              <a:t>(s =&gt; </a:t>
            </a:r>
            <a:r>
              <a:rPr lang="en-SG" sz="1050" b="0" i="0" dirty="0" err="1">
                <a:solidFill>
                  <a:srgbClr val="002060"/>
                </a:solidFill>
                <a:effectLst/>
                <a:latin typeface="+mn-lt"/>
              </a:rPr>
              <a:t>s.score</a:t>
            </a:r>
            <a:r>
              <a:rPr lang="en-SG" sz="1050" b="0" i="0" dirty="0">
                <a:solidFill>
                  <a:srgbClr val="002060"/>
                </a:solidFill>
                <a:effectLst/>
                <a:latin typeface="+mn-lt"/>
              </a:rPr>
              <a:t> &gt;= </a:t>
            </a:r>
            <a:r>
              <a:rPr lang="en-SG" sz="1050" b="0" i="0" dirty="0" err="1">
                <a:solidFill>
                  <a:srgbClr val="002060"/>
                </a:solidFill>
                <a:effectLst/>
                <a:latin typeface="+mn-lt"/>
              </a:rPr>
              <a:t>minScore</a:t>
            </a:r>
            <a:r>
              <a:rPr lang="en-SG" sz="1050" b="0" i="0" dirty="0">
                <a:solidFill>
                  <a:srgbClr val="002060"/>
                </a:solidFill>
                <a:effectLst/>
                <a:latin typeface="+mn-lt"/>
              </a:rPr>
              <a:t>)</a:t>
            </a:r>
          </a:p>
          <a:p>
            <a:pPr marL="0" marR="0" indent="0" algn="l">
              <a:spcAft>
                <a:spcPts val="1200"/>
              </a:spcAft>
              <a:buNone/>
            </a:pPr>
            <a:r>
              <a:rPr lang="en-SG" sz="1050" b="0" i="0" dirty="0">
                <a:solidFill>
                  <a:srgbClr val="002060"/>
                </a:solidFill>
                <a:effectLst/>
                <a:latin typeface="+mn-lt"/>
              </a:rPr>
              <a:t>}</a:t>
            </a:r>
          </a:p>
        </p:txBody>
      </p:sp>
      <p:sp>
        <p:nvSpPr>
          <p:cNvPr id="2" name="TextBox 1">
            <a:extLst>
              <a:ext uri="{FF2B5EF4-FFF2-40B4-BE49-F238E27FC236}">
                <a16:creationId xmlns:a16="http://schemas.microsoft.com/office/drawing/2014/main" id="{E816DD9A-391C-4042-A85C-1AA5627A1109}"/>
              </a:ext>
            </a:extLst>
          </p:cNvPr>
          <p:cNvSpPr txBox="1"/>
          <p:nvPr/>
        </p:nvSpPr>
        <p:spPr>
          <a:xfrm>
            <a:off x="3763141" y="1129128"/>
            <a:ext cx="5291959" cy="3724096"/>
          </a:xfrm>
          <a:prstGeom prst="rect">
            <a:avLst/>
          </a:prstGeom>
          <a:noFill/>
        </p:spPr>
        <p:txBody>
          <a:bodyPr wrap="square" rtlCol="0">
            <a:spAutoFit/>
          </a:bodyPr>
          <a:lstStyle/>
          <a:p>
            <a:pPr marL="0" marR="0" indent="0" algn="l">
              <a:spcAft>
                <a:spcPts val="1200"/>
              </a:spcAft>
              <a:buNone/>
            </a:pPr>
            <a:r>
              <a:rPr lang="en-SG" sz="1050" b="0" i="0" dirty="0">
                <a:solidFill>
                  <a:srgbClr val="002060"/>
                </a:solidFill>
                <a:effectLst/>
                <a:latin typeface="+mn-lt"/>
              </a:rPr>
              <a:t>describe('</a:t>
            </a:r>
            <a:r>
              <a:rPr lang="en-SG" sz="1050" b="0" i="0" dirty="0" err="1">
                <a:solidFill>
                  <a:srgbClr val="002060"/>
                </a:solidFill>
                <a:effectLst/>
                <a:latin typeface="+mn-lt"/>
              </a:rPr>
              <a:t>TestSuite</a:t>
            </a:r>
            <a:r>
              <a:rPr lang="en-SG" sz="1050" b="0" i="0" dirty="0">
                <a:solidFill>
                  <a:srgbClr val="002060"/>
                </a:solidFill>
                <a:effectLst/>
                <a:latin typeface="+mn-lt"/>
              </a:rPr>
              <a:t>: </a:t>
            </a:r>
            <a:r>
              <a:rPr lang="en-SG" sz="1050" b="0" i="0" dirty="0" err="1">
                <a:solidFill>
                  <a:srgbClr val="002060"/>
                </a:solidFill>
                <a:effectLst/>
                <a:latin typeface="+mn-lt"/>
              </a:rPr>
              <a:t>getTopScorers</a:t>
            </a:r>
            <a:r>
              <a:rPr lang="en-SG" sz="1050" b="0" i="0" dirty="0">
                <a:solidFill>
                  <a:srgbClr val="002060"/>
                </a:solidFill>
                <a:effectLst/>
                <a:latin typeface="+mn-lt"/>
              </a:rPr>
              <a:t>', () =&gt; {</a:t>
            </a:r>
          </a:p>
          <a:p>
            <a:pPr marL="0" marR="0" indent="0" algn="l">
              <a:spcAft>
                <a:spcPts val="1200"/>
              </a:spcAft>
              <a:buNone/>
            </a:pPr>
            <a:r>
              <a:rPr lang="en-SG" sz="1050" b="0" i="0" dirty="0">
                <a:solidFill>
                  <a:srgbClr val="002060"/>
                </a:solidFill>
                <a:effectLst/>
                <a:latin typeface="+mn-lt"/>
              </a:rPr>
              <a:t>    </a:t>
            </a:r>
            <a:r>
              <a:rPr lang="en-SG" sz="1050" b="0" i="0" dirty="0" err="1">
                <a:solidFill>
                  <a:srgbClr val="002060"/>
                </a:solidFill>
                <a:effectLst/>
                <a:latin typeface="+mn-lt"/>
              </a:rPr>
              <a:t>const</a:t>
            </a:r>
            <a:r>
              <a:rPr lang="en-SG" sz="1050" b="0" i="0" dirty="0">
                <a:solidFill>
                  <a:srgbClr val="002060"/>
                </a:solidFill>
                <a:effectLst/>
                <a:latin typeface="+mn-lt"/>
              </a:rPr>
              <a:t> students = [</a:t>
            </a:r>
          </a:p>
          <a:p>
            <a:pPr marL="0" marR="0" indent="0" algn="l">
              <a:spcAft>
                <a:spcPts val="1200"/>
              </a:spcAft>
              <a:buNone/>
            </a:pPr>
            <a:r>
              <a:rPr lang="en-SG" sz="1050" b="0" i="0" dirty="0">
                <a:solidFill>
                  <a:srgbClr val="002060"/>
                </a:solidFill>
                <a:effectLst/>
                <a:latin typeface="+mn-lt"/>
              </a:rPr>
              <a:t>     { name: 'Amy',  score: 90 }, { name: 'Ben',  score: 75 }, { name: 'Cara', score: 88 }</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    it('Test1: returns 2 students scoring at least 85', () =&gt; {</a:t>
            </a:r>
          </a:p>
          <a:p>
            <a:pPr marL="0" marR="0" indent="0" algn="l">
              <a:spcAft>
                <a:spcPts val="1200"/>
              </a:spcAft>
              <a:buNone/>
            </a:pPr>
            <a:r>
              <a:rPr lang="en-SG" sz="1050" b="0" i="0" dirty="0">
                <a:solidFill>
                  <a:srgbClr val="002060"/>
                </a:solidFill>
                <a:effectLst/>
                <a:latin typeface="+mn-lt"/>
              </a:rPr>
              <a:t>        expect(</a:t>
            </a:r>
            <a:r>
              <a:rPr lang="en-SG" sz="1050" b="0" i="0" dirty="0" err="1">
                <a:solidFill>
                  <a:srgbClr val="002060"/>
                </a:solidFill>
                <a:effectLst/>
                <a:latin typeface="+mn-lt"/>
              </a:rPr>
              <a:t>getTopScorers</a:t>
            </a:r>
            <a:r>
              <a:rPr lang="en-SG" sz="1050" b="0" i="0" dirty="0">
                <a:solidFill>
                  <a:srgbClr val="002060"/>
                </a:solidFill>
                <a:effectLst/>
                <a:latin typeface="+mn-lt"/>
              </a:rPr>
              <a:t>(students, 85)).</a:t>
            </a:r>
            <a:r>
              <a:rPr lang="en-SG" sz="1050" b="0" i="0" dirty="0" err="1">
                <a:solidFill>
                  <a:srgbClr val="002060"/>
                </a:solidFill>
                <a:effectLst/>
                <a:latin typeface="+mn-lt"/>
              </a:rPr>
              <a:t>toHaveLength</a:t>
            </a:r>
            <a:r>
              <a:rPr lang="en-SG" sz="1050" b="0" i="0" dirty="0">
                <a:solidFill>
                  <a:srgbClr val="002060"/>
                </a:solidFill>
                <a:effectLst/>
                <a:latin typeface="+mn-lt"/>
              </a:rPr>
              <a:t>(2)</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endParaRPr lang="en-SG" sz="1050" b="0" i="0" dirty="0">
              <a:solidFill>
                <a:srgbClr val="002060"/>
              </a:solidFill>
              <a:effectLst/>
              <a:latin typeface="+mn-lt"/>
            </a:endParaRPr>
          </a:p>
          <a:p>
            <a:pPr marL="0" marR="0" indent="0" algn="l">
              <a:spcAft>
                <a:spcPts val="1200"/>
              </a:spcAft>
              <a:buNone/>
            </a:pPr>
            <a:r>
              <a:rPr lang="en-SG" sz="1050" b="0" i="0" dirty="0">
                <a:solidFill>
                  <a:srgbClr val="002060"/>
                </a:solidFill>
                <a:effectLst/>
                <a:latin typeface="+mn-lt"/>
              </a:rPr>
              <a:t>    it('Test2: returns an empty array when no one qualifies', () =&gt; {</a:t>
            </a:r>
          </a:p>
          <a:p>
            <a:pPr marL="0" marR="0" indent="0" algn="l">
              <a:spcAft>
                <a:spcPts val="1200"/>
              </a:spcAft>
              <a:buNone/>
            </a:pPr>
            <a:r>
              <a:rPr lang="en-SG" sz="1050" b="0" i="0" dirty="0">
                <a:solidFill>
                  <a:srgbClr val="002060"/>
                </a:solidFill>
                <a:effectLst/>
                <a:latin typeface="+mn-lt"/>
              </a:rPr>
              <a:t>        expect(</a:t>
            </a:r>
            <a:r>
              <a:rPr lang="en-SG" sz="1050" b="0" i="0" dirty="0" err="1">
                <a:solidFill>
                  <a:srgbClr val="002060"/>
                </a:solidFill>
                <a:effectLst/>
                <a:latin typeface="+mn-lt"/>
              </a:rPr>
              <a:t>getTopScorers</a:t>
            </a:r>
            <a:r>
              <a:rPr lang="en-SG" sz="1050" b="0" i="0" dirty="0">
                <a:solidFill>
                  <a:srgbClr val="002060"/>
                </a:solidFill>
                <a:effectLst/>
                <a:latin typeface="+mn-lt"/>
              </a:rPr>
              <a:t>(students, 100)).</a:t>
            </a:r>
            <a:r>
              <a:rPr lang="en-SG" sz="1050" b="0" i="0" dirty="0" err="1">
                <a:solidFill>
                  <a:srgbClr val="002060"/>
                </a:solidFill>
                <a:effectLst/>
                <a:latin typeface="+mn-lt"/>
              </a:rPr>
              <a:t>toHaveLength</a:t>
            </a:r>
            <a:r>
              <a:rPr lang="en-SG" sz="1050" b="0" i="0" dirty="0">
                <a:solidFill>
                  <a:srgbClr val="002060"/>
                </a:solidFill>
                <a:effectLst/>
                <a:latin typeface="+mn-lt"/>
              </a:rPr>
              <a:t>(0)</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a:t>
            </a:r>
          </a:p>
        </p:txBody>
      </p:sp>
      <p:sp>
        <p:nvSpPr>
          <p:cNvPr id="6" name="TextBox 5">
            <a:extLst>
              <a:ext uri="{FF2B5EF4-FFF2-40B4-BE49-F238E27FC236}">
                <a16:creationId xmlns:a16="http://schemas.microsoft.com/office/drawing/2014/main" id="{A5D7AB9C-9935-BB73-FD17-3DC5A85A9C21}"/>
              </a:ext>
            </a:extLst>
          </p:cNvPr>
          <p:cNvSpPr txBox="1"/>
          <p:nvPr/>
        </p:nvSpPr>
        <p:spPr>
          <a:xfrm>
            <a:off x="88900" y="3788706"/>
            <a:ext cx="3674241" cy="1138773"/>
          </a:xfrm>
          <a:prstGeom prst="rect">
            <a:avLst/>
          </a:prstGeom>
          <a:solidFill>
            <a:schemeClr val="bg1">
              <a:lumMod val="95000"/>
            </a:schemeClr>
          </a:solidFill>
        </p:spPr>
        <p:txBody>
          <a:bodyPr wrap="square" rtlCol="0">
            <a:spAutoFit/>
          </a:bodyPr>
          <a:lstStyle/>
          <a:p>
            <a:pPr marR="0" lvl="0" algn="l">
              <a:spcAft>
                <a:spcPts val="1200"/>
              </a:spcAft>
            </a:pPr>
            <a:r>
              <a:rPr lang="en-US" sz="1200" b="1" i="0" dirty="0" err="1">
                <a:solidFill>
                  <a:schemeClr val="tx1"/>
                </a:solidFill>
                <a:effectLst/>
                <a:latin typeface="+mn-lt"/>
              </a:rPr>
              <a:t>toHaveLength</a:t>
            </a:r>
            <a:r>
              <a:rPr lang="en-US" sz="1200" b="1" i="0" dirty="0">
                <a:solidFill>
                  <a:schemeClr val="tx1"/>
                </a:solidFill>
                <a:effectLst/>
                <a:latin typeface="+mn-lt"/>
              </a:rPr>
              <a:t>(n)</a:t>
            </a:r>
            <a:r>
              <a:rPr lang="en-US" sz="1200" b="0" i="0" dirty="0">
                <a:solidFill>
                  <a:schemeClr val="tx1"/>
                </a:solidFill>
                <a:effectLst/>
                <a:latin typeface="Aptos Mono" panose="020B0009020202020204" pitchFamily="49" charset="0"/>
              </a:rPr>
              <a:t> </a:t>
            </a:r>
            <a:r>
              <a:rPr lang="en-US" sz="1200" b="0" i="0" dirty="0">
                <a:solidFill>
                  <a:schemeClr val="tx1"/>
                </a:solidFill>
                <a:effectLst/>
                <a:latin typeface="+mn-lt"/>
              </a:rPr>
              <a:t>checks that the value's</a:t>
            </a:r>
            <a:br>
              <a:rPr lang="en-US" sz="1200" b="0" i="0" dirty="0">
                <a:solidFill>
                  <a:schemeClr val="tx1"/>
                </a:solidFill>
                <a:effectLst/>
                <a:latin typeface="+mn-lt"/>
              </a:rPr>
            </a:br>
            <a:r>
              <a:rPr lang="en-US" sz="1200" b="1" i="0" dirty="0">
                <a:solidFill>
                  <a:schemeClr val="tx1"/>
                </a:solidFill>
                <a:effectLst/>
                <a:latin typeface="+mn-lt"/>
              </a:rPr>
              <a:t>.length </a:t>
            </a:r>
            <a:r>
              <a:rPr lang="en-US" sz="1200" b="0" i="0" dirty="0">
                <a:solidFill>
                  <a:schemeClr val="tx1"/>
                </a:solidFill>
                <a:effectLst/>
                <a:latin typeface="+mn-lt"/>
              </a:rPr>
              <a:t>property equals </a:t>
            </a:r>
            <a:r>
              <a:rPr lang="en-US" sz="1200" b="0" i="0" dirty="0">
                <a:solidFill>
                  <a:schemeClr val="tx1"/>
                </a:solidFill>
                <a:effectLst/>
                <a:latin typeface="Aptos Mono" panose="020B0009020202020204" pitchFamily="49" charset="0"/>
              </a:rPr>
              <a:t>n</a:t>
            </a:r>
            <a:r>
              <a:rPr lang="en-US" sz="1200" b="0" i="0" dirty="0">
                <a:solidFill>
                  <a:schemeClr val="tx1"/>
                </a:solidFill>
                <a:effectLst/>
                <a:latin typeface="+mn-lt"/>
              </a:rPr>
              <a:t>.</a:t>
            </a:r>
          </a:p>
          <a:p>
            <a:pPr marR="0" lvl="0" algn="l">
              <a:spcAft>
                <a:spcPts val="1200"/>
              </a:spcAft>
            </a:pPr>
            <a:r>
              <a:rPr lang="en-US" sz="1200" b="0" i="0" dirty="0">
                <a:solidFill>
                  <a:schemeClr val="tx1"/>
                </a:solidFill>
                <a:effectLst/>
                <a:latin typeface="+mn-lt"/>
              </a:rPr>
              <a:t>Works for arrays: expect([1, 2, 3]).</a:t>
            </a:r>
            <a:r>
              <a:rPr lang="en-US" sz="1200" b="0" i="0" dirty="0" err="1">
                <a:solidFill>
                  <a:schemeClr val="tx1"/>
                </a:solidFill>
                <a:effectLst/>
                <a:latin typeface="+mn-lt"/>
              </a:rPr>
              <a:t>toHaveLength</a:t>
            </a:r>
            <a:r>
              <a:rPr lang="en-US" sz="1200" b="0" i="0" dirty="0">
                <a:solidFill>
                  <a:schemeClr val="tx1"/>
                </a:solidFill>
                <a:effectLst/>
                <a:latin typeface="+mn-lt"/>
              </a:rPr>
              <a:t>(3)</a:t>
            </a:r>
          </a:p>
          <a:p>
            <a:pPr marR="0" lvl="0" algn="l">
              <a:spcAft>
                <a:spcPts val="1200"/>
              </a:spcAft>
            </a:pPr>
            <a:r>
              <a:rPr lang="en-US" sz="1200" b="0" i="0" dirty="0">
                <a:solidFill>
                  <a:schemeClr val="tx1"/>
                </a:solidFill>
                <a:effectLst/>
                <a:latin typeface="+mn-lt"/>
              </a:rPr>
              <a:t>Works for strings: expect('SMU').</a:t>
            </a:r>
            <a:r>
              <a:rPr lang="en-US" sz="1200" b="0" i="0" dirty="0" err="1">
                <a:solidFill>
                  <a:schemeClr val="tx1"/>
                </a:solidFill>
                <a:effectLst/>
                <a:latin typeface="+mn-lt"/>
              </a:rPr>
              <a:t>toHaveLength</a:t>
            </a:r>
            <a:r>
              <a:rPr lang="en-US" sz="1200" b="0" i="0" dirty="0">
                <a:solidFill>
                  <a:schemeClr val="tx1"/>
                </a:solidFill>
                <a:effectLst/>
                <a:latin typeface="+mn-lt"/>
              </a:rPr>
              <a:t>(3)</a:t>
            </a:r>
          </a:p>
        </p:txBody>
      </p:sp>
    </p:spTree>
    <p:extLst>
      <p:ext uri="{BB962C8B-B14F-4D97-AF65-F5344CB8AC3E}">
        <p14:creationId xmlns:p14="http://schemas.microsoft.com/office/powerpoint/2010/main" val="334475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8E393-5D4D-8B6C-E885-30B7CE3F7D8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1EDA5E-6B2F-C960-58C9-9F11E1A09164}"/>
              </a:ext>
            </a:extLst>
          </p:cNvPr>
          <p:cNvSpPr>
            <a:spLocks noGrp="1"/>
          </p:cNvSpPr>
          <p:nvPr>
            <p:ph type="title"/>
          </p:nvPr>
        </p:nvSpPr>
        <p:spPr>
          <a:xfrm>
            <a:off x="291821" y="110229"/>
            <a:ext cx="7241346" cy="507796"/>
          </a:xfrm>
        </p:spPr>
        <p:txBody>
          <a:bodyPr/>
          <a:lstStyle/>
          <a:p>
            <a:r>
              <a:rPr lang="en-US" sz="2400" dirty="0"/>
              <a:t>Matcher: </a:t>
            </a:r>
            <a:r>
              <a:rPr lang="en-SG" sz="2400" dirty="0" err="1">
                <a:solidFill>
                  <a:srgbClr val="24292F"/>
                </a:solidFill>
              </a:rPr>
              <a:t>toContain</a:t>
            </a:r>
            <a:r>
              <a:rPr lang="en-SG" sz="2400" dirty="0">
                <a:solidFill>
                  <a:srgbClr val="24292F"/>
                </a:solidFill>
              </a:rPr>
              <a:t>() -- Membership Checks</a:t>
            </a:r>
            <a:endParaRPr lang="en-US" sz="2400" dirty="0"/>
          </a:p>
        </p:txBody>
      </p:sp>
      <p:sp>
        <p:nvSpPr>
          <p:cNvPr id="5" name="Text Placeholder 4">
            <a:extLst>
              <a:ext uri="{FF2B5EF4-FFF2-40B4-BE49-F238E27FC236}">
                <a16:creationId xmlns:a16="http://schemas.microsoft.com/office/drawing/2014/main" id="{42A22464-C82D-2548-A592-737882AE9CB0}"/>
              </a:ext>
            </a:extLst>
          </p:cNvPr>
          <p:cNvSpPr>
            <a:spLocks noGrp="1"/>
          </p:cNvSpPr>
          <p:nvPr>
            <p:ph type="body" idx="2"/>
          </p:nvPr>
        </p:nvSpPr>
        <p:spPr>
          <a:xfrm>
            <a:off x="3543319" y="743579"/>
            <a:ext cx="1874909" cy="468040"/>
          </a:xfrm>
        </p:spPr>
        <p:txBody>
          <a:bodyPr/>
          <a:lstStyle/>
          <a:p>
            <a:pPr marL="139700" indent="0">
              <a:buNone/>
            </a:pPr>
            <a:r>
              <a:rPr lang="en-US"/>
              <a:t>Test code:</a:t>
            </a:r>
            <a:endParaRPr lang="en-US" dirty="0"/>
          </a:p>
        </p:txBody>
      </p:sp>
      <p:sp>
        <p:nvSpPr>
          <p:cNvPr id="9" name="Text Placeholder 4">
            <a:extLst>
              <a:ext uri="{FF2B5EF4-FFF2-40B4-BE49-F238E27FC236}">
                <a16:creationId xmlns:a16="http://schemas.microsoft.com/office/drawing/2014/main" id="{C0A24890-19B0-2B89-0D4F-BD7C26303DF3}"/>
              </a:ext>
            </a:extLst>
          </p:cNvPr>
          <p:cNvSpPr txBox="1">
            <a:spLocks/>
          </p:cNvSpPr>
          <p:nvPr/>
        </p:nvSpPr>
        <p:spPr>
          <a:xfrm>
            <a:off x="272774" y="1107591"/>
            <a:ext cx="2714155" cy="5077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139700" indent="0">
              <a:buFont typeface="Arial"/>
              <a:buNone/>
            </a:pPr>
            <a:r>
              <a:rPr lang="en-US" dirty="0"/>
              <a:t>Function to be tested:</a:t>
            </a:r>
          </a:p>
          <a:p>
            <a:pPr marL="139700" indent="0">
              <a:buFont typeface="Arial"/>
              <a:buNone/>
            </a:pPr>
            <a:endParaRPr lang="en-US" dirty="0"/>
          </a:p>
          <a:p>
            <a:pPr marL="139700" indent="0">
              <a:buFont typeface="Arial"/>
              <a:buNone/>
            </a:pPr>
            <a:endParaRPr lang="en-US" dirty="0"/>
          </a:p>
        </p:txBody>
      </p:sp>
      <p:sp>
        <p:nvSpPr>
          <p:cNvPr id="10" name="Text Placeholder 4">
            <a:extLst>
              <a:ext uri="{FF2B5EF4-FFF2-40B4-BE49-F238E27FC236}">
                <a16:creationId xmlns:a16="http://schemas.microsoft.com/office/drawing/2014/main" id="{ABD90173-DFFD-9B85-4437-947AEC57B4C2}"/>
              </a:ext>
            </a:extLst>
          </p:cNvPr>
          <p:cNvSpPr txBox="1">
            <a:spLocks/>
          </p:cNvSpPr>
          <p:nvPr/>
        </p:nvSpPr>
        <p:spPr>
          <a:xfrm>
            <a:off x="272774" y="1497224"/>
            <a:ext cx="3334025" cy="19762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1pPr>
            <a:lvl2pPr marL="914400" marR="0" lvl="1"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5pPr>
            <a:lvl6pPr marL="2743200" marR="0" lvl="5"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6pPr>
            <a:lvl7pPr marL="3200400" marR="0" lvl="6"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7pPr>
            <a:lvl8pPr marL="3657600" marR="0" lvl="7" indent="-304800" algn="l" rtl="0">
              <a:lnSpc>
                <a:spcPct val="115000"/>
              </a:lnSpc>
              <a:spcBef>
                <a:spcPts val="16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1"/>
              </a:buClr>
              <a:buSzPts val="1200"/>
              <a:buFont typeface="Arial"/>
              <a:buChar char="■"/>
              <a:defRPr sz="1200" b="0" i="0" u="none" strike="noStrike" cap="none">
                <a:solidFill>
                  <a:schemeClr val="dk1"/>
                </a:solidFill>
                <a:latin typeface="Arial"/>
                <a:ea typeface="Arial"/>
                <a:cs typeface="Arial"/>
                <a:sym typeface="Arial"/>
              </a:defRPr>
            </a:lvl9pPr>
          </a:lstStyle>
          <a:p>
            <a:pPr marL="0" marR="0" indent="0" algn="l">
              <a:spcAft>
                <a:spcPts val="1200"/>
              </a:spcAft>
              <a:buNone/>
            </a:pPr>
            <a:r>
              <a:rPr lang="en-US" sz="1050" b="0" i="0" dirty="0">
                <a:solidFill>
                  <a:srgbClr val="002060"/>
                </a:solidFill>
                <a:effectLst/>
                <a:latin typeface="+mn-lt"/>
              </a:rPr>
              <a:t>function </a:t>
            </a:r>
            <a:r>
              <a:rPr lang="en-US" sz="1050" b="0" i="0" dirty="0" err="1">
                <a:solidFill>
                  <a:srgbClr val="002060"/>
                </a:solidFill>
                <a:effectLst/>
                <a:latin typeface="+mn-lt"/>
              </a:rPr>
              <a:t>getEnrolledCourses</a:t>
            </a:r>
            <a:r>
              <a:rPr lang="en-US" sz="1050" b="0" i="0" dirty="0">
                <a:solidFill>
                  <a:srgbClr val="002060"/>
                </a:solidFill>
                <a:effectLst/>
                <a:latin typeface="+mn-lt"/>
              </a:rPr>
              <a:t>(student) {</a:t>
            </a:r>
          </a:p>
          <a:p>
            <a:pPr marL="0" marR="0" indent="0" algn="l">
              <a:spcAft>
                <a:spcPts val="1200"/>
              </a:spcAft>
              <a:buNone/>
            </a:pPr>
            <a:r>
              <a:rPr lang="en-US" sz="1050" b="0" i="0" dirty="0">
                <a:solidFill>
                  <a:srgbClr val="002060"/>
                </a:solidFill>
                <a:effectLst/>
                <a:latin typeface="+mn-lt"/>
              </a:rPr>
              <a:t>    return </a:t>
            </a:r>
            <a:r>
              <a:rPr lang="en-US" sz="1050" b="0" i="0" dirty="0" err="1">
                <a:solidFill>
                  <a:srgbClr val="002060"/>
                </a:solidFill>
                <a:effectLst/>
                <a:latin typeface="+mn-lt"/>
              </a:rPr>
              <a:t>student.courses</a:t>
            </a:r>
            <a:r>
              <a:rPr lang="en-US" sz="1050" b="0" i="0" dirty="0">
                <a:solidFill>
                  <a:srgbClr val="002060"/>
                </a:solidFill>
                <a:effectLst/>
                <a:latin typeface="+mn-lt"/>
              </a:rPr>
              <a:t>   // e.g., ['IS216', 'IS113']</a:t>
            </a:r>
          </a:p>
          <a:p>
            <a:pPr marL="0" marR="0" indent="0" algn="l">
              <a:spcAft>
                <a:spcPts val="1200"/>
              </a:spcAft>
              <a:buNone/>
            </a:pPr>
            <a:r>
              <a:rPr lang="en-US" sz="1050" b="0" i="0" dirty="0">
                <a:solidFill>
                  <a:srgbClr val="002060"/>
                </a:solidFill>
                <a:effectLst/>
                <a:latin typeface="+mn-lt"/>
              </a:rPr>
              <a:t>}</a:t>
            </a:r>
            <a:endParaRPr lang="en-SG" sz="1050" b="0" i="0" dirty="0">
              <a:solidFill>
                <a:srgbClr val="002060"/>
              </a:solidFill>
              <a:effectLst/>
              <a:latin typeface="+mn-lt"/>
            </a:endParaRPr>
          </a:p>
        </p:txBody>
      </p:sp>
      <p:sp>
        <p:nvSpPr>
          <p:cNvPr id="2" name="TextBox 1">
            <a:extLst>
              <a:ext uri="{FF2B5EF4-FFF2-40B4-BE49-F238E27FC236}">
                <a16:creationId xmlns:a16="http://schemas.microsoft.com/office/drawing/2014/main" id="{A90A7892-657D-C702-BCB7-3904AEE0547E}"/>
              </a:ext>
            </a:extLst>
          </p:cNvPr>
          <p:cNvSpPr txBox="1"/>
          <p:nvPr/>
        </p:nvSpPr>
        <p:spPr>
          <a:xfrm>
            <a:off x="3763141" y="1129128"/>
            <a:ext cx="5291959" cy="3408625"/>
          </a:xfrm>
          <a:prstGeom prst="rect">
            <a:avLst/>
          </a:prstGeom>
          <a:noFill/>
        </p:spPr>
        <p:txBody>
          <a:bodyPr wrap="square" rtlCol="0">
            <a:spAutoFit/>
          </a:bodyPr>
          <a:lstStyle/>
          <a:p>
            <a:pPr marL="0" marR="0" indent="0" algn="l">
              <a:spcAft>
                <a:spcPts val="1200"/>
              </a:spcAft>
              <a:buNone/>
            </a:pPr>
            <a:r>
              <a:rPr lang="en-SG" sz="1050" b="0" i="0" dirty="0">
                <a:solidFill>
                  <a:srgbClr val="002060"/>
                </a:solidFill>
                <a:effectLst/>
                <a:latin typeface="+mn-lt"/>
              </a:rPr>
              <a:t>describe('</a:t>
            </a:r>
            <a:r>
              <a:rPr lang="en-SG" sz="1050" b="0" i="0" dirty="0" err="1">
                <a:solidFill>
                  <a:srgbClr val="002060"/>
                </a:solidFill>
                <a:effectLst/>
                <a:latin typeface="+mn-lt"/>
              </a:rPr>
              <a:t>TestSuite</a:t>
            </a:r>
            <a:r>
              <a:rPr lang="en-SG" sz="1050" b="0" i="0" dirty="0">
                <a:solidFill>
                  <a:srgbClr val="002060"/>
                </a:solidFill>
                <a:effectLst/>
                <a:latin typeface="+mn-lt"/>
              </a:rPr>
              <a:t>: </a:t>
            </a:r>
            <a:r>
              <a:rPr lang="en-SG" sz="1050" b="0" i="0" dirty="0" err="1">
                <a:solidFill>
                  <a:srgbClr val="002060"/>
                </a:solidFill>
                <a:effectLst/>
                <a:latin typeface="+mn-lt"/>
              </a:rPr>
              <a:t>getEnrolledCourses</a:t>
            </a:r>
            <a:r>
              <a:rPr lang="en-SG" sz="1050" b="0" i="0" dirty="0">
                <a:solidFill>
                  <a:srgbClr val="002060"/>
                </a:solidFill>
                <a:effectLst/>
                <a:latin typeface="+mn-lt"/>
              </a:rPr>
              <a:t>', () =&gt; {</a:t>
            </a:r>
          </a:p>
          <a:p>
            <a:pPr marL="0" marR="0" indent="0" algn="l">
              <a:spcAft>
                <a:spcPts val="1200"/>
              </a:spcAft>
              <a:buNone/>
            </a:pPr>
            <a:r>
              <a:rPr lang="en-SG" sz="1050" b="0" i="0" dirty="0">
                <a:solidFill>
                  <a:srgbClr val="002060"/>
                </a:solidFill>
                <a:effectLst/>
                <a:latin typeface="+mn-lt"/>
              </a:rPr>
              <a:t>    </a:t>
            </a:r>
            <a:r>
              <a:rPr lang="en-SG" sz="1050" b="0" i="0" dirty="0" err="1">
                <a:solidFill>
                  <a:srgbClr val="002060"/>
                </a:solidFill>
                <a:effectLst/>
                <a:latin typeface="+mn-lt"/>
              </a:rPr>
              <a:t>const</a:t>
            </a:r>
            <a:r>
              <a:rPr lang="en-SG" sz="1050" b="0" i="0" dirty="0">
                <a:solidFill>
                  <a:srgbClr val="002060"/>
                </a:solidFill>
                <a:effectLst/>
                <a:latin typeface="+mn-lt"/>
              </a:rPr>
              <a:t> student = { name: 'Dana', courses: ['IS216', 'IS113'] }</a:t>
            </a:r>
          </a:p>
          <a:p>
            <a:pPr marL="0" marR="0" indent="0" algn="l">
              <a:spcAft>
                <a:spcPts val="1200"/>
              </a:spcAft>
              <a:buNone/>
            </a:pPr>
            <a:endParaRPr lang="en-SG" sz="1050" b="0" i="0" dirty="0">
              <a:solidFill>
                <a:srgbClr val="002060"/>
              </a:solidFill>
              <a:effectLst/>
              <a:latin typeface="+mn-lt"/>
            </a:endParaRPr>
          </a:p>
          <a:p>
            <a:pPr marL="0" marR="0" indent="0" algn="l">
              <a:spcAft>
                <a:spcPts val="1200"/>
              </a:spcAft>
              <a:buNone/>
            </a:pPr>
            <a:r>
              <a:rPr lang="en-SG" sz="1050" b="0" i="0" dirty="0">
                <a:solidFill>
                  <a:srgbClr val="002060"/>
                </a:solidFill>
                <a:effectLst/>
                <a:latin typeface="+mn-lt"/>
              </a:rPr>
              <a:t>    it('Test1: student is enrolled in IS216', () =&gt; {</a:t>
            </a:r>
          </a:p>
          <a:p>
            <a:pPr marL="0" marR="0" indent="0" algn="l">
              <a:spcAft>
                <a:spcPts val="1200"/>
              </a:spcAft>
              <a:buNone/>
            </a:pPr>
            <a:r>
              <a:rPr lang="en-SG" sz="1050" b="0" i="0" dirty="0">
                <a:solidFill>
                  <a:srgbClr val="002060"/>
                </a:solidFill>
                <a:effectLst/>
                <a:latin typeface="+mn-lt"/>
              </a:rPr>
              <a:t>        expect(</a:t>
            </a:r>
            <a:r>
              <a:rPr lang="en-SG" sz="1050" b="0" i="0" dirty="0" err="1">
                <a:solidFill>
                  <a:srgbClr val="002060"/>
                </a:solidFill>
                <a:effectLst/>
                <a:latin typeface="+mn-lt"/>
              </a:rPr>
              <a:t>getEnrolledCourses</a:t>
            </a:r>
            <a:r>
              <a:rPr lang="en-SG" sz="1050" b="0" i="0" dirty="0">
                <a:solidFill>
                  <a:srgbClr val="002060"/>
                </a:solidFill>
                <a:effectLst/>
                <a:latin typeface="+mn-lt"/>
              </a:rPr>
              <a:t>(student)).</a:t>
            </a:r>
            <a:r>
              <a:rPr lang="en-SG" sz="1050" b="0" i="0" dirty="0" err="1">
                <a:solidFill>
                  <a:srgbClr val="002060"/>
                </a:solidFill>
                <a:effectLst/>
                <a:latin typeface="+mn-lt"/>
              </a:rPr>
              <a:t>toContain</a:t>
            </a:r>
            <a:r>
              <a:rPr lang="en-SG" sz="1050" b="0" i="0" dirty="0">
                <a:solidFill>
                  <a:srgbClr val="002060"/>
                </a:solidFill>
                <a:effectLst/>
                <a:latin typeface="+mn-lt"/>
              </a:rPr>
              <a:t>('IS216')</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endParaRPr lang="en-SG" sz="1050" b="0" i="0" dirty="0">
              <a:solidFill>
                <a:srgbClr val="002060"/>
              </a:solidFill>
              <a:effectLst/>
              <a:latin typeface="+mn-lt"/>
            </a:endParaRPr>
          </a:p>
          <a:p>
            <a:pPr marL="0" marR="0" indent="0" algn="l">
              <a:spcAft>
                <a:spcPts val="1200"/>
              </a:spcAft>
              <a:buNone/>
            </a:pPr>
            <a:r>
              <a:rPr lang="en-SG" sz="1050" b="0" i="0" dirty="0">
                <a:solidFill>
                  <a:srgbClr val="002060"/>
                </a:solidFill>
                <a:effectLst/>
                <a:latin typeface="+mn-lt"/>
              </a:rPr>
              <a:t>    it('Test2: works on strings too (substring check)', () =&gt; {</a:t>
            </a:r>
          </a:p>
          <a:p>
            <a:pPr marL="0" marR="0" indent="0" algn="l">
              <a:spcAft>
                <a:spcPts val="1200"/>
              </a:spcAft>
              <a:buNone/>
            </a:pPr>
            <a:r>
              <a:rPr lang="en-SG" sz="1050" b="0" i="0" dirty="0">
                <a:solidFill>
                  <a:srgbClr val="002060"/>
                </a:solidFill>
                <a:effectLst/>
                <a:latin typeface="+mn-lt"/>
              </a:rPr>
              <a:t>        expect('Web Application Development II’).</a:t>
            </a:r>
            <a:r>
              <a:rPr lang="en-SG" sz="1050" b="0" i="0" dirty="0" err="1">
                <a:solidFill>
                  <a:srgbClr val="002060"/>
                </a:solidFill>
                <a:effectLst/>
                <a:latin typeface="+mn-lt"/>
              </a:rPr>
              <a:t>toContain</a:t>
            </a:r>
            <a:r>
              <a:rPr lang="en-SG" sz="1050" b="0" i="0" dirty="0">
                <a:solidFill>
                  <a:srgbClr val="002060"/>
                </a:solidFill>
                <a:effectLst/>
                <a:latin typeface="+mn-lt"/>
              </a:rPr>
              <a:t>('Development')</a:t>
            </a:r>
          </a:p>
          <a:p>
            <a:pPr marL="0" marR="0" indent="0" algn="l">
              <a:spcAft>
                <a:spcPts val="1200"/>
              </a:spcAft>
              <a:buNone/>
            </a:pPr>
            <a:r>
              <a:rPr lang="en-SG" sz="1050" b="0" i="0" dirty="0">
                <a:solidFill>
                  <a:srgbClr val="002060"/>
                </a:solidFill>
                <a:effectLst/>
                <a:latin typeface="+mn-lt"/>
              </a:rPr>
              <a:t>    })</a:t>
            </a:r>
          </a:p>
          <a:p>
            <a:pPr marL="0" marR="0" indent="0" algn="l">
              <a:spcAft>
                <a:spcPts val="1200"/>
              </a:spcAft>
              <a:buNone/>
            </a:pPr>
            <a:r>
              <a:rPr lang="en-SG" sz="1050" b="0" i="0" dirty="0">
                <a:solidFill>
                  <a:srgbClr val="002060"/>
                </a:solidFill>
                <a:effectLst/>
                <a:latin typeface="+mn-lt"/>
              </a:rPr>
              <a:t>})</a:t>
            </a:r>
          </a:p>
        </p:txBody>
      </p:sp>
      <p:sp>
        <p:nvSpPr>
          <p:cNvPr id="6" name="TextBox 5">
            <a:extLst>
              <a:ext uri="{FF2B5EF4-FFF2-40B4-BE49-F238E27FC236}">
                <a16:creationId xmlns:a16="http://schemas.microsoft.com/office/drawing/2014/main" id="{CB70B078-BA1E-A245-8FDE-A90339EF3727}"/>
              </a:ext>
            </a:extLst>
          </p:cNvPr>
          <p:cNvSpPr txBox="1"/>
          <p:nvPr/>
        </p:nvSpPr>
        <p:spPr>
          <a:xfrm>
            <a:off x="88900" y="3875595"/>
            <a:ext cx="3517899" cy="954107"/>
          </a:xfrm>
          <a:prstGeom prst="rect">
            <a:avLst/>
          </a:prstGeom>
          <a:solidFill>
            <a:schemeClr val="bg1">
              <a:lumMod val="95000"/>
            </a:schemeClr>
          </a:solidFill>
        </p:spPr>
        <p:txBody>
          <a:bodyPr wrap="square" rtlCol="0">
            <a:spAutoFit/>
          </a:bodyPr>
          <a:lstStyle/>
          <a:p>
            <a:pPr lvl="0"/>
            <a:r>
              <a:rPr lang="en-SG" dirty="0"/>
              <a:t>On an </a:t>
            </a:r>
            <a:r>
              <a:rPr lang="en-SG" b="1" dirty="0"/>
              <a:t>array</a:t>
            </a:r>
            <a:r>
              <a:rPr lang="en-SG" dirty="0"/>
              <a:t> → checks whether the item is an element of the array.</a:t>
            </a:r>
          </a:p>
          <a:p>
            <a:pPr lvl="0"/>
            <a:r>
              <a:rPr lang="en-SG" dirty="0"/>
              <a:t>On a </a:t>
            </a:r>
            <a:r>
              <a:rPr lang="en-SG" b="1" dirty="0"/>
              <a:t>string</a:t>
            </a:r>
            <a:r>
              <a:rPr lang="en-SG" dirty="0"/>
              <a:t> → checks whether it contains the substring.</a:t>
            </a:r>
          </a:p>
        </p:txBody>
      </p:sp>
      <p:sp>
        <p:nvSpPr>
          <p:cNvPr id="4" name="TextBox 3">
            <a:extLst>
              <a:ext uri="{FF2B5EF4-FFF2-40B4-BE49-F238E27FC236}">
                <a16:creationId xmlns:a16="http://schemas.microsoft.com/office/drawing/2014/main" id="{7C204574-7A3C-A53C-B906-527762696451}"/>
              </a:ext>
            </a:extLst>
          </p:cNvPr>
          <p:cNvSpPr txBox="1"/>
          <p:nvPr/>
        </p:nvSpPr>
        <p:spPr>
          <a:xfrm>
            <a:off x="4464050" y="4184650"/>
            <a:ext cx="4140199" cy="784830"/>
          </a:xfrm>
          <a:prstGeom prst="rect">
            <a:avLst/>
          </a:prstGeom>
          <a:solidFill>
            <a:schemeClr val="bg1">
              <a:lumMod val="95000"/>
            </a:schemeClr>
          </a:solidFill>
        </p:spPr>
        <p:txBody>
          <a:bodyPr wrap="square" rtlCol="0">
            <a:spAutoFit/>
          </a:bodyPr>
          <a:lstStyle/>
          <a:p>
            <a:pPr marL="139700" indent="0" algn="l">
              <a:buNone/>
            </a:pPr>
            <a:r>
              <a:rPr lang="en-SG" sz="900" b="1" u="sng" dirty="0"/>
              <a:t>Check out these for partial matches</a:t>
            </a:r>
          </a:p>
          <a:p>
            <a:pPr marL="139700"/>
            <a:r>
              <a:rPr lang="en-SG" sz="900" dirty="0"/>
              <a:t>Partial object match:</a:t>
            </a:r>
            <a:br>
              <a:rPr lang="en-SG" sz="900" dirty="0"/>
            </a:br>
            <a:r>
              <a:rPr lang="en-SG" sz="900" dirty="0">
                <a:hlinkClick r:id="rId3"/>
              </a:rPr>
              <a:t>https://vitest.dev/guide/learn/matchers.html#objects</a:t>
            </a:r>
            <a:br>
              <a:rPr lang="en-SG" sz="900" dirty="0"/>
            </a:br>
            <a:r>
              <a:rPr lang="en-SG" sz="900" dirty="0"/>
              <a:t>Asymmetric-matches: </a:t>
            </a:r>
            <a:r>
              <a:rPr lang="en-SG" sz="900" dirty="0">
                <a:hlinkClick r:id="rId4"/>
              </a:rPr>
              <a:t>https://vitest.dev/guide/learn/matchers.html#asymmetric-matchers</a:t>
            </a:r>
            <a:endParaRPr lang="en-SG" sz="900" dirty="0"/>
          </a:p>
        </p:txBody>
      </p:sp>
    </p:spTree>
    <p:extLst>
      <p:ext uri="{BB962C8B-B14F-4D97-AF65-F5344CB8AC3E}">
        <p14:creationId xmlns:p14="http://schemas.microsoft.com/office/powerpoint/2010/main" val="498946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D52D0-F0B0-E3DE-2D7E-ED4EA60FD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72D93-6052-01C9-B18E-8E001EA07FE8}"/>
              </a:ext>
            </a:extLst>
          </p:cNvPr>
          <p:cNvSpPr>
            <a:spLocks noGrp="1"/>
          </p:cNvSpPr>
          <p:nvPr>
            <p:ph type="title"/>
          </p:nvPr>
        </p:nvSpPr>
        <p:spPr>
          <a:xfrm>
            <a:off x="150766" y="67208"/>
            <a:ext cx="8520600" cy="630901"/>
          </a:xfrm>
        </p:spPr>
        <p:txBody>
          <a:bodyPr/>
          <a:lstStyle/>
          <a:p>
            <a:r>
              <a:rPr lang="en-US" sz="3200" dirty="0"/>
              <a:t>Negating Matchers with .not</a:t>
            </a:r>
            <a:endParaRPr lang="en-US" dirty="0"/>
          </a:p>
        </p:txBody>
      </p:sp>
      <p:sp>
        <p:nvSpPr>
          <p:cNvPr id="3" name="Text Placeholder 2">
            <a:extLst>
              <a:ext uri="{FF2B5EF4-FFF2-40B4-BE49-F238E27FC236}">
                <a16:creationId xmlns:a16="http://schemas.microsoft.com/office/drawing/2014/main" id="{D2AD8CF1-2AF3-940A-430D-95924FA25D04}"/>
              </a:ext>
            </a:extLst>
          </p:cNvPr>
          <p:cNvSpPr>
            <a:spLocks noGrp="1"/>
          </p:cNvSpPr>
          <p:nvPr>
            <p:ph type="body" idx="1"/>
          </p:nvPr>
        </p:nvSpPr>
        <p:spPr>
          <a:xfrm>
            <a:off x="663827" y="842916"/>
            <a:ext cx="7816345" cy="2643234"/>
          </a:xfrm>
        </p:spPr>
        <p:txBody>
          <a:bodyPr/>
          <a:lstStyle/>
          <a:p>
            <a:pPr marL="139700" indent="0">
              <a:buNone/>
            </a:pPr>
            <a:r>
              <a:rPr lang="en-US" sz="1200" dirty="0">
                <a:latin typeface="+mn-lt"/>
              </a:rPr>
              <a:t>Every matcher can be flipped with .not:</a:t>
            </a:r>
          </a:p>
          <a:p>
            <a:pPr marL="139700" indent="0">
              <a:buNone/>
            </a:pPr>
            <a:endParaRPr lang="en-US" sz="1200" dirty="0">
              <a:latin typeface="+mn-lt"/>
            </a:endParaRPr>
          </a:p>
          <a:p>
            <a:pPr marL="139700" indent="0">
              <a:buNone/>
            </a:pPr>
            <a:r>
              <a:rPr lang="en-US" sz="1200" dirty="0">
                <a:latin typeface="+mn-lt"/>
              </a:rPr>
              <a:t>expect(add(2, 2)).</a:t>
            </a:r>
            <a:r>
              <a:rPr lang="en-US" sz="1200" dirty="0" err="1">
                <a:latin typeface="+mn-lt"/>
              </a:rPr>
              <a:t>not.toBe</a:t>
            </a:r>
            <a:r>
              <a:rPr lang="en-US" sz="1200" dirty="0">
                <a:latin typeface="+mn-lt"/>
              </a:rPr>
              <a:t>(5)</a:t>
            </a:r>
          </a:p>
          <a:p>
            <a:pPr marL="139700" indent="0">
              <a:buNone/>
            </a:pPr>
            <a:r>
              <a:rPr lang="en-US" sz="1200" dirty="0">
                <a:latin typeface="+mn-lt"/>
              </a:rPr>
              <a:t>expect('SMU').</a:t>
            </a:r>
            <a:r>
              <a:rPr lang="en-US" sz="1200" dirty="0" err="1">
                <a:latin typeface="+mn-lt"/>
              </a:rPr>
              <a:t>not.toHaveLength</a:t>
            </a:r>
            <a:r>
              <a:rPr lang="en-US" sz="1200" dirty="0">
                <a:latin typeface="+mn-lt"/>
              </a:rPr>
              <a:t>(5)</a:t>
            </a:r>
          </a:p>
          <a:p>
            <a:pPr marL="139700" indent="0">
              <a:buNone/>
            </a:pPr>
            <a:r>
              <a:rPr lang="en-US" sz="1200" dirty="0">
                <a:latin typeface="+mn-lt"/>
              </a:rPr>
              <a:t>expect(['IS216']).</a:t>
            </a:r>
            <a:r>
              <a:rPr lang="en-US" sz="1200" dirty="0" err="1">
                <a:latin typeface="+mn-lt"/>
              </a:rPr>
              <a:t>not.toContain</a:t>
            </a:r>
            <a:r>
              <a:rPr lang="en-US" sz="1200" dirty="0">
                <a:latin typeface="+mn-lt"/>
              </a:rPr>
              <a:t>('IS113')</a:t>
            </a:r>
          </a:p>
          <a:p>
            <a:pPr marL="139700" indent="0">
              <a:buNone/>
            </a:pPr>
            <a:r>
              <a:rPr lang="en-US" sz="1200" dirty="0">
                <a:latin typeface="+mn-lt"/>
              </a:rPr>
              <a:t>expect(</a:t>
            </a:r>
            <a:r>
              <a:rPr lang="en-US" sz="1200" dirty="0" err="1">
                <a:latin typeface="+mn-lt"/>
              </a:rPr>
              <a:t>makeStudent</a:t>
            </a:r>
            <a:r>
              <a:rPr lang="en-US" sz="1200" dirty="0">
                <a:latin typeface="+mn-lt"/>
              </a:rPr>
              <a:t>('Alice', 101)).</a:t>
            </a:r>
            <a:r>
              <a:rPr lang="en-US" sz="1200" dirty="0" err="1">
                <a:latin typeface="+mn-lt"/>
              </a:rPr>
              <a:t>not.toEqual</a:t>
            </a:r>
            <a:r>
              <a:rPr lang="en-US" sz="1200" dirty="0">
                <a:latin typeface="+mn-lt"/>
              </a:rPr>
              <a:t>({ name: 'Bob', id: 2 })</a:t>
            </a:r>
          </a:p>
          <a:p>
            <a:pPr marL="139700" indent="0">
              <a:buNone/>
            </a:pPr>
            <a:r>
              <a:rPr lang="en-US" sz="1200" dirty="0">
                <a:latin typeface="+mn-lt"/>
              </a:rPr>
              <a:t>expect(</a:t>
            </a:r>
            <a:r>
              <a:rPr lang="en-US" sz="1200" dirty="0" err="1">
                <a:latin typeface="+mn-lt"/>
              </a:rPr>
              <a:t>isValidUsername</a:t>
            </a:r>
            <a:r>
              <a:rPr lang="en-US" sz="1200" dirty="0">
                <a:latin typeface="+mn-lt"/>
              </a:rPr>
              <a:t>('</a:t>
            </a:r>
            <a:r>
              <a:rPr lang="en-US" sz="1200" dirty="0" err="1">
                <a:latin typeface="+mn-lt"/>
              </a:rPr>
              <a:t>jacky</a:t>
            </a:r>
            <a:r>
              <a:rPr lang="en-US" sz="1200" dirty="0">
                <a:latin typeface="+mn-lt"/>
              </a:rPr>
              <a:t>')).</a:t>
            </a:r>
            <a:r>
              <a:rPr lang="en-US" sz="1200" dirty="0" err="1">
                <a:latin typeface="+mn-lt"/>
              </a:rPr>
              <a:t>not.toBeFalsy</a:t>
            </a:r>
            <a:r>
              <a:rPr lang="en-US" sz="1200" dirty="0">
                <a:latin typeface="+mn-lt"/>
              </a:rPr>
              <a:t>()</a:t>
            </a:r>
          </a:p>
          <a:p>
            <a:pPr marL="139700" indent="0">
              <a:buNone/>
            </a:pPr>
            <a:endParaRPr lang="en-US" sz="1200" dirty="0">
              <a:latin typeface="+mn-lt"/>
            </a:endParaRPr>
          </a:p>
          <a:p>
            <a:pPr marL="139700" indent="0">
              <a:buNone/>
            </a:pPr>
            <a:endParaRPr lang="en-US" sz="1200" dirty="0">
              <a:latin typeface="+mn-lt"/>
            </a:endParaRPr>
          </a:p>
          <a:p>
            <a:pPr marL="139700" indent="0">
              <a:buNone/>
            </a:pPr>
            <a:r>
              <a:rPr lang="en-US" sz="1200" b="1" dirty="0">
                <a:latin typeface="+mn-lt"/>
              </a:rPr>
              <a:t>.not </a:t>
            </a:r>
            <a:r>
              <a:rPr lang="en-US" sz="1200" dirty="0">
                <a:latin typeface="+mn-lt"/>
              </a:rPr>
              <a:t>asserts the opposite of the matcher — useful for checking that something did not happen.</a:t>
            </a:r>
          </a:p>
          <a:p>
            <a:pPr marL="139700" indent="0">
              <a:lnSpc>
                <a:spcPct val="114999"/>
              </a:lnSpc>
              <a:buNone/>
            </a:pPr>
            <a:br>
              <a:rPr lang="en-SG" sz="1200" dirty="0">
                <a:latin typeface="+mn-lt"/>
              </a:rPr>
            </a:br>
            <a:br>
              <a:rPr lang="en-SG" sz="1200" dirty="0">
                <a:latin typeface="+mn-lt"/>
              </a:rPr>
            </a:br>
            <a:endParaRPr lang="en-SG" sz="1200" dirty="0">
              <a:latin typeface="+mn-lt"/>
            </a:endParaRPr>
          </a:p>
        </p:txBody>
      </p:sp>
    </p:spTree>
    <p:extLst>
      <p:ext uri="{BB962C8B-B14F-4D97-AF65-F5344CB8AC3E}">
        <p14:creationId xmlns:p14="http://schemas.microsoft.com/office/powerpoint/2010/main" val="3676934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D58FC-7146-F8D1-9678-BD5FA67879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87227-BBFB-6A89-2E0B-823C4156A9ED}"/>
              </a:ext>
            </a:extLst>
          </p:cNvPr>
          <p:cNvSpPr>
            <a:spLocks noGrp="1"/>
          </p:cNvSpPr>
          <p:nvPr>
            <p:ph type="title"/>
          </p:nvPr>
        </p:nvSpPr>
        <p:spPr>
          <a:xfrm>
            <a:off x="311700" y="315925"/>
            <a:ext cx="8520600" cy="630901"/>
          </a:xfrm>
        </p:spPr>
        <p:txBody>
          <a:bodyPr/>
          <a:lstStyle/>
          <a:p>
            <a:r>
              <a:rPr lang="en-US" sz="3200"/>
              <a:t>Setting Up for Ex1</a:t>
            </a:r>
            <a:endParaRPr lang="en-SG"/>
          </a:p>
        </p:txBody>
      </p:sp>
      <p:sp>
        <p:nvSpPr>
          <p:cNvPr id="3" name="Text Placeholder 2">
            <a:extLst>
              <a:ext uri="{FF2B5EF4-FFF2-40B4-BE49-F238E27FC236}">
                <a16:creationId xmlns:a16="http://schemas.microsoft.com/office/drawing/2014/main" id="{C5FF418C-5F55-07F3-E824-266D062133FA}"/>
              </a:ext>
            </a:extLst>
          </p:cNvPr>
          <p:cNvSpPr>
            <a:spLocks noGrp="1"/>
          </p:cNvSpPr>
          <p:nvPr>
            <p:ph type="body" idx="1"/>
          </p:nvPr>
        </p:nvSpPr>
        <p:spPr>
          <a:xfrm>
            <a:off x="1096421" y="1298010"/>
            <a:ext cx="6994189" cy="3361772"/>
          </a:xfrm>
        </p:spPr>
        <p:txBody>
          <a:bodyPr/>
          <a:lstStyle/>
          <a:p>
            <a:pPr marL="482600" indent="-342900">
              <a:buAutoNum type="arabicParenBoth"/>
            </a:pPr>
            <a:r>
              <a:rPr lang="en-SG" dirty="0"/>
              <a:t>Open terminal and install </a:t>
            </a:r>
            <a:r>
              <a:rPr lang="en-SG" dirty="0" err="1"/>
              <a:t>Vitest</a:t>
            </a:r>
            <a:r>
              <a:rPr lang="en-SG" b="1" dirty="0"/>
              <a:t> </a:t>
            </a:r>
            <a:br>
              <a:rPr lang="en-SG" b="1" dirty="0"/>
            </a:br>
            <a:r>
              <a:rPr lang="en-SG" b="1" dirty="0"/>
              <a:t>    </a:t>
            </a:r>
            <a:r>
              <a:rPr lang="en-SG" b="1" dirty="0" err="1"/>
              <a:t>pnpm</a:t>
            </a:r>
            <a:r>
              <a:rPr lang="en-SG" b="1" dirty="0"/>
              <a:t> add -D </a:t>
            </a:r>
            <a:r>
              <a:rPr lang="en-SG" b="1" dirty="0" err="1"/>
              <a:t>vitest</a:t>
            </a:r>
            <a:r>
              <a:rPr lang="en-SG" dirty="0"/>
              <a:t> </a:t>
            </a:r>
            <a:br>
              <a:rPr lang="en-SG" dirty="0"/>
            </a:br>
            <a:r>
              <a:rPr lang="en-SG" dirty="0"/>
              <a:t>The "-D" flag means "install as a development dependency"</a:t>
            </a:r>
          </a:p>
          <a:p>
            <a:pPr marL="482600" indent="-342900">
              <a:buAutoNum type="arabicParenBoth"/>
            </a:pPr>
            <a:endParaRPr lang="en-SG" dirty="0"/>
          </a:p>
          <a:p>
            <a:pPr marL="482600" indent="-342900">
              <a:buAutoNum type="arabicParenBoth"/>
            </a:pPr>
            <a:r>
              <a:rPr lang="en-SG" dirty="0"/>
              <a:t>Open resource/Ex1 folder in VS code</a:t>
            </a:r>
            <a:endParaRPr lang="en-SG" b="1" dirty="0"/>
          </a:p>
          <a:p>
            <a:pPr marL="482600" indent="-342900">
              <a:buAutoNum type="arabicParenBoth"/>
            </a:pPr>
            <a:endParaRPr lang="en-SG" b="1" dirty="0"/>
          </a:p>
          <a:p>
            <a:pPr marL="482600" indent="-342900">
              <a:buAutoNum type="arabicParenBoth"/>
            </a:pPr>
            <a:r>
              <a:rPr lang="en-GB" dirty="0"/>
              <a:t>Read </a:t>
            </a:r>
            <a:r>
              <a:rPr lang="en-GB" b="1" dirty="0"/>
              <a:t>SimpleFunction.js</a:t>
            </a:r>
            <a:r>
              <a:rPr lang="en-GB" dirty="0"/>
              <a:t> which contains a JavaScript function called </a:t>
            </a:r>
            <a:r>
              <a:rPr lang="en-GB" b="1" dirty="0"/>
              <a:t>add</a:t>
            </a:r>
            <a:r>
              <a:rPr lang="en-GB" dirty="0"/>
              <a:t> that is to be tested.</a:t>
            </a:r>
          </a:p>
          <a:p>
            <a:pPr marL="482600" indent="-342900">
              <a:buAutoNum type="arabicParenBoth"/>
            </a:pPr>
            <a:endParaRPr lang="en-GB" dirty="0"/>
          </a:p>
          <a:p>
            <a:pPr marL="482600" indent="-342900">
              <a:buAutoNum type="arabicParenBoth"/>
            </a:pPr>
            <a:r>
              <a:rPr lang="en-GB" dirty="0"/>
              <a:t>Read </a:t>
            </a:r>
            <a:r>
              <a:rPr lang="en-GB" b="1" dirty="0"/>
              <a:t>SimpleFunction.</a:t>
            </a:r>
            <a:r>
              <a:rPr lang="en-GB" b="1" dirty="0">
                <a:solidFill>
                  <a:srgbClr val="00B0F0"/>
                </a:solidFill>
              </a:rPr>
              <a:t>spec</a:t>
            </a:r>
            <a:r>
              <a:rPr lang="en-GB" b="1" dirty="0"/>
              <a:t>.js</a:t>
            </a:r>
            <a:r>
              <a:rPr lang="en-GB" dirty="0"/>
              <a:t>. This file contains the test cases for the </a:t>
            </a:r>
            <a:r>
              <a:rPr lang="en-GB" b="1" dirty="0"/>
              <a:t>add</a:t>
            </a:r>
            <a:r>
              <a:rPr lang="en-GB" dirty="0"/>
              <a:t> function. </a:t>
            </a:r>
          </a:p>
          <a:p>
            <a:pPr marL="139700" indent="0">
              <a:buNone/>
            </a:pPr>
            <a:endParaRPr lang="en-SG" dirty="0"/>
          </a:p>
        </p:txBody>
      </p:sp>
    </p:spTree>
    <p:extLst>
      <p:ext uri="{BB962C8B-B14F-4D97-AF65-F5344CB8AC3E}">
        <p14:creationId xmlns:p14="http://schemas.microsoft.com/office/powerpoint/2010/main" val="3944851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C4CF-17CF-F95F-DE58-0EE6DA5F8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8E449F-E927-297B-267E-8F989D3EA851}"/>
              </a:ext>
            </a:extLst>
          </p:cNvPr>
          <p:cNvSpPr>
            <a:spLocks noGrp="1"/>
          </p:cNvSpPr>
          <p:nvPr>
            <p:ph type="title"/>
          </p:nvPr>
        </p:nvSpPr>
        <p:spPr>
          <a:xfrm>
            <a:off x="150766" y="67208"/>
            <a:ext cx="8520600" cy="630901"/>
          </a:xfrm>
        </p:spPr>
        <p:txBody>
          <a:bodyPr/>
          <a:lstStyle/>
          <a:p>
            <a:r>
              <a:rPr lang="en-US" sz="3200"/>
              <a:t>Ex1: Unit Test for Functions</a:t>
            </a:r>
            <a:endParaRPr lang="en-SG"/>
          </a:p>
        </p:txBody>
      </p:sp>
      <p:sp>
        <p:nvSpPr>
          <p:cNvPr id="3" name="Text Placeholder 2">
            <a:extLst>
              <a:ext uri="{FF2B5EF4-FFF2-40B4-BE49-F238E27FC236}">
                <a16:creationId xmlns:a16="http://schemas.microsoft.com/office/drawing/2014/main" id="{04ACCFCB-66A4-725C-1256-E45F25CB15EF}"/>
              </a:ext>
            </a:extLst>
          </p:cNvPr>
          <p:cNvSpPr>
            <a:spLocks noGrp="1"/>
          </p:cNvSpPr>
          <p:nvPr>
            <p:ph type="body" idx="1"/>
          </p:nvPr>
        </p:nvSpPr>
        <p:spPr>
          <a:xfrm>
            <a:off x="663827" y="842916"/>
            <a:ext cx="7816345" cy="4165502"/>
          </a:xfrm>
        </p:spPr>
        <p:txBody>
          <a:bodyPr/>
          <a:lstStyle/>
          <a:p>
            <a:pPr marL="482600" indent="-342900">
              <a:buAutoNum type="arabicParenBoth"/>
            </a:pPr>
            <a:r>
              <a:rPr lang="en-GB" sz="1200" dirty="0"/>
              <a:t>In the terminal window, execute the test using only </a:t>
            </a:r>
            <a:r>
              <a:rPr lang="en-GB" sz="1200" b="1" dirty="0"/>
              <a:t>SimpleFunction.spec.js:                            </a:t>
            </a:r>
            <a:br>
              <a:rPr lang="en-GB" sz="1200" b="1" dirty="0"/>
            </a:br>
            <a:r>
              <a:rPr lang="en-GB" sz="1200" b="1" dirty="0"/>
              <a:t>    </a:t>
            </a:r>
            <a:r>
              <a:rPr lang="en-GB" sz="1200" b="1" dirty="0" err="1"/>
              <a:t>pnpm</a:t>
            </a:r>
            <a:r>
              <a:rPr lang="en-GB" sz="1200" b="1" dirty="0"/>
              <a:t> </a:t>
            </a:r>
            <a:r>
              <a:rPr lang="en-GB" sz="1200" b="1" dirty="0" err="1"/>
              <a:t>vitest</a:t>
            </a:r>
            <a:r>
              <a:rPr lang="en-GB" sz="1200" b="1" dirty="0"/>
              <a:t> SimpleFunction.spec.js</a:t>
            </a:r>
            <a:br>
              <a:rPr lang="en-GB" sz="1200" b="1" dirty="0"/>
            </a:br>
            <a:r>
              <a:rPr lang="en-GB" sz="1200" dirty="0"/>
              <a:t>Observe the results</a:t>
            </a:r>
          </a:p>
          <a:p>
            <a:pPr marL="482600" indent="-342900">
              <a:buAutoNum type="arabicParenBoth"/>
            </a:pPr>
            <a:endParaRPr lang="en-GB" sz="1200" b="1" dirty="0"/>
          </a:p>
          <a:p>
            <a:pPr marL="482600" indent="-342900">
              <a:buAutoNum type="arabicParenBoth"/>
            </a:pPr>
            <a:r>
              <a:rPr lang="en-GB" sz="1200" dirty="0"/>
              <a:t>Now, edit </a:t>
            </a:r>
            <a:r>
              <a:rPr lang="en-GB" sz="1200" b="1" dirty="0"/>
              <a:t>SimpleFunction.spec.js</a:t>
            </a:r>
            <a:r>
              <a:rPr lang="en-GB" sz="1200" dirty="0"/>
              <a:t> to insert a 4</a:t>
            </a:r>
            <a:r>
              <a:rPr lang="en-GB" sz="1200" baseline="30000" dirty="0"/>
              <a:t>th</a:t>
            </a:r>
            <a:r>
              <a:rPr lang="en-GB" sz="1200" dirty="0"/>
              <a:t> test case. This test case can be to add zero to a positive integer. Save the file.</a:t>
            </a:r>
          </a:p>
          <a:p>
            <a:pPr marL="482600" indent="-342900">
              <a:buAutoNum type="arabicParenBoth"/>
            </a:pPr>
            <a:endParaRPr lang="en-GB" sz="1200" dirty="0"/>
          </a:p>
          <a:p>
            <a:pPr marL="482600" indent="-342900">
              <a:buAutoNum type="arabicParenBoth"/>
            </a:pPr>
            <a:r>
              <a:rPr lang="en-GB" sz="1200" dirty="0"/>
              <a:t>Notice that when you modify and save </a:t>
            </a:r>
            <a:r>
              <a:rPr lang="en-GB" sz="1200" b="1" dirty="0"/>
              <a:t>SimpleFunction.spec.js</a:t>
            </a:r>
            <a:r>
              <a:rPr lang="en-GB" sz="1200" dirty="0"/>
              <a:t>, the test reruns automatically in the first terminal window. In this terminal window, you can press "q" to quit the test.</a:t>
            </a:r>
          </a:p>
          <a:p>
            <a:pPr marL="482600" indent="-342900">
              <a:buAutoNum type="arabicParenBoth"/>
            </a:pPr>
            <a:endParaRPr lang="en-SG" sz="1200" dirty="0"/>
          </a:p>
          <a:p>
            <a:pPr marL="482600" indent="-342900">
              <a:buAutoNum type="arabicParenBoth"/>
            </a:pPr>
            <a:r>
              <a:rPr lang="en-SG" sz="1200" dirty="0"/>
              <a:t>Read </a:t>
            </a:r>
            <a:r>
              <a:rPr lang="en-SG" sz="1200" b="1" dirty="0"/>
              <a:t>MoreFunctions.spec.js</a:t>
            </a:r>
            <a:r>
              <a:rPr lang="en-SG" sz="1200" dirty="0"/>
              <a:t>. This file contains more functions to be tested, &amp; their respective tests. (We usually place them in separate files, but in this case, they are placed in the same file for convenience). Be familiar with other matchers besides </a:t>
            </a:r>
            <a:r>
              <a:rPr lang="en-SG" sz="1200" b="1" dirty="0" err="1"/>
              <a:t>toBe</a:t>
            </a:r>
            <a:r>
              <a:rPr lang="en-SG" sz="1200" b="1" dirty="0"/>
              <a:t>()</a:t>
            </a:r>
            <a:r>
              <a:rPr lang="en-SG" sz="1200" dirty="0"/>
              <a:t>.</a:t>
            </a:r>
            <a:br>
              <a:rPr lang="en-SG" sz="1200" dirty="0"/>
            </a:br>
            <a:br>
              <a:rPr lang="en-SG" sz="1200" dirty="0"/>
            </a:br>
            <a:r>
              <a:rPr lang="en-SG" sz="1200" dirty="0"/>
              <a:t>Run the tests:</a:t>
            </a:r>
            <a:br>
              <a:rPr lang="en-SG" sz="1200" dirty="0"/>
            </a:br>
            <a:r>
              <a:rPr lang="en-SG" sz="1200" dirty="0"/>
              <a:t>    </a:t>
            </a:r>
            <a:r>
              <a:rPr lang="en-SG" sz="1200" b="1" dirty="0" err="1"/>
              <a:t>pnpm</a:t>
            </a:r>
            <a:r>
              <a:rPr lang="en-SG" sz="1200" b="1" dirty="0"/>
              <a:t> </a:t>
            </a:r>
            <a:r>
              <a:rPr lang="en-SG" sz="1200" b="1" dirty="0" err="1"/>
              <a:t>vitest</a:t>
            </a:r>
            <a:r>
              <a:rPr lang="en-SG" sz="1200" b="1" dirty="0"/>
              <a:t> MoreFunctions.spec.js</a:t>
            </a:r>
            <a:br>
              <a:rPr lang="en-SG" sz="1000" b="1" dirty="0"/>
            </a:br>
            <a:r>
              <a:rPr lang="en-SG" sz="1200" dirty="0"/>
              <a:t>Observe the results.</a:t>
            </a:r>
            <a:br>
              <a:rPr lang="en-SG" sz="1200" dirty="0"/>
            </a:br>
            <a:r>
              <a:rPr lang="en-SG" sz="1200" dirty="0"/>
              <a:t>Note: just running "</a:t>
            </a:r>
            <a:r>
              <a:rPr lang="en-SG" sz="1200" b="1" dirty="0" err="1"/>
              <a:t>pnpm</a:t>
            </a:r>
            <a:r>
              <a:rPr lang="en-SG" sz="1200" b="1" dirty="0"/>
              <a:t> </a:t>
            </a:r>
            <a:r>
              <a:rPr lang="en-SG" sz="1200" b="1" dirty="0" err="1"/>
              <a:t>vitest</a:t>
            </a:r>
            <a:r>
              <a:rPr lang="en-SG" sz="1200" dirty="0"/>
              <a:t>" without specifying a file will run all *.spec.js (and *.test.js) files in the same folder. </a:t>
            </a:r>
          </a:p>
        </p:txBody>
      </p:sp>
    </p:spTree>
    <p:extLst>
      <p:ext uri="{BB962C8B-B14F-4D97-AF65-F5344CB8AC3E}">
        <p14:creationId xmlns:p14="http://schemas.microsoft.com/office/powerpoint/2010/main" val="3400528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316F-5E68-CFB1-5A1A-07E0DFCF5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EB9D1-E335-3B95-0DBD-D614974ADC10}"/>
              </a:ext>
            </a:extLst>
          </p:cNvPr>
          <p:cNvSpPr>
            <a:spLocks noGrp="1"/>
          </p:cNvSpPr>
          <p:nvPr>
            <p:ph type="title"/>
          </p:nvPr>
        </p:nvSpPr>
        <p:spPr>
          <a:xfrm>
            <a:off x="194687" y="95431"/>
            <a:ext cx="4201572" cy="679289"/>
          </a:xfrm>
        </p:spPr>
        <p:txBody>
          <a:bodyPr/>
          <a:lstStyle/>
          <a:p>
            <a:r>
              <a:rPr lang="en-US" sz="3200"/>
              <a:t>Take Away Message</a:t>
            </a:r>
            <a:endParaRPr lang="en-US" sz="4000" dirty="0"/>
          </a:p>
        </p:txBody>
      </p:sp>
      <p:sp>
        <p:nvSpPr>
          <p:cNvPr id="3" name="Text Placeholder 2">
            <a:extLst>
              <a:ext uri="{FF2B5EF4-FFF2-40B4-BE49-F238E27FC236}">
                <a16:creationId xmlns:a16="http://schemas.microsoft.com/office/drawing/2014/main" id="{C15EFFE0-9304-3D1C-B9DA-C01D2DAEE10C}"/>
              </a:ext>
            </a:extLst>
          </p:cNvPr>
          <p:cNvSpPr>
            <a:spLocks noGrp="1"/>
          </p:cNvSpPr>
          <p:nvPr>
            <p:ph type="body" idx="1"/>
          </p:nvPr>
        </p:nvSpPr>
        <p:spPr>
          <a:xfrm>
            <a:off x="311700" y="1225225"/>
            <a:ext cx="4084557" cy="3602350"/>
          </a:xfrm>
        </p:spPr>
        <p:txBody>
          <a:bodyPr/>
          <a:lstStyle/>
          <a:p>
            <a:pPr marL="139700" indent="0">
              <a:buNone/>
            </a:pPr>
            <a:r>
              <a:rPr lang="en-SG"/>
              <a:t>Definitions of:</a:t>
            </a:r>
          </a:p>
          <a:p>
            <a:pPr>
              <a:buFont typeface="Arial" panose="020B0604020202020204" pitchFamily="34" charset="0"/>
              <a:buChar char="•"/>
            </a:pPr>
            <a:r>
              <a:rPr lang="en-SG"/>
              <a:t>Verification vs. validation</a:t>
            </a:r>
          </a:p>
          <a:p>
            <a:pPr>
              <a:buFont typeface="Arial" panose="020B0604020202020204" pitchFamily="34" charset="0"/>
              <a:buChar char="•"/>
            </a:pPr>
            <a:r>
              <a:rPr lang="en-SG"/>
              <a:t>Regression testing</a:t>
            </a:r>
          </a:p>
          <a:p>
            <a:pPr>
              <a:buFont typeface="Arial" panose="020B0604020202020204" pitchFamily="34" charset="0"/>
              <a:buChar char="•"/>
            </a:pPr>
            <a:r>
              <a:rPr lang="en-SG"/>
              <a:t>Test-Driven Development</a:t>
            </a:r>
          </a:p>
          <a:p>
            <a:pPr>
              <a:buFont typeface="Arial" panose="020B0604020202020204" pitchFamily="34" charset="0"/>
              <a:buChar char="•"/>
            </a:pPr>
            <a:r>
              <a:rPr lang="en-SG"/>
              <a:t>Load testing</a:t>
            </a:r>
          </a:p>
          <a:p>
            <a:pPr marL="139700" indent="0">
              <a:buNone/>
            </a:pPr>
            <a:r>
              <a:rPr lang="en-SG"/>
              <a:t>Different types of testing: Unit testing vs. integration testing vs. E2E testing.</a:t>
            </a:r>
          </a:p>
          <a:p>
            <a:pPr>
              <a:buFont typeface="Arial" panose="020B0604020202020204" pitchFamily="34" charset="0"/>
              <a:buChar char="•"/>
            </a:pPr>
            <a:endParaRPr lang="en-SG"/>
          </a:p>
        </p:txBody>
      </p:sp>
      <p:cxnSp>
        <p:nvCxnSpPr>
          <p:cNvPr id="7" name="Straight Connector 6">
            <a:extLst>
              <a:ext uri="{FF2B5EF4-FFF2-40B4-BE49-F238E27FC236}">
                <a16:creationId xmlns:a16="http://schemas.microsoft.com/office/drawing/2014/main" id="{76ED41BC-A19F-B21C-43F4-92B9FD6319C0}"/>
              </a:ext>
            </a:extLst>
          </p:cNvPr>
          <p:cNvCxnSpPr>
            <a:cxnSpLocks/>
          </p:cNvCxnSpPr>
          <p:nvPr/>
        </p:nvCxnSpPr>
        <p:spPr>
          <a:xfrm>
            <a:off x="4571357" y="571376"/>
            <a:ext cx="1" cy="4256199"/>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EDCC56E-0E28-D5A1-F027-116E3E287035}"/>
              </a:ext>
            </a:extLst>
          </p:cNvPr>
          <p:cNvSpPr>
            <a:spLocks noGrp="1"/>
          </p:cNvSpPr>
          <p:nvPr>
            <p:ph type="body" idx="2"/>
          </p:nvPr>
        </p:nvSpPr>
        <p:spPr>
          <a:xfrm>
            <a:off x="4869262" y="1365592"/>
            <a:ext cx="3834161" cy="3101081"/>
          </a:xfrm>
        </p:spPr>
        <p:txBody>
          <a:bodyPr/>
          <a:lstStyle/>
          <a:p>
            <a:pPr marL="139700" indent="0">
              <a:buNone/>
            </a:pPr>
            <a:r>
              <a:rPr lang="en-SG"/>
              <a:t>Practical testing skills:</a:t>
            </a:r>
          </a:p>
          <a:p>
            <a:pPr>
              <a:buFont typeface="Arial" panose="020B0604020202020204" pitchFamily="34" charset="0"/>
              <a:buChar char="•"/>
            </a:pPr>
            <a:r>
              <a:rPr lang="en-SG"/>
              <a:t>Write &amp; run a unit test for a JavaScript function using Vitest</a:t>
            </a:r>
          </a:p>
          <a:p>
            <a:pPr>
              <a:buFont typeface="Arial" panose="020B0604020202020204" pitchFamily="34" charset="0"/>
              <a:buChar char="•"/>
            </a:pPr>
            <a:r>
              <a:rPr lang="en-SG"/>
              <a:t>Be familiar with how to use the following functions in Vitest scripts: </a:t>
            </a:r>
            <a:r>
              <a:rPr lang="en-SG" b="1"/>
              <a:t>describe</a:t>
            </a:r>
            <a:r>
              <a:rPr lang="en-SG"/>
              <a:t>(), </a:t>
            </a:r>
            <a:r>
              <a:rPr lang="en-SG" b="1"/>
              <a:t>it</a:t>
            </a:r>
            <a:r>
              <a:rPr lang="en-SG"/>
              <a:t>()/</a:t>
            </a:r>
            <a:r>
              <a:rPr lang="en-SG" b="1"/>
              <a:t>test</a:t>
            </a:r>
            <a:r>
              <a:rPr lang="en-SG"/>
              <a:t>(), </a:t>
            </a:r>
            <a:r>
              <a:rPr lang="en-SG" b="1"/>
              <a:t>expect</a:t>
            </a:r>
            <a:r>
              <a:rPr lang="en-SG"/>
              <a:t>(), toBe() and other matchers such as </a:t>
            </a:r>
            <a:r>
              <a:rPr lang="en-SG" b="1"/>
              <a:t>toBeTruthy</a:t>
            </a:r>
            <a:r>
              <a:rPr lang="en-SG"/>
              <a:t>(), </a:t>
            </a:r>
            <a:r>
              <a:rPr lang="en-SG" b="1"/>
              <a:t>toHaveLength</a:t>
            </a:r>
            <a:r>
              <a:rPr lang="en-SG"/>
              <a:t>(), </a:t>
            </a:r>
            <a:r>
              <a:rPr lang="en-SG" b="1"/>
              <a:t>toEqual</a:t>
            </a:r>
            <a:r>
              <a:rPr lang="en-SG"/>
              <a:t>() etc.</a:t>
            </a:r>
          </a:p>
          <a:p>
            <a:endParaRPr lang="en-SG"/>
          </a:p>
        </p:txBody>
      </p:sp>
    </p:spTree>
    <p:extLst>
      <p:ext uri="{BB962C8B-B14F-4D97-AF65-F5344CB8AC3E}">
        <p14:creationId xmlns:p14="http://schemas.microsoft.com/office/powerpoint/2010/main" val="625952951"/>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a:spAutoFit/>
      </a:bodyPr>
      <a:lstStyle>
        <a:defPPr marL="139700" indent="0" algn="l">
          <a:buNone/>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e756f9c-e3e7-4810-90da-ea6bfb97c434}" enabled="1" method="Privileged" siteId="{c98a79ca-5a9a-4791-a243-f06afd67464d}" contentBits="0" removed="0"/>
</clbl:labelList>
</file>

<file path=docProps/app.xml><?xml version="1.0" encoding="utf-8"?>
<Properties xmlns="http://schemas.openxmlformats.org/officeDocument/2006/extended-properties" xmlns:vt="http://schemas.openxmlformats.org/officeDocument/2006/docPropsVTypes">
  <TotalTime>9190</TotalTime>
  <Words>2687</Words>
  <Application>Microsoft Office PowerPoint</Application>
  <PresentationFormat>On-screen Show (16:9)</PresentationFormat>
  <Paragraphs>294</Paragraphs>
  <Slides>19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 Mono</vt:lpstr>
      <vt:lpstr>Aptos Narrow</vt:lpstr>
      <vt:lpstr>Arial</vt:lpstr>
      <vt:lpstr>Consolas</vt:lpstr>
      <vt:lpstr>Times New Roman</vt:lpstr>
      <vt:lpstr>ui-monospace</vt:lpstr>
      <vt:lpstr>Luxe</vt:lpstr>
      <vt:lpstr>Web Application Development II</vt:lpstr>
      <vt:lpstr>Agenda</vt:lpstr>
      <vt:lpstr>1. Definitions &amp; Concepts</vt:lpstr>
      <vt:lpstr>Regression Testing</vt:lpstr>
      <vt:lpstr>Test-Driven Development (TDD)</vt:lpstr>
      <vt:lpstr>Load Testing</vt:lpstr>
      <vt:lpstr>Different Types of Tests</vt:lpstr>
      <vt:lpstr>2. Unit Test</vt:lpstr>
      <vt:lpstr>Example of Unit Testing (for a JavaScript Function)</vt:lpstr>
      <vt:lpstr>PowerPoint Presentation</vt:lpstr>
      <vt:lpstr>Matchers</vt:lpstr>
      <vt:lpstr>Matcher: toEqual()</vt:lpstr>
      <vt:lpstr>Matcher: toBeTruthy() / toBeFalsy()</vt:lpstr>
      <vt:lpstr>Matcher: toHaveLength()</vt:lpstr>
      <vt:lpstr>Matcher: toContain() -- Membership Checks</vt:lpstr>
      <vt:lpstr>Negating Matchers with .not</vt:lpstr>
      <vt:lpstr>Setting Up for Ex1</vt:lpstr>
      <vt:lpstr>Ex1: Unit Test for Functions</vt:lpstr>
      <vt:lpstr>Take Away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SHAR Lwin Khin</cp:lastModifiedBy>
  <cp:revision>103</cp:revision>
  <dcterms:modified xsi:type="dcterms:W3CDTF">2026-10-14T10:58:56Z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e756f9c-e3e7-4810-90da-ea6bfb97c434_Enabled">
    <vt:lpwstr>true</vt:lpwstr>
  </property>
  <property fmtid="{D5CDD505-2E9C-101B-9397-08002B2CF9AE}" pid="3" name="MSIP_Label_1e756f9c-e3e7-4810-90da-ea6bfb97c434_SetDate">
    <vt:lpwstr>2022-06-08T19:02:47Z</vt:lpwstr>
  </property>
  <property fmtid="{D5CDD505-2E9C-101B-9397-08002B2CF9AE}" pid="4" name="MSIP_Label_1e756f9c-e3e7-4810-90da-ea6bfb97c434_Method">
    <vt:lpwstr>Privileged</vt:lpwstr>
  </property>
  <property fmtid="{D5CDD505-2E9C-101B-9397-08002B2CF9AE}" pid="5" name="MSIP_Label_1e756f9c-e3e7-4810-90da-ea6bfb97c434_Name">
    <vt:lpwstr>1e756f9c-e3e7-4810-90da-ea6bfb97c434</vt:lpwstr>
  </property>
  <property fmtid="{D5CDD505-2E9C-101B-9397-08002B2CF9AE}" pid="6" name="MSIP_Label_1e756f9c-e3e7-4810-90da-ea6bfb97c434_SiteId">
    <vt:lpwstr>c98a79ca-5a9a-4791-a243-f06afd67464d</vt:lpwstr>
  </property>
  <property fmtid="{D5CDD505-2E9C-101B-9397-08002B2CF9AE}" pid="7" name="MSIP_Label_1e756f9c-e3e7-4810-90da-ea6bfb97c434_ActionId">
    <vt:lpwstr>8da855f0-8740-4300-86c2-d44805c7265f</vt:lpwstr>
  </property>
  <property fmtid="{D5CDD505-2E9C-101B-9397-08002B2CF9AE}" pid="8" name="MSIP_Label_1e756f9c-e3e7-4810-90da-ea6bfb97c434_ContentBits">
    <vt:lpwstr>0</vt:lpwstr>
  </property>
</Properties>
</file>