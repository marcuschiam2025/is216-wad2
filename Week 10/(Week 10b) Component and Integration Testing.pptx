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370" r:id="rId4"/>
    <p:sldId id="373" r:id="rId5"/>
    <p:sldId id="387" r:id="rId6"/>
    <p:sldId id="374" r:id="rId7"/>
    <p:sldId id="388" r:id="rId8"/>
    <p:sldId id="390" r:id="rId9"/>
    <p:sldId id="389" r:id="rId10"/>
    <p:sldId id="362" r:id="rId11"/>
    <p:sldId id="361" r:id="rId12"/>
    <p:sldId id="363" r:id="rId13"/>
    <p:sldId id="376" r:id="rId14"/>
    <p:sldId id="377" r:id="rId15"/>
    <p:sldId id="385" r:id="rId16"/>
    <p:sldId id="392" r:id="rId17"/>
    <p:sldId id="375" r:id="rId18"/>
    <p:sldId id="381" r:id="rId19"/>
    <p:sldId id="400" r:id="rId20"/>
    <p:sldId id="398" r:id="rId21"/>
    <p:sldId id="399" r:id="rId22"/>
    <p:sldId id="401" r:id="rId23"/>
    <p:sldId id="384" r:id="rId24"/>
    <p:sldId id="395" r:id="rId25"/>
    <p:sldId id="393" r:id="rId26"/>
    <p:sldId id="394" r:id="rId27"/>
    <p:sldId id="397" r:id="rId28"/>
    <p:sldId id="396" r:id="rId29"/>
    <p:sldId id="402" r:id="rId30"/>
    <p:sldId id="403" r:id="rId3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0" roundtripDataSignature="AMtx7mjaLgwvFmb99B6uTL6zwCSN3bxF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5D735A-9BCC-4A0A-8336-7D16119737FB}">
  <a:tblStyle styleId="{775D735A-9BCC-4A0A-8336-7D16119737F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73"/>
    <p:restoredTop sz="81523" autoAdjust="0"/>
  </p:normalViewPr>
  <p:slideViewPr>
    <p:cSldViewPr snapToGrid="0">
      <p:cViewPr varScale="1">
        <p:scale>
          <a:sx n="83" d="100"/>
          <a:sy n="83" d="100"/>
        </p:scale>
        <p:origin x="90" y="1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Relationship Id="rId80" Type="http://customschemas.google.com/relationships/presentationmetadata" Target="meta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86be9dc936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72" name="Google Shape;72;g86be9dc936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942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0964B-563C-0429-8390-BACC2480B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4BFC3-566C-31F2-6E84-A824335AF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E4801-AA97-F81C-B962-332CFB197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8070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386D3-9C9D-C289-C1FD-84193B42C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9CF6BD-78F8-72AD-1942-FC3954298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28902-75F3-6E05-8F5E-03CB7A351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/>
              <a:t>Not tested in this example (but can be included):</a:t>
            </a:r>
          </a:p>
          <a:p>
            <a:r>
              <a:rPr lang="en-SG"/>
              <a:t>boundary values (80, 79, 70, 69, 60, 59) </a:t>
            </a:r>
          </a:p>
          <a:p>
            <a:r>
              <a:rPr lang="en-SG"/>
              <a:t>invalid input (negative numbers, </a:t>
            </a:r>
            <a:r>
              <a:rPr lang="en-SG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undefined</a:t>
            </a:r>
            <a:r>
              <a:rPr lang="en-SG"/>
              <a:t>, strings, etc.)</a:t>
            </a:r>
          </a:p>
        </p:txBody>
      </p:sp>
    </p:spTree>
    <p:extLst>
      <p:ext uri="{BB962C8B-B14F-4D97-AF65-F5344CB8AC3E}">
        <p14:creationId xmlns:p14="http://schemas.microsoft.com/office/powerpoint/2010/main" val="3758950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551E5-8CA7-ED8E-BD26-B80AFF05B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05AAF2-CB31-DBA2-54C4-F8722AB40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DF051-A009-4143-2A29-4106FD2AA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31876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1EBB7-8F88-915C-8978-D6F5AB9E9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A9D6D-BC8C-A2CE-35CB-911C9B8E6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D4431F-16F1-2159-7A95-C0F5D1CD5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1715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092BB-FFAC-A3DE-7656-B314B77B5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A5AAA-4C14-0363-7AD3-AD8B02A02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6F03B2-7211-9B44-4CC3-87C8E0E7C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33269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7D25E-7558-2575-14A0-221226A6C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46F02-C8C4-6656-8B84-6539C279D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ECB9B-31CF-091F-C615-5855CDBD2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73690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86240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412836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55AEE-5759-D33D-9B2E-8EFD4CE08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A74DB6-99F4-DBE6-29FD-0B37F2EC2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AEBFE-8AA5-FF92-5598-E95C27E5C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91723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13EF7-2836-A08E-35E6-F2F0C3F0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1CD9A-2A92-7802-B70D-A0ADCB040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37A3D-2BB5-AD96-F354-B708FCEB4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36995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BA7DB-2FA7-9068-2B07-34954DDF3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4A679-4CAD-E06E-B922-2EF6696FF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A85DA-A387-4098-4CA8-A06702D6E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22685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53220-115F-5A1B-1A48-CC3CC284A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6AF86F-348C-4556-1129-571E5C7C9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E5E09-67FB-BB5A-DD4F-C75CD18BD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9304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CEFD1-0E9F-788E-3664-C9A98FE88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DF3E7-A148-18AC-C9F6-FAB113E46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CA0BEB-1580-6194-825D-D91D617E9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14557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36E18-DBF1-622D-4274-B0545A463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5D1C43-55ED-C9E3-C1D8-71626DD36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F7C58A-66CB-5415-B5D9-DB8B48113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53232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5BB41-1C1A-16D7-7D96-7C3574EB4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7B6A98-2A0F-1CDF-16F3-54FDBC9DC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919BC-AFFD-F37E-533F-B28991805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256948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7F719-A68D-D3F4-A723-D1083A6EA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580E5-6C39-865B-4A41-64751B0FA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01578-A001-F37C-4E19-64E9804B2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83382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70263-4A00-EBF4-3395-DEB5F9D5F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F0B03-43DD-B871-D03D-FC706C069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FCC36-8F28-0B7C-0B93-575ADA288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48865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1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" name="Google Shape;20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6" name="Google Shape;36;p65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6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7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p67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67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67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67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8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/>
          </a:p>
        </p:txBody>
      </p:sp>
      <p:sp>
        <p:nvSpPr>
          <p:cNvPr id="51" name="Google Shape;51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9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69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0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Google Shape;12;p60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Google Shape;13;p60"/>
          <p:cNvSpPr txBox="1">
            <a:spLocks noGrp="1"/>
          </p:cNvSpPr>
          <p:nvPr>
            <p:ph type="ctrTitle"/>
          </p:nvPr>
        </p:nvSpPr>
        <p:spPr>
          <a:xfrm>
            <a:off x="3044699" y="1444255"/>
            <a:ext cx="3144065" cy="1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0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144064" cy="7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7335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9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>
            <a:spLocks noGrp="1"/>
          </p:cNvSpPr>
          <p:nvPr>
            <p:ph type="ctrTitle"/>
          </p:nvPr>
        </p:nvSpPr>
        <p:spPr>
          <a:xfrm>
            <a:off x="2964232" y="880984"/>
            <a:ext cx="3651375" cy="1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600"/>
              <a:t>Web Application Development II</a:t>
            </a:r>
            <a:endParaRPr sz="3600"/>
          </a:p>
        </p:txBody>
      </p:sp>
      <p:sp>
        <p:nvSpPr>
          <p:cNvPr id="64" name="Google Shape;64;p1"/>
          <p:cNvSpPr txBox="1">
            <a:spLocks noGrp="1"/>
          </p:cNvSpPr>
          <p:nvPr>
            <p:ph type="subTitle" idx="1"/>
          </p:nvPr>
        </p:nvSpPr>
        <p:spPr>
          <a:xfrm>
            <a:off x="3052015" y="2725317"/>
            <a:ext cx="3304894" cy="7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Week 10: Testing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 lang="en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1400"/>
              <a:t>10b: </a:t>
            </a:r>
            <a:r>
              <a:rPr lang="en-US" sz="1400"/>
              <a:t>Component &amp; Integration Testing using Vitest</a:t>
            </a:r>
            <a:endParaRPr sz="14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13847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82600" indent="-342900">
              <a:buFont typeface="+mj-lt"/>
              <a:buAutoNum type="arabicPeriod"/>
            </a:pPr>
            <a:r>
              <a:rPr lang="en-US">
                <a:solidFill>
                  <a:schemeClr val="tx1"/>
                </a:solidFill>
              </a:rPr>
              <a:t>Definitions and Concepts</a:t>
            </a:r>
          </a:p>
          <a:p>
            <a:pPr marL="482600" indent="-342900">
              <a:buFont typeface="+mj-lt"/>
              <a:buAutoNum type="arabicPeriod"/>
            </a:pPr>
            <a:r>
              <a:rPr lang="en-US">
                <a:solidFill>
                  <a:schemeClr val="tx1"/>
                </a:solidFill>
              </a:rPr>
              <a:t>Unit Testing: Functions</a:t>
            </a:r>
          </a:p>
          <a:p>
            <a:pPr marL="482600" indent="-342900">
              <a:buFont typeface="+mj-lt"/>
              <a:buAutoNum type="arabicPeriod"/>
            </a:pPr>
            <a:r>
              <a:rPr lang="en-US" b="1">
                <a:solidFill>
                  <a:srgbClr val="0070C0"/>
                </a:solidFill>
              </a:rPr>
              <a:t>Component &amp; Integration Testing</a:t>
            </a:r>
          </a:p>
          <a:p>
            <a:pPr marL="482600" indent="-342900">
              <a:buFont typeface="+mj-lt"/>
              <a:buAutoNum type="arabicPeriod"/>
            </a:pPr>
            <a:r>
              <a:rPr lang="en-US"/>
              <a:t>E2E Testing</a:t>
            </a:r>
            <a:endParaRPr lang="en" dirty="0"/>
          </a:p>
          <a:p>
            <a:pPr marL="0" indent="0">
              <a:buNone/>
            </a:pPr>
            <a:endParaRPr lang="en" dirty="0"/>
          </a:p>
          <a:p>
            <a:pPr marL="0" indent="0">
              <a:buNone/>
            </a:pPr>
            <a:endParaRPr lang="en" dirty="0"/>
          </a:p>
          <a:p>
            <a:pPr marL="0" indent="0">
              <a:lnSpc>
                <a:spcPct val="114999"/>
              </a:lnSpc>
              <a:buNone/>
            </a:pPr>
            <a:endParaRPr lang="en" dirty="0"/>
          </a:p>
          <a:p>
            <a:pPr marL="0" indent="0">
              <a:lnSpc>
                <a:spcPct val="114999"/>
              </a:lnSpc>
              <a:spcBef>
                <a:spcPts val="1600"/>
              </a:spcBef>
              <a:buNone/>
            </a:pPr>
            <a:endParaRPr lang="en" dirty="0"/>
          </a:p>
          <a:p>
            <a:pPr marL="0" indent="0">
              <a:lnSpc>
                <a:spcPct val="114999"/>
              </a:lnSpc>
              <a:spcBef>
                <a:spcPts val="1600"/>
              </a:spcBef>
              <a:buNone/>
            </a:pPr>
            <a:endParaRPr lang="en" dirty="0"/>
          </a:p>
          <a:p>
            <a:pPr marL="0" lvl="0" indent="0" algn="l">
              <a:spcBef>
                <a:spcPts val="1600"/>
              </a:spcBef>
              <a:spcAft>
                <a:spcPts val="1600"/>
              </a:spcAft>
              <a:buNone/>
            </a:pPr>
            <a:endParaRPr lang="en-US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34A5EEB3-1421-3F27-09D2-D5341B5B98B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72000" y="278361"/>
            <a:ext cx="4213592" cy="45492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Learning Outcomes</a:t>
            </a:r>
            <a:endParaRPr lang="en-SG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b="1" dirty="0"/>
          </a:p>
          <a:p>
            <a:pPr marL="0" indent="0">
              <a:buNone/>
            </a:pPr>
            <a:r>
              <a:rPr lang="en-SG" dirty="0"/>
              <a:t>By the end of this lesson, </a:t>
            </a:r>
            <a:r>
              <a:rPr lang="en-SG"/>
              <a:t>you will know:</a:t>
            </a:r>
            <a:endParaRPr lang="en-SG" dirty="0"/>
          </a:p>
          <a:p>
            <a:pPr>
              <a:buFont typeface="Arial" panose="020B0604020202020204" pitchFamily="34" charset="0"/>
              <a:buChar char="•"/>
            </a:pPr>
            <a:r>
              <a:rPr lang="en-SG"/>
              <a:t>Component test is a "unit test" where a component is tested in isolation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/>
              <a:t>(optional) We use stubs to represent a child component when necessary to test a parent component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/>
              <a:t>What we want to include in a test to make it robust (not fragile): Robust tests should focus on behavior of the component, rather than the implementation.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/>
              <a:t>The difference between integration testing &amp; component testing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b="1"/>
          </a:p>
          <a:p>
            <a:pPr marL="0" indent="0">
              <a:buNone/>
            </a:pPr>
            <a:r>
              <a:rPr lang="en-SG"/>
              <a:t>You can write &amp; run a component test and integration test for Vue components using Vitest</a:t>
            </a:r>
          </a:p>
          <a:p>
            <a:pPr marL="0" lvl="0" indent="0">
              <a:buNone/>
            </a:pPr>
            <a:endParaRPr lang="en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F4B97-293C-4C3B-6065-D5E4546DE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0A5113-6393-ABFC-0A84-92AA8021F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21" y="0"/>
            <a:ext cx="8520600" cy="629055"/>
          </a:xfrm>
        </p:spPr>
        <p:txBody>
          <a:bodyPr/>
          <a:lstStyle/>
          <a:p>
            <a:r>
              <a:rPr lang="en-US" sz="2800"/>
              <a:t>Different Types of Tests</a:t>
            </a:r>
            <a:endParaRPr 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5259D-7284-6646-83E9-37681D951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383" y="741527"/>
            <a:ext cx="8429145" cy="4151315"/>
          </a:xfrm>
        </p:spPr>
        <p:txBody>
          <a:bodyPr/>
          <a:lstStyle/>
          <a:p>
            <a:pPr marL="139700" indent="0">
              <a:buNone/>
            </a:pPr>
            <a:r>
              <a:rPr lang="en-US">
                <a:solidFill>
                  <a:schemeClr val="tx1"/>
                </a:solidFill>
              </a:rPr>
              <a:t>Let's start with component tests</a:t>
            </a:r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r>
              <a:rPr lang="en-US"/>
              <a:t>In our context of Web apps written using Vue, a Vue component can be considered a "unit". So we will consider component testing a form of "unit testing". Component tests are usually performed by the developer who writes the component. 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694C72A-F64A-AE38-5320-3BC86F187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484311"/>
              </p:ext>
            </p:extLst>
          </p:nvPr>
        </p:nvGraphicFramePr>
        <p:xfrm>
          <a:off x="1063271" y="1342481"/>
          <a:ext cx="7336958" cy="2466833"/>
        </p:xfrm>
        <a:graphic>
          <a:graphicData uri="http://schemas.openxmlformats.org/drawingml/2006/table">
            <a:tbl>
              <a:tblPr>
                <a:tableStyleId>{775D735A-9BCC-4A0A-8336-7D16119737FB}</a:tableStyleId>
              </a:tblPr>
              <a:tblGrid>
                <a:gridCol w="1683068">
                  <a:extLst>
                    <a:ext uri="{9D8B030D-6E8A-4147-A177-3AD203B41FA5}">
                      <a16:colId xmlns:a16="http://schemas.microsoft.com/office/drawing/2014/main" val="701099666"/>
                    </a:ext>
                  </a:extLst>
                </a:gridCol>
                <a:gridCol w="1980912">
                  <a:extLst>
                    <a:ext uri="{9D8B030D-6E8A-4147-A177-3AD203B41FA5}">
                      <a16:colId xmlns:a16="http://schemas.microsoft.com/office/drawing/2014/main" val="923549860"/>
                    </a:ext>
                  </a:extLst>
                </a:gridCol>
                <a:gridCol w="1874878">
                  <a:extLst>
                    <a:ext uri="{9D8B030D-6E8A-4147-A177-3AD203B41FA5}">
                      <a16:colId xmlns:a16="http://schemas.microsoft.com/office/drawing/2014/main" val="1422199311"/>
                    </a:ext>
                  </a:extLst>
                </a:gridCol>
                <a:gridCol w="1798100">
                  <a:extLst>
                    <a:ext uri="{9D8B030D-6E8A-4147-A177-3AD203B41FA5}">
                      <a16:colId xmlns:a16="http://schemas.microsoft.com/office/drawing/2014/main" val="3548501995"/>
                    </a:ext>
                  </a:extLst>
                </a:gridCol>
              </a:tblGrid>
              <a:tr h="3590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Test Type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What is Tested?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Components Involved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Goal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b"/>
                </a:tc>
                <a:extLst>
                  <a:ext uri="{0D108BD9-81ED-4DB2-BD59-A6C34878D82A}">
                    <a16:rowId xmlns:a16="http://schemas.microsoft.com/office/drawing/2014/main" val="4182278927"/>
                  </a:ext>
                </a:extLst>
              </a:tr>
              <a:tr h="7025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b="1" u="none" strike="noStrike">
                          <a:effectLst/>
                        </a:rPr>
                        <a:t>Unit Test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A single unit (e.g., a function, method, or class)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One component in isolation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Verify that an individual unit works correctly.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63843095"/>
                  </a:ext>
                </a:extLst>
              </a:tr>
              <a:tr h="7025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b="1" u="none" strike="noStrike">
                          <a:effectLst/>
                        </a:rPr>
                        <a:t>Integration Test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The interaction between multiple units or modules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Two or more integrated components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Verify that the components work correctly together.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920546947"/>
                  </a:ext>
                </a:extLst>
              </a:tr>
              <a:tr h="7025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b="1" u="none" strike="noStrike">
                          <a:effectLst/>
                        </a:rPr>
                        <a:t>End-to-End (E2E) Test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The complete system from the user's perspective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Entire application, including databases, APIs, and UI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Verify that complete user workflows function correctly.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56535491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E3F2D82-5836-46E9-15C8-4EB1DEC5B21B}"/>
              </a:ext>
            </a:extLst>
          </p:cNvPr>
          <p:cNvSpPr/>
          <p:nvPr/>
        </p:nvSpPr>
        <p:spPr>
          <a:xfrm>
            <a:off x="1063271" y="1695325"/>
            <a:ext cx="7336958" cy="710992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0566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BD597-FA5E-1911-BD2B-7F21D1DB1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AC6365-5F07-0FDA-3AF1-52ADDC764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00" y="0"/>
            <a:ext cx="5017774" cy="633350"/>
          </a:xfrm>
        </p:spPr>
        <p:txBody>
          <a:bodyPr/>
          <a:lstStyle/>
          <a:p>
            <a:r>
              <a:rPr lang="en-US" sz="2400"/>
              <a:t>Context</a:t>
            </a:r>
            <a:endParaRPr lang="en-US" sz="240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7B989C5-A15D-BAD1-2C3D-DB15DDE3CC57}"/>
              </a:ext>
            </a:extLst>
          </p:cNvPr>
          <p:cNvSpPr txBox="1">
            <a:spLocks/>
          </p:cNvSpPr>
          <p:nvPr/>
        </p:nvSpPr>
        <p:spPr>
          <a:xfrm>
            <a:off x="191691" y="847457"/>
            <a:ext cx="5842344" cy="1272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Font typeface="Arial"/>
              <a:buNone/>
            </a:pPr>
            <a:r>
              <a:rPr lang="en-US" b="1">
                <a:solidFill>
                  <a:schemeClr val="accent5"/>
                </a:solidFill>
              </a:rPr>
              <a:t>StudentGrade</a:t>
            </a:r>
            <a:r>
              <a:rPr lang="en-US" b="1"/>
              <a:t>.vue</a:t>
            </a:r>
            <a:r>
              <a:rPr lang="en-US"/>
              <a:t> (child) &amp; </a:t>
            </a:r>
            <a:r>
              <a:rPr lang="en-US" b="1">
                <a:solidFill>
                  <a:schemeClr val="tx2"/>
                </a:solidFill>
              </a:rPr>
              <a:t>StudentName</a:t>
            </a:r>
            <a:r>
              <a:rPr lang="en-US" b="1"/>
              <a:t>.vue </a:t>
            </a:r>
            <a:r>
              <a:rPr lang="en-US"/>
              <a:t>(child) are independent components used by </a:t>
            </a:r>
            <a:r>
              <a:rPr lang="en-US" b="1">
                <a:solidFill>
                  <a:srgbClr val="0070C0"/>
                </a:solidFill>
              </a:rPr>
              <a:t>StudentProfile</a:t>
            </a:r>
            <a:r>
              <a:rPr lang="en-US" b="1"/>
              <a:t>.vue</a:t>
            </a:r>
            <a:r>
              <a:rPr lang="en-US"/>
              <a:t> (parent).</a:t>
            </a:r>
          </a:p>
          <a:p>
            <a:pPr marL="139700" indent="0">
              <a:buFont typeface="Arial"/>
              <a:buNone/>
            </a:pPr>
            <a:r>
              <a:rPr lang="en-US"/>
              <a:t>Study the code for these 3 components. </a:t>
            </a:r>
            <a:r>
              <a:rPr lang="en-US" b="1">
                <a:solidFill>
                  <a:srgbClr val="0070C0"/>
                </a:solidFill>
              </a:rPr>
              <a:t>StudentProfile</a:t>
            </a:r>
            <a:r>
              <a:rPr lang="en-US" b="1"/>
              <a:t> </a:t>
            </a:r>
            <a:r>
              <a:rPr lang="en-US"/>
              <a:t>communicates with </a:t>
            </a:r>
            <a:r>
              <a:rPr lang="en-US" b="1">
                <a:solidFill>
                  <a:schemeClr val="tx2"/>
                </a:solidFill>
              </a:rPr>
              <a:t>StudentName</a:t>
            </a:r>
            <a:r>
              <a:rPr lang="en-US" b="1"/>
              <a:t> </a:t>
            </a:r>
            <a:r>
              <a:rPr lang="en-US"/>
              <a:t>&amp; </a:t>
            </a:r>
            <a:r>
              <a:rPr lang="en-US" b="1">
                <a:solidFill>
                  <a:schemeClr val="accent5"/>
                </a:solidFill>
              </a:rPr>
              <a:t>StudentGrade</a:t>
            </a:r>
            <a:r>
              <a:rPr lang="en-US"/>
              <a:t> using props.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7C9CC-BC12-D618-99A3-4B9C57B82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16" y="973920"/>
            <a:ext cx="3283093" cy="255063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CF24BD-25DB-7BDA-C5EC-DC7990293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137285"/>
              </p:ext>
            </p:extLst>
          </p:nvPr>
        </p:nvGraphicFramePr>
        <p:xfrm>
          <a:off x="327339" y="2296368"/>
          <a:ext cx="5149778" cy="2427824"/>
        </p:xfrm>
        <a:graphic>
          <a:graphicData uri="http://schemas.openxmlformats.org/drawingml/2006/table">
            <a:tbl>
              <a:tblPr>
                <a:tableStyleId>{775D735A-9BCC-4A0A-8336-7D16119737FB}</a:tableStyleId>
              </a:tblPr>
              <a:tblGrid>
                <a:gridCol w="1212053">
                  <a:extLst>
                    <a:ext uri="{9D8B030D-6E8A-4147-A177-3AD203B41FA5}">
                      <a16:colId xmlns:a16="http://schemas.microsoft.com/office/drawing/2014/main" val="859343657"/>
                    </a:ext>
                  </a:extLst>
                </a:gridCol>
                <a:gridCol w="3937725">
                  <a:extLst>
                    <a:ext uri="{9D8B030D-6E8A-4147-A177-3AD203B41FA5}">
                      <a16:colId xmlns:a16="http://schemas.microsoft.com/office/drawing/2014/main" val="2601556610"/>
                    </a:ext>
                  </a:extLst>
                </a:gridCol>
              </a:tblGrid>
              <a:tr h="2067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100" b="1" u="none" strike="noStrike">
                          <a:effectLst/>
                        </a:rPr>
                        <a:t>Component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100" b="1" u="none" strike="noStrike">
                          <a:effectLst/>
                        </a:rPr>
                        <a:t>Responsibilities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4763" marB="9144" anchor="ctr"/>
                </a:tc>
                <a:extLst>
                  <a:ext uri="{0D108BD9-81ED-4DB2-BD59-A6C34878D82A}">
                    <a16:rowId xmlns:a16="http://schemas.microsoft.com/office/drawing/2014/main" val="4191484772"/>
                  </a:ext>
                </a:extLst>
              </a:tr>
              <a:tr h="2067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>
                          <a:solidFill>
                            <a:srgbClr val="0070C0"/>
                          </a:solidFill>
                        </a:rPr>
                        <a:t>StudentProfile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• Receives the </a:t>
                      </a:r>
                      <a:r>
                        <a:rPr lang="en-SG" sz="1000" u="none" strike="noStrike">
                          <a:effectLst/>
                        </a:rPr>
                        <a:t>name</a:t>
                      </a:r>
                      <a:r>
                        <a:rPr lang="en-SG" sz="1100" u="none" strike="noStrike">
                          <a:effectLst/>
                        </a:rPr>
                        <a:t> and </a:t>
                      </a:r>
                      <a:r>
                        <a:rPr lang="en-SG" sz="1000" u="none" strike="noStrike">
                          <a:effectLst/>
                        </a:rPr>
                        <a:t>score</a:t>
                      </a:r>
                      <a:r>
                        <a:rPr lang="en-SG" sz="1100" u="none" strike="noStrike">
                          <a:effectLst/>
                        </a:rPr>
                        <a:t> props</a:t>
                      </a:r>
                    </a:p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• Passes the </a:t>
                      </a:r>
                      <a:r>
                        <a:rPr lang="en-SG" sz="1000" u="none" strike="noStrike">
                          <a:effectLst/>
                        </a:rPr>
                        <a:t>name</a:t>
                      </a:r>
                      <a:r>
                        <a:rPr lang="en-SG" sz="1100" u="none" strike="noStrike">
                          <a:effectLst/>
                        </a:rPr>
                        <a:t> prop to </a:t>
                      </a:r>
                      <a:r>
                        <a:rPr lang="en-SG" sz="1100" b="0" i="0" u="none" strike="noStrike" cap="none">
                          <a:solidFill>
                            <a:schemeClr val="tx2"/>
                          </a:solidFill>
                          <a:latin typeface="Arial"/>
                          <a:cs typeface="Arial"/>
                          <a:sym typeface="Arial"/>
                        </a:rPr>
                        <a:t>StudentName</a:t>
                      </a:r>
                    </a:p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• Passes the </a:t>
                      </a:r>
                      <a:r>
                        <a:rPr lang="en-SG" sz="1000" u="none" strike="noStrike">
                          <a:effectLst/>
                        </a:rPr>
                        <a:t>score</a:t>
                      </a:r>
                      <a:r>
                        <a:rPr lang="en-SG" sz="1100" u="none" strike="noStrike">
                          <a:effectLst/>
                        </a:rPr>
                        <a:t> prop to </a:t>
                      </a:r>
                      <a:r>
                        <a:rPr lang="en-SG" sz="1000" u="none" strike="noStrike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StudentGrade</a:t>
                      </a:r>
                    </a:p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• Coordinates the display of the two child components</a:t>
                      </a:r>
                    </a:p>
                    <a:p>
                      <a:pPr algn="l" fontAlgn="ctr">
                        <a:buNone/>
                      </a:pP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4763" marB="9144" anchor="ctr"/>
                </a:tc>
                <a:extLst>
                  <a:ext uri="{0D108BD9-81ED-4DB2-BD59-A6C34878D82A}">
                    <a16:rowId xmlns:a16="http://schemas.microsoft.com/office/drawing/2014/main" val="1986265950"/>
                  </a:ext>
                </a:extLst>
              </a:tr>
              <a:tr h="2067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>
                          <a:solidFill>
                            <a:schemeClr val="tx2"/>
                          </a:solidFill>
                        </a:rPr>
                        <a:t>StudentName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• Receives the </a:t>
                      </a:r>
                      <a:r>
                        <a:rPr lang="en-SG" sz="1000" u="none" strike="noStrike">
                          <a:effectLst/>
                        </a:rPr>
                        <a:t>name</a:t>
                      </a:r>
                      <a:r>
                        <a:rPr lang="en-SG" sz="1100" u="none" strike="noStrike">
                          <a:effectLst/>
                        </a:rPr>
                        <a:t> prop</a:t>
                      </a:r>
                    </a:p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• Displays the student's name</a:t>
                      </a:r>
                    </a:p>
                    <a:p>
                      <a:pPr algn="l" fontAlgn="ctr">
                        <a:buNone/>
                      </a:pPr>
                      <a:endParaRPr lang="en-SG" sz="1100" u="none" strike="noStrike">
                        <a:effectLst/>
                      </a:endParaRPr>
                    </a:p>
                  </a:txBody>
                  <a:tcPr marL="45720" marR="45720" marT="4763" marB="9144" anchor="ctr"/>
                </a:tc>
                <a:extLst>
                  <a:ext uri="{0D108BD9-81ED-4DB2-BD59-A6C34878D82A}">
                    <a16:rowId xmlns:a16="http://schemas.microsoft.com/office/drawing/2014/main" val="3847292760"/>
                  </a:ext>
                </a:extLst>
              </a:tr>
              <a:tr h="2067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>
                          <a:solidFill>
                            <a:srgbClr val="00B050"/>
                          </a:solidFill>
                        </a:rPr>
                        <a:t>StudentGrade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• Receives the score prop</a:t>
                      </a:r>
                    </a:p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• Computes the corresponding letter grade (A, B, C, or F) </a:t>
                      </a:r>
                    </a:p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• Computes the text colour (green for pass, red for fail) </a:t>
                      </a:r>
                    </a:p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• Displays the letter grade with the appropriate colour </a:t>
                      </a:r>
                    </a:p>
                    <a:p>
                      <a:pPr algn="l" fontAlgn="ctr">
                        <a:buNone/>
                      </a:pP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4763" marB="9144" anchor="ctr"/>
                </a:tc>
                <a:extLst>
                  <a:ext uri="{0D108BD9-81ED-4DB2-BD59-A6C34878D82A}">
                    <a16:rowId xmlns:a16="http://schemas.microsoft.com/office/drawing/2014/main" val="236441247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D47EB35-5E22-CCA1-3B8C-82CA519578CF}"/>
              </a:ext>
            </a:extLst>
          </p:cNvPr>
          <p:cNvSpPr txBox="1"/>
          <p:nvPr/>
        </p:nvSpPr>
        <p:spPr>
          <a:xfrm>
            <a:off x="5747658" y="4144696"/>
            <a:ext cx="33008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buFont typeface="Arial"/>
              <a:buNone/>
            </a:pPr>
            <a:endParaRPr lang="en-US" sz="1400"/>
          </a:p>
          <a:p>
            <a:pPr marL="139700" indent="0">
              <a:buFont typeface="Arial"/>
              <a:buNone/>
            </a:pPr>
            <a:r>
              <a:rPr lang="en-US" sz="1400"/>
              <a:t>We will be testing </a:t>
            </a:r>
            <a:r>
              <a:rPr lang="en-US" sz="1400" b="1"/>
              <a:t>StudentGrade </a:t>
            </a:r>
            <a:r>
              <a:rPr lang="en-US" sz="1400"/>
              <a:t>first, followed by </a:t>
            </a:r>
            <a:r>
              <a:rPr lang="en-US" sz="1400" b="1"/>
              <a:t>StudentProfile</a:t>
            </a:r>
            <a:r>
              <a:rPr lang="en-US" sz="1400"/>
              <a:t>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57230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51FD5-16F5-A420-53C2-A9B39988E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0A8A71-51C8-3D97-59B6-5B2E94907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9" y="110124"/>
            <a:ext cx="7645157" cy="520995"/>
          </a:xfrm>
        </p:spPr>
        <p:txBody>
          <a:bodyPr/>
          <a:lstStyle/>
          <a:p>
            <a:r>
              <a:rPr lang="en-US" sz="2800" dirty="0"/>
              <a:t>Component Test -- </a:t>
            </a:r>
            <a:r>
              <a:rPr lang="en-US" sz="2800" dirty="0" err="1"/>
              <a:t>StudentGrade</a:t>
            </a:r>
            <a:endParaRPr lang="en-US" sz="280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49145B7-39EE-6FA7-3271-0AF65D1D8930}"/>
              </a:ext>
            </a:extLst>
          </p:cNvPr>
          <p:cNvSpPr txBox="1">
            <a:spLocks/>
          </p:cNvSpPr>
          <p:nvPr/>
        </p:nvSpPr>
        <p:spPr>
          <a:xfrm>
            <a:off x="314571" y="712794"/>
            <a:ext cx="8578220" cy="892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None/>
            </a:pPr>
            <a:r>
              <a:rPr lang="en-US" dirty="0"/>
              <a:t>Let's focus on testing only </a:t>
            </a:r>
            <a:r>
              <a:rPr lang="en-US" b="1" dirty="0" err="1"/>
              <a:t>StudentGrade</a:t>
            </a:r>
            <a:r>
              <a:rPr lang="en-US" dirty="0"/>
              <a:t>. In a component test, we want to ensure that the component works correctly in isolation. We send over the score as a prop directly to </a:t>
            </a:r>
            <a:r>
              <a:rPr lang="en-US" b="1" dirty="0" err="1"/>
              <a:t>StudentGrade</a:t>
            </a:r>
            <a:r>
              <a:rPr lang="en-US" dirty="0"/>
              <a:t>. </a:t>
            </a:r>
            <a:r>
              <a:rPr lang="en-US" b="1" dirty="0" err="1"/>
              <a:t>StudentProfile</a:t>
            </a:r>
            <a:r>
              <a:rPr lang="en-US" dirty="0"/>
              <a:t> is never used in this test. Study </a:t>
            </a:r>
            <a:r>
              <a:rPr lang="en-US" b="1" dirty="0"/>
              <a:t>StudentGrade.spec.js </a:t>
            </a:r>
            <a:r>
              <a:rPr lang="en-US" dirty="0"/>
              <a:t>which contains 5 tests (You will write the 6</a:t>
            </a:r>
            <a:r>
              <a:rPr lang="en-US" baseline="30000" dirty="0"/>
              <a:t>th</a:t>
            </a:r>
            <a:r>
              <a:rPr lang="en-US" dirty="0"/>
              <a:t> one).</a:t>
            </a:r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6A18DA7-2968-881C-732E-64703BF76510}"/>
              </a:ext>
            </a:extLst>
          </p:cNvPr>
          <p:cNvSpPr txBox="1">
            <a:spLocks/>
          </p:cNvSpPr>
          <p:nvPr/>
        </p:nvSpPr>
        <p:spPr>
          <a:xfrm>
            <a:off x="363061" y="1586861"/>
            <a:ext cx="8529729" cy="110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Font typeface="Arial"/>
              <a:buNone/>
            </a:pPr>
            <a:r>
              <a:rPr lang="en-US" dirty="0"/>
              <a:t>What is being tested: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Business logic: the computed property correctly converts a numeric score into a letter grade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Presentation: the rendered HTML displays the correct letter grade, and the text color changes according to the grade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94D2BA-DC05-2D1D-83C1-F3EF2F01E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191679"/>
              </p:ext>
            </p:extLst>
          </p:nvPr>
        </p:nvGraphicFramePr>
        <p:xfrm>
          <a:off x="1548063" y="2948540"/>
          <a:ext cx="7024293" cy="1920240"/>
        </p:xfrm>
        <a:graphic>
          <a:graphicData uri="http://schemas.openxmlformats.org/drawingml/2006/table">
            <a:tbl>
              <a:tblPr>
                <a:tableStyleId>{775D735A-9BCC-4A0A-8336-7D16119737FB}</a:tableStyleId>
              </a:tblPr>
              <a:tblGrid>
                <a:gridCol w="2711152">
                  <a:extLst>
                    <a:ext uri="{9D8B030D-6E8A-4147-A177-3AD203B41FA5}">
                      <a16:colId xmlns:a16="http://schemas.microsoft.com/office/drawing/2014/main" val="2743991366"/>
                    </a:ext>
                  </a:extLst>
                </a:gridCol>
                <a:gridCol w="872034">
                  <a:extLst>
                    <a:ext uri="{9D8B030D-6E8A-4147-A177-3AD203B41FA5}">
                      <a16:colId xmlns:a16="http://schemas.microsoft.com/office/drawing/2014/main" val="1855997933"/>
                    </a:ext>
                  </a:extLst>
                </a:gridCol>
                <a:gridCol w="1585539">
                  <a:extLst>
                    <a:ext uri="{9D8B030D-6E8A-4147-A177-3AD203B41FA5}">
                      <a16:colId xmlns:a16="http://schemas.microsoft.com/office/drawing/2014/main" val="1780042357"/>
                    </a:ext>
                  </a:extLst>
                </a:gridCol>
                <a:gridCol w="1855568">
                  <a:extLst>
                    <a:ext uri="{9D8B030D-6E8A-4147-A177-3AD203B41FA5}">
                      <a16:colId xmlns:a16="http://schemas.microsoft.com/office/drawing/2014/main" val="2341661395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200" b="1" u="none" strike="noStrike">
                          <a:effectLst/>
                        </a:rPr>
                        <a:t>Test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200" b="1" u="none" strike="noStrike">
                          <a:effectLst/>
                        </a:rPr>
                        <a:t>Input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200" b="1" u="none" strike="noStrike">
                          <a:effectLst/>
                        </a:rPr>
                        <a:t>Expected Output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200" b="1" u="none" strike="noStrike">
                          <a:effectLst/>
                        </a:rPr>
                        <a:t>Purpose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58211896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(1) Displays grade A when score is 85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85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Grade: A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Tests A boundary range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41734936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(2) Displays grade B when score is 75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75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Grade: B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Tests B range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12681737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(3) Displays grade C when score is 65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Grade: C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Tests C range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41712644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(4) Displays grade F when score is 45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Grade: F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Tests failing grade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301234343"/>
                  </a:ext>
                </a:extLst>
              </a:tr>
              <a:tr h="2680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(5) Uses green text for passing grades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85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style contains green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Tests computed colour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43223579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(6) Uses red text for failing grades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45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style contains red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Tests computed colour 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92465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4802C30-C710-0653-E03F-AA57FB8F028A}"/>
              </a:ext>
            </a:extLst>
          </p:cNvPr>
          <p:cNvSpPr txBox="1"/>
          <p:nvPr/>
        </p:nvSpPr>
        <p:spPr>
          <a:xfrm>
            <a:off x="363061" y="2948540"/>
            <a:ext cx="12510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Test cases: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857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CA734-1179-B2B2-BF4C-F891D0034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3C37AE-0EEE-9294-3427-CAA946041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99" y="0"/>
            <a:ext cx="5166505" cy="520995"/>
          </a:xfrm>
        </p:spPr>
        <p:txBody>
          <a:bodyPr/>
          <a:lstStyle/>
          <a:p>
            <a:r>
              <a:rPr lang="en-US" sz="2400"/>
              <a:t>Component Test: StudentGrade</a:t>
            </a:r>
            <a:endParaRPr lang="en-US" sz="240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BEE70A5-A767-2ACB-BA6B-22CEBCD4CC8F}"/>
              </a:ext>
            </a:extLst>
          </p:cNvPr>
          <p:cNvSpPr txBox="1">
            <a:spLocks/>
          </p:cNvSpPr>
          <p:nvPr/>
        </p:nvSpPr>
        <p:spPr>
          <a:xfrm>
            <a:off x="0" y="943947"/>
            <a:ext cx="1929301" cy="1221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Font typeface="Arial"/>
              <a:buNone/>
            </a:pPr>
            <a:r>
              <a:rPr lang="en-US" sz="1100" b="1"/>
              <a:t>StudentGrade.spec.js </a:t>
            </a:r>
            <a:r>
              <a:rPr lang="en-US" sz="1100"/>
              <a:t>contains functions to test the </a:t>
            </a:r>
            <a:r>
              <a:rPr lang="en-US" sz="1100" b="1"/>
              <a:t>StudentGrade</a:t>
            </a:r>
            <a:r>
              <a:rPr lang="en-US" sz="1100"/>
              <a:t> component.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C2F81E-3379-75E0-619D-BC4329E9E3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2"/>
          <a:stretch>
            <a:fillRect/>
          </a:stretch>
        </p:blipFill>
        <p:spPr>
          <a:xfrm>
            <a:off x="2069670" y="659433"/>
            <a:ext cx="3444804" cy="43014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BEACC0-3DAA-1BF7-2312-CEBB30A58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844" y="886013"/>
            <a:ext cx="3248524" cy="353050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91EC76E-EF58-DB9E-E0D0-625EF9CEAAD5}"/>
              </a:ext>
            </a:extLst>
          </p:cNvPr>
          <p:cNvGrpSpPr/>
          <p:nvPr/>
        </p:nvGrpSpPr>
        <p:grpSpPr>
          <a:xfrm>
            <a:off x="1369184" y="2334127"/>
            <a:ext cx="3908668" cy="443018"/>
            <a:chOff x="1369184" y="2334127"/>
            <a:chExt cx="3908668" cy="44301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33A3954-6EFE-7FCE-F18F-DB7D638245DF}"/>
                </a:ext>
              </a:extLst>
            </p:cNvPr>
            <p:cNvSpPr/>
            <p:nvPr/>
          </p:nvSpPr>
          <p:spPr>
            <a:xfrm>
              <a:off x="2515082" y="2334127"/>
              <a:ext cx="2762770" cy="144378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E998706-F74D-515C-96D9-0D6D9A71C68C}"/>
                </a:ext>
              </a:extLst>
            </p:cNvPr>
            <p:cNvCxnSpPr/>
            <p:nvPr/>
          </p:nvCxnSpPr>
          <p:spPr>
            <a:xfrm flipH="1">
              <a:off x="1929301" y="2406316"/>
              <a:ext cx="585781" cy="244949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54F042-C6EE-FDFC-16F3-8EF1CD9DC307}"/>
                </a:ext>
              </a:extLst>
            </p:cNvPr>
            <p:cNvSpPr txBox="1"/>
            <p:nvPr/>
          </p:nvSpPr>
          <p:spPr>
            <a:xfrm>
              <a:off x="1369184" y="2515535"/>
              <a:ext cx="63030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39700" indent="0" algn="l">
                <a:buNone/>
              </a:pPr>
              <a:r>
                <a:rPr lang="en-US" sz="1050"/>
                <a:t>test1</a:t>
              </a:r>
              <a:endParaRPr lang="en-SG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466EA92-2F0F-1C07-6E8D-F0C69936104F}"/>
              </a:ext>
            </a:extLst>
          </p:cNvPr>
          <p:cNvGrpSpPr/>
          <p:nvPr/>
        </p:nvGrpSpPr>
        <p:grpSpPr>
          <a:xfrm>
            <a:off x="1369184" y="3691059"/>
            <a:ext cx="3908668" cy="443018"/>
            <a:chOff x="1369184" y="2334127"/>
            <a:chExt cx="3908668" cy="44301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C85280D-DB88-C0A0-AD3F-51F5710CFCE9}"/>
                </a:ext>
              </a:extLst>
            </p:cNvPr>
            <p:cNvSpPr/>
            <p:nvPr/>
          </p:nvSpPr>
          <p:spPr>
            <a:xfrm>
              <a:off x="2515082" y="2334127"/>
              <a:ext cx="2762770" cy="144378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A4A4C50-774F-8BCE-68FA-46C6C1CF13A7}"/>
                </a:ext>
              </a:extLst>
            </p:cNvPr>
            <p:cNvCxnSpPr/>
            <p:nvPr/>
          </p:nvCxnSpPr>
          <p:spPr>
            <a:xfrm flipH="1">
              <a:off x="1929301" y="2406316"/>
              <a:ext cx="585781" cy="244949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39E08F-7526-BB3D-67F7-E102481DCC0F}"/>
                </a:ext>
              </a:extLst>
            </p:cNvPr>
            <p:cNvSpPr txBox="1"/>
            <p:nvPr/>
          </p:nvSpPr>
          <p:spPr>
            <a:xfrm>
              <a:off x="1369184" y="2515535"/>
              <a:ext cx="63030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39700" indent="0" algn="l">
                <a:buNone/>
              </a:pPr>
              <a:r>
                <a:rPr lang="en-US" sz="1050"/>
                <a:t>test2</a:t>
              </a:r>
              <a:endParaRPr lang="en-SG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9715CAD-022A-4826-8585-CA5A06C00942}"/>
              </a:ext>
            </a:extLst>
          </p:cNvPr>
          <p:cNvGrpSpPr/>
          <p:nvPr/>
        </p:nvGrpSpPr>
        <p:grpSpPr>
          <a:xfrm>
            <a:off x="6096001" y="465373"/>
            <a:ext cx="2916600" cy="563628"/>
            <a:chOff x="2791327" y="1913487"/>
            <a:chExt cx="2916600" cy="56362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AAF48E0-ED4C-7142-D537-7249A5E13DE3}"/>
                </a:ext>
              </a:extLst>
            </p:cNvPr>
            <p:cNvSpPr/>
            <p:nvPr/>
          </p:nvSpPr>
          <p:spPr>
            <a:xfrm>
              <a:off x="2791327" y="2318085"/>
              <a:ext cx="2422358" cy="159030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5F5EB0C-A04F-6034-12CE-02E4B41A3E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6109" y="2151034"/>
              <a:ext cx="315151" cy="159030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09E3D8-EA93-0448-43BE-34AA5FE828A3}"/>
                </a:ext>
              </a:extLst>
            </p:cNvPr>
            <p:cNvSpPr txBox="1"/>
            <p:nvPr/>
          </p:nvSpPr>
          <p:spPr>
            <a:xfrm>
              <a:off x="5077626" y="1913487"/>
              <a:ext cx="63030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39700" indent="0" algn="l">
                <a:buNone/>
              </a:pPr>
              <a:r>
                <a:rPr lang="en-US" sz="1050"/>
                <a:t>test3</a:t>
              </a:r>
              <a:endParaRPr lang="en-SG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69C3F4C-F14D-5905-5802-11EC587E7B64}"/>
              </a:ext>
            </a:extLst>
          </p:cNvPr>
          <p:cNvGrpSpPr/>
          <p:nvPr/>
        </p:nvGrpSpPr>
        <p:grpSpPr>
          <a:xfrm>
            <a:off x="6096001" y="1668770"/>
            <a:ext cx="2947737" cy="563961"/>
            <a:chOff x="2515083" y="1913487"/>
            <a:chExt cx="3192844" cy="544563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B1B358-6FD5-68CB-9957-C0A225FEDFFC}"/>
                </a:ext>
              </a:extLst>
            </p:cNvPr>
            <p:cNvSpPr/>
            <p:nvPr/>
          </p:nvSpPr>
          <p:spPr>
            <a:xfrm>
              <a:off x="2515083" y="2318638"/>
              <a:ext cx="2562544" cy="139412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C6CF3C7-A514-627E-8B3E-C192FD71A8DB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5077626" y="2175097"/>
              <a:ext cx="315151" cy="159030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E572DE8-69AA-F121-3AB1-2857AB87505C}"/>
                </a:ext>
              </a:extLst>
            </p:cNvPr>
            <p:cNvSpPr txBox="1"/>
            <p:nvPr/>
          </p:nvSpPr>
          <p:spPr>
            <a:xfrm>
              <a:off x="5077626" y="1913487"/>
              <a:ext cx="63030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39700" indent="0" algn="l">
                <a:buNone/>
              </a:pPr>
              <a:r>
                <a:rPr lang="en-US" sz="1050"/>
                <a:t>test4</a:t>
              </a:r>
              <a:endParaRPr lang="en-SG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A035B7D-B0DF-3154-EEC2-4FD3F88C3D4D}"/>
              </a:ext>
            </a:extLst>
          </p:cNvPr>
          <p:cNvGrpSpPr/>
          <p:nvPr/>
        </p:nvGrpSpPr>
        <p:grpSpPr>
          <a:xfrm>
            <a:off x="6072802" y="2857423"/>
            <a:ext cx="2916601" cy="563628"/>
            <a:chOff x="2791326" y="1913487"/>
            <a:chExt cx="2916601" cy="563628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994CB7E-5BB0-14DD-6FE4-68757B7E684D}"/>
                </a:ext>
              </a:extLst>
            </p:cNvPr>
            <p:cNvSpPr/>
            <p:nvPr/>
          </p:nvSpPr>
          <p:spPr>
            <a:xfrm>
              <a:off x="2791326" y="2318085"/>
              <a:ext cx="2830565" cy="159030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6FDB22D-6396-6033-A716-C3FF45736C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6109" y="2151034"/>
              <a:ext cx="315151" cy="159030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23A4EDE-DD8D-3184-953D-4CEC82AB34FE}"/>
                </a:ext>
              </a:extLst>
            </p:cNvPr>
            <p:cNvSpPr txBox="1"/>
            <p:nvPr/>
          </p:nvSpPr>
          <p:spPr>
            <a:xfrm>
              <a:off x="5077626" y="1913487"/>
              <a:ext cx="63030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39700" indent="0" algn="l">
                <a:buNone/>
              </a:pPr>
              <a:r>
                <a:rPr lang="en-US" sz="1050"/>
                <a:t>test5</a:t>
              </a:r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526343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6DFD0-4899-6116-41DC-92CC739E2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CF479-BDA8-82D4-E8C1-A949FADC3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35" y="105380"/>
            <a:ext cx="7645157" cy="520995"/>
          </a:xfrm>
        </p:spPr>
        <p:txBody>
          <a:bodyPr/>
          <a:lstStyle/>
          <a:p>
            <a:r>
              <a:rPr lang="en-US" sz="2400">
                <a:solidFill>
                  <a:srgbClr val="FF0000"/>
                </a:solidFill>
              </a:rPr>
              <a:t>(optional)</a:t>
            </a:r>
            <a:r>
              <a:rPr lang="en-US" sz="2400"/>
              <a:t> Component Test: StudentProfile</a:t>
            </a:r>
            <a:endParaRPr lang="en-US" sz="240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818DA47-EE68-E807-7DE4-A0B0981BDB8D}"/>
              </a:ext>
            </a:extLst>
          </p:cNvPr>
          <p:cNvSpPr txBox="1">
            <a:spLocks/>
          </p:cNvSpPr>
          <p:nvPr/>
        </p:nvSpPr>
        <p:spPr>
          <a:xfrm>
            <a:off x="131399" y="626375"/>
            <a:ext cx="8922166" cy="287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Font typeface="Arial"/>
              <a:buNone/>
            </a:pPr>
            <a:r>
              <a:rPr lang="en-US"/>
              <a:t>Now let's focus on testing only </a:t>
            </a:r>
            <a:r>
              <a:rPr lang="en-US" b="1"/>
              <a:t>StudentProfile</a:t>
            </a:r>
            <a:r>
              <a:rPr lang="en-US"/>
              <a:t>. Study </a:t>
            </a:r>
            <a:r>
              <a:rPr lang="en-US" b="1"/>
              <a:t>StudentProfile.spec.js </a:t>
            </a:r>
            <a:r>
              <a:rPr lang="en-US"/>
              <a:t>which contains 5 tests.</a:t>
            </a:r>
          </a:p>
          <a:p>
            <a:pPr marL="139700" indent="0">
              <a:buNone/>
            </a:pPr>
            <a:r>
              <a:rPr lang="en-SG"/>
              <a:t>The 1</a:t>
            </a:r>
            <a:r>
              <a:rPr lang="en-SG" baseline="30000"/>
              <a:t>st</a:t>
            </a:r>
            <a:r>
              <a:rPr lang="en-SG"/>
              <a:t> four tests focus on prop passing. The 5</a:t>
            </a:r>
            <a:r>
              <a:rPr lang="en-SG" baseline="30000"/>
              <a:t>th</a:t>
            </a:r>
            <a:r>
              <a:rPr lang="en-SG"/>
              <a:t> test is an integration check within the parent component, confirming that both child components are rendered together and each receives the correct prop. It demonstrates that </a:t>
            </a:r>
            <a:r>
              <a:rPr lang="en-SG" b="1"/>
              <a:t>StudentProfile</a:t>
            </a:r>
            <a:r>
              <a:rPr lang="en-SG"/>
              <a:t> correctly coordinates its children as a whole.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1FD4380-12B8-53F6-C7A5-B894D6CBF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510326"/>
              </p:ext>
            </p:extLst>
          </p:nvPr>
        </p:nvGraphicFramePr>
        <p:xfrm>
          <a:off x="353289" y="1982103"/>
          <a:ext cx="8478386" cy="2725992"/>
        </p:xfrm>
        <a:graphic>
          <a:graphicData uri="http://schemas.openxmlformats.org/drawingml/2006/table">
            <a:tbl>
              <a:tblPr>
                <a:tableStyleId>{775D735A-9BCC-4A0A-8336-7D16119737FB}</a:tableStyleId>
              </a:tblPr>
              <a:tblGrid>
                <a:gridCol w="1851775">
                  <a:extLst>
                    <a:ext uri="{9D8B030D-6E8A-4147-A177-3AD203B41FA5}">
                      <a16:colId xmlns:a16="http://schemas.microsoft.com/office/drawing/2014/main" val="200598869"/>
                    </a:ext>
                  </a:extLst>
                </a:gridCol>
                <a:gridCol w="1093604">
                  <a:extLst>
                    <a:ext uri="{9D8B030D-6E8A-4147-A177-3AD203B41FA5}">
                      <a16:colId xmlns:a16="http://schemas.microsoft.com/office/drawing/2014/main" val="1530575039"/>
                    </a:ext>
                  </a:extLst>
                </a:gridCol>
                <a:gridCol w="1730858">
                  <a:extLst>
                    <a:ext uri="{9D8B030D-6E8A-4147-A177-3AD203B41FA5}">
                      <a16:colId xmlns:a16="http://schemas.microsoft.com/office/drawing/2014/main" val="3765503508"/>
                    </a:ext>
                  </a:extLst>
                </a:gridCol>
                <a:gridCol w="3802149">
                  <a:extLst>
                    <a:ext uri="{9D8B030D-6E8A-4147-A177-3AD203B41FA5}">
                      <a16:colId xmlns:a16="http://schemas.microsoft.com/office/drawing/2014/main" val="774621925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100" b="1" u="none" strike="noStrike">
                          <a:effectLst/>
                        </a:rPr>
                        <a:t>Test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100" b="1" u="none" strike="noStrike">
                          <a:effectLst/>
                        </a:rPr>
                        <a:t>Input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100" b="1" u="none" strike="noStrike">
                          <a:effectLst/>
                        </a:rPr>
                        <a:t>Expected Output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100" b="1" u="none" strike="noStrike">
                          <a:effectLst/>
                        </a:rPr>
                        <a:t>Purpose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4763" marB="9144" anchor="ctr"/>
                </a:tc>
                <a:extLst>
                  <a:ext uri="{0D108BD9-81ED-4DB2-BD59-A6C34878D82A}">
                    <a16:rowId xmlns:a16="http://schemas.microsoft.com/office/drawing/2014/main" val="2092964526"/>
                  </a:ext>
                </a:extLst>
              </a:tr>
              <a:tr h="48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(1) passes the correct name to StudentName</a:t>
                      </a: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name = "Alice", score = 85</a:t>
                      </a: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Stub renders Name: Alice</a:t>
                      </a: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Verifies that </a:t>
                      </a:r>
                      <a:r>
                        <a:rPr lang="en-SG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StudentProfile</a:t>
                      </a: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 passes the correct name prop to the StudentName child component.</a:t>
                      </a:r>
                    </a:p>
                  </a:txBody>
                  <a:tcPr marL="45720" marR="45720" marT="4763" marB="9144" anchor="ctr"/>
                </a:tc>
                <a:extLst>
                  <a:ext uri="{0D108BD9-81ED-4DB2-BD59-A6C34878D82A}">
                    <a16:rowId xmlns:a16="http://schemas.microsoft.com/office/drawing/2014/main" val="3750948354"/>
                  </a:ext>
                </a:extLst>
              </a:tr>
              <a:tr h="48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(2) passes the correct score to </a:t>
                      </a:r>
                      <a:r>
                        <a:rPr lang="en-SG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StudentGrade</a:t>
                      </a: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name = "Alice", score = 85</a:t>
                      </a: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Stub renders Score: 85</a:t>
                      </a: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Verifies that </a:t>
                      </a:r>
                      <a:r>
                        <a:rPr lang="en-SG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StudentProfile</a:t>
                      </a: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 passes the correct score prop to the StudentGrade child component.</a:t>
                      </a:r>
                    </a:p>
                  </a:txBody>
                  <a:tcPr marL="45720" marR="45720" marT="4763" marB="9144" anchor="ctr"/>
                </a:tc>
                <a:extLst>
                  <a:ext uri="{0D108BD9-81ED-4DB2-BD59-A6C34878D82A}">
                    <a16:rowId xmlns:a16="http://schemas.microsoft.com/office/drawing/2014/main" val="3835636497"/>
                  </a:ext>
                </a:extLst>
              </a:tr>
              <a:tr h="48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(3) passes a different name to </a:t>
                      </a:r>
                      <a:r>
                        <a:rPr lang="en-SG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StudentName</a:t>
                      </a: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name = "Bob", score = 85</a:t>
                      </a: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Stub renders Name: Bob</a:t>
                      </a: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Verifies that changing the name prop results in the updated value being passed to </a:t>
                      </a:r>
                      <a:r>
                        <a:rPr lang="en-SG" sz="10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StudentName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.</a:t>
                      </a:r>
                    </a:p>
                  </a:txBody>
                  <a:tcPr marL="45720" marR="45720" marT="4763" marB="9144" anchor="ctr"/>
                </a:tc>
                <a:extLst>
                  <a:ext uri="{0D108BD9-81ED-4DB2-BD59-A6C34878D82A}">
                    <a16:rowId xmlns:a16="http://schemas.microsoft.com/office/drawing/2014/main" val="1368456697"/>
                  </a:ext>
                </a:extLst>
              </a:tr>
              <a:tr h="48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(4) passes a different score to </a:t>
                      </a:r>
                      <a:r>
                        <a:rPr lang="en-SG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StudentGrade</a:t>
                      </a: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name = "Alice", score = 75</a:t>
                      </a: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Stub renders Score: 75</a:t>
                      </a: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Verifies that changing the score prop results in the updated value being passed to </a:t>
                      </a:r>
                      <a:r>
                        <a:rPr lang="en-SG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StudentGrade</a:t>
                      </a: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.</a:t>
                      </a:r>
                    </a:p>
                  </a:txBody>
                  <a:tcPr marL="45720" marR="45720" marT="4763" marB="9144" anchor="ctr"/>
                </a:tc>
                <a:extLst>
                  <a:ext uri="{0D108BD9-81ED-4DB2-BD59-A6C34878D82A}">
                    <a16:rowId xmlns:a16="http://schemas.microsoft.com/office/drawing/2014/main" val="241066923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(5) renders both child components</a:t>
                      </a: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name = "Alice", score = 85</a:t>
                      </a: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Stub renders both Name: Alice and Score: 85</a:t>
                      </a: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Verifies that </a:t>
                      </a:r>
                      <a:r>
                        <a:rPr lang="en-SG" sz="10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StudentProfile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 renders both child components and passes the correct props to each simultaneously.</a:t>
                      </a:r>
                    </a:p>
                  </a:txBody>
                  <a:tcPr marL="45720" marR="45720" marT="4763" marB="9144" anchor="ctr"/>
                </a:tc>
                <a:extLst>
                  <a:ext uri="{0D108BD9-81ED-4DB2-BD59-A6C34878D82A}">
                    <a16:rowId xmlns:a16="http://schemas.microsoft.com/office/drawing/2014/main" val="2587393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4190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8044A-4009-B7A7-14DB-B25A854C7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3A76B3-3E6C-C0C3-8EB0-61172828D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99" y="64260"/>
            <a:ext cx="7645157" cy="520995"/>
          </a:xfrm>
        </p:spPr>
        <p:txBody>
          <a:bodyPr/>
          <a:lstStyle/>
          <a:p>
            <a:r>
              <a:rPr lang="en-US" sz="2400">
                <a:solidFill>
                  <a:srgbClr val="FF0000"/>
                </a:solidFill>
              </a:rPr>
              <a:t>(optional)</a:t>
            </a:r>
            <a:r>
              <a:rPr lang="en-US" sz="2400"/>
              <a:t> Component Test: StudentProfile</a:t>
            </a:r>
            <a:endParaRPr lang="en-US" sz="240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8AE7E43-3CF6-EE9D-0BAA-1DC346DFC444}"/>
              </a:ext>
            </a:extLst>
          </p:cNvPr>
          <p:cNvSpPr txBox="1">
            <a:spLocks/>
          </p:cNvSpPr>
          <p:nvPr/>
        </p:nvSpPr>
        <p:spPr>
          <a:xfrm>
            <a:off x="131399" y="834660"/>
            <a:ext cx="8643034" cy="1074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Font typeface="Arial"/>
              <a:buNone/>
            </a:pPr>
            <a:r>
              <a:rPr lang="en-US" b="1"/>
              <a:t>StudentGrade</a:t>
            </a:r>
            <a:r>
              <a:rPr lang="en-US"/>
              <a:t> and </a:t>
            </a:r>
            <a:r>
              <a:rPr lang="en-US" b="1"/>
              <a:t>StudentName</a:t>
            </a:r>
            <a:r>
              <a:rPr lang="en-US"/>
              <a:t> are not used in this test. A </a:t>
            </a:r>
            <a:r>
              <a:rPr lang="en-US">
                <a:solidFill>
                  <a:srgbClr val="0070C0"/>
                </a:solidFill>
              </a:rPr>
              <a:t>stub</a:t>
            </a:r>
            <a:r>
              <a:rPr lang="en-US"/>
              <a:t> is used when the component under test contains child components that you want to replace with lightweight "fake" components. Here, </a:t>
            </a:r>
            <a:r>
              <a:rPr lang="en-US" b="1"/>
              <a:t>StudentGrade </a:t>
            </a:r>
            <a:r>
              <a:rPr lang="en-US"/>
              <a:t>&amp; </a:t>
            </a:r>
            <a:r>
              <a:rPr lang="en-US" b="1"/>
              <a:t>StudentName </a:t>
            </a:r>
            <a:r>
              <a:rPr lang="en-US"/>
              <a:t>are replaced with stubs.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BA7685-AF11-014C-6317-8E9CEC24F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99" y="2595011"/>
            <a:ext cx="4649734" cy="1486216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4527D1D-AE34-60F0-C873-839ADEAF366F}"/>
              </a:ext>
            </a:extLst>
          </p:cNvPr>
          <p:cNvSpPr txBox="1">
            <a:spLocks/>
          </p:cNvSpPr>
          <p:nvPr/>
        </p:nvSpPr>
        <p:spPr>
          <a:xfrm>
            <a:off x="4781133" y="2135853"/>
            <a:ext cx="4190615" cy="1945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Font typeface="Arial"/>
              <a:buNone/>
            </a:pPr>
            <a:r>
              <a:rPr lang="en-US"/>
              <a:t>In the 1</a:t>
            </a:r>
            <a:r>
              <a:rPr lang="en-US" baseline="30000"/>
              <a:t>st</a:t>
            </a:r>
            <a:r>
              <a:rPr lang="en-US"/>
              <a:t> test: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b="1"/>
              <a:t>StudentName</a:t>
            </a:r>
            <a:r>
              <a:rPr lang="en-SG"/>
              <a:t> is a custom stub. It accepts the name prop and displays it, allowing you to verify that </a:t>
            </a:r>
            <a:r>
              <a:rPr lang="en-SG" b="1"/>
              <a:t>StudentProfile </a:t>
            </a:r>
            <a:r>
              <a:rPr lang="en-SG"/>
              <a:t>passes the correct prop.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b="1"/>
              <a:t>StudentGrade: true</a:t>
            </a:r>
            <a:r>
              <a:rPr lang="en-SG"/>
              <a:t> is an automatic stub. Vue Test Utils replaces it with a placeholder component because you don't need it for this test.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CBECF0-96AA-7938-FD48-ED2E3ED65801}"/>
              </a:ext>
            </a:extLst>
          </p:cNvPr>
          <p:cNvSpPr txBox="1"/>
          <p:nvPr/>
        </p:nvSpPr>
        <p:spPr>
          <a:xfrm>
            <a:off x="434543" y="222285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StudentProfile.spec.js: 1</a:t>
            </a:r>
            <a:r>
              <a:rPr lang="en-US" sz="1400" baseline="30000"/>
              <a:t>st</a:t>
            </a:r>
            <a:r>
              <a:rPr lang="en-US" sz="1400"/>
              <a:t> test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2429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78E10-6640-5D25-1BB7-97366920B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2B2639-6C33-C59C-EF60-881C4D637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10" y="43508"/>
            <a:ext cx="7645157" cy="520995"/>
          </a:xfrm>
        </p:spPr>
        <p:txBody>
          <a:bodyPr/>
          <a:lstStyle/>
          <a:p>
            <a:r>
              <a:rPr lang="en-US" sz="2800">
                <a:solidFill>
                  <a:srgbClr val="FF0000"/>
                </a:solidFill>
              </a:rPr>
              <a:t>(optional)</a:t>
            </a:r>
            <a:r>
              <a:rPr lang="en-US" sz="2800"/>
              <a:t> Component Test: StudentProfile</a:t>
            </a:r>
            <a:endParaRPr lang="en-US" sz="280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E5A1075-758F-C1F9-8820-B3CE575A8CE0}"/>
              </a:ext>
            </a:extLst>
          </p:cNvPr>
          <p:cNvSpPr txBox="1">
            <a:spLocks/>
          </p:cNvSpPr>
          <p:nvPr/>
        </p:nvSpPr>
        <p:spPr>
          <a:xfrm>
            <a:off x="4355911" y="2372922"/>
            <a:ext cx="4583448" cy="1602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Font typeface="Arial"/>
              <a:buNone/>
            </a:pPr>
            <a:r>
              <a:rPr lang="en-US"/>
              <a:t>In the 5</a:t>
            </a:r>
            <a:r>
              <a:rPr lang="en-US" baseline="30000"/>
              <a:t>th</a:t>
            </a:r>
            <a:r>
              <a:rPr lang="en-US"/>
              <a:t> test: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/>
              <a:t>Both </a:t>
            </a:r>
            <a:r>
              <a:rPr lang="en-SG" b="1"/>
              <a:t>StudentName</a:t>
            </a:r>
            <a:r>
              <a:rPr lang="en-SG"/>
              <a:t> &amp; </a:t>
            </a:r>
            <a:r>
              <a:rPr lang="en-SG" b="1"/>
              <a:t>StudentGrade</a:t>
            </a:r>
            <a:r>
              <a:rPr lang="en-SG"/>
              <a:t> are custom stubs. This lets you verify that both child components are rendered &amp; receive the correct props.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65190D-B5F6-EE2F-5643-153B1A1FEBBB}"/>
              </a:ext>
            </a:extLst>
          </p:cNvPr>
          <p:cNvSpPr txBox="1"/>
          <p:nvPr/>
        </p:nvSpPr>
        <p:spPr>
          <a:xfrm>
            <a:off x="252165" y="223784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StudentProfile.spec.js: 5</a:t>
            </a:r>
            <a:r>
              <a:rPr lang="en-US" sz="1400" baseline="30000"/>
              <a:t>th</a:t>
            </a:r>
            <a:r>
              <a:rPr lang="en-US" sz="1400"/>
              <a:t> test</a:t>
            </a:r>
            <a:endParaRPr lang="en-SG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F2B435-FF43-D16D-1CC3-652A1E8BC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19" y="2558817"/>
            <a:ext cx="3955857" cy="16305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F6DEB4-90EE-D462-6E9F-139DC63F5258}"/>
              </a:ext>
            </a:extLst>
          </p:cNvPr>
          <p:cNvSpPr txBox="1"/>
          <p:nvPr/>
        </p:nvSpPr>
        <p:spPr>
          <a:xfrm>
            <a:off x="225412" y="4296422"/>
            <a:ext cx="8884093" cy="767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buNone/>
            </a:pPr>
            <a:r>
              <a:rPr lang="en-SG" sz="1400"/>
              <a:t>By creating custom stubs that render the received props, you're testing exactly what </a:t>
            </a:r>
            <a:r>
              <a:rPr lang="en-SG" sz="1400" b="1"/>
              <a:t>StudentProfile</a:t>
            </a:r>
            <a:r>
              <a:rPr lang="en-SG" sz="1400"/>
              <a:t> is responsible for: passing the correct props to its child components, without executing the real child components' logic.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93D9FF-C826-FBCD-C3DF-E2EFB910A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19" y="920837"/>
            <a:ext cx="3985218" cy="1260191"/>
          </a:xfrm>
          <a:prstGeom prst="rect">
            <a:avLst/>
          </a:prstGeom>
        </p:spPr>
      </p:pic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2E995D3-9954-C6BF-C6E1-B659ABF68309}"/>
              </a:ext>
            </a:extLst>
          </p:cNvPr>
          <p:cNvSpPr txBox="1">
            <a:spLocks/>
          </p:cNvSpPr>
          <p:nvPr/>
        </p:nvSpPr>
        <p:spPr>
          <a:xfrm>
            <a:off x="4355911" y="716379"/>
            <a:ext cx="4583448" cy="1260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Font typeface="Arial"/>
              <a:buNone/>
            </a:pPr>
            <a:r>
              <a:rPr lang="en-US"/>
              <a:t>In the 2</a:t>
            </a:r>
            <a:r>
              <a:rPr lang="en-US" baseline="30000"/>
              <a:t>nd</a:t>
            </a:r>
            <a:r>
              <a:rPr lang="en-US"/>
              <a:t> test: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StudentName </a:t>
            </a:r>
            <a:r>
              <a:rPr lang="en-US"/>
              <a:t>is automatically stubbed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StudentGrade</a:t>
            </a:r>
            <a:r>
              <a:rPr lang="en-US"/>
              <a:t> is a custom stub that echoes the score prop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16D8B5-2784-92EA-D941-04DB910F6D57}"/>
              </a:ext>
            </a:extLst>
          </p:cNvPr>
          <p:cNvSpPr txBox="1"/>
          <p:nvPr/>
        </p:nvSpPr>
        <p:spPr>
          <a:xfrm>
            <a:off x="295751" y="56528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StudentProfile.spec.js: 2</a:t>
            </a:r>
            <a:r>
              <a:rPr lang="en-US" sz="1400" baseline="30000"/>
              <a:t>nd</a:t>
            </a:r>
            <a:r>
              <a:rPr lang="en-US" sz="1400"/>
              <a:t> test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24865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F7523-E1F7-AA15-B1C6-10D09D77F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515BDB-CA1A-17A6-5D32-D0D06EB2C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7" y="97276"/>
            <a:ext cx="8520600" cy="649717"/>
          </a:xfrm>
        </p:spPr>
        <p:txBody>
          <a:bodyPr/>
          <a:lstStyle/>
          <a:p>
            <a:r>
              <a:rPr lang="en-US" sz="3200"/>
              <a:t>What to Test in a Component Test</a:t>
            </a:r>
            <a:endParaRPr lang="en-US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52AF9D-CB2A-DFE7-28C0-C96F7583B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1038" y="843183"/>
            <a:ext cx="8651132" cy="1089379"/>
          </a:xfrm>
        </p:spPr>
        <p:txBody>
          <a:bodyPr/>
          <a:lstStyle/>
          <a:p>
            <a:pPr marL="139700" indent="0">
              <a:buNone/>
            </a:pPr>
            <a:r>
              <a:rPr lang="en-US"/>
              <a:t>Goal of component testing is </a:t>
            </a:r>
            <a:r>
              <a:rPr lang="en-US" b="1"/>
              <a:t>not</a:t>
            </a:r>
            <a:r>
              <a:rPr lang="en-US"/>
              <a:t> to test everything, but to test the component's behavior &amp; contract.</a:t>
            </a:r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r>
              <a:rPr lang="en"/>
              <a:t>Ask "</a:t>
            </a:r>
            <a:r>
              <a:rPr lang="en" i="1">
                <a:latin typeface="Times New Roman" panose="02020603050405020304" pitchFamily="18" charset="0"/>
                <a:cs typeface="Times New Roman" panose="02020603050405020304" pitchFamily="18" charset="0"/>
              </a:rPr>
              <a:t>If this feature breaks, would a user or another developer care?</a:t>
            </a:r>
            <a:r>
              <a:rPr lang="en"/>
              <a:t>". </a:t>
            </a:r>
          </a:p>
          <a:p>
            <a:pPr marL="139700" indent="0">
              <a:buNone/>
            </a:pPr>
            <a:r>
              <a:rPr lang="en"/>
              <a:t>If yes, then maybe this behavior is worth testing</a:t>
            </a:r>
          </a:p>
          <a:p>
            <a:pPr marL="114300" indent="0">
              <a:buSzPts val="1800"/>
              <a:buNone/>
            </a:pPr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4E9ED5-4E39-812F-6BCE-92A76FEC8FF0}"/>
              </a:ext>
            </a:extLst>
          </p:cNvPr>
          <p:cNvSpPr txBox="1"/>
          <p:nvPr/>
        </p:nvSpPr>
        <p:spPr>
          <a:xfrm>
            <a:off x="706877" y="2295727"/>
            <a:ext cx="386512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Examples of what is usually worth testing:</a:t>
            </a:r>
          </a:p>
          <a:p>
            <a:pPr marL="342900" indent="-342900">
              <a:buAutoNum type="arabicPeriod"/>
            </a:pPr>
            <a:r>
              <a:rPr lang="en-US" sz="1200">
                <a:solidFill>
                  <a:srgbClr val="0070C0"/>
                </a:solidFill>
              </a:rPr>
              <a:t>Props</a:t>
            </a:r>
            <a:r>
              <a:rPr lang="en-US" sz="1200"/>
              <a:t>: does the component render correctly when props change?</a:t>
            </a:r>
          </a:p>
          <a:p>
            <a:pPr marL="342900" indent="-342900">
              <a:buAutoNum type="arabicPeriod"/>
            </a:pPr>
            <a:r>
              <a:rPr lang="en-US" sz="1200">
                <a:solidFill>
                  <a:srgbClr val="0070C0"/>
                </a:solidFill>
              </a:rPr>
              <a:t>Conditional rendering</a:t>
            </a:r>
            <a:r>
              <a:rPr lang="en-US" sz="1200"/>
              <a:t>: different states display correctly</a:t>
            </a:r>
          </a:p>
          <a:p>
            <a:pPr marL="342900" indent="-342900">
              <a:buAutoNum type="arabicPeriod"/>
            </a:pPr>
            <a:r>
              <a:rPr lang="en-US" sz="1200">
                <a:solidFill>
                  <a:srgbClr val="0070C0"/>
                </a:solidFill>
              </a:rPr>
              <a:t>User interactions</a:t>
            </a:r>
            <a:r>
              <a:rPr lang="en-US" sz="1200"/>
              <a:t>: clicks, typing, selections</a:t>
            </a:r>
          </a:p>
          <a:p>
            <a:pPr marL="342900" indent="-342900">
              <a:buAutoNum type="arabicPeriod"/>
            </a:pPr>
            <a:r>
              <a:rPr lang="en-US" sz="1200">
                <a:solidFill>
                  <a:srgbClr val="0070C0"/>
                </a:solidFill>
              </a:rPr>
              <a:t>Emitted events</a:t>
            </a:r>
            <a:r>
              <a:rPr lang="en-US" sz="1200"/>
              <a:t>: are the correct events emitted?</a:t>
            </a:r>
          </a:p>
          <a:p>
            <a:pPr marL="342900" indent="-342900">
              <a:buAutoNum type="arabicPeriod"/>
            </a:pPr>
            <a:r>
              <a:rPr lang="en-US" sz="1200">
                <a:solidFill>
                  <a:srgbClr val="0070C0"/>
                </a:solidFill>
              </a:rPr>
              <a:t>Computed values</a:t>
            </a:r>
          </a:p>
          <a:p>
            <a:pPr marL="342900" indent="-342900">
              <a:buAutoNum type="arabicPeriod"/>
            </a:pPr>
            <a:r>
              <a:rPr lang="en-US" sz="1200">
                <a:solidFill>
                  <a:srgbClr val="0070C0"/>
                </a:solidFill>
              </a:rPr>
              <a:t>Different states</a:t>
            </a:r>
          </a:p>
          <a:p>
            <a:pPr marL="342900" indent="-342900">
              <a:buAutoNum type="arabicPeriod"/>
            </a:pPr>
            <a:endParaRPr lang="en-US" sz="1200"/>
          </a:p>
          <a:p>
            <a:r>
              <a:rPr lang="en-US" sz="1200"/>
              <a:t>Focus on: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/>
              <a:t>Important links &amp; buttons: correct URLs &amp; actions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/>
              <a:t>Business logic that matters to users</a:t>
            </a:r>
            <a:endParaRPr lang="en-SG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B9B62C-B599-1721-B1C3-E93452FAD413}"/>
              </a:ext>
            </a:extLst>
          </p:cNvPr>
          <p:cNvSpPr txBox="1"/>
          <p:nvPr/>
        </p:nvSpPr>
        <p:spPr>
          <a:xfrm>
            <a:off x="5027085" y="2742113"/>
            <a:ext cx="36381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Examples of what is usually </a:t>
            </a:r>
            <a:r>
              <a:rPr lang="en-US" sz="1200" b="1"/>
              <a:t>not</a:t>
            </a:r>
            <a:r>
              <a:rPr lang="en-US" sz="1200"/>
              <a:t> worth testing:</a:t>
            </a:r>
          </a:p>
          <a:p>
            <a:pPr marL="342900" indent="-342900">
              <a:buAutoNum type="arabicPeriod"/>
            </a:pPr>
            <a:r>
              <a:rPr lang="en-US" sz="1200"/>
              <a:t>Every HTML tag</a:t>
            </a:r>
          </a:p>
          <a:p>
            <a:pPr marL="342900" indent="-342900">
              <a:buAutoNum type="arabicPeriod"/>
            </a:pPr>
            <a:r>
              <a:rPr lang="en-US" sz="1200"/>
              <a:t>Every CSS class</a:t>
            </a:r>
          </a:p>
          <a:p>
            <a:pPr marL="342900" indent="-342900">
              <a:buAutoNum type="arabicPeriod"/>
            </a:pPr>
            <a:r>
              <a:rPr lang="en-US" sz="1200"/>
              <a:t>Exact HTML structure</a:t>
            </a:r>
          </a:p>
          <a:p>
            <a:pPr marL="342900" indent="-342900">
              <a:buAutoNum type="arabicPeriod"/>
            </a:pPr>
            <a:r>
              <a:rPr lang="en-US" sz="1200"/>
              <a:t>Framework functionality </a:t>
            </a:r>
          </a:p>
          <a:p>
            <a:endParaRPr lang="en-US" sz="120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9881917-76C1-D539-E151-876BEDE98A90}"/>
              </a:ext>
            </a:extLst>
          </p:cNvPr>
          <p:cNvCxnSpPr>
            <a:cxnSpLocks/>
          </p:cNvCxnSpPr>
          <p:nvPr/>
        </p:nvCxnSpPr>
        <p:spPr>
          <a:xfrm>
            <a:off x="4799542" y="2295727"/>
            <a:ext cx="0" cy="2574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965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F487A-DBA4-4354-70F7-21035AC37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0C90A52-5CC3-9414-A96A-730347556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77" y="441319"/>
            <a:ext cx="2629654" cy="17708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1FB96B-D336-8166-CD51-12EB344CF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94" y="2345738"/>
            <a:ext cx="2448285" cy="26189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353EDB4-3B09-78D1-9F2E-EA6B45BFF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865" y="441319"/>
            <a:ext cx="2367731" cy="21546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4C915AA-0C62-5105-0F7C-ED744D5173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8865" y="2729467"/>
            <a:ext cx="2305612" cy="21182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0CADC86-DB2B-1840-916B-752DAFC951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5969" y="920885"/>
            <a:ext cx="2488485" cy="17490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394F9CF-3188-B2C4-FC73-8B8D3CFD40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5970" y="2995785"/>
            <a:ext cx="1934175" cy="14336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6D940F0-0A5B-2B18-63E3-1E9AEB2DD370}"/>
              </a:ext>
            </a:extLst>
          </p:cNvPr>
          <p:cNvSpPr txBox="1"/>
          <p:nvPr/>
        </p:nvSpPr>
        <p:spPr>
          <a:xfrm>
            <a:off x="68094" y="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Examples of what is usually worth testing:</a:t>
            </a:r>
          </a:p>
        </p:txBody>
      </p:sp>
    </p:spTree>
    <p:extLst>
      <p:ext uri="{BB962C8B-B14F-4D97-AF65-F5344CB8AC3E}">
        <p14:creationId xmlns:p14="http://schemas.microsoft.com/office/powerpoint/2010/main" val="3101694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15882-F48F-3BEC-D59D-B1CD4AF48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C8F121A0-9FF6-93FA-F178-3E70A1AC3790}"/>
              </a:ext>
            </a:extLst>
          </p:cNvPr>
          <p:cNvSpPr txBox="1"/>
          <p:nvPr/>
        </p:nvSpPr>
        <p:spPr>
          <a:xfrm>
            <a:off x="164181" y="18806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Examples of what is usually </a:t>
            </a:r>
            <a:r>
              <a:rPr lang="en-US" b="1"/>
              <a:t>not</a:t>
            </a:r>
            <a:r>
              <a:rPr lang="en-US"/>
              <a:t> worth testing: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729EE6-E4B0-460A-122A-F73BDD1F5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04" y="1088569"/>
            <a:ext cx="2291266" cy="28843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6C740B-7799-B0D4-5CDD-BCDDCA7A2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435" y="1094274"/>
            <a:ext cx="2227162" cy="24959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B3041B-4941-0172-5D5A-3C0E63C09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017" y="409371"/>
            <a:ext cx="3671905" cy="16890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7F95D9-FDE2-F57B-95E1-6BEE7E1F03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5413" y="2571750"/>
            <a:ext cx="4008963" cy="179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68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24CD9-3A4E-0D7A-157D-FE3268D97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8DD2F1-346A-AC6A-B137-C8FECBB92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7" y="97277"/>
            <a:ext cx="8520600" cy="533022"/>
          </a:xfrm>
        </p:spPr>
        <p:txBody>
          <a:bodyPr/>
          <a:lstStyle/>
          <a:p>
            <a:r>
              <a:rPr lang="en-US" sz="3200"/>
              <a:t>Fragile vs Robust Tests</a:t>
            </a:r>
            <a:endParaRPr lang="en-US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A5780-B716-E78F-A12F-79F966D2F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434" y="774139"/>
            <a:ext cx="3158247" cy="1268670"/>
          </a:xfrm>
        </p:spPr>
        <p:txBody>
          <a:bodyPr/>
          <a:lstStyle/>
          <a:p>
            <a:pPr marL="139700" indent="0">
              <a:buNone/>
            </a:pPr>
            <a:r>
              <a:rPr lang="en-US" sz="1100"/>
              <a:t>Don't write fragile tests that provide little benefit. A fragile test is one that fails even though the software is still working correctly. Fragile tests are too sensitive to changes that should not matter. </a:t>
            </a:r>
            <a:endParaRPr lang="en-SG" sz="1100"/>
          </a:p>
          <a:p>
            <a:pPr marL="114300" indent="0">
              <a:buSzPts val="1800"/>
              <a:buNone/>
            </a:pPr>
            <a:endParaRPr lang="en" sz="11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A14D09-DA45-C0FE-BB41-9C9CDB26EC87}"/>
              </a:ext>
            </a:extLst>
          </p:cNvPr>
          <p:cNvSpPr txBox="1"/>
          <p:nvPr/>
        </p:nvSpPr>
        <p:spPr>
          <a:xfrm>
            <a:off x="329120" y="2043197"/>
            <a:ext cx="31031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50"/>
              <a:t>Fragile tests often: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/>
              <a:t>Fail after harmless code refactoring.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/>
              <a:t>Depend on implementation details instead of externally observable behaviour.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/>
              <a:t>Require frequent updates even when the software still works correctly.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/>
              <a:t>Discourage developers from improving or refactoring code because many unrelated tests break.</a:t>
            </a:r>
          </a:p>
          <a:p>
            <a:endParaRPr lang="en-SG" sz="1050"/>
          </a:p>
          <a:p>
            <a:r>
              <a:rPr lang="en-SG" sz="1050"/>
              <a:t>Robust tests: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/>
              <a:t>Verify </a:t>
            </a:r>
            <a:r>
              <a:rPr lang="en-SG" sz="1050" b="1"/>
              <a:t>what</a:t>
            </a:r>
            <a:r>
              <a:rPr lang="en-SG" sz="1050"/>
              <a:t> the software does, not </a:t>
            </a:r>
            <a:r>
              <a:rPr lang="en-SG" sz="1050" b="1"/>
              <a:t>how</a:t>
            </a:r>
            <a:r>
              <a:rPr lang="en-SG" sz="1050"/>
              <a:t> it does it.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/>
              <a:t>Continue to pass after internal refactoring.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/>
              <a:t>Fail only when the observable behaviour changes unexpectedly.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DFB5A29-3E14-A0A7-D2E3-10FB3EE9F715}"/>
              </a:ext>
            </a:extLst>
          </p:cNvPr>
          <p:cNvCxnSpPr>
            <a:cxnSpLocks/>
          </p:cNvCxnSpPr>
          <p:nvPr/>
        </p:nvCxnSpPr>
        <p:spPr>
          <a:xfrm>
            <a:off x="3540868" y="869004"/>
            <a:ext cx="0" cy="39234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7E43DD1-2A1F-ECBD-C244-A998B3356CF5}"/>
              </a:ext>
            </a:extLst>
          </p:cNvPr>
          <p:cNvSpPr txBox="1"/>
          <p:nvPr/>
        </p:nvSpPr>
        <p:spPr>
          <a:xfrm>
            <a:off x="4139469" y="1066791"/>
            <a:ext cx="1253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50"/>
              <a:t>Login page: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DA9B25-5E61-D23A-6D06-A5FCD2C8C4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97"/>
          <a:stretch>
            <a:fillRect/>
          </a:stretch>
        </p:blipFill>
        <p:spPr>
          <a:xfrm>
            <a:off x="3822971" y="3426680"/>
            <a:ext cx="5066027" cy="89713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4209B1E-958E-20EC-7C13-234EB7826F2F}"/>
              </a:ext>
            </a:extLst>
          </p:cNvPr>
          <p:cNvSpPr txBox="1"/>
          <p:nvPr/>
        </p:nvSpPr>
        <p:spPr>
          <a:xfrm>
            <a:off x="3727312" y="3120415"/>
            <a:ext cx="34922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/>
              <a:t>Test:</a:t>
            </a:r>
            <a:endParaRPr lang="en-SG" sz="11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171B6E-472C-CE17-A03E-9CF65E155FAD}"/>
              </a:ext>
            </a:extLst>
          </p:cNvPr>
          <p:cNvSpPr txBox="1"/>
          <p:nvPr/>
        </p:nvSpPr>
        <p:spPr>
          <a:xfrm>
            <a:off x="4283224" y="4466937"/>
            <a:ext cx="414551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/>
              <a:t>This test is tightly coupled to the implementation of the login page</a:t>
            </a:r>
            <a:endParaRPr lang="en-SG" sz="110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CEB23F5-9CD6-B502-8849-45100B63B2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06"/>
          <a:stretch>
            <a:fillRect/>
          </a:stretch>
        </p:blipFill>
        <p:spPr>
          <a:xfrm>
            <a:off x="5067171" y="906076"/>
            <a:ext cx="3821827" cy="21920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32CD39-4994-FDAB-A4AE-00EB45EECD1B}"/>
              </a:ext>
            </a:extLst>
          </p:cNvPr>
          <p:cNvSpPr txBox="1"/>
          <p:nvPr/>
        </p:nvSpPr>
        <p:spPr>
          <a:xfrm>
            <a:off x="3932406" y="738199"/>
            <a:ext cx="334145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/>
              <a:t>E.g.:</a:t>
            </a:r>
            <a:endParaRPr lang="en-SG" sz="1100"/>
          </a:p>
        </p:txBody>
      </p:sp>
    </p:spTree>
    <p:extLst>
      <p:ext uri="{BB962C8B-B14F-4D97-AF65-F5344CB8AC3E}">
        <p14:creationId xmlns:p14="http://schemas.microsoft.com/office/powerpoint/2010/main" val="2233760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1230D-1EDE-5998-FDAE-CE971D11C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FDED1D-0496-1F10-BC2A-1348A18C9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27" y="131387"/>
            <a:ext cx="8520600" cy="474875"/>
          </a:xfrm>
        </p:spPr>
        <p:txBody>
          <a:bodyPr/>
          <a:lstStyle/>
          <a:p>
            <a:r>
              <a:rPr lang="en-US" sz="3200"/>
              <a:t>Fragile vs Robust Tests</a:t>
            </a:r>
            <a:endParaRPr lang="en-US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069BC-DAFA-C0FE-54FB-BD1531441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2892570"/>
            <a:ext cx="7147004" cy="2248033"/>
          </a:xfrm>
        </p:spPr>
        <p:txBody>
          <a:bodyPr/>
          <a:lstStyle/>
          <a:p>
            <a:pPr marL="139700" indent="0">
              <a:buNone/>
            </a:pPr>
            <a:r>
              <a:rPr lang="en-SG" sz="1100"/>
              <a:t>Instead of checking </a:t>
            </a:r>
            <a:r>
              <a:rPr lang="en-SG" sz="1100" b="1"/>
              <a:t>which function was called</a:t>
            </a:r>
            <a:r>
              <a:rPr lang="en-SG" sz="1100"/>
              <a:t>, a robust test checks </a:t>
            </a:r>
            <a:r>
              <a:rPr lang="en-SG" sz="1100" b="1"/>
              <a:t>what the user experiences</a:t>
            </a:r>
            <a:r>
              <a:rPr lang="en-SG" sz="1100"/>
              <a:t>.</a:t>
            </a:r>
          </a:p>
          <a:p>
            <a:pPr marL="139700" indent="0">
              <a:buNone/>
            </a:pPr>
            <a:endParaRPr lang="en-SG" sz="1100"/>
          </a:p>
          <a:p>
            <a:pPr marL="139700" indent="0">
              <a:buNone/>
            </a:pPr>
            <a:endParaRPr lang="en-SG" sz="1100"/>
          </a:p>
          <a:p>
            <a:pPr marL="139700" indent="0">
              <a:buNone/>
            </a:pPr>
            <a:endParaRPr lang="en-SG" sz="1100"/>
          </a:p>
          <a:p>
            <a:pPr marL="139700" indent="0">
              <a:buNone/>
            </a:pPr>
            <a:endParaRPr lang="en-SG" sz="1100"/>
          </a:p>
          <a:p>
            <a:pPr marL="139700" indent="0">
              <a:buNone/>
            </a:pPr>
            <a:endParaRPr lang="en-SG" sz="1100"/>
          </a:p>
          <a:p>
            <a:pPr marL="139700" indent="0">
              <a:buNone/>
            </a:pPr>
            <a:r>
              <a:rPr lang="en" sz="1100"/>
              <a:t>This test doesn't care whether the app uses a particular function or any other implemention. It only verifies the behavior: can the user successfully log in?</a:t>
            </a:r>
            <a:endParaRPr lang="en-SG" sz="1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73019-9D29-01DD-4980-A1037E8EF86E}"/>
              </a:ext>
            </a:extLst>
          </p:cNvPr>
          <p:cNvSpPr txBox="1"/>
          <p:nvPr/>
        </p:nvSpPr>
        <p:spPr>
          <a:xfrm>
            <a:off x="2263302" y="4740095"/>
            <a:ext cx="4708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600" i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of Thumb: "Test behaviour, not implementation."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2632834-336B-0E51-43C5-11908D91F2F3}"/>
              </a:ext>
            </a:extLst>
          </p:cNvPr>
          <p:cNvCxnSpPr>
            <a:cxnSpLocks/>
          </p:cNvCxnSpPr>
          <p:nvPr/>
        </p:nvCxnSpPr>
        <p:spPr>
          <a:xfrm>
            <a:off x="304800" y="2866416"/>
            <a:ext cx="86251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94C50CF-7FE7-2F2D-6797-3A076A6CDDB8}"/>
              </a:ext>
            </a:extLst>
          </p:cNvPr>
          <p:cNvSpPr txBox="1"/>
          <p:nvPr/>
        </p:nvSpPr>
        <p:spPr>
          <a:xfrm>
            <a:off x="1462860" y="3274399"/>
            <a:ext cx="34922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/>
              <a:t>Test:</a:t>
            </a:r>
            <a:endParaRPr lang="en-SG" sz="11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B36706-0584-1ADB-B092-4FA18E6B85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68"/>
          <a:stretch>
            <a:fillRect/>
          </a:stretch>
        </p:blipFill>
        <p:spPr>
          <a:xfrm>
            <a:off x="1996594" y="3310440"/>
            <a:ext cx="3803512" cy="6590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65BEE9-12E9-D956-AEC3-230495C06E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68"/>
          <a:stretch>
            <a:fillRect/>
          </a:stretch>
        </p:blipFill>
        <p:spPr>
          <a:xfrm>
            <a:off x="2231842" y="975336"/>
            <a:ext cx="3568264" cy="13805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EC4A8C-5E37-4042-56C7-CE046F69FC5D}"/>
              </a:ext>
            </a:extLst>
          </p:cNvPr>
          <p:cNvSpPr txBox="1"/>
          <p:nvPr/>
        </p:nvSpPr>
        <p:spPr>
          <a:xfrm>
            <a:off x="182051" y="2383908"/>
            <a:ext cx="859229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/>
              <a:t>The test will fail even though there is nothing inherently wrong with the app. </a:t>
            </a:r>
          </a:p>
          <a:p>
            <a:r>
              <a:rPr lang="en-SG" sz="1050"/>
              <a:t>Similarly the test fails if the developer changes the ID of the button. </a:t>
            </a:r>
            <a:endParaRPr lang="en-SG" sz="11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9AD55C-4585-09CA-AAD5-8BA8521FAF87}"/>
              </a:ext>
            </a:extLst>
          </p:cNvPr>
          <p:cNvSpPr txBox="1"/>
          <p:nvPr/>
        </p:nvSpPr>
        <p:spPr>
          <a:xfrm>
            <a:off x="227447" y="666530"/>
            <a:ext cx="82161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/>
              <a:t>Later if a developer refactors the page so that there is no more </a:t>
            </a:r>
            <a:r>
              <a:rPr lang="en-SG" sz="1100" b="1"/>
              <a:t>authenticateUser</a:t>
            </a:r>
            <a:r>
              <a:rPr lang="en-SG" sz="1100"/>
              <a:t> function: </a:t>
            </a:r>
          </a:p>
        </p:txBody>
      </p:sp>
    </p:spTree>
    <p:extLst>
      <p:ext uri="{BB962C8B-B14F-4D97-AF65-F5344CB8AC3E}">
        <p14:creationId xmlns:p14="http://schemas.microsoft.com/office/powerpoint/2010/main" val="3306491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14CFB-1FAD-73AB-7953-C4B4DDFBE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2ACB91-C423-23D1-1144-44A2C64F5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21" y="0"/>
            <a:ext cx="8520600" cy="629055"/>
          </a:xfrm>
        </p:spPr>
        <p:txBody>
          <a:bodyPr/>
          <a:lstStyle/>
          <a:p>
            <a:r>
              <a:rPr lang="en-US" sz="2800"/>
              <a:t>Different Types of Tests</a:t>
            </a:r>
            <a:endParaRPr 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1BA3B-D614-3AD8-224F-A3B4148C1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929" y="741527"/>
            <a:ext cx="8520600" cy="4101577"/>
          </a:xfrm>
        </p:spPr>
        <p:txBody>
          <a:bodyPr/>
          <a:lstStyle/>
          <a:p>
            <a:pPr marL="139700" indent="0">
              <a:buNone/>
            </a:pPr>
            <a:r>
              <a:rPr lang="en-US">
                <a:solidFill>
                  <a:schemeClr val="tx1"/>
                </a:solidFill>
              </a:rPr>
              <a:t>Let's move on to integration tests</a:t>
            </a:r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/>
          </a:p>
          <a:p>
            <a:pPr marL="139700" indent="0">
              <a:buNone/>
            </a:pPr>
            <a:endParaRPr lang="en-US" b="1"/>
          </a:p>
          <a:p>
            <a:pPr marL="139700" indent="0">
              <a:buNone/>
            </a:pPr>
            <a:r>
              <a:rPr lang="en-US"/>
              <a:t>When we test 2 or more components interacting with each other, we consider that an "integration test".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F1F496A-6199-694B-469B-D23E69C01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481480"/>
              </p:ext>
            </p:extLst>
          </p:nvPr>
        </p:nvGraphicFramePr>
        <p:xfrm>
          <a:off x="1063271" y="1446207"/>
          <a:ext cx="7336958" cy="2466833"/>
        </p:xfrm>
        <a:graphic>
          <a:graphicData uri="http://schemas.openxmlformats.org/drawingml/2006/table">
            <a:tbl>
              <a:tblPr>
                <a:tableStyleId>{775D735A-9BCC-4A0A-8336-7D16119737FB}</a:tableStyleId>
              </a:tblPr>
              <a:tblGrid>
                <a:gridCol w="1683068">
                  <a:extLst>
                    <a:ext uri="{9D8B030D-6E8A-4147-A177-3AD203B41FA5}">
                      <a16:colId xmlns:a16="http://schemas.microsoft.com/office/drawing/2014/main" val="701099666"/>
                    </a:ext>
                  </a:extLst>
                </a:gridCol>
                <a:gridCol w="1980912">
                  <a:extLst>
                    <a:ext uri="{9D8B030D-6E8A-4147-A177-3AD203B41FA5}">
                      <a16:colId xmlns:a16="http://schemas.microsoft.com/office/drawing/2014/main" val="923549860"/>
                    </a:ext>
                  </a:extLst>
                </a:gridCol>
                <a:gridCol w="1874878">
                  <a:extLst>
                    <a:ext uri="{9D8B030D-6E8A-4147-A177-3AD203B41FA5}">
                      <a16:colId xmlns:a16="http://schemas.microsoft.com/office/drawing/2014/main" val="1422199311"/>
                    </a:ext>
                  </a:extLst>
                </a:gridCol>
                <a:gridCol w="1798100">
                  <a:extLst>
                    <a:ext uri="{9D8B030D-6E8A-4147-A177-3AD203B41FA5}">
                      <a16:colId xmlns:a16="http://schemas.microsoft.com/office/drawing/2014/main" val="3548501995"/>
                    </a:ext>
                  </a:extLst>
                </a:gridCol>
              </a:tblGrid>
              <a:tr h="3590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Test Type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What is Tested?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Components Involved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Goal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b"/>
                </a:tc>
                <a:extLst>
                  <a:ext uri="{0D108BD9-81ED-4DB2-BD59-A6C34878D82A}">
                    <a16:rowId xmlns:a16="http://schemas.microsoft.com/office/drawing/2014/main" val="4182278927"/>
                  </a:ext>
                </a:extLst>
              </a:tr>
              <a:tr h="7025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b="1" u="none" strike="noStrike">
                          <a:effectLst/>
                        </a:rPr>
                        <a:t>Unit Test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A single unit (e.g., a function, method, or class)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One component in isolation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Verify that an individual unit works correctly.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63843095"/>
                  </a:ext>
                </a:extLst>
              </a:tr>
              <a:tr h="7025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b="1" u="none" strike="noStrike">
                          <a:effectLst/>
                        </a:rPr>
                        <a:t>Integration Test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The interaction between multiple units or modules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Two or more integrated components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Verify that the components work correctly together.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920546947"/>
                  </a:ext>
                </a:extLst>
              </a:tr>
              <a:tr h="7025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b="1" u="none" strike="noStrike">
                          <a:effectLst/>
                        </a:rPr>
                        <a:t>End-to-End (E2E) Test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The complete system from the user's perspective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Entire application, including databases, APIs, and UI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Verify that complete user workflows function correctly.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56535491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B28C4BC-4E43-905F-290F-EA6AD28D15FC}"/>
              </a:ext>
            </a:extLst>
          </p:cNvPr>
          <p:cNvSpPr/>
          <p:nvPr/>
        </p:nvSpPr>
        <p:spPr>
          <a:xfrm>
            <a:off x="1063270" y="2491540"/>
            <a:ext cx="7336959" cy="748967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2455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A9C00-C1DF-EEAA-A5D3-C4C12EE5F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79A6A3-9397-4A2B-99E3-5204A9A9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44" y="106312"/>
            <a:ext cx="7645157" cy="520995"/>
          </a:xfrm>
        </p:spPr>
        <p:txBody>
          <a:bodyPr/>
          <a:lstStyle/>
          <a:p>
            <a:r>
              <a:rPr lang="en-US" sz="2800"/>
              <a:t>Integration Test</a:t>
            </a:r>
            <a:endParaRPr lang="en-US" sz="280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4BB27F9-8A02-F335-3F36-C782513D28C6}"/>
              </a:ext>
            </a:extLst>
          </p:cNvPr>
          <p:cNvSpPr txBox="1">
            <a:spLocks/>
          </p:cNvSpPr>
          <p:nvPr/>
        </p:nvSpPr>
        <p:spPr>
          <a:xfrm>
            <a:off x="188198" y="730089"/>
            <a:ext cx="8578220" cy="769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None/>
            </a:pPr>
            <a:r>
              <a:rPr lang="en-US" sz="1200"/>
              <a:t>Unlike the component tests, now we will mount the real </a:t>
            </a:r>
            <a:r>
              <a:rPr lang="en-US" sz="1200" b="1"/>
              <a:t>StudentProfile</a:t>
            </a:r>
            <a:r>
              <a:rPr lang="en-US" sz="1200"/>
              <a:t>, </a:t>
            </a:r>
            <a:r>
              <a:rPr lang="en-US" sz="1200" b="1"/>
              <a:t>StudentName </a:t>
            </a:r>
            <a:r>
              <a:rPr lang="en-US" sz="1200"/>
              <a:t>&amp; </a:t>
            </a:r>
            <a:r>
              <a:rPr lang="en-US" sz="1200" b="1"/>
              <a:t>StudentGrade </a:t>
            </a:r>
            <a:r>
              <a:rPr lang="en-US" sz="1200"/>
              <a:t>components together to verify that they collaborate correctly. Study the code for </a:t>
            </a:r>
            <a:r>
              <a:rPr lang="en-US" sz="1200" b="1"/>
              <a:t>IntegrationTest.spec.js</a:t>
            </a:r>
            <a:r>
              <a:rPr lang="en-US" sz="1200"/>
              <a:t> which contains 3 tests. (You will write the 4</a:t>
            </a:r>
            <a:r>
              <a:rPr lang="en-US" sz="1200" baseline="30000"/>
              <a:t>th</a:t>
            </a:r>
            <a:r>
              <a:rPr lang="en-US" sz="1200"/>
              <a:t> one).</a:t>
            </a:r>
            <a:endParaRPr lang="en-US" sz="12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6FF4A6-F3ED-036F-4DCB-AE56F5F45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786436"/>
              </p:ext>
            </p:extLst>
          </p:nvPr>
        </p:nvGraphicFramePr>
        <p:xfrm>
          <a:off x="407117" y="2046904"/>
          <a:ext cx="8581704" cy="1920240"/>
        </p:xfrm>
        <a:graphic>
          <a:graphicData uri="http://schemas.openxmlformats.org/drawingml/2006/table">
            <a:tbl>
              <a:tblPr>
                <a:tableStyleId>{775D735A-9BCC-4A0A-8336-7D16119737FB}</a:tableStyleId>
              </a:tblPr>
              <a:tblGrid>
                <a:gridCol w="1732303">
                  <a:extLst>
                    <a:ext uri="{9D8B030D-6E8A-4147-A177-3AD203B41FA5}">
                      <a16:colId xmlns:a16="http://schemas.microsoft.com/office/drawing/2014/main" val="2743991366"/>
                    </a:ext>
                  </a:extLst>
                </a:gridCol>
                <a:gridCol w="1247833">
                  <a:extLst>
                    <a:ext uri="{9D8B030D-6E8A-4147-A177-3AD203B41FA5}">
                      <a16:colId xmlns:a16="http://schemas.microsoft.com/office/drawing/2014/main" val="1855997933"/>
                    </a:ext>
                  </a:extLst>
                </a:gridCol>
                <a:gridCol w="2195256">
                  <a:extLst>
                    <a:ext uri="{9D8B030D-6E8A-4147-A177-3AD203B41FA5}">
                      <a16:colId xmlns:a16="http://schemas.microsoft.com/office/drawing/2014/main" val="1780042357"/>
                    </a:ext>
                  </a:extLst>
                </a:gridCol>
                <a:gridCol w="3406312">
                  <a:extLst>
                    <a:ext uri="{9D8B030D-6E8A-4147-A177-3AD203B41FA5}">
                      <a16:colId xmlns:a16="http://schemas.microsoft.com/office/drawing/2014/main" val="2341661395"/>
                    </a:ext>
                  </a:extLst>
                </a:gridCol>
              </a:tblGrid>
              <a:tr h="1973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200" b="1" u="none" strike="noStrike">
                          <a:effectLst/>
                        </a:rPr>
                        <a:t>Test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200" b="1" u="none" strike="noStrike">
                          <a:effectLst/>
                        </a:rPr>
                        <a:t>Input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200" b="1" u="none" strike="noStrike">
                          <a:effectLst/>
                        </a:rPr>
                        <a:t>Expected Output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200" b="1" u="none" strike="noStrike">
                          <a:effectLst/>
                        </a:rPr>
                        <a:t>Purpose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2582118963"/>
                  </a:ext>
                </a:extLst>
              </a:tr>
              <a:tr h="5561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(1) Displays</a:t>
                      </a: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 for score 85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5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name = "Alice"</a:t>
                      </a: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</a:t>
                      </a:r>
                    </a:p>
                    <a:p>
                      <a:pPr algn="l" fontAlgn="ctr">
                        <a:buNone/>
                      </a:pPr>
                      <a:r>
                        <a:rPr lang="en-SG" sz="105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score = 85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Displays </a:t>
                      </a:r>
                      <a:r>
                        <a:rPr lang="en-SG" sz="105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Alice</a:t>
                      </a: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and </a:t>
                      </a:r>
                      <a:r>
                        <a:rPr lang="en-SG" sz="105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Grade: A</a:t>
                      </a:r>
                      <a:endParaRPr lang="en-SG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Verifies that </a:t>
                      </a:r>
                      <a:r>
                        <a:rPr lang="en-SG" sz="105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StudentProfile</a:t>
                      </a: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passes the props correctly, </a:t>
                      </a:r>
                      <a:r>
                        <a:rPr lang="en-SG" sz="105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StudentName</a:t>
                      </a: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displays the name, and </a:t>
                      </a:r>
                      <a:r>
                        <a:rPr lang="en-SG" sz="105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StudentGrade</a:t>
                      </a: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computes and displays grade </a:t>
                      </a:r>
                      <a:r>
                        <a:rPr lang="en-SG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.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3417349362"/>
                  </a:ext>
                </a:extLst>
              </a:tr>
              <a:tr h="3767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(2) Displays B for score 75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5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name = "Bob"</a:t>
                      </a: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</a:t>
                      </a:r>
                    </a:p>
                    <a:p>
                      <a:pPr algn="l" fontAlgn="ctr">
                        <a:buNone/>
                      </a:pPr>
                      <a:r>
                        <a:rPr lang="en-SG" sz="105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score = 75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Displays </a:t>
                      </a:r>
                      <a:r>
                        <a:rPr lang="en-SG" sz="105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Bob</a:t>
                      </a: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and </a:t>
                      </a:r>
                      <a:r>
                        <a:rPr lang="en-SG" sz="105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Grade: B</a:t>
                      </a:r>
                      <a:endParaRPr lang="en-SG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Verifies that all 3 components work together correctly for a student with grade </a:t>
                      </a:r>
                      <a:r>
                        <a:rPr lang="en-SG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</a:t>
                      </a: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.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126817371"/>
                  </a:ext>
                </a:extLst>
              </a:tr>
              <a:tr h="3767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(3) Displays C for score 65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5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name = "Charlie"</a:t>
                      </a: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</a:t>
                      </a:r>
                    </a:p>
                    <a:p>
                      <a:pPr algn="l" fontAlgn="ctr">
                        <a:buNone/>
                      </a:pPr>
                      <a:r>
                        <a:rPr lang="en-SG" sz="105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score = 65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Displays </a:t>
                      </a:r>
                      <a:r>
                        <a:rPr lang="en-SG" sz="105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Charlie</a:t>
                      </a: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and </a:t>
                      </a:r>
                      <a:r>
                        <a:rPr lang="en-SG" sz="105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Grade: C</a:t>
                      </a:r>
                      <a:endParaRPr lang="en-SG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Verifies that all 3 components work together correctly for a student with grade </a:t>
                      </a:r>
                      <a:r>
                        <a:rPr lang="en-SG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.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417126445"/>
                  </a:ext>
                </a:extLst>
              </a:tr>
              <a:tr h="3767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(4) Displays F for score 45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05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Arial Unicode MS"/>
                        </a:rPr>
                        <a:t>name = "David"</a:t>
                      </a:r>
                      <a:r>
                        <a:rPr lang="en-SG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,</a:t>
                      </a:r>
                    </a:p>
                    <a:p>
                      <a:pPr algn="l" fontAlgn="ctr">
                        <a:buNone/>
                      </a:pPr>
                      <a:r>
                        <a:rPr lang="en-SG" sz="105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Arial Unicode MS"/>
                        </a:rPr>
                        <a:t>score = 45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Displays </a:t>
                      </a:r>
                      <a:r>
                        <a:rPr lang="en-SG" sz="105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Arial Unicode MS"/>
                        </a:rPr>
                        <a:t>David</a:t>
                      </a:r>
                      <a:r>
                        <a:rPr lang="en-SG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 and </a:t>
                      </a:r>
                      <a:r>
                        <a:rPr lang="en-SG" sz="105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Arial Unicode MS"/>
                        </a:rPr>
                        <a:t>Grade: F</a:t>
                      </a:r>
                      <a:endParaRPr lang="en-SG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Verifies that all 3 components work together correctly for a student with grade </a:t>
                      </a:r>
                      <a:r>
                        <a:rPr lang="en-SG" sz="1200" b="1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  <a:r>
                        <a:rPr lang="en-SG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.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33012343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E6E739D-CB98-C9EA-FE21-7EEB2E63E59D}"/>
              </a:ext>
            </a:extLst>
          </p:cNvPr>
          <p:cNvSpPr txBox="1"/>
          <p:nvPr/>
        </p:nvSpPr>
        <p:spPr>
          <a:xfrm>
            <a:off x="253354" y="1684738"/>
            <a:ext cx="12510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Test cases:</a:t>
            </a:r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431B7-3A17-4CFC-05C0-620B12041D9A}"/>
              </a:ext>
            </a:extLst>
          </p:cNvPr>
          <p:cNvSpPr txBox="1"/>
          <p:nvPr/>
        </p:nvSpPr>
        <p:spPr>
          <a:xfrm>
            <a:off x="377581" y="4336459"/>
            <a:ext cx="83888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/>
              <a:t>The integration tests intentionally do not verify the text colour of the letter grade, since that responsibility has already been covered by </a:t>
            </a:r>
            <a:r>
              <a:rPr lang="en-SG" b="1"/>
              <a:t>StudentGrade</a:t>
            </a:r>
            <a:r>
              <a:rPr lang="en-SG"/>
              <a:t>'s component tests.</a:t>
            </a:r>
          </a:p>
        </p:txBody>
      </p:sp>
    </p:spTree>
    <p:extLst>
      <p:ext uri="{BB962C8B-B14F-4D97-AF65-F5344CB8AC3E}">
        <p14:creationId xmlns:p14="http://schemas.microsoft.com/office/powerpoint/2010/main" val="3940790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E4F01-B223-550C-99D7-EC1941852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0D63BE-40C7-0FFC-C244-AA2029507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00" y="0"/>
            <a:ext cx="8253360" cy="542261"/>
          </a:xfrm>
        </p:spPr>
        <p:txBody>
          <a:bodyPr/>
          <a:lstStyle/>
          <a:p>
            <a:r>
              <a:rPr lang="en-US" sz="2400"/>
              <a:t>Integration Test</a:t>
            </a:r>
            <a:endParaRPr lang="en-US" sz="240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D4636F6-335B-71BA-7944-728AB8D4BCEA}"/>
              </a:ext>
            </a:extLst>
          </p:cNvPr>
          <p:cNvSpPr txBox="1">
            <a:spLocks/>
          </p:cNvSpPr>
          <p:nvPr/>
        </p:nvSpPr>
        <p:spPr>
          <a:xfrm>
            <a:off x="0" y="542261"/>
            <a:ext cx="5230939" cy="520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Font typeface="Arial"/>
              <a:buNone/>
            </a:pPr>
            <a:r>
              <a:rPr lang="en-US" sz="1100" b="1"/>
              <a:t>IntegrationTest.spec.js </a:t>
            </a:r>
            <a:r>
              <a:rPr lang="en-US" sz="1100"/>
              <a:t>checks that the 3 components work correctly together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B2E333-B832-D5C7-FC24-A8C955DC5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6" y="930350"/>
            <a:ext cx="5517586" cy="41334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05ED5A-1DED-F68A-965E-C2B50A1128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932"/>
          <a:stretch>
            <a:fillRect/>
          </a:stretch>
        </p:blipFill>
        <p:spPr>
          <a:xfrm>
            <a:off x="5564158" y="802759"/>
            <a:ext cx="3360846" cy="339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176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2A72B-81D1-1F5F-2606-6FA174FB6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28A67-EDE0-C988-6B26-D06BB1BD4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04" y="104697"/>
            <a:ext cx="8520600" cy="630901"/>
          </a:xfrm>
        </p:spPr>
        <p:txBody>
          <a:bodyPr/>
          <a:lstStyle/>
          <a:p>
            <a:r>
              <a:rPr lang="en-US" sz="3200"/>
              <a:t>Setting Up for Ex 2 (1)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1EA2A-7ECA-352D-B2D4-C6A212FD3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088" y="1108014"/>
            <a:ext cx="3992859" cy="1120207"/>
          </a:xfrm>
        </p:spPr>
        <p:txBody>
          <a:bodyPr/>
          <a:lstStyle/>
          <a:p>
            <a:pPr marL="139700" indent="0">
              <a:buNone/>
            </a:pPr>
            <a:r>
              <a:rPr lang="en-US" sz="1200"/>
              <a:t>Host Ex2. This is a Vue app containing 3 components (</a:t>
            </a:r>
            <a:r>
              <a:rPr lang="en-US" sz="1200">
                <a:solidFill>
                  <a:srgbClr val="0070C0"/>
                </a:solidFill>
              </a:rPr>
              <a:t>StudentProfile</a:t>
            </a:r>
            <a:r>
              <a:rPr lang="en-US" sz="1200">
                <a:solidFill>
                  <a:srgbClr val="00B050"/>
                </a:solidFill>
              </a:rPr>
              <a:t>, StudentGrade</a:t>
            </a:r>
            <a:r>
              <a:rPr lang="en-US" sz="1200">
                <a:solidFill>
                  <a:srgbClr val="0070C0"/>
                </a:solidFill>
              </a:rPr>
              <a:t> </a:t>
            </a:r>
            <a:r>
              <a:rPr lang="en-US" sz="1200">
                <a:solidFill>
                  <a:schemeClr val="tx1"/>
                </a:solidFill>
              </a:rPr>
              <a:t>&amp;</a:t>
            </a:r>
            <a:r>
              <a:rPr lang="en-US" sz="1200">
                <a:solidFill>
                  <a:srgbClr val="0070C0"/>
                </a:solidFill>
              </a:rPr>
              <a:t> </a:t>
            </a:r>
            <a:r>
              <a:rPr lang="en-US" sz="1200">
                <a:solidFill>
                  <a:schemeClr val="tx2"/>
                </a:solidFill>
              </a:rPr>
              <a:t>StudentName</a:t>
            </a:r>
            <a:r>
              <a:rPr lang="en-US" sz="1200"/>
              <a:t>). </a:t>
            </a:r>
          </a:p>
          <a:p>
            <a:pPr marL="139700" indent="0">
              <a:buNone/>
            </a:pPr>
            <a:endParaRPr lang="en-US" sz="1200"/>
          </a:p>
          <a:p>
            <a:endParaRPr lang="en-US"/>
          </a:p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1B210-4E48-2342-553F-5EB294E09FF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71790" y="1618359"/>
            <a:ext cx="3999900" cy="2074746"/>
          </a:xfrm>
        </p:spPr>
        <p:txBody>
          <a:bodyPr/>
          <a:lstStyle/>
          <a:p>
            <a:pPr marL="139700" indent="0">
              <a:buNone/>
            </a:pPr>
            <a:r>
              <a:rPr lang="en-US" sz="1200"/>
              <a:t>In this exercise, we will start with </a:t>
            </a:r>
            <a:r>
              <a:rPr lang="en-US" sz="1200" b="1"/>
              <a:t>component</a:t>
            </a:r>
            <a:r>
              <a:rPr lang="en-US" sz="1200"/>
              <a:t> tests:</a:t>
            </a:r>
          </a:p>
          <a:p>
            <a:r>
              <a:rPr lang="en-US" sz="1200"/>
              <a:t>Test </a:t>
            </a:r>
            <a:r>
              <a:rPr lang="en-US" sz="1200">
                <a:solidFill>
                  <a:srgbClr val="00B050"/>
                </a:solidFill>
              </a:rPr>
              <a:t>StudentGrade</a:t>
            </a:r>
            <a:r>
              <a:rPr lang="en-US" sz="1200"/>
              <a:t> in isolation. </a:t>
            </a:r>
          </a:p>
          <a:p>
            <a:r>
              <a:rPr lang="en-US" sz="1200"/>
              <a:t>Test </a:t>
            </a:r>
            <a:r>
              <a:rPr lang="en-US" sz="1200">
                <a:solidFill>
                  <a:srgbClr val="0070C0"/>
                </a:solidFill>
              </a:rPr>
              <a:t>StudentProfile</a:t>
            </a:r>
            <a:r>
              <a:rPr lang="en-US" sz="1200"/>
              <a:t>. </a:t>
            </a:r>
          </a:p>
          <a:p>
            <a:pPr marL="139700" indent="0">
              <a:buNone/>
            </a:pPr>
            <a:r>
              <a:rPr lang="en-US" sz="1200"/>
              <a:t>(we will not test </a:t>
            </a:r>
            <a:r>
              <a:rPr lang="en-US" sz="1200">
                <a:solidFill>
                  <a:schemeClr val="tx2"/>
                </a:solidFill>
              </a:rPr>
              <a:t>StudentName</a:t>
            </a:r>
            <a:r>
              <a:rPr lang="en-US" sz="1200"/>
              <a:t> in this exercise since we already have </a:t>
            </a:r>
            <a:r>
              <a:rPr lang="en-US" sz="1200">
                <a:solidFill>
                  <a:srgbClr val="00B050"/>
                </a:solidFill>
              </a:rPr>
              <a:t>StudentGrade</a:t>
            </a:r>
            <a:r>
              <a:rPr lang="en-US" sz="1200"/>
              <a:t> as an example)</a:t>
            </a:r>
          </a:p>
          <a:p>
            <a:pPr marL="139700" indent="0">
              <a:buNone/>
            </a:pPr>
            <a:endParaRPr lang="en-US" sz="1200"/>
          </a:p>
          <a:p>
            <a:pPr marL="139700" indent="0">
              <a:buNone/>
            </a:pPr>
            <a:r>
              <a:rPr lang="en-US" sz="1200"/>
              <a:t>We will continue with an </a:t>
            </a:r>
            <a:r>
              <a:rPr lang="en-US" sz="1200" b="1"/>
              <a:t>integration</a:t>
            </a:r>
            <a:r>
              <a:rPr lang="en-US" sz="1200"/>
              <a:t> test:</a:t>
            </a:r>
          </a:p>
          <a:p>
            <a:r>
              <a:rPr lang="en-US" sz="1200"/>
              <a:t>Test all 3 components together</a:t>
            </a:r>
            <a:endParaRPr lang="en-SG" sz="12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1A7C85F-0D63-D5F7-C2E4-EB1D9B1F4C1C}"/>
              </a:ext>
            </a:extLst>
          </p:cNvPr>
          <p:cNvCxnSpPr>
            <a:cxnSpLocks/>
          </p:cNvCxnSpPr>
          <p:nvPr/>
        </p:nvCxnSpPr>
        <p:spPr>
          <a:xfrm>
            <a:off x="4572000" y="856034"/>
            <a:ext cx="0" cy="4031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FF9AAE1-D1C3-BF43-427C-E9504B545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586" y="2107905"/>
            <a:ext cx="3182032" cy="247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686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C1DAC-945C-B266-C3B8-47B8027EA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8A479-BCC1-7543-F02F-9BA77BCDE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04" y="104697"/>
            <a:ext cx="8520600" cy="630901"/>
          </a:xfrm>
        </p:spPr>
        <p:txBody>
          <a:bodyPr/>
          <a:lstStyle/>
          <a:p>
            <a:r>
              <a:rPr lang="en-US" sz="3200"/>
              <a:t>Setting Up for Ex 2 (2)</a:t>
            </a:r>
            <a:endParaRPr lang="en-SG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0A379FF-1D54-8CC2-ED1F-3D223781B734}"/>
              </a:ext>
            </a:extLst>
          </p:cNvPr>
          <p:cNvSpPr txBox="1">
            <a:spLocks/>
          </p:cNvSpPr>
          <p:nvPr/>
        </p:nvSpPr>
        <p:spPr>
          <a:xfrm>
            <a:off x="450546" y="904382"/>
            <a:ext cx="7979580" cy="371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82600" indent="-342900">
              <a:buFont typeface="Arial"/>
              <a:buAutoNum type="arabicParenBoth"/>
            </a:pPr>
            <a:r>
              <a:rPr lang="en-GB" dirty="0"/>
              <a:t>Study </a:t>
            </a:r>
            <a:r>
              <a:rPr lang="en-GB" dirty="0" err="1"/>
              <a:t>src</a:t>
            </a:r>
            <a:r>
              <a:rPr lang="en-GB" dirty="0"/>
              <a:t>/components/</a:t>
            </a:r>
            <a:r>
              <a:rPr lang="en-GB" dirty="0" err="1">
                <a:solidFill>
                  <a:schemeClr val="tx2"/>
                </a:solidFill>
              </a:rPr>
              <a:t>StudentName</a:t>
            </a:r>
            <a:r>
              <a:rPr lang="en-GB" dirty="0" err="1"/>
              <a:t>.vue</a:t>
            </a:r>
            <a:r>
              <a:rPr lang="en-GB" dirty="0"/>
              <a:t> and </a:t>
            </a:r>
            <a:r>
              <a:rPr lang="en-GB" dirty="0" err="1">
                <a:solidFill>
                  <a:schemeClr val="accent5"/>
                </a:solidFill>
              </a:rPr>
              <a:t>StudentGrade</a:t>
            </a:r>
            <a:r>
              <a:rPr lang="en-GB" dirty="0" err="1"/>
              <a:t>.vue</a:t>
            </a:r>
            <a:r>
              <a:rPr lang="en-GB" dirty="0"/>
              <a:t>. Both are child components used by </a:t>
            </a:r>
            <a:r>
              <a:rPr lang="en-GB" dirty="0" err="1">
                <a:solidFill>
                  <a:srgbClr val="0070C0"/>
                </a:solidFill>
              </a:rPr>
              <a:t>StudentProfile</a:t>
            </a:r>
            <a:r>
              <a:rPr lang="en-GB" dirty="0"/>
              <a:t>. </a:t>
            </a:r>
            <a:r>
              <a:rPr lang="en-GB" dirty="0" err="1">
                <a:solidFill>
                  <a:schemeClr val="tx2"/>
                </a:solidFill>
              </a:rPr>
              <a:t>StudentName</a:t>
            </a:r>
            <a:r>
              <a:rPr lang="en-GB" dirty="0"/>
              <a:t> takes in the name via props; </a:t>
            </a:r>
            <a:r>
              <a:rPr lang="en-GB" dirty="0" err="1"/>
              <a:t>StudentGrade</a:t>
            </a:r>
            <a:r>
              <a:rPr lang="en-GB" dirty="0"/>
              <a:t> takes in the score via props and displays the respective grade in either green (A,B,C) or red (F)</a:t>
            </a:r>
          </a:p>
          <a:p>
            <a:pPr marL="482600" indent="-342900">
              <a:buFont typeface="Arial"/>
              <a:buAutoNum type="arabicParenBoth"/>
            </a:pPr>
            <a:r>
              <a:rPr lang="en-GB" dirty="0"/>
              <a:t>Study </a:t>
            </a:r>
            <a:r>
              <a:rPr lang="en-GB" dirty="0" err="1"/>
              <a:t>src</a:t>
            </a:r>
            <a:r>
              <a:rPr lang="en-GB" dirty="0"/>
              <a:t>/components/</a:t>
            </a:r>
            <a:r>
              <a:rPr lang="en-GB" dirty="0" err="1">
                <a:solidFill>
                  <a:srgbClr val="0070C0"/>
                </a:solidFill>
              </a:rPr>
              <a:t>StudentProfile</a:t>
            </a:r>
            <a:r>
              <a:rPr lang="en-GB" dirty="0" err="1"/>
              <a:t>.vue</a:t>
            </a:r>
            <a:r>
              <a:rPr lang="en-GB" dirty="0"/>
              <a:t>. This is the parent component which sends the name &amp; score to </a:t>
            </a:r>
            <a:r>
              <a:rPr lang="en-GB" dirty="0" err="1">
                <a:solidFill>
                  <a:schemeClr val="tx2"/>
                </a:solidFill>
              </a:rPr>
              <a:t>StudentName</a:t>
            </a:r>
            <a:r>
              <a:rPr lang="en-GB" dirty="0"/>
              <a:t> and </a:t>
            </a:r>
            <a:r>
              <a:rPr lang="en-GB" dirty="0" err="1">
                <a:solidFill>
                  <a:schemeClr val="accent5"/>
                </a:solidFill>
              </a:rPr>
              <a:t>StudentGrade</a:t>
            </a:r>
            <a:r>
              <a:rPr lang="en-GB" dirty="0"/>
              <a:t> respectively, which will then display the name and grade.</a:t>
            </a:r>
          </a:p>
          <a:p>
            <a:pPr marL="482600" indent="-342900">
              <a:buFont typeface="Arial"/>
              <a:buAutoNum type="arabicParenBoth"/>
            </a:pPr>
            <a:r>
              <a:rPr lang="en-GB" dirty="0"/>
              <a:t>Take a quick look at </a:t>
            </a:r>
            <a:r>
              <a:rPr lang="en-GB" dirty="0" err="1"/>
              <a:t>src</a:t>
            </a:r>
            <a:r>
              <a:rPr lang="en-GB" dirty="0"/>
              <a:t>/components/</a:t>
            </a:r>
            <a:r>
              <a:rPr lang="en-GB" b="1" dirty="0"/>
              <a:t>Ex2.vue</a:t>
            </a:r>
            <a:r>
              <a:rPr lang="en-GB" dirty="0"/>
              <a:t>. This uses </a:t>
            </a:r>
            <a:r>
              <a:rPr lang="en-GB" dirty="0" err="1">
                <a:solidFill>
                  <a:srgbClr val="0070C0"/>
                </a:solidFill>
              </a:rPr>
              <a:t>StudentProfile</a:t>
            </a:r>
            <a:r>
              <a:rPr lang="en-GB" dirty="0"/>
              <a:t> and sends over a default name and score. </a:t>
            </a:r>
          </a:p>
          <a:p>
            <a:pPr marL="482600" indent="-342900">
              <a:buFont typeface="Arial"/>
              <a:buAutoNum type="arabicParenBoth"/>
            </a:pPr>
            <a:endParaRPr lang="en-GB" dirty="0"/>
          </a:p>
          <a:p>
            <a:pPr marL="482600" indent="-342900">
              <a:buFont typeface="Arial"/>
              <a:buAutoNum type="arabicParenBoth"/>
            </a:pPr>
            <a:r>
              <a:rPr lang="en-GB" dirty="0"/>
              <a:t>In a terminal window (at ex2), run the Vue app: 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b="1" dirty="0" err="1"/>
              <a:t>pnpm</a:t>
            </a:r>
            <a:r>
              <a:rPr lang="en-GB" b="1" dirty="0"/>
              <a:t> dev</a:t>
            </a:r>
            <a:br>
              <a:rPr lang="en-GB" dirty="0"/>
            </a:br>
            <a:r>
              <a:rPr lang="en-GB" dirty="0"/>
              <a:t>Take a look at the app in the browser (http://localhost:5173). Click on Ex2. </a:t>
            </a:r>
          </a:p>
          <a:p>
            <a:pPr marL="482600" indent="-342900">
              <a:buFont typeface="Arial"/>
              <a:buAutoNum type="arabicParenBoth"/>
            </a:pPr>
            <a:r>
              <a:rPr lang="en-GB" dirty="0"/>
              <a:t>Edit the default values for name and score in </a:t>
            </a:r>
            <a:r>
              <a:rPr lang="en-GB" b="1" dirty="0"/>
              <a:t>Ex2.vue </a:t>
            </a:r>
            <a:r>
              <a:rPr lang="en-GB" dirty="0"/>
              <a:t>and observe that the grade has been updated in the browser.</a:t>
            </a:r>
          </a:p>
          <a:p>
            <a:pPr marL="482600" indent="-342900">
              <a:buFont typeface="Arial"/>
              <a:buAutoNum type="arabicParenBoth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93920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24371-9425-19E4-BDEE-68A0EE484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7302-84F8-2395-CEB6-8AE6B1198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04" y="104697"/>
            <a:ext cx="8520600" cy="630901"/>
          </a:xfrm>
        </p:spPr>
        <p:txBody>
          <a:bodyPr/>
          <a:lstStyle/>
          <a:p>
            <a:r>
              <a:rPr lang="en-US" sz="3200"/>
              <a:t>Ex2: Component + Integration Test (1)</a:t>
            </a:r>
            <a:endParaRPr lang="en-SG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3491032-8D9F-1044-194F-A9AB36CC7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96887"/>
            <a:ext cx="8520600" cy="3715743"/>
          </a:xfrm>
        </p:spPr>
        <p:txBody>
          <a:bodyPr/>
          <a:lstStyle/>
          <a:p>
            <a:pPr marL="139700" indent="0">
              <a:buNone/>
            </a:pPr>
            <a:r>
              <a:rPr lang="en-US" b="1" dirty="0">
                <a:solidFill>
                  <a:srgbClr val="0070C0"/>
                </a:solidFill>
              </a:rPr>
              <a:t>Component Test for </a:t>
            </a:r>
            <a:r>
              <a:rPr lang="en-US" b="1" dirty="0" err="1">
                <a:solidFill>
                  <a:srgbClr val="0070C0"/>
                </a:solidFill>
              </a:rPr>
              <a:t>StudentGrade</a:t>
            </a:r>
            <a:endParaRPr lang="en-US" b="1" dirty="0">
              <a:solidFill>
                <a:srgbClr val="0070C0"/>
              </a:solidFill>
            </a:endParaRPr>
          </a:p>
          <a:p>
            <a:pPr marL="139700" indent="0">
              <a:buNone/>
            </a:pPr>
            <a:endParaRPr lang="en-US" dirty="0"/>
          </a:p>
          <a:p>
            <a:pPr marL="482600" indent="-342900">
              <a:buAutoNum type="arabicParenBoth"/>
            </a:pPr>
            <a:r>
              <a:rPr lang="en-US" dirty="0"/>
              <a:t>Read </a:t>
            </a:r>
            <a:r>
              <a:rPr lang="en-US" dirty="0" err="1"/>
              <a:t>src</a:t>
            </a:r>
            <a:r>
              <a:rPr lang="en-US" dirty="0"/>
              <a:t>/components/__tests__/</a:t>
            </a:r>
            <a:r>
              <a:rPr lang="en-US" b="1" dirty="0"/>
              <a:t>StudentGrade.spec.js</a:t>
            </a:r>
            <a:r>
              <a:rPr lang="en-US" dirty="0"/>
              <a:t>. The tests there takes in "score" as props of different values &amp; checks if the displayed grade and color are correct</a:t>
            </a:r>
          </a:p>
          <a:p>
            <a:pPr marL="482600" indent="-342900">
              <a:buAutoNum type="arabicParenBoth"/>
            </a:pPr>
            <a:r>
              <a:rPr lang="en-US" dirty="0"/>
              <a:t>Open a terminal window and change directory to the project folder (ex2). Then run the tests in </a:t>
            </a:r>
            <a:r>
              <a:rPr lang="en-US" b="1" dirty="0"/>
              <a:t>StudentGrade.spec.js</a:t>
            </a:r>
            <a:r>
              <a:rPr lang="en-US" dirty="0"/>
              <a:t> like this:</a:t>
            </a:r>
            <a:br>
              <a:rPr lang="en-US" dirty="0"/>
            </a:br>
            <a:r>
              <a:rPr lang="en-US" dirty="0"/>
              <a:t>     </a:t>
            </a:r>
            <a:r>
              <a:rPr lang="en-GB" b="1" dirty="0" err="1"/>
              <a:t>pnpm</a:t>
            </a:r>
            <a:r>
              <a:rPr lang="en-GB" b="1" dirty="0"/>
              <a:t> </a:t>
            </a:r>
            <a:r>
              <a:rPr lang="en-GB" b="1" dirty="0" err="1"/>
              <a:t>vitest</a:t>
            </a:r>
            <a:r>
              <a:rPr lang="en-GB" b="1" dirty="0"/>
              <a:t> StudentGrade.spec.js</a:t>
            </a:r>
            <a:br>
              <a:rPr lang="en-GB" b="1" dirty="0"/>
            </a:br>
            <a:r>
              <a:rPr lang="en-US" dirty="0"/>
              <a:t>All 5 tests in </a:t>
            </a:r>
            <a:r>
              <a:rPr lang="en-US" b="1" dirty="0"/>
              <a:t>StudentGrade.spec.js</a:t>
            </a:r>
            <a:r>
              <a:rPr lang="en-US" dirty="0"/>
              <a:t> should pass.</a:t>
            </a:r>
            <a:br>
              <a:rPr lang="en-GB" b="1" dirty="0"/>
            </a:br>
            <a:r>
              <a:rPr lang="en-GB" dirty="0"/>
              <a:t>(If you do not specify exactly which spec.js file to run, </a:t>
            </a:r>
            <a:r>
              <a:rPr lang="en-GB" dirty="0" err="1"/>
              <a:t>vitest</a:t>
            </a:r>
            <a:r>
              <a:rPr lang="en-GB" dirty="0"/>
              <a:t> will run all the *.spec.js files in the __tests__ folder.)</a:t>
            </a:r>
          </a:p>
          <a:p>
            <a:pPr marL="482600" indent="-342900">
              <a:buAutoNum type="arabicParenBoth"/>
            </a:pPr>
            <a:r>
              <a:rPr lang="en-US" dirty="0"/>
              <a:t>Now, edit </a:t>
            </a:r>
            <a:r>
              <a:rPr lang="en-US" b="1" dirty="0"/>
              <a:t>StudentGrade.spec.js</a:t>
            </a:r>
            <a:r>
              <a:rPr lang="en-US" dirty="0"/>
              <a:t> to insert a 6</a:t>
            </a:r>
            <a:r>
              <a:rPr lang="en-US" baseline="30000" dirty="0"/>
              <a:t>th</a:t>
            </a:r>
            <a:r>
              <a:rPr lang="en-US" dirty="0"/>
              <a:t> test. The 6</a:t>
            </a:r>
            <a:r>
              <a:rPr lang="en-US" baseline="30000" dirty="0"/>
              <a:t>th</a:t>
            </a:r>
            <a:r>
              <a:rPr lang="en-US" dirty="0"/>
              <a:t> test should check if red text is used for failing grades. Run the test again to see if it works. </a:t>
            </a:r>
          </a:p>
          <a:p>
            <a:pPr marL="482600" indent="-342900">
              <a:buAutoNum type="arabicParenBoth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35359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D1132-0F67-8603-EDBB-964F82EB1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77DDA-5CD4-7DE9-2DCB-7C4501804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04" y="104697"/>
            <a:ext cx="8520600" cy="630901"/>
          </a:xfrm>
        </p:spPr>
        <p:txBody>
          <a:bodyPr/>
          <a:lstStyle/>
          <a:p>
            <a:r>
              <a:rPr lang="en-US" sz="3200"/>
              <a:t>Ex2 (2)</a:t>
            </a:r>
            <a:endParaRPr lang="en-SG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1ED4DD-28F0-3399-2DE1-173AC0E86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975" y="1032719"/>
            <a:ext cx="7444657" cy="3715743"/>
          </a:xfrm>
        </p:spPr>
        <p:txBody>
          <a:bodyPr/>
          <a:lstStyle/>
          <a:p>
            <a:pPr marL="139700" indent="0">
              <a:buNone/>
            </a:pPr>
            <a:r>
              <a:rPr lang="en-US" b="1" dirty="0">
                <a:solidFill>
                  <a:srgbClr val="0070C0"/>
                </a:solidFill>
              </a:rPr>
              <a:t>Component Test for </a:t>
            </a:r>
            <a:r>
              <a:rPr lang="en-US" b="1" dirty="0" err="1">
                <a:solidFill>
                  <a:srgbClr val="0070C0"/>
                </a:solidFill>
              </a:rPr>
              <a:t>StudentProfile</a:t>
            </a:r>
            <a:r>
              <a:rPr lang="en-US" b="1" dirty="0">
                <a:solidFill>
                  <a:srgbClr val="0070C0"/>
                </a:solidFill>
              </a:rPr>
              <a:t> Using Stubs </a:t>
            </a:r>
            <a:r>
              <a:rPr lang="en-US" b="1" dirty="0">
                <a:solidFill>
                  <a:srgbClr val="FF0000"/>
                </a:solidFill>
              </a:rPr>
              <a:t>(OPTIONAL)</a:t>
            </a:r>
          </a:p>
          <a:p>
            <a:pPr marL="139700" indent="0">
              <a:buNone/>
            </a:pPr>
            <a:endParaRPr lang="en-US" dirty="0"/>
          </a:p>
          <a:p>
            <a:pPr marL="482600" indent="-342900">
              <a:buAutoNum type="arabicParenBoth"/>
            </a:pPr>
            <a:r>
              <a:rPr lang="en-US" dirty="0"/>
              <a:t>Read </a:t>
            </a:r>
            <a:r>
              <a:rPr lang="en-US" dirty="0" err="1"/>
              <a:t>src</a:t>
            </a:r>
            <a:r>
              <a:rPr lang="en-US" dirty="0"/>
              <a:t>/components/__tests__/</a:t>
            </a:r>
            <a:r>
              <a:rPr lang="en-US" b="1" dirty="0"/>
              <a:t>StudentProfile.spec.js</a:t>
            </a:r>
            <a:r>
              <a:rPr lang="en-US" dirty="0"/>
              <a:t>. The tests there </a:t>
            </a:r>
            <a:r>
              <a:rPr lang="en-SG" dirty="0"/>
              <a:t>verify that the </a:t>
            </a:r>
            <a:r>
              <a:rPr lang="en-SG" b="1" dirty="0" err="1"/>
              <a:t>StudentProfile</a:t>
            </a:r>
            <a:r>
              <a:rPr lang="en-SG" dirty="0"/>
              <a:t> component correctly renders the student's name and grade information by passing the appropriate props to its child components.</a:t>
            </a:r>
          </a:p>
          <a:p>
            <a:pPr marL="482600" indent="-342900">
              <a:buAutoNum type="arabicParenBoth"/>
            </a:pPr>
            <a:endParaRPr lang="en-SG" dirty="0"/>
          </a:p>
          <a:p>
            <a:pPr marL="482600" indent="-342900">
              <a:buAutoNum type="arabicParenBoth"/>
            </a:pPr>
            <a:r>
              <a:rPr lang="en-US" dirty="0"/>
              <a:t>In your terminal window, run the tests in </a:t>
            </a:r>
            <a:r>
              <a:rPr lang="en-US" b="1" dirty="0"/>
              <a:t>StudentProfile.spec.js</a:t>
            </a:r>
            <a:r>
              <a:rPr lang="en-US" dirty="0"/>
              <a:t> like this:</a:t>
            </a:r>
            <a:br>
              <a:rPr lang="en-US" dirty="0"/>
            </a:br>
            <a:r>
              <a:rPr lang="en-US" dirty="0"/>
              <a:t>     </a:t>
            </a:r>
            <a:r>
              <a:rPr lang="en-GB" b="1" dirty="0" err="1"/>
              <a:t>pnpm</a:t>
            </a:r>
            <a:r>
              <a:rPr lang="en-GB" b="1" dirty="0"/>
              <a:t> </a:t>
            </a:r>
            <a:r>
              <a:rPr lang="en-GB" b="1" dirty="0" err="1"/>
              <a:t>vitest</a:t>
            </a:r>
            <a:r>
              <a:rPr lang="en-GB" b="1" dirty="0"/>
              <a:t> StudentProfile.spec.js</a:t>
            </a:r>
            <a:br>
              <a:rPr lang="en-GB" b="1" dirty="0"/>
            </a:br>
            <a:r>
              <a:rPr lang="en-US" dirty="0"/>
              <a:t>All 5 tests in </a:t>
            </a:r>
            <a:r>
              <a:rPr lang="en-US" b="1" dirty="0"/>
              <a:t>StudentProfile.spec.js</a:t>
            </a:r>
            <a:r>
              <a:rPr lang="en-US" dirty="0"/>
              <a:t> should pass. </a:t>
            </a:r>
          </a:p>
          <a:p>
            <a:pPr marL="482600" indent="-342900">
              <a:buAutoNum type="arabicParenBoth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63039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023D1-63CE-9A2C-F4C3-17D2F331E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D6279-7956-205B-8A66-24AAEE98C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04" y="104697"/>
            <a:ext cx="8520600" cy="630901"/>
          </a:xfrm>
        </p:spPr>
        <p:txBody>
          <a:bodyPr/>
          <a:lstStyle/>
          <a:p>
            <a:r>
              <a:rPr lang="en-US" sz="3200"/>
              <a:t>Ex2 (3)</a:t>
            </a:r>
            <a:endParaRPr lang="en-SG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7F2CC3-D6AA-F2A8-7B05-A333EA864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671" y="960529"/>
            <a:ext cx="7444657" cy="3715743"/>
          </a:xfrm>
        </p:spPr>
        <p:txBody>
          <a:bodyPr/>
          <a:lstStyle/>
          <a:p>
            <a:pPr marL="139700" indent="0">
              <a:buNone/>
            </a:pPr>
            <a:r>
              <a:rPr lang="en-US" b="1" dirty="0">
                <a:solidFill>
                  <a:srgbClr val="0070C0"/>
                </a:solidFill>
              </a:rPr>
              <a:t>Integration Test for All 3 Components</a:t>
            </a:r>
            <a:endParaRPr lang="en-US" b="1" dirty="0">
              <a:solidFill>
                <a:srgbClr val="FF0000"/>
              </a:solidFill>
            </a:endParaRPr>
          </a:p>
          <a:p>
            <a:pPr marL="139700" indent="0">
              <a:buNone/>
            </a:pPr>
            <a:endParaRPr lang="en-US" dirty="0"/>
          </a:p>
          <a:p>
            <a:pPr marL="482600" indent="-342900">
              <a:buAutoNum type="arabicParenBoth"/>
            </a:pPr>
            <a:r>
              <a:rPr lang="en-US" dirty="0"/>
              <a:t>Read </a:t>
            </a:r>
            <a:r>
              <a:rPr lang="en-US" dirty="0" err="1"/>
              <a:t>src</a:t>
            </a:r>
            <a:r>
              <a:rPr lang="en-US" dirty="0"/>
              <a:t>/components/__tests__/</a:t>
            </a:r>
            <a:r>
              <a:rPr lang="en-US" b="1" dirty="0"/>
              <a:t>IntegrationTest.spec.js</a:t>
            </a:r>
            <a:r>
              <a:rPr lang="en-US" dirty="0"/>
              <a:t>. </a:t>
            </a:r>
            <a:r>
              <a:rPr lang="en-SG" dirty="0"/>
              <a:t>The tests here verify that the </a:t>
            </a:r>
            <a:r>
              <a:rPr lang="en-SG" b="1" dirty="0" err="1"/>
              <a:t>StudentProfile</a:t>
            </a:r>
            <a:r>
              <a:rPr lang="en-SG" dirty="0"/>
              <a:t>, </a:t>
            </a:r>
            <a:r>
              <a:rPr lang="en-SG" b="1" dirty="0" err="1"/>
              <a:t>StudentName</a:t>
            </a:r>
            <a:r>
              <a:rPr lang="en-SG" dirty="0"/>
              <a:t>, and </a:t>
            </a:r>
            <a:r>
              <a:rPr lang="en-SG" b="1" dirty="0" err="1"/>
              <a:t>StudentGrade</a:t>
            </a:r>
            <a:r>
              <a:rPr lang="en-SG" b="1" dirty="0"/>
              <a:t> </a:t>
            </a:r>
            <a:r>
              <a:rPr lang="en-SG" dirty="0"/>
              <a:t>components work together correctly to display a student's name and the corresponding grade</a:t>
            </a:r>
          </a:p>
          <a:p>
            <a:pPr marL="482600" indent="-342900">
              <a:buAutoNum type="arabicParenBoth"/>
            </a:pPr>
            <a:endParaRPr lang="en-SG" dirty="0"/>
          </a:p>
          <a:p>
            <a:pPr marL="482600" indent="-342900">
              <a:buAutoNum type="arabicParenBoth"/>
            </a:pPr>
            <a:r>
              <a:rPr lang="en-US" dirty="0"/>
              <a:t>In your terminal window, run the tests in </a:t>
            </a:r>
            <a:r>
              <a:rPr lang="en-US" b="1" dirty="0"/>
              <a:t>IntegrationTest.spec.js</a:t>
            </a:r>
            <a:r>
              <a:rPr lang="en-US" dirty="0"/>
              <a:t> like this:</a:t>
            </a:r>
            <a:br>
              <a:rPr lang="en-US" dirty="0"/>
            </a:br>
            <a:r>
              <a:rPr lang="en-US" dirty="0"/>
              <a:t>     </a:t>
            </a:r>
            <a:r>
              <a:rPr lang="en-GB" b="1" dirty="0" err="1"/>
              <a:t>pnpm</a:t>
            </a:r>
            <a:r>
              <a:rPr lang="en-GB" b="1" dirty="0"/>
              <a:t> </a:t>
            </a:r>
            <a:r>
              <a:rPr lang="en-GB" b="1" dirty="0" err="1"/>
              <a:t>vitest</a:t>
            </a:r>
            <a:r>
              <a:rPr lang="en-GB" b="1" dirty="0"/>
              <a:t> IntegrationTest.spec.js</a:t>
            </a:r>
            <a:br>
              <a:rPr lang="en-GB" b="1" dirty="0"/>
            </a:br>
            <a:r>
              <a:rPr lang="en-US" dirty="0"/>
              <a:t>All 3 tests in </a:t>
            </a:r>
            <a:r>
              <a:rPr lang="en-US" b="1" dirty="0"/>
              <a:t>IntegrationTest.spec.js</a:t>
            </a:r>
            <a:r>
              <a:rPr lang="en-US" dirty="0"/>
              <a:t> should pass. </a:t>
            </a:r>
          </a:p>
          <a:p>
            <a:pPr marL="482600" indent="-342900">
              <a:buAutoNum type="arabicParenBoth"/>
            </a:pPr>
            <a:endParaRPr lang="en-US" dirty="0"/>
          </a:p>
          <a:p>
            <a:pPr marL="482600" indent="-342900">
              <a:buAutoNum type="arabicParenBoth"/>
            </a:pPr>
            <a:r>
              <a:rPr lang="en-US" dirty="0"/>
              <a:t>Insert 1 more test to check if a student with a score of 45 will display as "F".</a:t>
            </a:r>
            <a:br>
              <a:rPr lang="en-US" dirty="0"/>
            </a:br>
            <a:r>
              <a:rPr lang="en-US" dirty="0"/>
              <a:t>Run all 4 tests again and ensure they all pass.</a:t>
            </a:r>
          </a:p>
          <a:p>
            <a:pPr marL="482600" indent="-342900">
              <a:buAutoNum type="arabicParenBoth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88638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0316F-5E68-CFB1-5A1A-07E0DFCF5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EB9D1-E335-3B95-0DBD-D614974AD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87" y="95431"/>
            <a:ext cx="4201572" cy="679289"/>
          </a:xfrm>
        </p:spPr>
        <p:txBody>
          <a:bodyPr/>
          <a:lstStyle/>
          <a:p>
            <a:r>
              <a:rPr lang="en-US" sz="3200"/>
              <a:t>Take Away Message</a:t>
            </a:r>
            <a:endParaRPr lang="en-US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EFFE0-9304-3D1C-B9DA-C01D2DAEE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2" y="1264735"/>
            <a:ext cx="4119411" cy="332330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SG"/>
              <a:t>Component test is a unit test where a component is tested in isolation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/>
              <a:t>(optional) We use stubs to represent a child component when necessary to test a parent component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/>
              <a:t>Understand what we really want to include in a test to make it robust (vs. fragile test): Robust tests should focus on behavior of the component, rather than the implementation.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/>
              <a:t>Know the difference between Integration testing vs. Component testing</a:t>
            </a:r>
          </a:p>
          <a:p>
            <a:pPr>
              <a:buFont typeface="Arial" panose="020B0604020202020204" pitchFamily="34" charset="0"/>
              <a:buChar char="•"/>
            </a:pPr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ED41BC-A19F-B21C-43F4-92B9FD6319C0}"/>
              </a:ext>
            </a:extLst>
          </p:cNvPr>
          <p:cNvCxnSpPr>
            <a:cxnSpLocks/>
          </p:cNvCxnSpPr>
          <p:nvPr/>
        </p:nvCxnSpPr>
        <p:spPr>
          <a:xfrm>
            <a:off x="4747743" y="556301"/>
            <a:ext cx="1" cy="4256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DCC56E-0E28-D5A1-F027-116E3E28703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064369" y="1225224"/>
            <a:ext cx="3612288" cy="3101081"/>
          </a:xfrm>
        </p:spPr>
        <p:txBody>
          <a:bodyPr/>
          <a:lstStyle/>
          <a:p>
            <a:pPr marL="139700" indent="0">
              <a:buNone/>
            </a:pPr>
            <a:r>
              <a:rPr lang="en-SG"/>
              <a:t>Practical testing skills: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/>
              <a:t>Write &amp; run a </a:t>
            </a:r>
            <a:r>
              <a:rPr lang="en-SG" b="1"/>
              <a:t>component</a:t>
            </a:r>
            <a:r>
              <a:rPr lang="en-SG"/>
              <a:t> test for a Vue component using Vitest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/>
              <a:t>Write &amp; run an </a:t>
            </a:r>
            <a:r>
              <a:rPr lang="en-SG" b="1"/>
              <a:t>integration</a:t>
            </a:r>
            <a:r>
              <a:rPr lang="en-SG"/>
              <a:t> test for multiple Vue components working together using Vitest</a:t>
            </a:r>
          </a:p>
          <a:p>
            <a:pPr marL="139700" indent="0">
              <a:buNone/>
            </a:pP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5952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F692D-E0E1-D22D-D688-30CC1AA77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F0EEB-8C28-6C9B-4BFE-6A601CA74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04" y="104697"/>
            <a:ext cx="8520600" cy="913977"/>
          </a:xfrm>
        </p:spPr>
        <p:txBody>
          <a:bodyPr/>
          <a:lstStyle/>
          <a:p>
            <a:r>
              <a:rPr lang="en-US" sz="2400">
                <a:solidFill>
                  <a:srgbClr val="FF0000"/>
                </a:solidFill>
              </a:rPr>
              <a:t>(HOMEWORK) </a:t>
            </a:r>
            <a:r>
              <a:rPr lang="en-US" sz="2400"/>
              <a:t>Setting Up for Ex 2a </a:t>
            </a:r>
            <a:br>
              <a:rPr lang="en-US" sz="2400"/>
            </a:br>
            <a:r>
              <a:rPr lang="en-US" sz="2400"/>
              <a:t>Component + Integration Test for Another Scenario</a:t>
            </a:r>
            <a:endParaRPr lang="en-SG" sz="36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D3A08-6367-AD40-2111-E8BFE2F54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10" y="1733685"/>
            <a:ext cx="4130951" cy="1127615"/>
          </a:xfrm>
        </p:spPr>
        <p:txBody>
          <a:bodyPr/>
          <a:lstStyle/>
          <a:p>
            <a:pPr marL="139700" indent="0">
              <a:buNone/>
            </a:pPr>
            <a:r>
              <a:rPr lang="en-US"/>
              <a:t>Setup: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/>
              <a:t>Host Ex2a. This is a Vue app containing 2 components (</a:t>
            </a:r>
            <a:r>
              <a:rPr lang="en-US" sz="1200">
                <a:solidFill>
                  <a:srgbClr val="0070C0"/>
                </a:solidFill>
              </a:rPr>
              <a:t>CourseReview</a:t>
            </a:r>
            <a:r>
              <a:rPr lang="en-US" sz="1200">
                <a:solidFill>
                  <a:srgbClr val="00B050"/>
                </a:solidFill>
              </a:rPr>
              <a:t> </a:t>
            </a:r>
            <a:r>
              <a:rPr lang="en-US" sz="1200">
                <a:solidFill>
                  <a:schemeClr val="tx1"/>
                </a:solidFill>
              </a:rPr>
              <a:t>&amp;</a:t>
            </a:r>
            <a:r>
              <a:rPr lang="en-US" sz="1200">
                <a:solidFill>
                  <a:srgbClr val="00B050"/>
                </a:solidFill>
              </a:rPr>
              <a:t> RatingSelector</a:t>
            </a:r>
            <a:r>
              <a:rPr lang="en-US" sz="1200"/>
              <a:t>) </a:t>
            </a:r>
          </a:p>
          <a:p>
            <a:pPr marL="139700" indent="0">
              <a:buNone/>
            </a:pPr>
            <a:endParaRPr lang="en-US" sz="1200"/>
          </a:p>
          <a:p>
            <a:endParaRPr lang="en-US"/>
          </a:p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FB7A4-DB58-E14C-4CE6-5E16D4FACC3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65110" y="2781008"/>
            <a:ext cx="3999900" cy="1710781"/>
          </a:xfrm>
        </p:spPr>
        <p:txBody>
          <a:bodyPr/>
          <a:lstStyle/>
          <a:p>
            <a:pPr marL="139700" indent="0">
              <a:buNone/>
            </a:pPr>
            <a:r>
              <a:rPr lang="en-US" sz="1200"/>
              <a:t>In this lab, we will perform component tests on each individual component, followed by an integration test to ensure both components work together correctly.</a:t>
            </a:r>
          </a:p>
          <a:p>
            <a:pPr marL="139700" indent="0">
              <a:buNone/>
            </a:pPr>
            <a:endParaRPr lang="en-US" sz="1200"/>
          </a:p>
          <a:p>
            <a:pPr marL="139700" indent="0">
              <a:buNone/>
            </a:pPr>
            <a:r>
              <a:rPr lang="en-US" sz="1200"/>
              <a:t>Unlike the first example, the child component communicates by emiting a custom event which the parent component is listening to</a:t>
            </a:r>
            <a:endParaRPr lang="en-SG" sz="12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6AD34D-BBD0-6B82-560B-C6473C66BA47}"/>
              </a:ext>
            </a:extLst>
          </p:cNvPr>
          <p:cNvCxnSpPr>
            <a:cxnSpLocks/>
          </p:cNvCxnSpPr>
          <p:nvPr/>
        </p:nvCxnSpPr>
        <p:spPr>
          <a:xfrm>
            <a:off x="5201512" y="1314905"/>
            <a:ext cx="0" cy="3389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8D3E733-505A-CA7F-138A-ECE1143B3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912" y="1426638"/>
            <a:ext cx="2646702" cy="316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557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805B3-7ECE-F855-2BB5-AE85A085B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EC8E5C-3E66-46C3-A015-BC487F689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00" y="0"/>
            <a:ext cx="5017774" cy="633350"/>
          </a:xfrm>
        </p:spPr>
        <p:txBody>
          <a:bodyPr/>
          <a:lstStyle/>
          <a:p>
            <a:r>
              <a:rPr lang="en-US" sz="2400"/>
              <a:t>Setting Up for Ex2a  </a:t>
            </a:r>
            <a:endParaRPr lang="en-US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46053E-A3CA-73C6-D02A-83141ACE5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511651"/>
              </p:ext>
            </p:extLst>
          </p:nvPr>
        </p:nvGraphicFramePr>
        <p:xfrm>
          <a:off x="268254" y="1540322"/>
          <a:ext cx="6085477" cy="2916837"/>
        </p:xfrm>
        <a:graphic>
          <a:graphicData uri="http://schemas.openxmlformats.org/drawingml/2006/table">
            <a:tbl>
              <a:tblPr>
                <a:tableStyleId>{775D735A-9BCC-4A0A-8336-7D16119737FB}</a:tableStyleId>
              </a:tblPr>
              <a:tblGrid>
                <a:gridCol w="1102678">
                  <a:extLst>
                    <a:ext uri="{9D8B030D-6E8A-4147-A177-3AD203B41FA5}">
                      <a16:colId xmlns:a16="http://schemas.microsoft.com/office/drawing/2014/main" val="859343657"/>
                    </a:ext>
                  </a:extLst>
                </a:gridCol>
                <a:gridCol w="4982799">
                  <a:extLst>
                    <a:ext uri="{9D8B030D-6E8A-4147-A177-3AD203B41FA5}">
                      <a16:colId xmlns:a16="http://schemas.microsoft.com/office/drawing/2014/main" val="2601556610"/>
                    </a:ext>
                  </a:extLst>
                </a:gridCol>
              </a:tblGrid>
              <a:tr h="2067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100" b="1" u="none" strike="noStrike">
                          <a:effectLst/>
                        </a:rPr>
                        <a:t>Component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100" b="1" u="none" strike="noStrike">
                          <a:effectLst/>
                        </a:rPr>
                        <a:t>Responsibilities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4763" marB="9144" anchor="ctr"/>
                </a:tc>
                <a:extLst>
                  <a:ext uri="{0D108BD9-81ED-4DB2-BD59-A6C34878D82A}">
                    <a16:rowId xmlns:a16="http://schemas.microsoft.com/office/drawing/2014/main" val="4191484772"/>
                  </a:ext>
                </a:extLst>
              </a:tr>
              <a:tr h="2067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>
                          <a:solidFill>
                            <a:srgbClr val="0070C0"/>
                          </a:solidFill>
                        </a:rPr>
                        <a:t>CourseRevew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• </a:t>
                      </a:r>
                      <a:r>
                        <a:rPr lang="en-SG" sz="1100"/>
                        <a:t>Acts as the </a:t>
                      </a:r>
                      <a:r>
                        <a:rPr lang="en-SG" sz="1100" b="1"/>
                        <a:t>parent component</a:t>
                      </a:r>
                      <a:r>
                        <a:rPr lang="en-SG" sz="1100"/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• Maintains the current course rating in its state (</a:t>
                      </a:r>
                      <a: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rating</a:t>
                      </a:r>
                      <a: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).</a:t>
                      </a:r>
                      <a:b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• Receives rating updates from </a:t>
                      </a:r>
                      <a:r>
                        <a:rPr lang="en-US" sz="1100" b="1">
                          <a:solidFill>
                            <a:schemeClr val="tx2"/>
                          </a:solidFill>
                        </a:rPr>
                        <a:t>RatingSelector</a:t>
                      </a:r>
                      <a: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 via the </a:t>
                      </a:r>
                      <a: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rating-selected</a:t>
                      </a:r>
                      <a: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 custom event.</a:t>
                      </a:r>
                      <a:b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• Updates its state through the </a:t>
                      </a:r>
                      <a:r>
                        <a:rPr lang="en-SG" sz="11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updateRating()</a:t>
                      </a:r>
                      <a: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 method.</a:t>
                      </a:r>
                      <a:b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• Displays the user's selected rating.</a:t>
                      </a:r>
                      <a:b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• Displays an appropriate feedback message (Thank you for your positive feedback/We will work to improve the course) based on selected rating.</a:t>
                      </a:r>
                      <a:b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• Coordinates communication between itself &amp; the child component.</a:t>
                      </a:r>
                    </a:p>
                  </a:txBody>
                  <a:tcPr marL="45720" marR="45720" marT="4763" marB="9144" anchor="ctr"/>
                </a:tc>
                <a:extLst>
                  <a:ext uri="{0D108BD9-81ED-4DB2-BD59-A6C34878D82A}">
                    <a16:rowId xmlns:a16="http://schemas.microsoft.com/office/drawing/2014/main" val="1986265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>
                          <a:solidFill>
                            <a:schemeClr val="tx2"/>
                          </a:solidFill>
                        </a:rPr>
                        <a:t>RatingSelector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• </a:t>
                      </a:r>
                      <a:r>
                        <a:rPr lang="en-SG" sz="1100"/>
                        <a:t>Acts as the </a:t>
                      </a:r>
                      <a:r>
                        <a:rPr lang="en-SG" sz="1100" b="1"/>
                        <a:t>child component</a:t>
                      </a:r>
                      <a:r>
                        <a:rPr lang="en-SG" sz="1100"/>
                        <a:t>.</a:t>
                      </a:r>
                      <a:br>
                        <a:rPr lang="en-SG" sz="1100"/>
                      </a:br>
                      <a:r>
                        <a:rPr lang="en-SG" sz="1100" u="none" strike="noStrike">
                          <a:effectLst/>
                        </a:rPr>
                        <a:t>• </a:t>
                      </a:r>
                      <a: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Displays five buttons (ratings 1-5) for user selection.</a:t>
                      </a:r>
                      <a:b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n-SG" sz="1100" u="none" strike="noStrike">
                          <a:effectLst/>
                        </a:rPr>
                        <a:t>• </a:t>
                      </a:r>
                      <a: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Maintains its own local selected rating.</a:t>
                      </a:r>
                      <a:b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n-SG" sz="1100" u="none" strike="noStrike">
                          <a:effectLst/>
                        </a:rPr>
                        <a:t>• </a:t>
                      </a:r>
                      <a: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Handles button click events through </a:t>
                      </a:r>
                      <a:r>
                        <a:rPr lang="en-SG" sz="11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selectRating()</a:t>
                      </a:r>
                      <a: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.</a:t>
                      </a:r>
                      <a:b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n-SG" sz="1100" u="none" strike="noStrike">
                          <a:effectLst/>
                        </a:rPr>
                        <a:t>• </a:t>
                      </a:r>
                      <a: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Emits a </a:t>
                      </a:r>
                      <a:r>
                        <a:rPr lang="en-SG" sz="11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rating-selected</a:t>
                      </a:r>
                      <a: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 custom event to notify parent of the selected rating.</a:t>
                      </a:r>
                      <a:b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n-SG" sz="1100" u="none" strike="noStrike">
                          <a:effectLst/>
                        </a:rPr>
                        <a:t>• </a:t>
                      </a:r>
                      <a:r>
                        <a:rPr lang="en-SG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Displays immediate feedback (Excellent/Good/Poor) based on selected rating.</a:t>
                      </a:r>
                    </a:p>
                  </a:txBody>
                  <a:tcPr marL="45720" marR="45720" marT="4763" marB="9144" anchor="ctr"/>
                </a:tc>
                <a:extLst>
                  <a:ext uri="{0D108BD9-81ED-4DB2-BD59-A6C34878D82A}">
                    <a16:rowId xmlns:a16="http://schemas.microsoft.com/office/drawing/2014/main" val="384729276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5FD5E26-5E07-AE7B-C1D6-091E6021B1CC}"/>
              </a:ext>
            </a:extLst>
          </p:cNvPr>
          <p:cNvSpPr txBox="1"/>
          <p:nvPr/>
        </p:nvSpPr>
        <p:spPr>
          <a:xfrm>
            <a:off x="6331875" y="4152538"/>
            <a:ext cx="25604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buFont typeface="Arial"/>
              <a:buNone/>
            </a:pPr>
            <a:r>
              <a:rPr lang="en-US" sz="1200"/>
              <a:t>We will be testing the individual components</a:t>
            </a:r>
            <a:r>
              <a:rPr lang="en-US" sz="1200" b="1"/>
              <a:t> </a:t>
            </a:r>
            <a:r>
              <a:rPr lang="en-US" sz="1200"/>
              <a:t>first, followed by an integration test.</a:t>
            </a:r>
            <a:endParaRPr lang="en-US" sz="120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CA8249A-CA3A-792B-A2AE-79D931E65420}"/>
              </a:ext>
            </a:extLst>
          </p:cNvPr>
          <p:cNvSpPr txBox="1">
            <a:spLocks/>
          </p:cNvSpPr>
          <p:nvPr/>
        </p:nvSpPr>
        <p:spPr>
          <a:xfrm>
            <a:off x="53285" y="633350"/>
            <a:ext cx="8617433" cy="696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Font typeface="Arial"/>
              <a:buNone/>
            </a:pPr>
            <a:r>
              <a:rPr lang="en-US"/>
              <a:t>Study the code for </a:t>
            </a:r>
            <a:r>
              <a:rPr lang="en-US" b="1">
                <a:solidFill>
                  <a:srgbClr val="0070C0"/>
                </a:solidFill>
              </a:rPr>
              <a:t>CourseReview</a:t>
            </a:r>
            <a:r>
              <a:rPr lang="en-US"/>
              <a:t> and </a:t>
            </a:r>
            <a:r>
              <a:rPr lang="en-US" b="1">
                <a:solidFill>
                  <a:schemeClr val="tx2"/>
                </a:solidFill>
              </a:rPr>
              <a:t>RatingSelector</a:t>
            </a:r>
            <a:r>
              <a:rPr lang="en-US"/>
              <a:t>. </a:t>
            </a:r>
            <a:r>
              <a:rPr lang="en-US" b="1">
                <a:solidFill>
                  <a:schemeClr val="tx2"/>
                </a:solidFill>
              </a:rPr>
              <a:t>RatingSelector</a:t>
            </a:r>
            <a:r>
              <a:rPr lang="en-US" b="1"/>
              <a:t> </a:t>
            </a:r>
            <a:r>
              <a:rPr lang="en-US"/>
              <a:t>emits a </a:t>
            </a:r>
            <a:r>
              <a:rPr lang="en-US" b="1"/>
              <a:t>rating-selected</a:t>
            </a:r>
            <a:r>
              <a:rPr lang="en-US"/>
              <a:t> event to notify </a:t>
            </a:r>
            <a:r>
              <a:rPr lang="en-US" b="1">
                <a:solidFill>
                  <a:srgbClr val="0070C0"/>
                </a:solidFill>
              </a:rPr>
              <a:t>CourseReview</a:t>
            </a:r>
            <a:r>
              <a:rPr lang="en-US" b="1"/>
              <a:t> </a:t>
            </a:r>
            <a:r>
              <a:rPr lang="en-US"/>
              <a:t>when the user clicks on a rating score.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4245ED-5C49-D709-43C3-90FB04ECC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984" y="1364731"/>
            <a:ext cx="2048734" cy="245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110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074A-85D5-6A62-E614-544BD1F5F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3694CB-19EB-A2E1-7A81-12E0AE22B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99" y="109568"/>
            <a:ext cx="7645157" cy="520995"/>
          </a:xfrm>
        </p:spPr>
        <p:txBody>
          <a:bodyPr/>
          <a:lstStyle/>
          <a:p>
            <a:r>
              <a:rPr lang="en-US" sz="2800"/>
              <a:t>Ex2a: Component + Integration Test (1)</a:t>
            </a:r>
            <a:endParaRPr lang="en-US" sz="280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BC8484E-52A3-010D-43F3-D6A84A1DC52E}"/>
              </a:ext>
            </a:extLst>
          </p:cNvPr>
          <p:cNvSpPr txBox="1">
            <a:spLocks/>
          </p:cNvSpPr>
          <p:nvPr/>
        </p:nvSpPr>
        <p:spPr>
          <a:xfrm>
            <a:off x="131399" y="840101"/>
            <a:ext cx="4704109" cy="1259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None/>
            </a:pPr>
            <a:r>
              <a:rPr lang="en-US"/>
              <a:t>The test simply: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/>
              <a:t>clicks the rating buttons,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/>
              <a:t>verifies the displayed feedback,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/>
              <a:t>verifies that the </a:t>
            </a:r>
            <a:r>
              <a:rPr lang="en-SG" b="1"/>
              <a:t>rating-selected </a:t>
            </a:r>
            <a:r>
              <a:rPr lang="en-SG"/>
              <a:t>event is emitted.</a:t>
            </a:r>
            <a:endParaRPr lang="en-US"/>
          </a:p>
          <a:p>
            <a:pPr marL="139700" indent="0">
              <a:buFont typeface="Arial"/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AB57EE-0120-B6D6-9EFC-843B90AB2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287486"/>
              </p:ext>
            </p:extLst>
          </p:nvPr>
        </p:nvGraphicFramePr>
        <p:xfrm>
          <a:off x="190508" y="2328218"/>
          <a:ext cx="8806454" cy="2615730"/>
        </p:xfrm>
        <a:graphic>
          <a:graphicData uri="http://schemas.openxmlformats.org/drawingml/2006/table">
            <a:tbl>
              <a:tblPr>
                <a:tableStyleId>{775D735A-9BCC-4A0A-8336-7D16119737FB}</a:tableStyleId>
              </a:tblPr>
              <a:tblGrid>
                <a:gridCol w="2017068">
                  <a:extLst>
                    <a:ext uri="{9D8B030D-6E8A-4147-A177-3AD203B41FA5}">
                      <a16:colId xmlns:a16="http://schemas.microsoft.com/office/drawing/2014/main" val="2743991366"/>
                    </a:ext>
                  </a:extLst>
                </a:gridCol>
                <a:gridCol w="2120507">
                  <a:extLst>
                    <a:ext uri="{9D8B030D-6E8A-4147-A177-3AD203B41FA5}">
                      <a16:colId xmlns:a16="http://schemas.microsoft.com/office/drawing/2014/main" val="1855997933"/>
                    </a:ext>
                  </a:extLst>
                </a:gridCol>
                <a:gridCol w="1700524">
                  <a:extLst>
                    <a:ext uri="{9D8B030D-6E8A-4147-A177-3AD203B41FA5}">
                      <a16:colId xmlns:a16="http://schemas.microsoft.com/office/drawing/2014/main" val="1780042357"/>
                    </a:ext>
                  </a:extLst>
                </a:gridCol>
                <a:gridCol w="2968355">
                  <a:extLst>
                    <a:ext uri="{9D8B030D-6E8A-4147-A177-3AD203B41FA5}">
                      <a16:colId xmlns:a16="http://schemas.microsoft.com/office/drawing/2014/main" val="2341661395"/>
                    </a:ext>
                  </a:extLst>
                </a:gridCol>
              </a:tblGrid>
              <a:tr h="3297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200" b="1" u="none" strike="noStrike">
                          <a:effectLst/>
                        </a:rPr>
                        <a:t>Test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200" b="1" u="none" strike="noStrike">
                          <a:effectLst/>
                        </a:rPr>
                        <a:t>Input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200" b="1" u="none" strike="noStrike">
                          <a:effectLst/>
                        </a:rPr>
                        <a:t>Expected Output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200" b="1" u="none" strike="noStrike">
                          <a:effectLst/>
                        </a:rPr>
                        <a:t>Purpose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582118963"/>
                  </a:ext>
                </a:extLst>
              </a:tr>
              <a:tr h="225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(1) Renders five rating buttons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Renders five rating buttons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Five buttons are displayed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Verify that users are presented with five rating choices.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7349362"/>
                  </a:ext>
                </a:extLst>
              </a:tr>
              <a:tr h="329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(2) Shows Poor when rating 1 is selected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Shows Poor when rating 1 is selected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Displays </a:t>
                      </a:r>
                      <a:r>
                        <a:rPr lang="en-SG" sz="1200" b="1"/>
                        <a:t>"Poor"</a:t>
                      </a:r>
                      <a:endParaRPr lang="en-SG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Verify that a low rating displays the correct feedback message.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817371"/>
                  </a:ext>
                </a:extLst>
              </a:tr>
              <a:tr h="329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(3) Shows Good when rating 3 is selected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hows Good when rating 3 is selected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Displays </a:t>
                      </a:r>
                      <a:r>
                        <a:rPr lang="en-SG" sz="1200" b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"Good"</a:t>
                      </a:r>
                      <a:endParaRPr lang="en-SG" sz="120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Verify that a medium rating displays the correct feedback message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126445"/>
                  </a:ext>
                </a:extLst>
              </a:tr>
              <a:tr h="329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(4) Shows Excellent when rating 5 is selected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Shows Excellent when rating 5 is selected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Displays </a:t>
                      </a:r>
                      <a:r>
                        <a:rPr lang="en-SG" sz="1200" b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"Excellent!"</a:t>
                      </a:r>
                      <a:endParaRPr lang="en-SG" sz="120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Verify that a high rating displays the correct feedback message.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234343"/>
                  </a:ext>
                </a:extLst>
              </a:tr>
              <a:tr h="329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(5) Emits the selected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Emits the selected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Emits </a:t>
                      </a:r>
                      <a:r>
                        <a:rPr lang="en-SG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rating-selected</a:t>
                      </a:r>
                      <a:r>
                        <a:rPr lang="en-SG" sz="1200"/>
                        <a:t> with payload </a:t>
                      </a:r>
                      <a:r>
                        <a:rPr lang="en-SG" sz="1200" b="1"/>
                        <a:t>4</a:t>
                      </a:r>
                      <a:endParaRPr lang="en-SG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Verify that component notifies its parent with the correct event &amp; selected rating.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223579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A8CFBF-B3EA-51A6-EE02-383B76B2E235}"/>
              </a:ext>
            </a:extLst>
          </p:cNvPr>
          <p:cNvSpPr txBox="1"/>
          <p:nvPr/>
        </p:nvSpPr>
        <p:spPr>
          <a:xfrm>
            <a:off x="74020" y="2020441"/>
            <a:ext cx="12510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Test cases:</a:t>
            </a:r>
            <a:endParaRPr lang="en-SG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06324D8-AD29-CB9B-2325-B472AA9F91BD}"/>
              </a:ext>
            </a:extLst>
          </p:cNvPr>
          <p:cNvSpPr txBox="1">
            <a:spLocks/>
          </p:cNvSpPr>
          <p:nvPr/>
        </p:nvSpPr>
        <p:spPr>
          <a:xfrm>
            <a:off x="4424962" y="780105"/>
            <a:ext cx="4572000" cy="984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None/>
            </a:pPr>
            <a:r>
              <a:rPr lang="en-US"/>
              <a:t>To Do: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Write the 3</a:t>
            </a:r>
            <a:r>
              <a:rPr lang="en-US" baseline="30000"/>
              <a:t>rd</a:t>
            </a:r>
            <a:r>
              <a:rPr lang="en-US"/>
              <a:t> &amp; 4</a:t>
            </a:r>
            <a:r>
              <a:rPr lang="en-US" baseline="30000"/>
              <a:t>th</a:t>
            </a:r>
            <a:r>
              <a:rPr lang="en-US"/>
              <a:t> test in </a:t>
            </a:r>
            <a:r>
              <a:rPr lang="en-US" b="1"/>
              <a:t>RatingSelector.spec.js</a:t>
            </a:r>
            <a:r>
              <a:rPr lang="en-US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Execute all 5 tests &amp; ensure they pass</a:t>
            </a:r>
          </a:p>
          <a:p>
            <a:pPr marL="139700" indent="0">
              <a:buFont typeface="Arial"/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8EFD08-D41A-AE53-2B80-6A4C34075624}"/>
              </a:ext>
            </a:extLst>
          </p:cNvPr>
          <p:cNvSpPr txBox="1"/>
          <p:nvPr/>
        </p:nvSpPr>
        <p:spPr>
          <a:xfrm>
            <a:off x="0" y="549886"/>
            <a:ext cx="5646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buNone/>
            </a:pPr>
            <a:r>
              <a:rPr lang="en-US" sz="1800" b="1">
                <a:solidFill>
                  <a:srgbClr val="0070C0"/>
                </a:solidFill>
              </a:rPr>
              <a:t>Component Test for RatingSelector</a:t>
            </a:r>
            <a:endParaRPr lang="en-US" sz="18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9150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21738-B88F-B84F-B552-95DE204B7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362298-E285-93E3-E0A7-D234B019E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4509"/>
            <a:ext cx="2555654" cy="520995"/>
          </a:xfrm>
        </p:spPr>
        <p:txBody>
          <a:bodyPr/>
          <a:lstStyle/>
          <a:p>
            <a:r>
              <a:rPr lang="en-US" sz="2800"/>
              <a:t>Ex2a(2)</a:t>
            </a:r>
            <a:endParaRPr lang="en-US" sz="280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CC3A6AD-BB5A-DBD8-6F06-E27CA68788AE}"/>
              </a:ext>
            </a:extLst>
          </p:cNvPr>
          <p:cNvSpPr txBox="1">
            <a:spLocks/>
          </p:cNvSpPr>
          <p:nvPr/>
        </p:nvSpPr>
        <p:spPr>
          <a:xfrm>
            <a:off x="67230" y="760811"/>
            <a:ext cx="8654820" cy="84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None/>
            </a:pPr>
            <a:r>
              <a:rPr lang="en-US"/>
              <a:t>To test </a:t>
            </a:r>
            <a:r>
              <a:rPr lang="en-US" b="1"/>
              <a:t>CourseReview</a:t>
            </a:r>
            <a:r>
              <a:rPr lang="en-US"/>
              <a:t> in isolation, we can use a stub to represent </a:t>
            </a:r>
            <a:r>
              <a:rPr lang="en-US" b="1"/>
              <a:t>RatingSelector</a:t>
            </a:r>
            <a:r>
              <a:rPr lang="en-US"/>
              <a:t>. The stub simulates a </a:t>
            </a:r>
            <a:r>
              <a:rPr lang="en-US" b="1"/>
              <a:t>rating-selected</a:t>
            </a:r>
            <a:r>
              <a:rPr lang="en-US"/>
              <a:t> event &amp; we can check if </a:t>
            </a:r>
            <a:r>
              <a:rPr lang="en-US" b="1"/>
              <a:t>CourseReview</a:t>
            </a:r>
            <a:r>
              <a:rPr lang="en-US"/>
              <a:t> reacts correctly (i.e. updates the value of rating &amp; display the correct message)</a:t>
            </a:r>
          </a:p>
          <a:p>
            <a:pPr marL="139700" indent="0">
              <a:buFont typeface="Arial"/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535389-30E1-6540-6988-2398697F5892}"/>
              </a:ext>
            </a:extLst>
          </p:cNvPr>
          <p:cNvSpPr txBox="1"/>
          <p:nvPr/>
        </p:nvSpPr>
        <p:spPr>
          <a:xfrm>
            <a:off x="197681" y="1843269"/>
            <a:ext cx="12510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Test cases:</a:t>
            </a:r>
            <a:endParaRPr lang="en-SG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06877DC-736A-B8F3-8996-669133810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77069"/>
              </p:ext>
            </p:extLst>
          </p:nvPr>
        </p:nvGraphicFramePr>
        <p:xfrm>
          <a:off x="309976" y="2153736"/>
          <a:ext cx="8654820" cy="2626297"/>
        </p:xfrm>
        <a:graphic>
          <a:graphicData uri="http://schemas.openxmlformats.org/drawingml/2006/table">
            <a:tbl>
              <a:tblPr>
                <a:tableStyleId>{775D735A-9BCC-4A0A-8336-7D16119737FB}</a:tableStyleId>
              </a:tblPr>
              <a:tblGrid>
                <a:gridCol w="1867159">
                  <a:extLst>
                    <a:ext uri="{9D8B030D-6E8A-4147-A177-3AD203B41FA5}">
                      <a16:colId xmlns:a16="http://schemas.microsoft.com/office/drawing/2014/main" val="2618481117"/>
                    </a:ext>
                  </a:extLst>
                </a:gridCol>
                <a:gridCol w="1738365">
                  <a:extLst>
                    <a:ext uri="{9D8B030D-6E8A-4147-A177-3AD203B41FA5}">
                      <a16:colId xmlns:a16="http://schemas.microsoft.com/office/drawing/2014/main" val="1900788671"/>
                    </a:ext>
                  </a:extLst>
                </a:gridCol>
                <a:gridCol w="2336241">
                  <a:extLst>
                    <a:ext uri="{9D8B030D-6E8A-4147-A177-3AD203B41FA5}">
                      <a16:colId xmlns:a16="http://schemas.microsoft.com/office/drawing/2014/main" val="2307237183"/>
                    </a:ext>
                  </a:extLst>
                </a:gridCol>
                <a:gridCol w="2713055">
                  <a:extLst>
                    <a:ext uri="{9D8B030D-6E8A-4147-A177-3AD203B41FA5}">
                      <a16:colId xmlns:a16="http://schemas.microsoft.com/office/drawing/2014/main" val="286353215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200" u="none" strike="noStrike">
                          <a:effectLst/>
                          <a:latin typeface="+mj-lt"/>
                        </a:rPr>
                        <a:t>Test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200" u="none" strike="noStrike">
                          <a:effectLst/>
                          <a:latin typeface="+mj-lt"/>
                        </a:rPr>
                        <a:t>Input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200" u="none" strike="noStrike">
                          <a:effectLst/>
                          <a:latin typeface="+mj-lt"/>
                        </a:rPr>
                        <a:t>Expected Output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200" u="none" strike="noStrike">
                          <a:effectLst/>
                          <a:latin typeface="+mj-lt"/>
                        </a:rPr>
                        <a:t>Purpose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extLst>
                  <a:ext uri="{0D108BD9-81ED-4DB2-BD59-A6C34878D82A}">
                    <a16:rowId xmlns:a16="http://schemas.microsoft.com/office/drawing/2014/main" val="129088065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u="none" strike="noStrike">
                          <a:effectLst/>
                          <a:latin typeface="+mj-lt"/>
                        </a:rPr>
                        <a:t>(1) Shows rating 0 initially</a:t>
                      </a:r>
                      <a:endParaRPr lang="en-SG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u="none" strike="noStrike">
                          <a:effectLst/>
                          <a:latin typeface="+mj-lt"/>
                        </a:rPr>
                        <a:t>Component is mounted</a:t>
                      </a:r>
                      <a:endParaRPr lang="en-SG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u="none" strike="noStrike">
                          <a:effectLst/>
                          <a:latin typeface="+mj-lt"/>
                        </a:rPr>
                        <a:t>Displays "</a:t>
                      </a:r>
                      <a:r>
                        <a:rPr lang="en-SG" sz="1200" b="1" u="none" strike="noStrike">
                          <a:effectLst/>
                          <a:latin typeface="+mj-lt"/>
                        </a:rPr>
                        <a:t>Your rating: 0</a:t>
                      </a:r>
                      <a:r>
                        <a:rPr lang="en-SG" sz="1200" u="none" strike="noStrike">
                          <a:effectLst/>
                          <a:latin typeface="+mj-lt"/>
                        </a:rPr>
                        <a:t>"</a:t>
                      </a:r>
                      <a:endParaRPr lang="en-SG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u="none" strike="noStrike">
                          <a:effectLst/>
                          <a:latin typeface="+mj-lt"/>
                        </a:rPr>
                        <a:t>Verify the component's initial state is correct.</a:t>
                      </a:r>
                      <a:endParaRPr lang="en-SG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extLst>
                  <a:ext uri="{0D108BD9-81ED-4DB2-BD59-A6C34878D82A}">
                    <a16:rowId xmlns:a16="http://schemas.microsoft.com/office/drawing/2014/main" val="1662245746"/>
                  </a:ext>
                </a:extLst>
              </a:tr>
              <a:tr h="5289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u="none" strike="noStrike">
                          <a:effectLst/>
                          <a:latin typeface="+mj-lt"/>
                        </a:rPr>
                        <a:t>(2) Shows positive feedback when rating is 4</a:t>
                      </a:r>
                      <a:endParaRPr lang="en-SG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1" u="none" strike="noStrike">
                          <a:effectLst/>
                          <a:latin typeface="+mj-lt"/>
                        </a:rPr>
                        <a:t>updateRating</a:t>
                      </a:r>
                      <a:r>
                        <a:rPr lang="en-SG" sz="1200" u="none" strike="noStrike">
                          <a:effectLst/>
                          <a:latin typeface="+mj-lt"/>
                        </a:rPr>
                        <a:t>(4) is called</a:t>
                      </a:r>
                      <a:endParaRPr lang="en-SG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u="none" strike="noStrike">
                          <a:effectLst/>
                          <a:latin typeface="+mj-lt"/>
                        </a:rPr>
                        <a:t>Displays "</a:t>
                      </a:r>
                      <a:r>
                        <a:rPr lang="en-SG" sz="1200" b="1" u="none" strike="noStrike">
                          <a:effectLst/>
                          <a:latin typeface="+mj-lt"/>
                        </a:rPr>
                        <a:t>Thank you for your positive feedback!</a:t>
                      </a:r>
                      <a:r>
                        <a:rPr lang="en-SG" sz="1200" u="none" strike="noStrike">
                          <a:effectLst/>
                          <a:latin typeface="+mj-lt"/>
                        </a:rPr>
                        <a:t>"</a:t>
                      </a:r>
                      <a:endParaRPr lang="en-SG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u="none" strike="noStrike">
                          <a:effectLst/>
                          <a:latin typeface="+mj-lt"/>
                        </a:rPr>
                        <a:t>Verify that high ratings display the correct feedback message.</a:t>
                      </a:r>
                      <a:endParaRPr lang="en-SG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extLst>
                  <a:ext uri="{0D108BD9-81ED-4DB2-BD59-A6C34878D82A}">
                    <a16:rowId xmlns:a16="http://schemas.microsoft.com/office/drawing/2014/main" val="26036877"/>
                  </a:ext>
                </a:extLst>
              </a:tr>
              <a:tr h="5289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u="none" strike="noStrike">
                          <a:effectLst/>
                          <a:latin typeface="+mj-lt"/>
                        </a:rPr>
                        <a:t>(3) Shows improvement feedback when rating is 2</a:t>
                      </a:r>
                      <a:endParaRPr lang="en-SG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b="1" u="none" strike="noStrike">
                          <a:effectLst/>
                          <a:latin typeface="+mj-lt"/>
                        </a:rPr>
                        <a:t>updateRating</a:t>
                      </a:r>
                      <a:r>
                        <a:rPr lang="en-SG" sz="1200" u="none" strike="noStrike">
                          <a:effectLst/>
                          <a:latin typeface="+mj-lt"/>
                        </a:rPr>
                        <a:t>(2) is called</a:t>
                      </a:r>
                      <a:endParaRPr lang="en-SG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u="none" strike="noStrike">
                          <a:effectLst/>
                          <a:latin typeface="+mj-lt"/>
                        </a:rPr>
                        <a:t>Displays "</a:t>
                      </a:r>
                      <a:r>
                        <a:rPr lang="en-SG" sz="1200" b="1" u="none" strike="noStrike">
                          <a:effectLst/>
                          <a:latin typeface="+mj-lt"/>
                        </a:rPr>
                        <a:t>We will work to improve the course.</a:t>
                      </a:r>
                      <a:r>
                        <a:rPr lang="en-SG" sz="1200" u="none" strike="noStrike">
                          <a:effectLst/>
                          <a:latin typeface="+mj-lt"/>
                        </a:rPr>
                        <a:t>"</a:t>
                      </a:r>
                      <a:endParaRPr lang="en-SG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u="none" strike="noStrike">
                          <a:effectLst/>
                          <a:latin typeface="+mj-lt"/>
                        </a:rPr>
                        <a:t>Verify that low ratings display the correct feedback message.</a:t>
                      </a:r>
                      <a:endParaRPr lang="en-SG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extLst>
                  <a:ext uri="{0D108BD9-81ED-4DB2-BD59-A6C34878D82A}">
                    <a16:rowId xmlns:a16="http://schemas.microsoft.com/office/drawing/2014/main" val="68229816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u="none" strike="noStrike">
                          <a:effectLst/>
                          <a:latin typeface="+mj-lt"/>
                        </a:rPr>
                        <a:t>(4) Updates rating when RatingSelector emits rating-selected</a:t>
                      </a:r>
                      <a:endParaRPr lang="en-SG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u="none" strike="noStrike">
                          <a:effectLst/>
                          <a:latin typeface="+mj-lt"/>
                        </a:rPr>
                        <a:t>Child component emits rating-selected with payload 5</a:t>
                      </a:r>
                      <a:endParaRPr lang="en-SG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u="none" strike="noStrike">
                          <a:effectLst/>
                          <a:latin typeface="+mj-lt"/>
                        </a:rPr>
                        <a:t>Displays "</a:t>
                      </a:r>
                      <a:r>
                        <a:rPr lang="en-SG" sz="1200" b="1" u="none" strike="noStrike">
                          <a:effectLst/>
                          <a:latin typeface="+mj-lt"/>
                        </a:rPr>
                        <a:t>Your rating: 5</a:t>
                      </a:r>
                      <a:r>
                        <a:rPr lang="en-SG" sz="1200" u="none" strike="noStrike">
                          <a:effectLst/>
                          <a:latin typeface="+mj-lt"/>
                        </a:rPr>
                        <a:t>" and "</a:t>
                      </a:r>
                      <a:r>
                        <a:rPr lang="en-SG" sz="1200" b="1" u="none" strike="noStrike">
                          <a:effectLst/>
                          <a:latin typeface="+mj-lt"/>
                        </a:rPr>
                        <a:t>Thank you for your positive feedback!</a:t>
                      </a:r>
                      <a:r>
                        <a:rPr lang="en-SG" sz="1200" u="none" strike="noStrike">
                          <a:effectLst/>
                          <a:latin typeface="+mj-lt"/>
                        </a:rPr>
                        <a:t>"</a:t>
                      </a:r>
                      <a:endParaRPr lang="en-SG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200" u="none" strike="noStrike">
                          <a:effectLst/>
                          <a:latin typeface="+mj-lt"/>
                        </a:rPr>
                        <a:t>Verify that the parent correctly responds to the child's emitted event and updates its UI.</a:t>
                      </a:r>
                      <a:endParaRPr lang="en-SG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marT="4763" marB="9144" anchor="ctr"/>
                </a:tc>
                <a:extLst>
                  <a:ext uri="{0D108BD9-81ED-4DB2-BD59-A6C34878D82A}">
                    <a16:rowId xmlns:a16="http://schemas.microsoft.com/office/drawing/2014/main" val="125362897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18DC19D-6815-A2C7-2C32-A0B63DD0D0B6}"/>
              </a:ext>
            </a:extLst>
          </p:cNvPr>
          <p:cNvSpPr txBox="1"/>
          <p:nvPr/>
        </p:nvSpPr>
        <p:spPr>
          <a:xfrm>
            <a:off x="1248221" y="127179"/>
            <a:ext cx="80050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buNone/>
            </a:pPr>
            <a:r>
              <a:rPr lang="en-US" sz="2000" b="1">
                <a:solidFill>
                  <a:srgbClr val="0070C0"/>
                </a:solidFill>
              </a:rPr>
              <a:t>Component Test for CourseReview Using Stubs </a:t>
            </a:r>
            <a:r>
              <a:rPr lang="en-US" sz="2000" b="1">
                <a:solidFill>
                  <a:srgbClr val="FF0000"/>
                </a:solidFill>
              </a:rPr>
              <a:t>(OPTIONAL)</a:t>
            </a:r>
          </a:p>
        </p:txBody>
      </p:sp>
    </p:spTree>
    <p:extLst>
      <p:ext uri="{BB962C8B-B14F-4D97-AF65-F5344CB8AC3E}">
        <p14:creationId xmlns:p14="http://schemas.microsoft.com/office/powerpoint/2010/main" val="24596090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31D80-2CB1-290A-E394-2BE42B90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865B60-C359-AA0C-AE4C-7B32F0300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99" y="42804"/>
            <a:ext cx="1504896" cy="520995"/>
          </a:xfrm>
        </p:spPr>
        <p:txBody>
          <a:bodyPr/>
          <a:lstStyle/>
          <a:p>
            <a:r>
              <a:rPr lang="en-US" sz="2800"/>
              <a:t>Ex2a(3)</a:t>
            </a:r>
            <a:endParaRPr lang="en-US" sz="2800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10F22C3-C7B0-31EA-8FFA-2249D4A59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482" y="810130"/>
            <a:ext cx="7444657" cy="3371163"/>
          </a:xfrm>
        </p:spPr>
        <p:txBody>
          <a:bodyPr/>
          <a:lstStyle/>
          <a:p>
            <a:pPr marL="139700" indent="0">
              <a:buNone/>
            </a:pPr>
            <a:r>
              <a:rPr lang="en-US" b="1" dirty="0">
                <a:solidFill>
                  <a:srgbClr val="0070C0"/>
                </a:solidFill>
              </a:rPr>
              <a:t>Integration Test for Both Components</a:t>
            </a:r>
            <a:endParaRPr lang="en-US" b="1" dirty="0">
              <a:solidFill>
                <a:srgbClr val="FF0000"/>
              </a:solidFill>
            </a:endParaRPr>
          </a:p>
          <a:p>
            <a:pPr marL="139700" indent="0">
              <a:buNone/>
            </a:pPr>
            <a:endParaRPr lang="en-US" dirty="0"/>
          </a:p>
          <a:p>
            <a:pPr marL="482600" indent="-342900">
              <a:buAutoNum type="arabicParenBoth"/>
            </a:pPr>
            <a:r>
              <a:rPr lang="en-US" dirty="0"/>
              <a:t>Read </a:t>
            </a:r>
            <a:r>
              <a:rPr lang="en-US" dirty="0" err="1"/>
              <a:t>src</a:t>
            </a:r>
            <a:r>
              <a:rPr lang="en-US" dirty="0"/>
              <a:t>/components/__tests__/</a:t>
            </a:r>
            <a:r>
              <a:rPr lang="en-US" b="1" dirty="0"/>
              <a:t>IntegrationTest.spec.js</a:t>
            </a:r>
            <a:r>
              <a:rPr lang="en-US" dirty="0"/>
              <a:t>. </a:t>
            </a:r>
            <a:r>
              <a:rPr lang="en-SG" dirty="0"/>
              <a:t>The tests here verify that </a:t>
            </a:r>
            <a:r>
              <a:rPr lang="en-SG" b="1" dirty="0" err="1"/>
              <a:t>RatingSelector</a:t>
            </a:r>
            <a:r>
              <a:rPr lang="en-SG" dirty="0"/>
              <a:t> and </a:t>
            </a:r>
            <a:r>
              <a:rPr lang="en-SG" b="1" dirty="0" err="1"/>
              <a:t>CourseReview</a:t>
            </a:r>
            <a:r>
              <a:rPr lang="en-SG" dirty="0"/>
              <a:t> work together correctly: when the user clicks on one of the numeric buttons in </a:t>
            </a:r>
            <a:r>
              <a:rPr lang="en-SG" b="1" dirty="0" err="1"/>
              <a:t>RatingSelector</a:t>
            </a:r>
            <a:r>
              <a:rPr lang="en-SG" dirty="0"/>
              <a:t>, </a:t>
            </a:r>
            <a:r>
              <a:rPr lang="en-SG" b="1" dirty="0" err="1"/>
              <a:t>CourseReview</a:t>
            </a:r>
            <a:r>
              <a:rPr lang="en-SG" b="1" dirty="0"/>
              <a:t> </a:t>
            </a:r>
            <a:r>
              <a:rPr lang="en-SG" dirty="0"/>
              <a:t>will display the correct message.</a:t>
            </a:r>
          </a:p>
          <a:p>
            <a:pPr marL="482600" indent="-342900">
              <a:buAutoNum type="arabicParenBoth"/>
            </a:pPr>
            <a:endParaRPr lang="en-SG" dirty="0"/>
          </a:p>
          <a:p>
            <a:pPr marL="482600" indent="-342900">
              <a:buAutoNum type="arabicParenBoth"/>
            </a:pPr>
            <a:r>
              <a:rPr lang="en-US" dirty="0"/>
              <a:t>In your terminal window, run the tests in </a:t>
            </a:r>
            <a:r>
              <a:rPr lang="en-US" b="1" dirty="0"/>
              <a:t>IntegrationTest.spec.js</a:t>
            </a:r>
            <a:r>
              <a:rPr lang="en-US" dirty="0"/>
              <a:t> like this:</a:t>
            </a:r>
            <a:br>
              <a:rPr lang="en-US" dirty="0"/>
            </a:br>
            <a:r>
              <a:rPr lang="en-US" dirty="0"/>
              <a:t>     </a:t>
            </a:r>
            <a:r>
              <a:rPr lang="en-GB" b="1" dirty="0" err="1"/>
              <a:t>pnpm</a:t>
            </a:r>
            <a:r>
              <a:rPr lang="en-GB" b="1" dirty="0"/>
              <a:t> </a:t>
            </a:r>
            <a:r>
              <a:rPr lang="en-GB" b="1" dirty="0" err="1"/>
              <a:t>vitest</a:t>
            </a:r>
            <a:r>
              <a:rPr lang="en-GB" b="1" dirty="0"/>
              <a:t> IntegrationTest.spec.js</a:t>
            </a:r>
            <a:br>
              <a:rPr lang="en-GB" b="1" dirty="0"/>
            </a:br>
            <a:r>
              <a:rPr lang="en-US" dirty="0"/>
              <a:t>All 3 tests (1</a:t>
            </a:r>
            <a:r>
              <a:rPr lang="en-US" baseline="30000" dirty="0"/>
              <a:t>st</a:t>
            </a:r>
            <a:r>
              <a:rPr lang="en-US" dirty="0"/>
              <a:t>, 2</a:t>
            </a:r>
            <a:r>
              <a:rPr lang="en-US" baseline="30000" dirty="0"/>
              <a:t>nd</a:t>
            </a:r>
            <a:r>
              <a:rPr lang="en-US" dirty="0"/>
              <a:t> and 5</a:t>
            </a:r>
            <a:r>
              <a:rPr lang="en-US" baseline="30000" dirty="0"/>
              <a:t>th </a:t>
            </a:r>
            <a:r>
              <a:rPr lang="en-US" dirty="0"/>
              <a:t>test) in </a:t>
            </a:r>
            <a:r>
              <a:rPr lang="en-US" b="1" dirty="0"/>
              <a:t>IntegrationTest.spec.js</a:t>
            </a:r>
            <a:r>
              <a:rPr lang="en-US" dirty="0"/>
              <a:t> should pass. </a:t>
            </a:r>
          </a:p>
          <a:p>
            <a:pPr marL="482600" indent="-342900">
              <a:buAutoNum type="arabicParenBoth"/>
            </a:pPr>
            <a:endParaRPr lang="en-US" dirty="0"/>
          </a:p>
          <a:p>
            <a:pPr marL="482600" indent="-342900">
              <a:buAutoNum type="arabicParenBoth"/>
            </a:pPr>
            <a:r>
              <a:rPr lang="en-US" dirty="0"/>
              <a:t>Write the 3</a:t>
            </a:r>
            <a:r>
              <a:rPr lang="en-US" baseline="30000" dirty="0"/>
              <a:t>rd</a:t>
            </a:r>
            <a:r>
              <a:rPr lang="en-US" dirty="0"/>
              <a:t> and 4</a:t>
            </a:r>
            <a:r>
              <a:rPr lang="en-US" baseline="30000" dirty="0"/>
              <a:t>th</a:t>
            </a:r>
            <a:r>
              <a:rPr lang="en-US" dirty="0"/>
              <a:t> test (see next slide). Run all 5 tests again and ensure they all pass.</a:t>
            </a:r>
          </a:p>
          <a:p>
            <a:pPr marL="482600" indent="-342900">
              <a:buAutoNum type="arabicParenBoth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566019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2D3C0-53EA-A40E-09E3-3BBD3D77B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E9447A4-75BA-05B8-BEF8-A22F7C5C8B09}"/>
              </a:ext>
            </a:extLst>
          </p:cNvPr>
          <p:cNvSpPr txBox="1"/>
          <p:nvPr/>
        </p:nvSpPr>
        <p:spPr>
          <a:xfrm>
            <a:off x="219631" y="589100"/>
            <a:ext cx="39914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Integration Test Test Cases:</a:t>
            </a:r>
            <a:endParaRPr lang="en-SG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8BD7FC-72EA-02BA-CD32-93EC6FCCC3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17663"/>
              </p:ext>
            </p:extLst>
          </p:nvPr>
        </p:nvGraphicFramePr>
        <p:xfrm>
          <a:off x="362973" y="1012666"/>
          <a:ext cx="8418054" cy="3387845"/>
        </p:xfrm>
        <a:graphic>
          <a:graphicData uri="http://schemas.openxmlformats.org/drawingml/2006/table">
            <a:tbl>
              <a:tblPr>
                <a:tableStyleId>{775D735A-9BCC-4A0A-8336-7D16119737FB}</a:tableStyleId>
              </a:tblPr>
              <a:tblGrid>
                <a:gridCol w="2299969">
                  <a:extLst>
                    <a:ext uri="{9D8B030D-6E8A-4147-A177-3AD203B41FA5}">
                      <a16:colId xmlns:a16="http://schemas.microsoft.com/office/drawing/2014/main" val="3477888328"/>
                    </a:ext>
                  </a:extLst>
                </a:gridCol>
                <a:gridCol w="960349">
                  <a:extLst>
                    <a:ext uri="{9D8B030D-6E8A-4147-A177-3AD203B41FA5}">
                      <a16:colId xmlns:a16="http://schemas.microsoft.com/office/drawing/2014/main" val="4084242532"/>
                    </a:ext>
                  </a:extLst>
                </a:gridCol>
                <a:gridCol w="2424968">
                  <a:extLst>
                    <a:ext uri="{9D8B030D-6E8A-4147-A177-3AD203B41FA5}">
                      <a16:colId xmlns:a16="http://schemas.microsoft.com/office/drawing/2014/main" val="2814690735"/>
                    </a:ext>
                  </a:extLst>
                </a:gridCol>
                <a:gridCol w="2732768">
                  <a:extLst>
                    <a:ext uri="{9D8B030D-6E8A-4147-A177-3AD203B41FA5}">
                      <a16:colId xmlns:a16="http://schemas.microsoft.com/office/drawing/2014/main" val="90641526"/>
                    </a:ext>
                  </a:extLst>
                </a:gridCol>
              </a:tblGrid>
              <a:tr h="1524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Test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Input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Expected Output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Purpose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603462537"/>
                  </a:ext>
                </a:extLst>
              </a:tr>
              <a:tr h="7623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(1) Updates parent and shows positive feedback for rating 5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User clicks the 5 button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Displays "</a:t>
                      </a:r>
                      <a:r>
                        <a:rPr lang="en-SG" sz="1100" b="1" u="none" strike="noStrike">
                          <a:effectLst/>
                        </a:rPr>
                        <a:t>Your rating: 5</a:t>
                      </a:r>
                      <a:r>
                        <a:rPr lang="en-SG" sz="1100" u="none" strike="noStrike">
                          <a:effectLst/>
                        </a:rPr>
                        <a:t>" and "</a:t>
                      </a:r>
                      <a:r>
                        <a:rPr lang="en-SG" sz="1100" b="1" u="none" strike="noStrike">
                          <a:effectLst/>
                        </a:rPr>
                        <a:t>Thank you for your positive feedback!</a:t>
                      </a:r>
                      <a:r>
                        <a:rPr lang="en-SG" sz="1100" u="none" strike="noStrike">
                          <a:effectLst/>
                        </a:rPr>
                        <a:t>"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Verify the complete interaction from user click → child emits event → parent updates state → DOM displays the correct rating and positive feedback.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585582872"/>
                  </a:ext>
                </a:extLst>
              </a:tr>
              <a:tr h="6098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(2) Updates parent and shows positive feedback for rating 4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User clicks the 4 button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Displays "</a:t>
                      </a:r>
                      <a:r>
                        <a:rPr lang="en-SG" sz="1100" b="1" u="none" strike="noStrike">
                          <a:effectLst/>
                        </a:rPr>
                        <a:t>Your rating: 4</a:t>
                      </a:r>
                      <a:r>
                        <a:rPr lang="en-SG" sz="1100" u="none" strike="noStrike">
                          <a:effectLst/>
                        </a:rPr>
                        <a:t>" and "</a:t>
                      </a:r>
                      <a:r>
                        <a:rPr lang="en-SG" sz="1100" b="1" u="none" strike="noStrike">
                          <a:effectLst/>
                        </a:rPr>
                        <a:t>Thank you for your positive feedback!</a:t>
                      </a:r>
                      <a:r>
                        <a:rPr lang="en-SG" sz="1100" u="none" strike="noStrike">
                          <a:effectLst/>
                        </a:rPr>
                        <a:t>"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Verify that the parent correctly handles a rating of 4 and displays the positive feedback message.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3797902018"/>
                  </a:ext>
                </a:extLst>
              </a:tr>
              <a:tr h="6098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(3) Updates parent and shows improvement feedback for rating 3</a:t>
                      </a:r>
                      <a:endParaRPr lang="en-SG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User clicks the 3 button</a:t>
                      </a:r>
                      <a:endParaRPr lang="en-SG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Displays "</a:t>
                      </a:r>
                      <a:r>
                        <a:rPr lang="en-SG" sz="1100" b="1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Your rating: 3</a:t>
                      </a:r>
                      <a:r>
                        <a:rPr lang="en-SG" sz="11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" and "</a:t>
                      </a:r>
                      <a:r>
                        <a:rPr lang="en-SG" sz="1100" b="1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We will work to improve the course</a:t>
                      </a:r>
                      <a:r>
                        <a:rPr lang="en-SG" sz="11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."</a:t>
                      </a:r>
                      <a:endParaRPr lang="en-SG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Verify that the parent correctly handles a medium rating and displays the improvement feedback message.</a:t>
                      </a:r>
                      <a:endParaRPr lang="en-SG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023591"/>
                  </a:ext>
                </a:extLst>
              </a:tr>
              <a:tr h="6098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(4) Updates parent and shows improvement feedback for rating 2</a:t>
                      </a:r>
                      <a:endParaRPr lang="en-SG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User clicks the 2 button</a:t>
                      </a:r>
                      <a:endParaRPr lang="en-SG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Displays "</a:t>
                      </a:r>
                      <a:r>
                        <a:rPr lang="en-SG" sz="1100" b="1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Your rating: 2</a:t>
                      </a:r>
                      <a:r>
                        <a:rPr lang="en-SG" sz="11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" and "</a:t>
                      </a:r>
                      <a:r>
                        <a:rPr lang="en-SG" sz="1100" b="1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We will work to improve the course.</a:t>
                      </a:r>
                      <a:r>
                        <a:rPr lang="en-SG" sz="11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"</a:t>
                      </a:r>
                      <a:endParaRPr lang="en-SG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Verify that the parent correctly handles a low rating and displays the improvement feedback message.</a:t>
                      </a:r>
                      <a:endParaRPr lang="en-SG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510846"/>
                  </a:ext>
                </a:extLst>
              </a:tr>
              <a:tr h="6098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(5) Updates parent and shows improvement feedback for rating 1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User clicks the 1 button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Displays "Your rating: 1" and "</a:t>
                      </a:r>
                      <a:r>
                        <a:rPr lang="en-SG" sz="1100" b="1" u="none" strike="noStrike">
                          <a:effectLst/>
                        </a:rPr>
                        <a:t>We will work to improve the course</a:t>
                      </a:r>
                      <a:r>
                        <a:rPr lang="en-SG" sz="1100" u="none" strike="noStrike">
                          <a:effectLst/>
                        </a:rPr>
                        <a:t>."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100" u="none" strike="noStrike">
                          <a:effectLst/>
                        </a:rPr>
                        <a:t>Verify that the parent correctly handles the lowest rating and displays the improvement feedback message.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2994799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7512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E83D5-B156-741F-1E41-C9182A68D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0302"/>
            <a:ext cx="8520600" cy="586373"/>
          </a:xfrm>
        </p:spPr>
        <p:txBody>
          <a:bodyPr/>
          <a:lstStyle/>
          <a:p>
            <a:r>
              <a:rPr lang="en-SG" dirty="0"/>
              <a:t>Summary: Vue Test Utils Method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51D186E-66D7-E25A-B2DC-32FD2AF74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057907"/>
              </p:ext>
            </p:extLst>
          </p:nvPr>
        </p:nvGraphicFramePr>
        <p:xfrm>
          <a:off x="311700" y="678550"/>
          <a:ext cx="8520600" cy="4434840"/>
        </p:xfrm>
        <a:graphic>
          <a:graphicData uri="http://schemas.openxmlformats.org/drawingml/2006/table">
            <a:tbl>
              <a:tblPr firstRow="1" bandRow="1">
                <a:tableStyleId>{775D735A-9BCC-4A0A-8336-7D16119737FB}</a:tableStyleId>
              </a:tblPr>
              <a:tblGrid>
                <a:gridCol w="3227670">
                  <a:extLst>
                    <a:ext uri="{9D8B030D-6E8A-4147-A177-3AD203B41FA5}">
                      <a16:colId xmlns:a16="http://schemas.microsoft.com/office/drawing/2014/main" val="3342578859"/>
                    </a:ext>
                  </a:extLst>
                </a:gridCol>
                <a:gridCol w="5292930">
                  <a:extLst>
                    <a:ext uri="{9D8B030D-6E8A-4147-A177-3AD203B41FA5}">
                      <a16:colId xmlns:a16="http://schemas.microsoft.com/office/drawing/2014/main" val="1616899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sz="1000" b="1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00" b="1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940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000" dirty="0"/>
                        <a:t>mount(…)</a:t>
                      </a:r>
                    </a:p>
                    <a:p>
                      <a:r>
                        <a:rPr lang="en-SG" sz="1000" dirty="0"/>
                        <a:t>e.g., wrapper = mount(</a:t>
                      </a:r>
                      <a:r>
                        <a:rPr lang="en-SG" sz="1000" dirty="0" err="1"/>
                        <a:t>StudentGrade</a:t>
                      </a:r>
                      <a:r>
                        <a:rPr lang="en-SG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sz="1000" dirty="0"/>
                        <a:t>Return 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 test wrapper around the component.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082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wrapper.text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e.g. expect(</a:t>
                      </a:r>
                      <a:r>
                        <a:rPr lang="en-SG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wrapper.text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()).</a:t>
                      </a:r>
                      <a:r>
                        <a:rPr lang="en-SG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toContain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(‘good’)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returns the combined text content of the component’s rendered DOM.</a:t>
                      </a:r>
                      <a:endParaRPr lang="en-S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37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lang="en-SG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wrapper.findAll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(selector)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e.g. </a:t>
                      </a:r>
                      <a:r>
                        <a:rPr lang="en-SG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wrapper.findAll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(‘button’)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finds multiple DOM elements matching a selector</a:t>
                      </a:r>
                      <a:endParaRPr lang="en-S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990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wrapper.find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(selector)  e.g.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wrapper.find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('select').</a:t>
                      </a:r>
                      <a:r>
                        <a:rPr lang="en-SG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setValue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('Euro’)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wrapper.find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('#user').</a:t>
                      </a:r>
                      <a:r>
                        <a:rPr lang="en-SG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setValue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('Jack')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00" dirty="0"/>
                        <a:t>Returns the first matched DOM element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398580"/>
                  </a:ext>
                </a:extLst>
              </a:tr>
              <a:tr h="229361">
                <a:tc>
                  <a:txBody>
                    <a:bodyPr/>
                    <a:lstStyle/>
                    <a:p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[element].trigger(…)</a:t>
                      </a:r>
                    </a:p>
                    <a:p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e.g. await </a:t>
                      </a:r>
                      <a:r>
                        <a:rPr lang="en-SG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wrapper.findAll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('button’)[0].trigger('click')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simulates a user interaction on a DOM element such as click event</a:t>
                      </a:r>
                      <a:endParaRPr lang="en-S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027545"/>
                  </a:ext>
                </a:extLst>
              </a:tr>
              <a:tr h="229361">
                <a:tc>
                  <a:txBody>
                    <a:bodyPr/>
                    <a:lstStyle/>
                    <a:p>
                      <a:r>
                        <a:rPr lang="en-SG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wrapper.props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()</a:t>
                      </a:r>
                    </a:p>
                    <a:p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e.g. wrapper.props().msg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00" dirty="0"/>
                        <a:t>Returns the props of the Vue instance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693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wrapper.vm</a:t>
                      </a:r>
                    </a:p>
                    <a:p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e.g., </a:t>
                      </a:r>
                      <a:r>
                        <a:rPr lang="en-SG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wrapper.vm.updateRating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the actual Vue instance of </a:t>
                      </a:r>
                      <a:r>
                        <a:rPr lang="en-SG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the wrapped 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component, so you can access: data, methods, computed properties</a:t>
                      </a:r>
                      <a:endParaRPr lang="en-S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249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000" dirty="0"/>
                        <a:t>await wrapper.</a:t>
                      </a:r>
                      <a:r>
                        <a:rPr lang="en-SG" sz="1000" dirty="0" err="1"/>
                        <a:t>vm</a:t>
                      </a:r>
                      <a:r>
                        <a:rPr lang="en-SG" sz="1000" dirty="0"/>
                        <a:t>.$</a:t>
                      </a:r>
                      <a:r>
                        <a:rPr lang="en-SG" sz="1000" dirty="0" err="1"/>
                        <a:t>nextTick</a:t>
                      </a:r>
                      <a:r>
                        <a:rPr lang="en-SG" sz="10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waits until Vue has finished processing any pending DOM updates and reactive state changes before continuing.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452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wrapper.emitted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(‘</a:t>
                      </a:r>
                      <a:r>
                        <a:rPr lang="en-SG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cust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-event')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returns an array of all times that event was emitted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19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wrapper.emitted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(‘</a:t>
                      </a:r>
                      <a:r>
                        <a:rPr lang="en-SG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cust</a:t>
                      </a:r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-event')[0]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returns the event data by the first emitted event.</a:t>
                      </a:r>
                      <a:endParaRPr lang="en-S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47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8012155"/>
      </p:ext>
    </p:extLst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marL="139700" indent="0" algn="l">
          <a:buNone/>
          <a:defRPr/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1e756f9c-e3e7-4810-90da-ea6bfb97c434}" enabled="1" method="Privileged" siteId="{c98a79ca-5a9a-4791-a243-f06afd67464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5915</TotalTime>
  <Words>4080</Words>
  <Application>Microsoft Office PowerPoint</Application>
  <PresentationFormat>On-screen Show (16:9)</PresentationFormat>
  <Paragraphs>457</Paragraphs>
  <Slides>30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 Narrow</vt:lpstr>
      <vt:lpstr>Arial</vt:lpstr>
      <vt:lpstr>Arial Unicode MS</vt:lpstr>
      <vt:lpstr>Times New Roman</vt:lpstr>
      <vt:lpstr>Luxe</vt:lpstr>
      <vt:lpstr>Web Application Development II</vt:lpstr>
      <vt:lpstr>Agenda</vt:lpstr>
      <vt:lpstr>Different Types of Tests</vt:lpstr>
      <vt:lpstr>Context</vt:lpstr>
      <vt:lpstr>Component Test -- StudentGrade</vt:lpstr>
      <vt:lpstr>Component Test: StudentGrade</vt:lpstr>
      <vt:lpstr>(optional) Component Test: StudentProfile</vt:lpstr>
      <vt:lpstr>(optional) Component Test: StudentProfile</vt:lpstr>
      <vt:lpstr>(optional) Component Test: StudentProfile</vt:lpstr>
      <vt:lpstr>What to Test in a Component Test</vt:lpstr>
      <vt:lpstr>PowerPoint Presentation</vt:lpstr>
      <vt:lpstr>PowerPoint Presentation</vt:lpstr>
      <vt:lpstr>Fragile vs Robust Tests</vt:lpstr>
      <vt:lpstr>Fragile vs Robust Tests</vt:lpstr>
      <vt:lpstr>Different Types of Tests</vt:lpstr>
      <vt:lpstr>Integration Test</vt:lpstr>
      <vt:lpstr>Integration Test</vt:lpstr>
      <vt:lpstr>Setting Up for Ex 2 (1)</vt:lpstr>
      <vt:lpstr>Setting Up for Ex 2 (2)</vt:lpstr>
      <vt:lpstr>Ex2: Component + Integration Test (1)</vt:lpstr>
      <vt:lpstr>Ex2 (2)</vt:lpstr>
      <vt:lpstr>Ex2 (3)</vt:lpstr>
      <vt:lpstr>Take Away Message</vt:lpstr>
      <vt:lpstr>(HOMEWORK) Setting Up for Ex 2a  Component + Integration Test for Another Scenario</vt:lpstr>
      <vt:lpstr>Setting Up for Ex2a  </vt:lpstr>
      <vt:lpstr>Ex2a: Component + Integration Test (1)</vt:lpstr>
      <vt:lpstr>Ex2a(2)</vt:lpstr>
      <vt:lpstr>Ex2a(3)</vt:lpstr>
      <vt:lpstr>PowerPoint Presentation</vt:lpstr>
      <vt:lpstr>Summary: Vue Test Utils Method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 Development II</dc:title>
  <cp:lastModifiedBy>SHAR Lwin Khin</cp:lastModifiedBy>
  <cp:revision>113</cp:revision>
  <dcterms:modified xsi:type="dcterms:W3CDTF">2026-10-18T04:47:41Z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e756f9c-e3e7-4810-90da-ea6bfb97c434_Enabled">
    <vt:lpwstr>true</vt:lpwstr>
  </property>
  <property fmtid="{D5CDD505-2E9C-101B-9397-08002B2CF9AE}" pid="3" name="MSIP_Label_1e756f9c-e3e7-4810-90da-ea6bfb97c434_SetDate">
    <vt:lpwstr>2022-06-08T19:02:47Z</vt:lpwstr>
  </property>
  <property fmtid="{D5CDD505-2E9C-101B-9397-08002B2CF9AE}" pid="4" name="MSIP_Label_1e756f9c-e3e7-4810-90da-ea6bfb97c434_Method">
    <vt:lpwstr>Privileged</vt:lpwstr>
  </property>
  <property fmtid="{D5CDD505-2E9C-101B-9397-08002B2CF9AE}" pid="5" name="MSIP_Label_1e756f9c-e3e7-4810-90da-ea6bfb97c434_Name">
    <vt:lpwstr>1e756f9c-e3e7-4810-90da-ea6bfb97c434</vt:lpwstr>
  </property>
  <property fmtid="{D5CDD505-2E9C-101B-9397-08002B2CF9AE}" pid="6" name="MSIP_Label_1e756f9c-e3e7-4810-90da-ea6bfb97c434_SiteId">
    <vt:lpwstr>c98a79ca-5a9a-4791-a243-f06afd67464d</vt:lpwstr>
  </property>
  <property fmtid="{D5CDD505-2E9C-101B-9397-08002B2CF9AE}" pid="7" name="MSIP_Label_1e756f9c-e3e7-4810-90da-ea6bfb97c434_ActionId">
    <vt:lpwstr>8da855f0-8740-4300-86c2-d44805c7265f</vt:lpwstr>
  </property>
  <property fmtid="{D5CDD505-2E9C-101B-9397-08002B2CF9AE}" pid="8" name="MSIP_Label_1e756f9c-e3e7-4810-90da-ea6bfb97c434_ContentBits">
    <vt:lpwstr>0</vt:lpwstr>
  </property>
</Properties>
</file>