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1"/>
  </p:sldMasterIdLst>
  <p:notesMasterIdLst>
    <p:notesMasterId r:id="rId20"/>
  </p:notesMasterIdLst>
  <p:sldIdLst>
    <p:sldId id="256" r:id="rId2"/>
    <p:sldId id="258" r:id="rId3"/>
    <p:sldId id="386" r:id="rId4"/>
    <p:sldId id="322" r:id="rId5"/>
    <p:sldId id="387" r:id="rId6"/>
    <p:sldId id="379" r:id="rId7"/>
    <p:sldId id="389" r:id="rId8"/>
    <p:sldId id="390" r:id="rId9"/>
    <p:sldId id="391" r:id="rId10"/>
    <p:sldId id="392" r:id="rId11"/>
    <p:sldId id="393" r:id="rId12"/>
    <p:sldId id="394" r:id="rId13"/>
    <p:sldId id="398" r:id="rId14"/>
    <p:sldId id="395" r:id="rId15"/>
    <p:sldId id="396" r:id="rId16"/>
    <p:sldId id="397" r:id="rId17"/>
    <p:sldId id="388" r:id="rId18"/>
    <p:sldId id="384" r:id="rId1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0" roundtripDataSignature="AMtx7mjaLgwvFmb99B6uTL6zwCSN3bxFd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75D735A-9BCC-4A0A-8336-7D16119737FB}">
  <a:tblStyle styleId="{775D735A-9BCC-4A0A-8336-7D16119737FB}"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01" autoAdjust="0"/>
    <p:restoredTop sz="78564" autoAdjust="0"/>
  </p:normalViewPr>
  <p:slideViewPr>
    <p:cSldViewPr snapToGrid="0">
      <p:cViewPr varScale="1">
        <p:scale>
          <a:sx n="176" d="100"/>
          <a:sy n="176" d="100"/>
        </p:scale>
        <p:origin x="328"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80" Type="http://customschemas.google.com/relationships/presentationmetadata" Target="metadata"/><Relationship Id="rId3" Type="http://schemas.openxmlformats.org/officeDocument/2006/relationships/slide" Target="slides/slide2.xml"/><Relationship Id="rId8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82"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mu.sg/selenium"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86be9dc936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72" name="Google Shape;72;g86be9dc936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a:p>
        </p:txBody>
      </p:sp>
    </p:spTree>
    <p:extLst>
      <p:ext uri="{BB962C8B-B14F-4D97-AF65-F5344CB8AC3E}">
        <p14:creationId xmlns:p14="http://schemas.microsoft.com/office/powerpoint/2010/main" val="182942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sz="1100"/>
              <a:t>Students interested in Selenium can take a look at </a:t>
            </a:r>
            <a:r>
              <a:rPr lang="en-US" sz="1100">
                <a:hlinkClick r:id="rId3"/>
              </a:rPr>
              <a:t>http://smu.sg/selenium</a:t>
            </a:r>
            <a:r>
              <a:rPr lang="en-US" sz="1100"/>
              <a:t> (23 min)</a:t>
            </a:r>
          </a:p>
          <a:p>
            <a:pPr marL="139700" indent="0">
              <a:buNone/>
            </a:pPr>
            <a:r>
              <a:rPr lang="en-US" sz="1100"/>
              <a:t>Only Playwright will be covered in this course</a:t>
            </a:r>
          </a:p>
          <a:p>
            <a:endParaRPr lang="en-SG"/>
          </a:p>
        </p:txBody>
      </p:sp>
    </p:spTree>
    <p:extLst>
      <p:ext uri="{BB962C8B-B14F-4D97-AF65-F5344CB8AC3E}">
        <p14:creationId xmlns:p14="http://schemas.microsoft.com/office/powerpoint/2010/main" val="2409537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5F352-03FF-5736-B0CD-90382CC364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2F100E-449F-7D74-2B2A-27EE2737D5C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01FE932-D3B6-6E3C-5142-27BA4974035D}"/>
              </a:ext>
            </a:extLst>
          </p:cNvPr>
          <p:cNvSpPr>
            <a:spLocks noGrp="1"/>
          </p:cNvSpPr>
          <p:nvPr>
            <p:ph type="body" idx="1"/>
          </p:nvPr>
        </p:nvSpPr>
        <p:spPr/>
        <p:txBody>
          <a:bodyPr/>
          <a:lstStyle/>
          <a:p>
            <a:endParaRPr lang="en-SG"/>
          </a:p>
        </p:txBody>
      </p:sp>
    </p:spTree>
    <p:extLst>
      <p:ext uri="{BB962C8B-B14F-4D97-AF65-F5344CB8AC3E}">
        <p14:creationId xmlns:p14="http://schemas.microsoft.com/office/powerpoint/2010/main" val="8474261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SG" sz="1100" b="0" i="0" u="none" strike="noStrike" cap="none" dirty="0">
                <a:solidFill>
                  <a:srgbClr val="000000"/>
                </a:solidFill>
                <a:effectLst/>
                <a:latin typeface="Arial"/>
                <a:ea typeface="Arial"/>
                <a:cs typeface="Arial"/>
                <a:sym typeface="Arial"/>
              </a:rPr>
              <a:t>If the test case fail, most likely due to browser version mismatched – the one supported by playwright and the one downloaded</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SG" sz="1100" b="0" i="0" u="none" strike="noStrike" cap="none" dirty="0" err="1">
                <a:solidFill>
                  <a:srgbClr val="000000"/>
                </a:solidFill>
                <a:effectLst/>
                <a:latin typeface="Arial"/>
                <a:ea typeface="Arial"/>
                <a:cs typeface="Arial"/>
                <a:sym typeface="Arial"/>
              </a:rPr>
              <a:t>pnpm</a:t>
            </a:r>
            <a:r>
              <a:rPr lang="en-SG" sz="1100" b="0" i="0" u="none" strike="noStrike" cap="none" dirty="0">
                <a:solidFill>
                  <a:srgbClr val="000000"/>
                </a:solidFill>
                <a:effectLst/>
                <a:latin typeface="Arial"/>
                <a:ea typeface="Arial"/>
                <a:cs typeface="Arial"/>
                <a:sym typeface="Arial"/>
              </a:rPr>
              <a:t> exec playwright install </a:t>
            </a:r>
            <a:r>
              <a:rPr lang="en-SG" sz="1100" b="0" i="0" u="none" strike="noStrike" cap="none" dirty="0" err="1">
                <a:solidFill>
                  <a:srgbClr val="000000"/>
                </a:solidFill>
                <a:effectLst/>
                <a:latin typeface="Arial"/>
                <a:ea typeface="Arial"/>
                <a:cs typeface="Arial"/>
                <a:sym typeface="Arial"/>
              </a:rPr>
              <a:t>webkit</a:t>
            </a:r>
            <a:r>
              <a:rPr lang="en-SG" sz="1100" b="0" i="0" u="none" strike="noStrike" cap="none" dirty="0">
                <a:solidFill>
                  <a:srgbClr val="000000"/>
                </a:solidFill>
                <a:effectLst/>
                <a:latin typeface="Arial"/>
                <a:ea typeface="Arial"/>
                <a:cs typeface="Arial"/>
                <a:sym typeface="Arial"/>
              </a:rPr>
              <a:t> --force</a:t>
            </a:r>
          </a:p>
          <a:p>
            <a:endParaRPr lang="en-US" dirty="0"/>
          </a:p>
        </p:txBody>
      </p:sp>
    </p:spTree>
    <p:extLst>
      <p:ext uri="{BB962C8B-B14F-4D97-AF65-F5344CB8AC3E}">
        <p14:creationId xmlns:p14="http://schemas.microsoft.com/office/powerpoint/2010/main" val="4011329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a:p>
        </p:txBody>
      </p:sp>
    </p:spTree>
    <p:extLst>
      <p:ext uri="{BB962C8B-B14F-4D97-AF65-F5344CB8AC3E}">
        <p14:creationId xmlns:p14="http://schemas.microsoft.com/office/powerpoint/2010/main" val="3884785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SG"/>
              <a:t> &lt;!-- index.html --&gt;</a:t>
            </a:r>
          </a:p>
          <a:p>
            <a:pPr marL="158750" indent="0">
              <a:buNone/>
            </a:pPr>
            <a:r>
              <a:rPr lang="en-SG"/>
              <a:t> &lt;!DOCTYPE html&gt;</a:t>
            </a:r>
          </a:p>
          <a:p>
            <a:pPr marL="158750" indent="0">
              <a:buNone/>
            </a:pPr>
            <a:r>
              <a:rPr lang="en-SG"/>
              <a:t>    &lt;html&gt;</a:t>
            </a:r>
          </a:p>
          <a:p>
            <a:pPr marL="158750" indent="0">
              <a:buNone/>
            </a:pPr>
            <a:r>
              <a:rPr lang="en-SG"/>
              <a:t>    &lt;body&gt;</a:t>
            </a:r>
          </a:p>
          <a:p>
            <a:pPr marL="158750" indent="0">
              <a:buNone/>
            </a:pPr>
            <a:r>
              <a:rPr lang="en-SG"/>
              <a:t>    &lt;h1&gt;Login&lt;/h1&gt;</a:t>
            </a:r>
          </a:p>
          <a:p>
            <a:pPr marL="158750" indent="0">
              <a:buNone/>
            </a:pPr>
            <a:r>
              <a:rPr lang="en-SG"/>
              <a:t>    &lt;input id="username" placeholder="Username"&gt;</a:t>
            </a:r>
          </a:p>
          <a:p>
            <a:pPr marL="158750" indent="0">
              <a:buNone/>
            </a:pPr>
            <a:r>
              <a:rPr lang="en-SG"/>
              <a:t>    &lt;input id="password" type="password"&gt;</a:t>
            </a:r>
          </a:p>
          <a:p>
            <a:pPr marL="158750" indent="0">
              <a:buNone/>
            </a:pPr>
            <a:r>
              <a:rPr lang="en-SG"/>
              <a:t>    &lt;button id="login"&gt;Login&lt;/button&gt;</a:t>
            </a:r>
          </a:p>
          <a:p>
            <a:pPr marL="158750" indent="0">
              <a:buNone/>
            </a:pPr>
            <a:r>
              <a:rPr lang="en-SG"/>
              <a:t>    &lt;p id="message"&gt;&lt;/p&gt;</a:t>
            </a:r>
          </a:p>
          <a:p>
            <a:pPr marL="158750" indent="0">
              <a:buNone/>
            </a:pPr>
            <a:r>
              <a:rPr lang="en-SG"/>
              <a:t>    &lt;script&gt;</a:t>
            </a:r>
          </a:p>
          <a:p>
            <a:pPr marL="158750" indent="0">
              <a:buNone/>
            </a:pPr>
            <a:r>
              <a:rPr lang="en-SG"/>
              <a:t>    document.getElementById("login").onclick = () =&gt; {</a:t>
            </a:r>
          </a:p>
          <a:p>
            <a:pPr marL="158750" indent="0">
              <a:buNone/>
            </a:pPr>
            <a:r>
              <a:rPr lang="en-SG"/>
              <a:t>        const user = document.getElementById("username").value;</a:t>
            </a:r>
          </a:p>
          <a:p>
            <a:pPr marL="158750" indent="0">
              <a:buNone/>
            </a:pPr>
            <a:r>
              <a:rPr lang="en-SG"/>
              <a:t>        const pass = document.getElementById("password").value;</a:t>
            </a:r>
          </a:p>
          <a:p>
            <a:pPr marL="158750" indent="0">
              <a:buNone/>
            </a:pPr>
            <a:r>
              <a:rPr lang="en-SG"/>
              <a:t>        if (user === "admin" &amp;&amp; pass === "1234")</a:t>
            </a:r>
          </a:p>
          <a:p>
            <a:pPr marL="158750" indent="0">
              <a:buNone/>
            </a:pPr>
            <a:r>
              <a:rPr lang="en-SG"/>
              <a:t>            document.getElementById("message").innerText = "Welcome Admin!";</a:t>
            </a:r>
          </a:p>
          <a:p>
            <a:pPr marL="158750" indent="0">
              <a:buNone/>
            </a:pPr>
            <a:r>
              <a:rPr lang="en-SG"/>
              <a:t>        else</a:t>
            </a:r>
          </a:p>
          <a:p>
            <a:pPr marL="158750" indent="0">
              <a:buNone/>
            </a:pPr>
            <a:r>
              <a:rPr lang="en-SG"/>
              <a:t>            document.getElementById("message").innerText = "Login Failed";</a:t>
            </a:r>
          </a:p>
          <a:p>
            <a:pPr marL="158750" indent="0">
              <a:buNone/>
            </a:pPr>
            <a:r>
              <a:rPr lang="en-SG"/>
              <a:t>    };</a:t>
            </a:r>
          </a:p>
          <a:p>
            <a:pPr marL="158750" indent="0">
              <a:buNone/>
            </a:pPr>
            <a:r>
              <a:rPr lang="en-SG"/>
              <a:t>    &lt;/script&gt;</a:t>
            </a:r>
          </a:p>
          <a:p>
            <a:pPr marL="158750" indent="0">
              <a:buNone/>
            </a:pPr>
            <a:r>
              <a:rPr lang="en-SG"/>
              <a:t>    &lt;/body&gt;</a:t>
            </a:r>
          </a:p>
          <a:p>
            <a:pPr marL="158750" indent="0">
              <a:buNone/>
            </a:pPr>
            <a:r>
              <a:rPr lang="en-SG"/>
              <a:t>    &lt;/html&gt;</a:t>
            </a:r>
          </a:p>
        </p:txBody>
      </p:sp>
    </p:spTree>
    <p:extLst>
      <p:ext uri="{BB962C8B-B14F-4D97-AF65-F5344CB8AC3E}">
        <p14:creationId xmlns:p14="http://schemas.microsoft.com/office/powerpoint/2010/main" val="35363743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0BC05-C2B5-5516-02B6-10A0999DA7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9C882B-D524-DF6D-225F-83FB5089E37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755A866-5963-E456-803F-195CFC89DE5E}"/>
              </a:ext>
            </a:extLst>
          </p:cNvPr>
          <p:cNvSpPr>
            <a:spLocks noGrp="1"/>
          </p:cNvSpPr>
          <p:nvPr>
            <p:ph type="body" idx="1"/>
          </p:nvPr>
        </p:nvSpPr>
        <p:spPr/>
        <p:txBody>
          <a:bodyPr/>
          <a:lstStyle/>
          <a:p>
            <a:pPr marL="139700" indent="0">
              <a:buNone/>
            </a:pPr>
            <a:r>
              <a:rPr lang="en-SG"/>
              <a:t>// 1</a:t>
            </a:r>
            <a:r>
              <a:rPr lang="en-SG" baseline="30000"/>
              <a:t>st</a:t>
            </a:r>
            <a:r>
              <a:rPr lang="en-SG"/>
              <a:t> test for successful login</a:t>
            </a:r>
          </a:p>
          <a:p>
            <a:pPr marL="139700" indent="0">
              <a:buNone/>
            </a:pPr>
            <a:r>
              <a:rPr lang="en-GB" sz="1100"/>
              <a:t>import { test, expect } from '@playwright/test';</a:t>
            </a:r>
          </a:p>
          <a:p>
            <a:pPr marL="139700" indent="0">
              <a:buNone/>
            </a:pPr>
            <a:r>
              <a:rPr lang="en-GB" sz="1100"/>
              <a:t>test('test', async ({ page }) =&gt; {</a:t>
            </a:r>
          </a:p>
          <a:p>
            <a:pPr marL="139700" indent="0">
              <a:buNone/>
            </a:pPr>
            <a:r>
              <a:rPr lang="en-GB" sz="1100"/>
              <a:t>            await page.goto('http://127.0.0.1:8080/');</a:t>
            </a:r>
          </a:p>
          <a:p>
            <a:pPr marL="139700" indent="0">
              <a:buNone/>
            </a:pPr>
            <a:r>
              <a:rPr lang="en-GB" sz="1100"/>
              <a:t>            await page.getByRole('textbox', { name: 'Username' }).click();</a:t>
            </a:r>
          </a:p>
          <a:p>
            <a:pPr marL="139700" indent="0">
              <a:buNone/>
            </a:pPr>
            <a:r>
              <a:rPr lang="en-GB" sz="1100"/>
              <a:t>            await page.getByRole('textbox', { name: 'Username' }).fill('admin');    // correct user ID</a:t>
            </a:r>
          </a:p>
          <a:p>
            <a:pPr marL="139700" indent="0">
              <a:buNone/>
            </a:pPr>
            <a:r>
              <a:rPr lang="en-GB" sz="1100"/>
              <a:t>            await page.getByRole('textbox', { name: 'Username' }).press('Tab');</a:t>
            </a:r>
          </a:p>
          <a:p>
            <a:pPr marL="139700" indent="0">
              <a:buNone/>
            </a:pPr>
            <a:r>
              <a:rPr lang="en-GB" sz="1100"/>
              <a:t>            await page.locator('#password').fill('1234');                                         // correct password</a:t>
            </a:r>
          </a:p>
          <a:p>
            <a:pPr marL="139700" indent="0">
              <a:buNone/>
            </a:pPr>
            <a:r>
              <a:rPr lang="en-GB" sz="1100"/>
              <a:t>            await page.getByRole('button', { name: 'Login' }).click();</a:t>
            </a:r>
          </a:p>
          <a:p>
            <a:pPr marL="139700" indent="0">
              <a:buNone/>
            </a:pPr>
            <a:r>
              <a:rPr lang="en-GB" sz="1100"/>
              <a:t>            // await page.getByText('Welcome Admin!').click();    // to be removed manually</a:t>
            </a:r>
          </a:p>
          <a:p>
            <a:pPr marL="139700" indent="0">
              <a:buNone/>
            </a:pPr>
            <a:r>
              <a:rPr lang="en-SG"/>
              <a:t>            </a:t>
            </a:r>
            <a:r>
              <a:rPr lang="en-SG" b="1"/>
              <a:t>await expect(page.getByText('Welcome Admin!')).toBeVisible(); </a:t>
            </a:r>
            <a:r>
              <a:rPr lang="en-SG"/>
              <a:t>// manually inserted</a:t>
            </a:r>
            <a:endParaRPr lang="en-GB" sz="1100"/>
          </a:p>
          <a:p>
            <a:pPr marL="139700" indent="0">
              <a:buNone/>
            </a:pPr>
            <a:r>
              <a:rPr lang="en-GB" sz="1100"/>
              <a:t>});</a:t>
            </a:r>
            <a:endParaRPr lang="en-SG"/>
          </a:p>
        </p:txBody>
      </p:sp>
    </p:spTree>
    <p:extLst>
      <p:ext uri="{BB962C8B-B14F-4D97-AF65-F5344CB8AC3E}">
        <p14:creationId xmlns:p14="http://schemas.microsoft.com/office/powerpoint/2010/main" val="32804708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9140C-DE04-A24C-1171-55EC3E8D4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A2FFFF-4786-0A83-EEB8-0E37689AB86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13523CE-6D20-F8FF-9689-D1BCCAADAAE7}"/>
              </a:ext>
            </a:extLst>
          </p:cNvPr>
          <p:cNvSpPr>
            <a:spLocks noGrp="1"/>
          </p:cNvSpPr>
          <p:nvPr>
            <p:ph type="body" idx="1"/>
          </p:nvPr>
        </p:nvSpPr>
        <p:spPr/>
        <p:txBody>
          <a:bodyPr/>
          <a:lstStyle/>
          <a:p>
            <a:pPr marL="139700" indent="0">
              <a:buNone/>
            </a:pPr>
            <a:r>
              <a:rPr lang="en-SG"/>
              <a:t>// 1</a:t>
            </a:r>
            <a:r>
              <a:rPr lang="en-SG" baseline="30000"/>
              <a:t>st</a:t>
            </a:r>
            <a:r>
              <a:rPr lang="en-SG"/>
              <a:t> test for successful login</a:t>
            </a:r>
          </a:p>
          <a:p>
            <a:pPr marL="139700" indent="0">
              <a:buNone/>
            </a:pPr>
            <a:r>
              <a:rPr lang="en-GB" sz="1100"/>
              <a:t>import { test, expect } from '@playwright/test';</a:t>
            </a:r>
          </a:p>
          <a:p>
            <a:pPr marL="139700" indent="0">
              <a:buNone/>
            </a:pPr>
            <a:r>
              <a:rPr lang="en-GB" sz="1100"/>
              <a:t>test('test', async ({ page }) =&gt; {</a:t>
            </a:r>
          </a:p>
          <a:p>
            <a:pPr marL="139700" indent="0">
              <a:buNone/>
            </a:pPr>
            <a:r>
              <a:rPr lang="en-GB" sz="1100"/>
              <a:t>            await page.goto('http://127.0.0.1:8080/');</a:t>
            </a:r>
          </a:p>
          <a:p>
            <a:pPr marL="139700" indent="0">
              <a:buNone/>
            </a:pPr>
            <a:r>
              <a:rPr lang="en-GB" sz="1100"/>
              <a:t>            await page.getByRole('textbox', { name: 'Username' }).click();</a:t>
            </a:r>
          </a:p>
          <a:p>
            <a:pPr marL="139700" indent="0">
              <a:buNone/>
            </a:pPr>
            <a:r>
              <a:rPr lang="en-GB" sz="1100"/>
              <a:t>            await page.getByRole('textbox', { name: 'Username' }).fill('admin');    // correct user ID</a:t>
            </a:r>
          </a:p>
          <a:p>
            <a:pPr marL="139700" indent="0">
              <a:buNone/>
            </a:pPr>
            <a:r>
              <a:rPr lang="en-GB" sz="1100"/>
              <a:t>            await page.getByRole('textbox', { name: 'Username' }).press('Tab');</a:t>
            </a:r>
          </a:p>
          <a:p>
            <a:pPr marL="139700" indent="0">
              <a:buNone/>
            </a:pPr>
            <a:r>
              <a:rPr lang="en-GB" sz="1100"/>
              <a:t>            await page.locator('#password').fill('1234');                                         // correct password</a:t>
            </a:r>
          </a:p>
          <a:p>
            <a:pPr marL="139700" indent="0">
              <a:buNone/>
            </a:pPr>
            <a:r>
              <a:rPr lang="en-GB" sz="1100"/>
              <a:t>            await page.getByRole('button', { name: 'Login' }).click();</a:t>
            </a:r>
          </a:p>
          <a:p>
            <a:pPr marL="139700" indent="0">
              <a:buNone/>
            </a:pPr>
            <a:r>
              <a:rPr lang="en-GB" sz="1100"/>
              <a:t>            // await page.getByText('Welcome Admin!').click();    // to be removed manually</a:t>
            </a:r>
          </a:p>
          <a:p>
            <a:pPr marL="139700" indent="0">
              <a:buNone/>
            </a:pPr>
            <a:r>
              <a:rPr lang="en-SG"/>
              <a:t>            </a:t>
            </a:r>
            <a:r>
              <a:rPr lang="en-SG" b="1"/>
              <a:t>await expect(page.getByText('Welcome Admin!')).toBeVisible(); </a:t>
            </a:r>
            <a:r>
              <a:rPr lang="en-SG"/>
              <a:t>// manually inserted</a:t>
            </a:r>
            <a:endParaRPr lang="en-GB" sz="1100"/>
          </a:p>
          <a:p>
            <a:pPr marL="139700" indent="0">
              <a:buNone/>
            </a:pPr>
            <a:r>
              <a:rPr lang="en-GB" sz="1100"/>
              <a:t>});</a:t>
            </a:r>
            <a:endParaRPr lang="en-SG"/>
          </a:p>
        </p:txBody>
      </p:sp>
    </p:spTree>
    <p:extLst>
      <p:ext uri="{BB962C8B-B14F-4D97-AF65-F5344CB8AC3E}">
        <p14:creationId xmlns:p14="http://schemas.microsoft.com/office/powerpoint/2010/main" val="9097403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9E759-1FB8-ADB7-356E-2FFDC6D0D8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672571-825E-98E8-FD43-5E516DBF942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E8364A0-8E37-E4AD-86A3-1D0F05C35943}"/>
              </a:ext>
            </a:extLst>
          </p:cNvPr>
          <p:cNvSpPr>
            <a:spLocks noGrp="1"/>
          </p:cNvSpPr>
          <p:nvPr>
            <p:ph type="body" idx="1"/>
          </p:nvPr>
        </p:nvSpPr>
        <p:spPr/>
        <p:txBody>
          <a:bodyPr/>
          <a:lstStyle/>
          <a:p>
            <a:pPr marL="139700" indent="0">
              <a:buNone/>
            </a:pPr>
            <a:endParaRPr lang="en-SG"/>
          </a:p>
        </p:txBody>
      </p:sp>
    </p:spTree>
    <p:extLst>
      <p:ext uri="{BB962C8B-B14F-4D97-AF65-F5344CB8AC3E}">
        <p14:creationId xmlns:p14="http://schemas.microsoft.com/office/powerpoint/2010/main" val="828417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650F6-2437-4A00-6728-43E8B6EB0A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250E1B-C3CD-B6BF-26BF-4BA17AC3A16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F94F99C-4459-8183-3BF5-2D97C8B62CCA}"/>
              </a:ext>
            </a:extLst>
          </p:cNvPr>
          <p:cNvSpPr>
            <a:spLocks noGrp="1"/>
          </p:cNvSpPr>
          <p:nvPr>
            <p:ph type="body" idx="1"/>
          </p:nvPr>
        </p:nvSpPr>
        <p:spPr/>
        <p:txBody>
          <a:bodyPr/>
          <a:lstStyle/>
          <a:p>
            <a:pPr marL="139700" indent="0">
              <a:buNone/>
            </a:pPr>
            <a:endParaRPr lang="en-SG"/>
          </a:p>
        </p:txBody>
      </p:sp>
    </p:spTree>
    <p:extLst>
      <p:ext uri="{BB962C8B-B14F-4D97-AF65-F5344CB8AC3E}">
        <p14:creationId xmlns:p14="http://schemas.microsoft.com/office/powerpoint/2010/main" val="38791014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52E2A-0388-45AF-D7F3-758B62F14E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725F75-C3F6-4A50-AE4B-B2B165B7537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397BB56-6460-7B99-FC9B-993B9D687996}"/>
              </a:ext>
            </a:extLst>
          </p:cNvPr>
          <p:cNvSpPr>
            <a:spLocks noGrp="1"/>
          </p:cNvSpPr>
          <p:nvPr>
            <p:ph type="body" idx="1"/>
          </p:nvPr>
        </p:nvSpPr>
        <p:spPr/>
        <p:txBody>
          <a:bodyPr/>
          <a:lstStyle/>
          <a:p>
            <a:pPr marL="139700" indent="0">
              <a:buNone/>
            </a:pPr>
            <a:r>
              <a:rPr lang="en-SG"/>
              <a:t>// 2</a:t>
            </a:r>
            <a:r>
              <a:rPr lang="en-SG" baseline="30000"/>
              <a:t>nd</a:t>
            </a:r>
            <a:r>
              <a:rPr lang="en-SG"/>
              <a:t> test for failed login</a:t>
            </a:r>
          </a:p>
          <a:p>
            <a:pPr marL="139700" indent="0">
              <a:buNone/>
            </a:pPr>
            <a:r>
              <a:rPr lang="en-SG"/>
              <a:t> import { test, expect } from '@playwright/test';</a:t>
            </a:r>
          </a:p>
          <a:p>
            <a:pPr marL="139700" indent="0">
              <a:buNone/>
            </a:pPr>
            <a:r>
              <a:rPr lang="en-SG"/>
              <a:t> test('test', async ({ page }) =&gt; {</a:t>
            </a:r>
          </a:p>
          <a:p>
            <a:pPr marL="139700" indent="0">
              <a:buNone/>
            </a:pPr>
            <a:r>
              <a:rPr lang="en-SG"/>
              <a:t>          await page.goto('http://localhost:8080/');</a:t>
            </a:r>
          </a:p>
          <a:p>
            <a:pPr marL="139700" indent="0">
              <a:buNone/>
            </a:pPr>
            <a:r>
              <a:rPr lang="en-SG"/>
              <a:t>          await page.getByRole('textbox', { name: 'Username' }).click();</a:t>
            </a:r>
          </a:p>
          <a:p>
            <a:pPr marL="139700" indent="0">
              <a:buNone/>
            </a:pPr>
            <a:r>
              <a:rPr lang="en-SG"/>
              <a:t>          await page.getByRole('textbox', { name: 'Username' }).fill('admin');    // correct user ID</a:t>
            </a:r>
          </a:p>
          <a:p>
            <a:pPr marL="139700" indent="0">
              <a:buNone/>
            </a:pPr>
            <a:r>
              <a:rPr lang="en-SG"/>
              <a:t>          await page.getByRole('textbox', { name: 'Username' }).press('Tab');</a:t>
            </a:r>
          </a:p>
          <a:p>
            <a:pPr marL="139700" indent="0">
              <a:buNone/>
            </a:pPr>
            <a:r>
              <a:rPr lang="en-SG"/>
              <a:t>          await page.locator('#password').fill('abcd');                                         // wrong password</a:t>
            </a:r>
          </a:p>
          <a:p>
            <a:pPr marL="139700" indent="0">
              <a:buNone/>
            </a:pPr>
            <a:r>
              <a:rPr lang="en-SG"/>
              <a:t>          await page.getByRole('button', { name: 'Login' }).click();</a:t>
            </a:r>
          </a:p>
          <a:p>
            <a:pPr marL="139700" indent="0">
              <a:buNone/>
            </a:pPr>
            <a:r>
              <a:rPr lang="en-GB" sz="1100"/>
              <a:t>          // await page.getByText('</a:t>
            </a:r>
            <a:r>
              <a:rPr lang="en-SG"/>
              <a:t>Login Failed</a:t>
            </a:r>
            <a:r>
              <a:rPr lang="en-GB" sz="1100"/>
              <a:t>').click();    // to be removed manually</a:t>
            </a:r>
          </a:p>
          <a:p>
            <a:pPr marL="139700" indent="0">
              <a:buNone/>
            </a:pPr>
            <a:r>
              <a:rPr lang="en-SG"/>
              <a:t>          </a:t>
            </a:r>
            <a:r>
              <a:rPr lang="en-SG" b="1"/>
              <a:t>await expect(page.getByText('Login Failed')).toBeVisible(); </a:t>
            </a:r>
            <a:r>
              <a:rPr lang="en-SG"/>
              <a:t>// manually inserted</a:t>
            </a:r>
          </a:p>
          <a:p>
            <a:pPr marL="139700" indent="0">
              <a:buNone/>
            </a:pPr>
            <a:r>
              <a:rPr lang="en-SG"/>
              <a:t>});</a:t>
            </a:r>
          </a:p>
        </p:txBody>
      </p:sp>
    </p:spTree>
    <p:extLst>
      <p:ext uri="{BB962C8B-B14F-4D97-AF65-F5344CB8AC3E}">
        <p14:creationId xmlns:p14="http://schemas.microsoft.com/office/powerpoint/2010/main" val="18709529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2A14A-9F3C-E928-9D3D-4E585C858C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72FCBE-C1F8-63A2-61AD-AE03969E99B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54FCAAC-2997-11FD-A25B-4039FF0A4F56}"/>
              </a:ext>
            </a:extLst>
          </p:cNvPr>
          <p:cNvSpPr>
            <a:spLocks noGrp="1"/>
          </p:cNvSpPr>
          <p:nvPr>
            <p:ph type="body" idx="1"/>
          </p:nvPr>
        </p:nvSpPr>
        <p:spPr/>
        <p:txBody>
          <a:bodyPr/>
          <a:lstStyle/>
          <a:p>
            <a:pPr marL="139700" indent="0">
              <a:buNone/>
            </a:pPr>
            <a:r>
              <a:rPr lang="en-SG"/>
              <a:t>// 3rd test that should fail. Wrong login, but showing "Welcome Admin"</a:t>
            </a:r>
          </a:p>
          <a:p>
            <a:pPr marL="139700" indent="0">
              <a:buNone/>
            </a:pPr>
            <a:r>
              <a:rPr lang="en-GB" sz="1100"/>
              <a:t>import { test, expect } from '@playwright/test';</a:t>
            </a:r>
          </a:p>
          <a:p>
            <a:pPr marL="139700" indent="0">
              <a:buNone/>
            </a:pPr>
            <a:r>
              <a:rPr lang="en-GB" sz="1100"/>
              <a:t>test('test', async ({ page }) =&gt; {</a:t>
            </a:r>
          </a:p>
          <a:p>
            <a:pPr marL="139700" indent="0">
              <a:buNone/>
            </a:pPr>
            <a:r>
              <a:rPr lang="en-GB" sz="1100"/>
              <a:t>            await page.goto('http://127.0.0.1:8080/');</a:t>
            </a:r>
          </a:p>
          <a:p>
            <a:pPr marL="139700" indent="0">
              <a:buNone/>
            </a:pPr>
            <a:r>
              <a:rPr lang="en-GB" sz="1100"/>
              <a:t>            await page.getByRole('textbox', { name: 'Username' }).click();</a:t>
            </a:r>
          </a:p>
          <a:p>
            <a:pPr marL="139700" indent="0">
              <a:buNone/>
            </a:pPr>
            <a:r>
              <a:rPr lang="en-GB" sz="1100"/>
              <a:t>            await page.getByRole('textbox', { name: 'Username' }).fill('peter');   // wrong user ID</a:t>
            </a:r>
          </a:p>
          <a:p>
            <a:pPr marL="139700" indent="0">
              <a:buNone/>
            </a:pPr>
            <a:r>
              <a:rPr lang="en-GB" sz="1100"/>
              <a:t>            await page.getByRole('textbox', { name: 'Username' }).press('Tab');</a:t>
            </a:r>
          </a:p>
          <a:p>
            <a:pPr marL="139700" indent="0">
              <a:buNone/>
            </a:pPr>
            <a:r>
              <a:rPr lang="en-GB" sz="1100"/>
              <a:t>            await page.locator('#password').fill('1234');                                      // correct password</a:t>
            </a:r>
          </a:p>
          <a:p>
            <a:pPr marL="139700" indent="0">
              <a:buNone/>
            </a:pPr>
            <a:r>
              <a:rPr lang="en-GB" sz="1100"/>
              <a:t>            await page.getByRole('button', { name: 'Login' }).click();</a:t>
            </a:r>
          </a:p>
          <a:p>
            <a:pPr marL="139700" indent="0">
              <a:buNone/>
            </a:pPr>
            <a:r>
              <a:rPr lang="en-SG"/>
              <a:t>            await expect(page.getByText(</a:t>
            </a:r>
            <a:r>
              <a:rPr lang="en-SG" b="1"/>
              <a:t>'Welcome Admin!</a:t>
            </a:r>
            <a:r>
              <a:rPr lang="en-SG"/>
              <a:t>')).toBeVisible();      // this should fail</a:t>
            </a:r>
            <a:endParaRPr lang="en-GB" sz="1100"/>
          </a:p>
          <a:p>
            <a:pPr marL="139700" indent="0">
              <a:buNone/>
            </a:pPr>
            <a:r>
              <a:rPr lang="en-GB" sz="1100"/>
              <a:t>});</a:t>
            </a:r>
            <a:endParaRPr lang="en-SG"/>
          </a:p>
        </p:txBody>
      </p:sp>
    </p:spTree>
    <p:extLst>
      <p:ext uri="{BB962C8B-B14F-4D97-AF65-F5344CB8AC3E}">
        <p14:creationId xmlns:p14="http://schemas.microsoft.com/office/powerpoint/2010/main" val="15025995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a:p>
        </p:txBody>
      </p:sp>
    </p:spTree>
    <p:extLst>
      <p:ext uri="{BB962C8B-B14F-4D97-AF65-F5344CB8AC3E}">
        <p14:creationId xmlns:p14="http://schemas.microsoft.com/office/powerpoint/2010/main" val="1709902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53220-115F-5A1B-1A48-CC3CC284A9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AF86F-348C-4556-1129-571E5C7C97E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01E5E09-67FB-BB5A-DD4F-C75CD18BD8D8}"/>
              </a:ext>
            </a:extLst>
          </p:cNvPr>
          <p:cNvSpPr>
            <a:spLocks noGrp="1"/>
          </p:cNvSpPr>
          <p:nvPr>
            <p:ph type="body" idx="1"/>
          </p:nvPr>
        </p:nvSpPr>
        <p:spPr/>
        <p:txBody>
          <a:bodyPr/>
          <a:lstStyle/>
          <a:p>
            <a:endParaRPr lang="en-SG"/>
          </a:p>
        </p:txBody>
      </p:sp>
    </p:spTree>
    <p:extLst>
      <p:ext uri="{BB962C8B-B14F-4D97-AF65-F5344CB8AC3E}">
        <p14:creationId xmlns:p14="http://schemas.microsoft.com/office/powerpoint/2010/main" val="3009304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
        <p:cNvGrpSpPr/>
        <p:nvPr/>
      </p:nvGrpSpPr>
      <p:grpSpPr>
        <a:xfrm>
          <a:off x="0" y="0"/>
          <a:ext cx="0" cy="0"/>
          <a:chOff x="0" y="0"/>
          <a:chExt cx="0" cy="0"/>
        </a:xfrm>
      </p:grpSpPr>
      <p:sp>
        <p:nvSpPr>
          <p:cNvPr id="17" name="Google Shape;17;p6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18" name="Google Shape;18;p61"/>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9" name="Google Shape;19;p61"/>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0" name="Google Shape;20;p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33" name="Google Shape;33;p6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sp>
        <p:nvSpPr>
          <p:cNvPr id="35" name="Google Shape;35;p65"/>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6" name="Google Shape;36;p65"/>
          <p:cNvSpPr txBox="1">
            <a:spLocks noGrp="1"/>
          </p:cNvSpPr>
          <p:nvPr>
            <p:ph type="body" idx="1"/>
          </p:nvPr>
        </p:nvSpPr>
        <p:spPr>
          <a:xfrm>
            <a:off x="311700" y="1399400"/>
            <a:ext cx="2808000" cy="27849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7" name="Google Shape;37;p6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8"/>
        <p:cNvGrpSpPr/>
        <p:nvPr/>
      </p:nvGrpSpPr>
      <p:grpSpPr>
        <a:xfrm>
          <a:off x="0" y="0"/>
          <a:ext cx="0" cy="0"/>
          <a:chOff x="0" y="0"/>
          <a:chExt cx="0" cy="0"/>
        </a:xfrm>
      </p:grpSpPr>
      <p:sp>
        <p:nvSpPr>
          <p:cNvPr id="39" name="Google Shape;39;p66"/>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66"/>
          <p:cNvSpPr txBox="1">
            <a:spLocks noGrp="1"/>
          </p:cNvSpPr>
          <p:nvPr>
            <p:ph type="title"/>
          </p:nvPr>
        </p:nvSpPr>
        <p:spPr>
          <a:xfrm>
            <a:off x="490250" y="450150"/>
            <a:ext cx="5878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1" name="Google Shape;41;p6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67"/>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4" name="Google Shape;44;p67"/>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5" name="Google Shape;45;p67"/>
          <p:cNvSpPr txBox="1">
            <a:spLocks noGrp="1"/>
          </p:cNvSpPr>
          <p:nvPr>
            <p:ph type="title"/>
          </p:nvPr>
        </p:nvSpPr>
        <p:spPr>
          <a:xfrm>
            <a:off x="265500" y="929275"/>
            <a:ext cx="4045200" cy="1786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a:endParaRPr/>
          </a:p>
        </p:txBody>
      </p:sp>
      <p:sp>
        <p:nvSpPr>
          <p:cNvPr id="46" name="Google Shape;46;p67"/>
          <p:cNvSpPr txBox="1">
            <a:spLocks noGrp="1"/>
          </p:cNvSpPr>
          <p:nvPr>
            <p:ph type="subTitle" idx="1"/>
          </p:nvPr>
        </p:nvSpPr>
        <p:spPr>
          <a:xfrm>
            <a:off x="265500" y="2769001"/>
            <a:ext cx="4045200" cy="1574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Arial"/>
              <a:buNone/>
              <a:defRPr sz="2400">
                <a:latin typeface="Arial"/>
                <a:ea typeface="Arial"/>
                <a:cs typeface="Arial"/>
                <a:sym typeface="Arial"/>
              </a:defRPr>
            </a:lvl1pPr>
            <a:lvl2pPr lvl="1" algn="ctr">
              <a:lnSpc>
                <a:spcPct val="100000"/>
              </a:lnSpc>
              <a:spcBef>
                <a:spcPts val="0"/>
              </a:spcBef>
              <a:spcAft>
                <a:spcPts val="0"/>
              </a:spcAft>
              <a:buSzPts val="2400"/>
              <a:buFont typeface="Arial"/>
              <a:buNone/>
              <a:defRPr sz="2400">
                <a:latin typeface="Arial"/>
                <a:ea typeface="Arial"/>
                <a:cs typeface="Arial"/>
                <a:sym typeface="Arial"/>
              </a:defRPr>
            </a:lvl2pPr>
            <a:lvl3pPr lvl="2" algn="ctr">
              <a:lnSpc>
                <a:spcPct val="100000"/>
              </a:lnSpc>
              <a:spcBef>
                <a:spcPts val="0"/>
              </a:spcBef>
              <a:spcAft>
                <a:spcPts val="0"/>
              </a:spcAft>
              <a:buSzPts val="2400"/>
              <a:buFont typeface="Arial"/>
              <a:buNone/>
              <a:defRPr sz="2400">
                <a:latin typeface="Arial"/>
                <a:ea typeface="Arial"/>
                <a:cs typeface="Arial"/>
                <a:sym typeface="Arial"/>
              </a:defRPr>
            </a:lvl3pPr>
            <a:lvl4pPr lvl="3" algn="ctr">
              <a:lnSpc>
                <a:spcPct val="100000"/>
              </a:lnSpc>
              <a:spcBef>
                <a:spcPts val="0"/>
              </a:spcBef>
              <a:spcAft>
                <a:spcPts val="0"/>
              </a:spcAft>
              <a:buSzPts val="2400"/>
              <a:buFont typeface="Arial"/>
              <a:buNone/>
              <a:defRPr sz="2400">
                <a:latin typeface="Arial"/>
                <a:ea typeface="Arial"/>
                <a:cs typeface="Arial"/>
                <a:sym typeface="Arial"/>
              </a:defRPr>
            </a:lvl4pPr>
            <a:lvl5pPr lvl="4" algn="ctr">
              <a:lnSpc>
                <a:spcPct val="100000"/>
              </a:lnSpc>
              <a:spcBef>
                <a:spcPts val="0"/>
              </a:spcBef>
              <a:spcAft>
                <a:spcPts val="0"/>
              </a:spcAft>
              <a:buSzPts val="2400"/>
              <a:buFont typeface="Arial"/>
              <a:buNone/>
              <a:defRPr sz="2400">
                <a:latin typeface="Arial"/>
                <a:ea typeface="Arial"/>
                <a:cs typeface="Arial"/>
                <a:sym typeface="Arial"/>
              </a:defRPr>
            </a:lvl5pPr>
            <a:lvl6pPr lvl="5" algn="ctr">
              <a:lnSpc>
                <a:spcPct val="100000"/>
              </a:lnSpc>
              <a:spcBef>
                <a:spcPts val="0"/>
              </a:spcBef>
              <a:spcAft>
                <a:spcPts val="0"/>
              </a:spcAft>
              <a:buSzPts val="2400"/>
              <a:buFont typeface="Arial"/>
              <a:buNone/>
              <a:defRPr sz="2400">
                <a:latin typeface="Arial"/>
                <a:ea typeface="Arial"/>
                <a:cs typeface="Arial"/>
                <a:sym typeface="Arial"/>
              </a:defRPr>
            </a:lvl6pPr>
            <a:lvl7pPr lvl="6" algn="ctr">
              <a:lnSpc>
                <a:spcPct val="100000"/>
              </a:lnSpc>
              <a:spcBef>
                <a:spcPts val="0"/>
              </a:spcBef>
              <a:spcAft>
                <a:spcPts val="0"/>
              </a:spcAft>
              <a:buSzPts val="2400"/>
              <a:buFont typeface="Arial"/>
              <a:buNone/>
              <a:defRPr sz="2400">
                <a:latin typeface="Arial"/>
                <a:ea typeface="Arial"/>
                <a:cs typeface="Arial"/>
                <a:sym typeface="Arial"/>
              </a:defRPr>
            </a:lvl7pPr>
            <a:lvl8pPr lvl="7" algn="ctr">
              <a:lnSpc>
                <a:spcPct val="100000"/>
              </a:lnSpc>
              <a:spcBef>
                <a:spcPts val="0"/>
              </a:spcBef>
              <a:spcAft>
                <a:spcPts val="0"/>
              </a:spcAft>
              <a:buSzPts val="2400"/>
              <a:buFont typeface="Arial"/>
              <a:buNone/>
              <a:defRPr sz="2400">
                <a:latin typeface="Arial"/>
                <a:ea typeface="Arial"/>
                <a:cs typeface="Arial"/>
                <a:sym typeface="Arial"/>
              </a:defRPr>
            </a:lvl8pPr>
            <a:lvl9pPr lvl="8" algn="ctr">
              <a:lnSpc>
                <a:spcPct val="100000"/>
              </a:lnSpc>
              <a:spcBef>
                <a:spcPts val="0"/>
              </a:spcBef>
              <a:spcAft>
                <a:spcPts val="0"/>
              </a:spcAft>
              <a:buSzPts val="2400"/>
              <a:buFont typeface="Arial"/>
              <a:buNone/>
              <a:defRPr sz="2400">
                <a:latin typeface="Arial"/>
                <a:ea typeface="Arial"/>
                <a:cs typeface="Arial"/>
                <a:sym typeface="Arial"/>
              </a:defRPr>
            </a:lvl9pPr>
          </a:lstStyle>
          <a:p>
            <a:endParaRPr/>
          </a:p>
        </p:txBody>
      </p:sp>
      <p:sp>
        <p:nvSpPr>
          <p:cNvPr id="47" name="Google Shape;47;p67"/>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1600"/>
              </a:spcBef>
              <a:spcAft>
                <a:spcPts val="0"/>
              </a:spcAft>
              <a:buClr>
                <a:schemeClr val="lt1"/>
              </a:buClr>
              <a:buSzPts val="1400"/>
              <a:buChar char="○"/>
              <a:defRPr>
                <a:solidFill>
                  <a:schemeClr val="lt1"/>
                </a:solidFill>
              </a:defRPr>
            </a:lvl2pPr>
            <a:lvl3pPr marL="1371600" lvl="2" indent="-317500" algn="l">
              <a:lnSpc>
                <a:spcPct val="115000"/>
              </a:lnSpc>
              <a:spcBef>
                <a:spcPts val="1600"/>
              </a:spcBef>
              <a:spcAft>
                <a:spcPts val="0"/>
              </a:spcAft>
              <a:buClr>
                <a:schemeClr val="lt1"/>
              </a:buClr>
              <a:buSzPts val="1400"/>
              <a:buChar char="■"/>
              <a:defRPr>
                <a:solidFill>
                  <a:schemeClr val="lt1"/>
                </a:solidFill>
              </a:defRPr>
            </a:lvl3pPr>
            <a:lvl4pPr marL="1828800" lvl="3" indent="-317500" algn="l">
              <a:lnSpc>
                <a:spcPct val="115000"/>
              </a:lnSpc>
              <a:spcBef>
                <a:spcPts val="1600"/>
              </a:spcBef>
              <a:spcAft>
                <a:spcPts val="0"/>
              </a:spcAft>
              <a:buClr>
                <a:schemeClr val="lt1"/>
              </a:buClr>
              <a:buSzPts val="1400"/>
              <a:buChar char="●"/>
              <a:defRPr>
                <a:solidFill>
                  <a:schemeClr val="lt1"/>
                </a:solidFill>
              </a:defRPr>
            </a:lvl4pPr>
            <a:lvl5pPr marL="2286000" lvl="4" indent="-317500" algn="l">
              <a:lnSpc>
                <a:spcPct val="115000"/>
              </a:lnSpc>
              <a:spcBef>
                <a:spcPts val="1600"/>
              </a:spcBef>
              <a:spcAft>
                <a:spcPts val="0"/>
              </a:spcAft>
              <a:buClr>
                <a:schemeClr val="lt1"/>
              </a:buClr>
              <a:buSzPts val="1400"/>
              <a:buChar char="○"/>
              <a:defRPr>
                <a:solidFill>
                  <a:schemeClr val="lt1"/>
                </a:solidFill>
              </a:defRPr>
            </a:lvl5pPr>
            <a:lvl6pPr marL="2743200" lvl="5" indent="-317500" algn="l">
              <a:lnSpc>
                <a:spcPct val="115000"/>
              </a:lnSpc>
              <a:spcBef>
                <a:spcPts val="1600"/>
              </a:spcBef>
              <a:spcAft>
                <a:spcPts val="0"/>
              </a:spcAft>
              <a:buClr>
                <a:schemeClr val="lt1"/>
              </a:buClr>
              <a:buSzPts val="1400"/>
              <a:buChar char="■"/>
              <a:defRPr>
                <a:solidFill>
                  <a:schemeClr val="lt1"/>
                </a:solidFill>
              </a:defRPr>
            </a:lvl6pPr>
            <a:lvl7pPr marL="3200400" lvl="6" indent="-317500" algn="l">
              <a:lnSpc>
                <a:spcPct val="115000"/>
              </a:lnSpc>
              <a:spcBef>
                <a:spcPts val="1600"/>
              </a:spcBef>
              <a:spcAft>
                <a:spcPts val="0"/>
              </a:spcAft>
              <a:buClr>
                <a:schemeClr val="lt1"/>
              </a:buClr>
              <a:buSzPts val="1400"/>
              <a:buChar char="●"/>
              <a:defRPr>
                <a:solidFill>
                  <a:schemeClr val="lt1"/>
                </a:solidFill>
              </a:defRPr>
            </a:lvl7pPr>
            <a:lvl8pPr marL="3657600" lvl="7" indent="-317500" algn="l">
              <a:lnSpc>
                <a:spcPct val="115000"/>
              </a:lnSpc>
              <a:spcBef>
                <a:spcPts val="1600"/>
              </a:spcBef>
              <a:spcAft>
                <a:spcPts val="0"/>
              </a:spcAft>
              <a:buClr>
                <a:schemeClr val="lt1"/>
              </a:buClr>
              <a:buSzPts val="1400"/>
              <a:buChar char="○"/>
              <a:defRPr>
                <a:solidFill>
                  <a:schemeClr val="lt1"/>
                </a:solidFill>
              </a:defRPr>
            </a:lvl8pPr>
            <a:lvl9pPr marL="4114800" lvl="8" indent="-317500" algn="l">
              <a:lnSpc>
                <a:spcPct val="115000"/>
              </a:lnSpc>
              <a:spcBef>
                <a:spcPts val="1600"/>
              </a:spcBef>
              <a:spcAft>
                <a:spcPts val="1600"/>
              </a:spcAft>
              <a:buClr>
                <a:schemeClr val="lt1"/>
              </a:buClr>
              <a:buSzPts val="1400"/>
              <a:buChar char="■"/>
              <a:defRPr>
                <a:solidFill>
                  <a:schemeClr val="lt1"/>
                </a:solidFill>
              </a:defRPr>
            </a:lvl9pPr>
          </a:lstStyle>
          <a:p>
            <a:endParaRPr/>
          </a:p>
        </p:txBody>
      </p:sp>
      <p:sp>
        <p:nvSpPr>
          <p:cNvPr id="48" name="Google Shape;48;p6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68"/>
          <p:cNvSpPr txBox="1">
            <a:spLocks noGrp="1"/>
          </p:cNvSpPr>
          <p:nvPr>
            <p:ph type="body" idx="1"/>
          </p:nvPr>
        </p:nvSpPr>
        <p:spPr>
          <a:xfrm>
            <a:off x="319500" y="4218925"/>
            <a:ext cx="5998800" cy="5988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2400"/>
              <a:buFont typeface="Arial"/>
              <a:buNone/>
              <a:defRPr sz="2400">
                <a:latin typeface="Arial"/>
                <a:ea typeface="Arial"/>
                <a:cs typeface="Arial"/>
                <a:sym typeface="Arial"/>
              </a:defRPr>
            </a:lvl1pPr>
          </a:lstStyle>
          <a:p>
            <a:endParaRPr/>
          </a:p>
        </p:txBody>
      </p:sp>
      <p:sp>
        <p:nvSpPr>
          <p:cNvPr id="51" name="Google Shape;51;p6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69"/>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69"/>
          <p:cNvSpPr txBox="1">
            <a:spLocks noGrp="1"/>
          </p:cNvSpPr>
          <p:nvPr>
            <p:ph type="title" hasCustomPrompt="1"/>
          </p:nvPr>
        </p:nvSpPr>
        <p:spPr>
          <a:xfrm>
            <a:off x="311700" y="957125"/>
            <a:ext cx="8520600" cy="2128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2"/>
              </a:buClr>
              <a:buSzPts val="16000"/>
              <a:buNone/>
              <a:defRPr sz="16000">
                <a:solidFill>
                  <a:schemeClr val="lt2"/>
                </a:solidFill>
              </a:defRPr>
            </a:lvl1pPr>
            <a:lvl2pPr lvl="1" algn="ctr">
              <a:lnSpc>
                <a:spcPct val="100000"/>
              </a:lnSpc>
              <a:spcBef>
                <a:spcPts val="0"/>
              </a:spcBef>
              <a:spcAft>
                <a:spcPts val="0"/>
              </a:spcAft>
              <a:buClr>
                <a:schemeClr val="lt2"/>
              </a:buClr>
              <a:buSzPts val="16000"/>
              <a:buNone/>
              <a:defRPr sz="16000">
                <a:solidFill>
                  <a:schemeClr val="lt2"/>
                </a:solidFill>
              </a:defRPr>
            </a:lvl2pPr>
            <a:lvl3pPr lvl="2" algn="ctr">
              <a:lnSpc>
                <a:spcPct val="100000"/>
              </a:lnSpc>
              <a:spcBef>
                <a:spcPts val="0"/>
              </a:spcBef>
              <a:spcAft>
                <a:spcPts val="0"/>
              </a:spcAft>
              <a:buClr>
                <a:schemeClr val="lt2"/>
              </a:buClr>
              <a:buSzPts val="16000"/>
              <a:buNone/>
              <a:defRPr sz="16000">
                <a:solidFill>
                  <a:schemeClr val="lt2"/>
                </a:solidFill>
              </a:defRPr>
            </a:lvl3pPr>
            <a:lvl4pPr lvl="3" algn="ctr">
              <a:lnSpc>
                <a:spcPct val="100000"/>
              </a:lnSpc>
              <a:spcBef>
                <a:spcPts val="0"/>
              </a:spcBef>
              <a:spcAft>
                <a:spcPts val="0"/>
              </a:spcAft>
              <a:buClr>
                <a:schemeClr val="lt2"/>
              </a:buClr>
              <a:buSzPts val="16000"/>
              <a:buNone/>
              <a:defRPr sz="16000">
                <a:solidFill>
                  <a:schemeClr val="lt2"/>
                </a:solidFill>
              </a:defRPr>
            </a:lvl4pPr>
            <a:lvl5pPr lvl="4" algn="ctr">
              <a:lnSpc>
                <a:spcPct val="100000"/>
              </a:lnSpc>
              <a:spcBef>
                <a:spcPts val="0"/>
              </a:spcBef>
              <a:spcAft>
                <a:spcPts val="0"/>
              </a:spcAft>
              <a:buClr>
                <a:schemeClr val="lt2"/>
              </a:buClr>
              <a:buSzPts val="16000"/>
              <a:buNone/>
              <a:defRPr sz="16000">
                <a:solidFill>
                  <a:schemeClr val="lt2"/>
                </a:solidFill>
              </a:defRPr>
            </a:lvl5pPr>
            <a:lvl6pPr lvl="5" algn="ctr">
              <a:lnSpc>
                <a:spcPct val="100000"/>
              </a:lnSpc>
              <a:spcBef>
                <a:spcPts val="0"/>
              </a:spcBef>
              <a:spcAft>
                <a:spcPts val="0"/>
              </a:spcAft>
              <a:buClr>
                <a:schemeClr val="lt2"/>
              </a:buClr>
              <a:buSzPts val="16000"/>
              <a:buNone/>
              <a:defRPr sz="16000">
                <a:solidFill>
                  <a:schemeClr val="lt2"/>
                </a:solidFill>
              </a:defRPr>
            </a:lvl6pPr>
            <a:lvl7pPr lvl="6" algn="ctr">
              <a:lnSpc>
                <a:spcPct val="100000"/>
              </a:lnSpc>
              <a:spcBef>
                <a:spcPts val="0"/>
              </a:spcBef>
              <a:spcAft>
                <a:spcPts val="0"/>
              </a:spcAft>
              <a:buClr>
                <a:schemeClr val="lt2"/>
              </a:buClr>
              <a:buSzPts val="16000"/>
              <a:buNone/>
              <a:defRPr sz="16000">
                <a:solidFill>
                  <a:schemeClr val="lt2"/>
                </a:solidFill>
              </a:defRPr>
            </a:lvl7pPr>
            <a:lvl8pPr lvl="7" algn="ctr">
              <a:lnSpc>
                <a:spcPct val="100000"/>
              </a:lnSpc>
              <a:spcBef>
                <a:spcPts val="0"/>
              </a:spcBef>
              <a:spcAft>
                <a:spcPts val="0"/>
              </a:spcAft>
              <a:buClr>
                <a:schemeClr val="lt2"/>
              </a:buClr>
              <a:buSzPts val="16000"/>
              <a:buNone/>
              <a:defRPr sz="16000">
                <a:solidFill>
                  <a:schemeClr val="lt2"/>
                </a:solidFill>
              </a:defRPr>
            </a:lvl8pPr>
            <a:lvl9pPr lvl="8" algn="ctr">
              <a:lnSpc>
                <a:spcPct val="100000"/>
              </a:lnSpc>
              <a:spcBef>
                <a:spcPts val="0"/>
              </a:spcBef>
              <a:spcAft>
                <a:spcPts val="0"/>
              </a:spcAft>
              <a:buClr>
                <a:schemeClr val="lt2"/>
              </a:buClr>
              <a:buSzPts val="16000"/>
              <a:buNone/>
              <a:defRPr sz="16000">
                <a:solidFill>
                  <a:schemeClr val="lt2"/>
                </a:solidFill>
              </a:defRPr>
            </a:lvl9pPr>
          </a:lstStyle>
          <a:p>
            <a:r>
              <a:t>xx%</a:t>
            </a:r>
          </a:p>
        </p:txBody>
      </p:sp>
      <p:sp>
        <p:nvSpPr>
          <p:cNvPr id="55" name="Google Shape;55;p69"/>
          <p:cNvSpPr txBox="1">
            <a:spLocks noGrp="1"/>
          </p:cNvSpPr>
          <p:nvPr>
            <p:ph type="body" idx="1"/>
          </p:nvPr>
        </p:nvSpPr>
        <p:spPr>
          <a:xfrm>
            <a:off x="311700" y="3162000"/>
            <a:ext cx="8520600" cy="10716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56" name="Google Shape;56;p6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7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0"/>
        <p:cNvGrpSpPr/>
        <p:nvPr/>
      </p:nvGrpSpPr>
      <p:grpSpPr>
        <a:xfrm>
          <a:off x="0" y="0"/>
          <a:ext cx="0" cy="0"/>
          <a:chOff x="0" y="0"/>
          <a:chExt cx="0" cy="0"/>
        </a:xfrm>
      </p:grpSpPr>
      <p:sp>
        <p:nvSpPr>
          <p:cNvPr id="11" name="Google Shape;11;p60"/>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US"/>
          </a:p>
        </p:txBody>
      </p:sp>
      <p:sp>
        <p:nvSpPr>
          <p:cNvPr id="12" name="Google Shape;12;p60"/>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US"/>
          </a:p>
        </p:txBody>
      </p:sp>
      <p:sp>
        <p:nvSpPr>
          <p:cNvPr id="13" name="Google Shape;13;p60"/>
          <p:cNvSpPr txBox="1">
            <a:spLocks noGrp="1"/>
          </p:cNvSpPr>
          <p:nvPr>
            <p:ph type="ctrTitle"/>
          </p:nvPr>
        </p:nvSpPr>
        <p:spPr>
          <a:xfrm>
            <a:off x="3044699" y="1444255"/>
            <a:ext cx="3144065" cy="1537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14" name="Google Shape;14;p60"/>
          <p:cNvSpPr txBox="1">
            <a:spLocks noGrp="1"/>
          </p:cNvSpPr>
          <p:nvPr>
            <p:ph type="subTitle" idx="1"/>
          </p:nvPr>
        </p:nvSpPr>
        <p:spPr>
          <a:xfrm>
            <a:off x="3044700" y="3116580"/>
            <a:ext cx="3144064" cy="701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Arial"/>
              <a:buNone/>
              <a:defRPr sz="2100">
                <a:latin typeface="Arial"/>
                <a:ea typeface="Arial"/>
                <a:cs typeface="Arial"/>
                <a:sym typeface="Arial"/>
              </a:defRPr>
            </a:lvl1pPr>
            <a:lvl2pPr lvl="1" algn="ctr">
              <a:lnSpc>
                <a:spcPct val="100000"/>
              </a:lnSpc>
              <a:spcBef>
                <a:spcPts val="0"/>
              </a:spcBef>
              <a:spcAft>
                <a:spcPts val="0"/>
              </a:spcAft>
              <a:buSzPts val="2100"/>
              <a:buFont typeface="Arial"/>
              <a:buNone/>
              <a:defRPr sz="2100">
                <a:latin typeface="Arial"/>
                <a:ea typeface="Arial"/>
                <a:cs typeface="Arial"/>
                <a:sym typeface="Arial"/>
              </a:defRPr>
            </a:lvl2pPr>
            <a:lvl3pPr lvl="2" algn="ctr">
              <a:lnSpc>
                <a:spcPct val="100000"/>
              </a:lnSpc>
              <a:spcBef>
                <a:spcPts val="0"/>
              </a:spcBef>
              <a:spcAft>
                <a:spcPts val="0"/>
              </a:spcAft>
              <a:buSzPts val="2100"/>
              <a:buFont typeface="Arial"/>
              <a:buNone/>
              <a:defRPr sz="2100">
                <a:latin typeface="Arial"/>
                <a:ea typeface="Arial"/>
                <a:cs typeface="Arial"/>
                <a:sym typeface="Arial"/>
              </a:defRPr>
            </a:lvl3pPr>
            <a:lvl4pPr lvl="3" algn="ctr">
              <a:lnSpc>
                <a:spcPct val="100000"/>
              </a:lnSpc>
              <a:spcBef>
                <a:spcPts val="0"/>
              </a:spcBef>
              <a:spcAft>
                <a:spcPts val="0"/>
              </a:spcAft>
              <a:buSzPts val="2100"/>
              <a:buFont typeface="Arial"/>
              <a:buNone/>
              <a:defRPr sz="2100">
                <a:latin typeface="Arial"/>
                <a:ea typeface="Arial"/>
                <a:cs typeface="Arial"/>
                <a:sym typeface="Arial"/>
              </a:defRPr>
            </a:lvl4pPr>
            <a:lvl5pPr lvl="4" algn="ctr">
              <a:lnSpc>
                <a:spcPct val="100000"/>
              </a:lnSpc>
              <a:spcBef>
                <a:spcPts val="0"/>
              </a:spcBef>
              <a:spcAft>
                <a:spcPts val="0"/>
              </a:spcAft>
              <a:buSzPts val="2100"/>
              <a:buFont typeface="Arial"/>
              <a:buNone/>
              <a:defRPr sz="2100">
                <a:latin typeface="Arial"/>
                <a:ea typeface="Arial"/>
                <a:cs typeface="Arial"/>
                <a:sym typeface="Arial"/>
              </a:defRPr>
            </a:lvl5pPr>
            <a:lvl6pPr lvl="5" algn="ctr">
              <a:lnSpc>
                <a:spcPct val="100000"/>
              </a:lnSpc>
              <a:spcBef>
                <a:spcPts val="0"/>
              </a:spcBef>
              <a:spcAft>
                <a:spcPts val="0"/>
              </a:spcAft>
              <a:buSzPts val="2100"/>
              <a:buFont typeface="Arial"/>
              <a:buNone/>
              <a:defRPr sz="2100">
                <a:latin typeface="Arial"/>
                <a:ea typeface="Arial"/>
                <a:cs typeface="Arial"/>
                <a:sym typeface="Arial"/>
              </a:defRPr>
            </a:lvl6pPr>
            <a:lvl7pPr lvl="6" algn="ctr">
              <a:lnSpc>
                <a:spcPct val="100000"/>
              </a:lnSpc>
              <a:spcBef>
                <a:spcPts val="0"/>
              </a:spcBef>
              <a:spcAft>
                <a:spcPts val="0"/>
              </a:spcAft>
              <a:buSzPts val="2100"/>
              <a:buFont typeface="Arial"/>
              <a:buNone/>
              <a:defRPr sz="2100">
                <a:latin typeface="Arial"/>
                <a:ea typeface="Arial"/>
                <a:cs typeface="Arial"/>
                <a:sym typeface="Arial"/>
              </a:defRPr>
            </a:lvl7pPr>
            <a:lvl8pPr lvl="7" algn="ctr">
              <a:lnSpc>
                <a:spcPct val="100000"/>
              </a:lnSpc>
              <a:spcBef>
                <a:spcPts val="0"/>
              </a:spcBef>
              <a:spcAft>
                <a:spcPts val="0"/>
              </a:spcAft>
              <a:buSzPts val="2100"/>
              <a:buFont typeface="Arial"/>
              <a:buNone/>
              <a:defRPr sz="2100">
                <a:latin typeface="Arial"/>
                <a:ea typeface="Arial"/>
                <a:cs typeface="Arial"/>
                <a:sym typeface="Arial"/>
              </a:defRPr>
            </a:lvl8pPr>
            <a:lvl9pPr lvl="8" algn="ctr">
              <a:lnSpc>
                <a:spcPct val="100000"/>
              </a:lnSpc>
              <a:spcBef>
                <a:spcPts val="0"/>
              </a:spcBef>
              <a:spcAft>
                <a:spcPts val="0"/>
              </a:spcAft>
              <a:buSzPts val="2100"/>
              <a:buFont typeface="Arial"/>
              <a:buNone/>
              <a:defRPr sz="2100">
                <a:latin typeface="Arial"/>
                <a:ea typeface="Arial"/>
                <a:cs typeface="Arial"/>
                <a:sym typeface="Arial"/>
              </a:defRPr>
            </a:lvl9pPr>
          </a:lstStyle>
          <a:p>
            <a:endParaRPr/>
          </a:p>
        </p:txBody>
      </p:sp>
      <p:sp>
        <p:nvSpPr>
          <p:cNvPr id="15" name="Google Shape;15;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075197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5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9pPr>
          </a:lstStyle>
          <a:p>
            <a:endParaRPr/>
          </a:p>
        </p:txBody>
      </p:sp>
      <p:sp>
        <p:nvSpPr>
          <p:cNvPr id="7" name="Google Shape;7;p59"/>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1pPr>
            <a:lvl2pPr marL="914400" marR="0" lvl="1"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Google Shape;8;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hyperlink" Target="https://playwright.dev/"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
          <p:cNvSpPr txBox="1">
            <a:spLocks noGrp="1"/>
          </p:cNvSpPr>
          <p:nvPr>
            <p:ph type="ctrTitle"/>
          </p:nvPr>
        </p:nvSpPr>
        <p:spPr>
          <a:xfrm>
            <a:off x="2964232" y="880984"/>
            <a:ext cx="3651375" cy="1537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200"/>
              <a:buNone/>
            </a:pPr>
            <a:r>
              <a:rPr lang="en" sz="3600"/>
              <a:t>Web Application Development II</a:t>
            </a:r>
            <a:endParaRPr sz="3600"/>
          </a:p>
        </p:txBody>
      </p:sp>
      <p:sp>
        <p:nvSpPr>
          <p:cNvPr id="64" name="Google Shape;64;p1"/>
          <p:cNvSpPr txBox="1">
            <a:spLocks noGrp="1"/>
          </p:cNvSpPr>
          <p:nvPr>
            <p:ph type="subTitle" idx="1"/>
          </p:nvPr>
        </p:nvSpPr>
        <p:spPr>
          <a:xfrm>
            <a:off x="3052015" y="2725317"/>
            <a:ext cx="3304894" cy="701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100"/>
              <a:buNone/>
            </a:pPr>
            <a:r>
              <a:rPr lang="en"/>
              <a:t>Week 10: Testing</a:t>
            </a:r>
          </a:p>
          <a:p>
            <a:pPr marL="0" lvl="0" indent="0" algn="ctr" rtl="0">
              <a:lnSpc>
                <a:spcPct val="100000"/>
              </a:lnSpc>
              <a:spcBef>
                <a:spcPts val="0"/>
              </a:spcBef>
              <a:spcAft>
                <a:spcPts val="0"/>
              </a:spcAft>
              <a:buSzPts val="2100"/>
              <a:buNone/>
            </a:pPr>
            <a:endParaRPr lang="en"/>
          </a:p>
          <a:p>
            <a:pPr marL="0" lvl="0" indent="0" algn="ctr" rtl="0">
              <a:lnSpc>
                <a:spcPct val="100000"/>
              </a:lnSpc>
              <a:spcBef>
                <a:spcPts val="0"/>
              </a:spcBef>
              <a:spcAft>
                <a:spcPts val="0"/>
              </a:spcAft>
              <a:buSzPts val="2100"/>
              <a:buNone/>
            </a:pPr>
            <a:r>
              <a:rPr lang="en" sz="1400"/>
              <a:t>10c: </a:t>
            </a:r>
            <a:r>
              <a:rPr lang="en-US" sz="1400"/>
              <a:t>End-to-End Testing using Playwright</a:t>
            </a:r>
            <a:endParaRPr sz="1400"/>
          </a:p>
          <a:p>
            <a:pPr marL="0" lvl="0" indent="0" algn="ctr" rtl="0">
              <a:lnSpc>
                <a:spcPct val="100000"/>
              </a:lnSpc>
              <a:spcBef>
                <a:spcPts val="0"/>
              </a:spcBef>
              <a:spcAft>
                <a:spcPts val="0"/>
              </a:spcAft>
              <a:buSzPts val="21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Agenda</a:t>
            </a:r>
            <a:endParaRPr/>
          </a:p>
        </p:txBody>
      </p:sp>
      <p:sp>
        <p:nvSpPr>
          <p:cNvPr id="75" name="Google Shape;75;p15"/>
          <p:cNvSpPr txBox="1">
            <a:spLocks noGrp="1"/>
          </p:cNvSpPr>
          <p:nvPr>
            <p:ph type="body" idx="1"/>
          </p:nvPr>
        </p:nvSpPr>
        <p:spPr>
          <a:xfrm>
            <a:off x="311700" y="1225225"/>
            <a:ext cx="3999900" cy="1384721"/>
          </a:xfrm>
          <a:prstGeom prst="rect">
            <a:avLst/>
          </a:prstGeom>
        </p:spPr>
        <p:txBody>
          <a:bodyPr spcFirstLastPara="1" wrap="square" lIns="91425" tIns="91425" rIns="91425" bIns="91425" anchor="t" anchorCtr="0">
            <a:noAutofit/>
          </a:bodyPr>
          <a:lstStyle/>
          <a:p>
            <a:pPr marL="482600" indent="-342900">
              <a:buFont typeface="+mj-lt"/>
              <a:buAutoNum type="arabicPeriod"/>
            </a:pPr>
            <a:r>
              <a:rPr lang="en-US">
                <a:solidFill>
                  <a:schemeClr val="tx1"/>
                </a:solidFill>
              </a:rPr>
              <a:t>Definitions and Concepts</a:t>
            </a:r>
          </a:p>
          <a:p>
            <a:pPr marL="482600" indent="-342900">
              <a:buFont typeface="+mj-lt"/>
              <a:buAutoNum type="arabicPeriod"/>
            </a:pPr>
            <a:r>
              <a:rPr lang="en-US">
                <a:solidFill>
                  <a:schemeClr val="tx1"/>
                </a:solidFill>
              </a:rPr>
              <a:t>Unit Testing: Functions</a:t>
            </a:r>
          </a:p>
          <a:p>
            <a:pPr marL="482600" indent="-342900">
              <a:buFont typeface="+mj-lt"/>
              <a:buAutoNum type="arabicPeriod"/>
            </a:pPr>
            <a:r>
              <a:rPr lang="en-US">
                <a:solidFill>
                  <a:schemeClr val="tx1"/>
                </a:solidFill>
              </a:rPr>
              <a:t>Component &amp; Integration Testing</a:t>
            </a:r>
          </a:p>
          <a:p>
            <a:pPr marL="482600" indent="-342900">
              <a:buFont typeface="+mj-lt"/>
              <a:buAutoNum type="arabicPeriod"/>
            </a:pPr>
            <a:r>
              <a:rPr lang="en-US" b="1">
                <a:solidFill>
                  <a:srgbClr val="0070C0"/>
                </a:solidFill>
              </a:rPr>
              <a:t>E2E Testing</a:t>
            </a:r>
            <a:endParaRPr lang="en" b="1" dirty="0">
              <a:solidFill>
                <a:srgbClr val="0070C0"/>
              </a:solidFill>
            </a:endParaRPr>
          </a:p>
          <a:p>
            <a:pPr marL="0" indent="0">
              <a:buNone/>
            </a:pPr>
            <a:endParaRPr lang="en" dirty="0"/>
          </a:p>
          <a:p>
            <a:pPr marL="0" indent="0">
              <a:buNone/>
            </a:pPr>
            <a:endParaRPr lang="en" dirty="0"/>
          </a:p>
          <a:p>
            <a:pPr marL="0" indent="0">
              <a:lnSpc>
                <a:spcPct val="114999"/>
              </a:lnSpc>
              <a:buNone/>
            </a:pPr>
            <a:endParaRPr lang="en" dirty="0"/>
          </a:p>
          <a:p>
            <a:pPr marL="0" indent="0">
              <a:lnSpc>
                <a:spcPct val="114999"/>
              </a:lnSpc>
              <a:spcBef>
                <a:spcPts val="1600"/>
              </a:spcBef>
              <a:buNone/>
            </a:pPr>
            <a:endParaRPr lang="en" dirty="0"/>
          </a:p>
          <a:p>
            <a:pPr marL="0" indent="0">
              <a:lnSpc>
                <a:spcPct val="114999"/>
              </a:lnSpc>
              <a:spcBef>
                <a:spcPts val="1600"/>
              </a:spcBef>
              <a:buNone/>
            </a:pPr>
            <a:endParaRPr lang="en" dirty="0"/>
          </a:p>
          <a:p>
            <a:pPr marL="0" lvl="0" indent="0" algn="l">
              <a:spcBef>
                <a:spcPts val="1600"/>
              </a:spcBef>
              <a:spcAft>
                <a:spcPts val="1600"/>
              </a:spcAft>
              <a:buNone/>
            </a:pPr>
            <a:endParaRPr lang="en-US" dirty="0"/>
          </a:p>
        </p:txBody>
      </p:sp>
      <p:sp>
        <p:nvSpPr>
          <p:cNvPr id="2" name="Google Shape;90;p17">
            <a:extLst>
              <a:ext uri="{FF2B5EF4-FFF2-40B4-BE49-F238E27FC236}">
                <a16:creationId xmlns:a16="http://schemas.microsoft.com/office/drawing/2014/main" id="{34A5EEB3-1421-3F27-09D2-D5341B5B98BE}"/>
              </a:ext>
            </a:extLst>
          </p:cNvPr>
          <p:cNvSpPr txBox="1">
            <a:spLocks noGrp="1"/>
          </p:cNvSpPr>
          <p:nvPr>
            <p:ph type="body" idx="2"/>
          </p:nvPr>
        </p:nvSpPr>
        <p:spPr>
          <a:xfrm>
            <a:off x="4311600" y="856211"/>
            <a:ext cx="4473992" cy="397136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Learning Outcomes</a:t>
            </a:r>
            <a:endParaRPr lang="en-SG" b="1" dirty="0"/>
          </a:p>
          <a:p>
            <a:pPr marL="0" lvl="0" indent="0" algn="l" rtl="0">
              <a:spcBef>
                <a:spcPts val="0"/>
              </a:spcBef>
              <a:spcAft>
                <a:spcPts val="0"/>
              </a:spcAft>
              <a:buNone/>
            </a:pPr>
            <a:endParaRPr lang="en-SG" b="1" dirty="0"/>
          </a:p>
          <a:p>
            <a:pPr marL="0" indent="0">
              <a:buNone/>
            </a:pPr>
            <a:r>
              <a:rPr lang="en-SG" dirty="0"/>
              <a:t>By the end of this lesson, </a:t>
            </a:r>
            <a:r>
              <a:rPr lang="en-SG"/>
              <a:t>you will learn that:</a:t>
            </a:r>
            <a:endParaRPr lang="en-SG" dirty="0"/>
          </a:p>
          <a:p>
            <a:pPr>
              <a:buFont typeface="Arial" panose="020B0604020202020204" pitchFamily="34" charset="0"/>
              <a:buChar char="•"/>
            </a:pPr>
            <a:r>
              <a:rPr lang="en-SG"/>
              <a:t>E2E testing verifies that an entire application works correctly from the user's perspective by testing complete workflows across all integrated components</a:t>
            </a:r>
          </a:p>
          <a:p>
            <a:pPr>
              <a:buFont typeface="Arial" panose="020B0604020202020204" pitchFamily="34" charset="0"/>
              <a:buChar char="•"/>
            </a:pPr>
            <a:r>
              <a:rPr lang="en-SG"/>
              <a:t>Commonly-used modern E2E testing tools include PlayWright, Cypress, Selenium &amp; Puppeteer</a:t>
            </a:r>
          </a:p>
          <a:p>
            <a:pPr marL="0" lvl="0" indent="0" algn="l" rtl="0">
              <a:spcBef>
                <a:spcPts val="0"/>
              </a:spcBef>
              <a:spcAft>
                <a:spcPts val="0"/>
              </a:spcAft>
              <a:buNone/>
            </a:pPr>
            <a:endParaRPr lang="en" b="1"/>
          </a:p>
          <a:p>
            <a:pPr marL="0" indent="0">
              <a:buNone/>
            </a:pPr>
            <a:r>
              <a:rPr lang="en-SG"/>
              <a:t>You can write &amp; run an E2E test using Playwright</a:t>
            </a:r>
          </a:p>
          <a:p>
            <a:pPr marL="0" lvl="0" indent="0">
              <a:buNone/>
            </a:pPr>
            <a:endParaRPr lang="en"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F4B97-293C-4C3B-6065-D5E4546DED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90A5113-6393-ABFC-0A84-92AA8021F10F}"/>
              </a:ext>
            </a:extLst>
          </p:cNvPr>
          <p:cNvSpPr>
            <a:spLocks noGrp="1"/>
          </p:cNvSpPr>
          <p:nvPr>
            <p:ph type="title"/>
          </p:nvPr>
        </p:nvSpPr>
        <p:spPr>
          <a:xfrm>
            <a:off x="84721" y="0"/>
            <a:ext cx="8520600" cy="629055"/>
          </a:xfrm>
        </p:spPr>
        <p:txBody>
          <a:bodyPr/>
          <a:lstStyle/>
          <a:p>
            <a:r>
              <a:rPr lang="en-US" sz="2800"/>
              <a:t>Different Types of Tests</a:t>
            </a:r>
            <a:endParaRPr lang="en-US" sz="2800" dirty="0"/>
          </a:p>
        </p:txBody>
      </p:sp>
      <p:sp>
        <p:nvSpPr>
          <p:cNvPr id="4" name="Text Placeholder 3">
            <a:extLst>
              <a:ext uri="{FF2B5EF4-FFF2-40B4-BE49-F238E27FC236}">
                <a16:creationId xmlns:a16="http://schemas.microsoft.com/office/drawing/2014/main" id="{1155259D-7284-6646-83E9-37681D95153B}"/>
              </a:ext>
            </a:extLst>
          </p:cNvPr>
          <p:cNvSpPr>
            <a:spLocks noGrp="1"/>
          </p:cNvSpPr>
          <p:nvPr>
            <p:ph type="body" idx="1"/>
          </p:nvPr>
        </p:nvSpPr>
        <p:spPr>
          <a:xfrm>
            <a:off x="206802" y="673418"/>
            <a:ext cx="8520600" cy="669175"/>
          </a:xfrm>
        </p:spPr>
        <p:txBody>
          <a:bodyPr/>
          <a:lstStyle/>
          <a:p>
            <a:pPr marL="139700" indent="0">
              <a:buNone/>
            </a:pPr>
            <a:r>
              <a:rPr lang="en-SG" sz="1200" b="1">
                <a:solidFill>
                  <a:srgbClr val="0070C0"/>
                </a:solidFill>
              </a:rPr>
              <a:t>End-to-end (E2E) testing</a:t>
            </a:r>
            <a:r>
              <a:rPr lang="en-SG" sz="1200">
                <a:solidFill>
                  <a:srgbClr val="0070C0"/>
                </a:solidFill>
              </a:rPr>
              <a:t> </a:t>
            </a:r>
            <a:r>
              <a:rPr lang="en-SG" sz="1200"/>
              <a:t>verifies that an entire application works correctly from the user's perspective by testing complete workflows across all integrated components, services, &amp; systems in a production-like environment. </a:t>
            </a:r>
            <a:endParaRPr lang="en-US"/>
          </a:p>
          <a:p>
            <a:pPr marL="139700" indent="0">
              <a:buNone/>
            </a:pPr>
            <a:endParaRPr lang="en-US"/>
          </a:p>
          <a:p>
            <a:pPr marL="139700" indent="0">
              <a:buNone/>
            </a:pPr>
            <a:endParaRPr lang="en-US"/>
          </a:p>
          <a:p>
            <a:pPr marL="139700" indent="0">
              <a:buNone/>
            </a:pPr>
            <a:endParaRPr lang="en-US"/>
          </a:p>
          <a:p>
            <a:pPr marL="139700" indent="0">
              <a:buNone/>
            </a:pPr>
            <a:endParaRPr lang="en-US"/>
          </a:p>
          <a:p>
            <a:pPr marL="139700" indent="0">
              <a:buNone/>
            </a:pPr>
            <a:endParaRPr lang="en-US"/>
          </a:p>
          <a:p>
            <a:pPr marL="139700" indent="0">
              <a:buNone/>
            </a:pPr>
            <a:endParaRPr lang="en-US"/>
          </a:p>
          <a:p>
            <a:pPr marL="139700" indent="0">
              <a:buNone/>
            </a:pPr>
            <a:endParaRPr lang="en-US"/>
          </a:p>
          <a:p>
            <a:pPr marL="139700" indent="0">
              <a:buNone/>
            </a:pPr>
            <a:endParaRPr lang="en-US"/>
          </a:p>
          <a:p>
            <a:pPr marL="139700" indent="0">
              <a:buNone/>
            </a:pPr>
            <a:endParaRPr lang="en-US"/>
          </a:p>
          <a:p>
            <a:pPr marL="139700" indent="0">
              <a:buNone/>
            </a:pPr>
            <a:endParaRPr lang="en-US"/>
          </a:p>
        </p:txBody>
      </p:sp>
      <p:graphicFrame>
        <p:nvGraphicFramePr>
          <p:cNvPr id="8" name="Table 7">
            <a:extLst>
              <a:ext uri="{FF2B5EF4-FFF2-40B4-BE49-F238E27FC236}">
                <a16:creationId xmlns:a16="http://schemas.microsoft.com/office/drawing/2014/main" id="{9694C72A-F64A-AE38-5320-3BC86F18742F}"/>
              </a:ext>
            </a:extLst>
          </p:cNvPr>
          <p:cNvGraphicFramePr>
            <a:graphicFrameLocks noGrp="1"/>
          </p:cNvGraphicFramePr>
          <p:nvPr>
            <p:extLst>
              <p:ext uri="{D42A27DB-BD31-4B8C-83A1-F6EECF244321}">
                <p14:modId xmlns:p14="http://schemas.microsoft.com/office/powerpoint/2010/main" val="3945865054"/>
              </p:ext>
            </p:extLst>
          </p:nvPr>
        </p:nvGraphicFramePr>
        <p:xfrm>
          <a:off x="903521" y="1342593"/>
          <a:ext cx="7336958" cy="2466833"/>
        </p:xfrm>
        <a:graphic>
          <a:graphicData uri="http://schemas.openxmlformats.org/drawingml/2006/table">
            <a:tbl>
              <a:tblPr>
                <a:tableStyleId>{775D735A-9BCC-4A0A-8336-7D16119737FB}</a:tableStyleId>
              </a:tblPr>
              <a:tblGrid>
                <a:gridCol w="1683068">
                  <a:extLst>
                    <a:ext uri="{9D8B030D-6E8A-4147-A177-3AD203B41FA5}">
                      <a16:colId xmlns:a16="http://schemas.microsoft.com/office/drawing/2014/main" val="701099666"/>
                    </a:ext>
                  </a:extLst>
                </a:gridCol>
                <a:gridCol w="1980912">
                  <a:extLst>
                    <a:ext uri="{9D8B030D-6E8A-4147-A177-3AD203B41FA5}">
                      <a16:colId xmlns:a16="http://schemas.microsoft.com/office/drawing/2014/main" val="923549860"/>
                    </a:ext>
                  </a:extLst>
                </a:gridCol>
                <a:gridCol w="1874878">
                  <a:extLst>
                    <a:ext uri="{9D8B030D-6E8A-4147-A177-3AD203B41FA5}">
                      <a16:colId xmlns:a16="http://schemas.microsoft.com/office/drawing/2014/main" val="1422199311"/>
                    </a:ext>
                  </a:extLst>
                </a:gridCol>
                <a:gridCol w="1798100">
                  <a:extLst>
                    <a:ext uri="{9D8B030D-6E8A-4147-A177-3AD203B41FA5}">
                      <a16:colId xmlns:a16="http://schemas.microsoft.com/office/drawing/2014/main" val="3548501995"/>
                    </a:ext>
                  </a:extLst>
                </a:gridCol>
              </a:tblGrid>
              <a:tr h="359096">
                <a:tc>
                  <a:txBody>
                    <a:bodyPr/>
                    <a:lstStyle/>
                    <a:p>
                      <a:pPr algn="l" fontAlgn="b">
                        <a:buNone/>
                      </a:pPr>
                      <a:r>
                        <a:rPr lang="en-SG" sz="1100" u="none" strike="noStrike">
                          <a:effectLst/>
                        </a:rPr>
                        <a:t>Test Type</a:t>
                      </a:r>
                      <a:endParaRPr lang="en-SG" sz="1100" b="0" i="0" u="none" strike="noStrike">
                        <a:solidFill>
                          <a:srgbClr val="000000"/>
                        </a:solidFill>
                        <a:effectLst/>
                        <a:latin typeface="Aptos Narrow" panose="020B0004020202020204" pitchFamily="34" charset="0"/>
                      </a:endParaRPr>
                    </a:p>
                  </a:txBody>
                  <a:tcPr marT="91440" marB="91440" anchor="b"/>
                </a:tc>
                <a:tc>
                  <a:txBody>
                    <a:bodyPr/>
                    <a:lstStyle/>
                    <a:p>
                      <a:pPr algn="l" fontAlgn="b">
                        <a:buNone/>
                      </a:pPr>
                      <a:r>
                        <a:rPr lang="en-SG" sz="1100" u="none" strike="noStrike">
                          <a:effectLst/>
                        </a:rPr>
                        <a:t>What is Tested?</a:t>
                      </a:r>
                      <a:endParaRPr lang="en-SG" sz="1100" b="0" i="0" u="none" strike="noStrike">
                        <a:solidFill>
                          <a:srgbClr val="000000"/>
                        </a:solidFill>
                        <a:effectLst/>
                        <a:latin typeface="Aptos Narrow" panose="020B0004020202020204" pitchFamily="34" charset="0"/>
                      </a:endParaRPr>
                    </a:p>
                  </a:txBody>
                  <a:tcPr marT="91440" marB="91440" anchor="b"/>
                </a:tc>
                <a:tc>
                  <a:txBody>
                    <a:bodyPr/>
                    <a:lstStyle/>
                    <a:p>
                      <a:pPr algn="l" fontAlgn="b">
                        <a:buNone/>
                      </a:pPr>
                      <a:r>
                        <a:rPr lang="en-SG" sz="1100" u="none" strike="noStrike">
                          <a:effectLst/>
                        </a:rPr>
                        <a:t>Components Involved</a:t>
                      </a:r>
                      <a:endParaRPr lang="en-SG" sz="1100" b="0" i="0" u="none" strike="noStrike">
                        <a:solidFill>
                          <a:srgbClr val="000000"/>
                        </a:solidFill>
                        <a:effectLst/>
                        <a:latin typeface="Aptos Narrow" panose="020B0004020202020204" pitchFamily="34" charset="0"/>
                      </a:endParaRPr>
                    </a:p>
                  </a:txBody>
                  <a:tcPr marT="91440" marB="91440" anchor="b"/>
                </a:tc>
                <a:tc>
                  <a:txBody>
                    <a:bodyPr/>
                    <a:lstStyle/>
                    <a:p>
                      <a:pPr algn="l" fontAlgn="b">
                        <a:buNone/>
                      </a:pPr>
                      <a:r>
                        <a:rPr lang="en-SG" sz="1100" u="none" strike="noStrike">
                          <a:effectLst/>
                        </a:rPr>
                        <a:t>Goal</a:t>
                      </a:r>
                      <a:endParaRPr lang="en-SG" sz="1100" b="0" i="0" u="none" strike="noStrike">
                        <a:solidFill>
                          <a:srgbClr val="000000"/>
                        </a:solidFill>
                        <a:effectLst/>
                        <a:latin typeface="Aptos Narrow" panose="020B0004020202020204" pitchFamily="34" charset="0"/>
                      </a:endParaRPr>
                    </a:p>
                  </a:txBody>
                  <a:tcPr marT="91440" marB="91440" anchor="b"/>
                </a:tc>
                <a:extLst>
                  <a:ext uri="{0D108BD9-81ED-4DB2-BD59-A6C34878D82A}">
                    <a16:rowId xmlns:a16="http://schemas.microsoft.com/office/drawing/2014/main" val="4182278927"/>
                  </a:ext>
                </a:extLst>
              </a:tr>
              <a:tr h="702579">
                <a:tc>
                  <a:txBody>
                    <a:bodyPr/>
                    <a:lstStyle/>
                    <a:p>
                      <a:pPr algn="l" fontAlgn="ctr">
                        <a:buNone/>
                      </a:pPr>
                      <a:r>
                        <a:rPr lang="en-SG" sz="1100" b="1" u="none" strike="noStrike">
                          <a:effectLst/>
                        </a:rPr>
                        <a:t>Unit Test</a:t>
                      </a:r>
                      <a:endParaRPr lang="en-SG" sz="1100" b="1" i="0" u="none" strike="noStrike">
                        <a:solidFill>
                          <a:srgbClr val="000000"/>
                        </a:solidFill>
                        <a:effectLst/>
                        <a:latin typeface="Aptos Narrow" panose="020B0004020202020204" pitchFamily="34" charset="0"/>
                      </a:endParaRPr>
                    </a:p>
                  </a:txBody>
                  <a:tcPr marT="91440" marB="91440" anchor="ctr"/>
                </a:tc>
                <a:tc>
                  <a:txBody>
                    <a:bodyPr/>
                    <a:lstStyle/>
                    <a:p>
                      <a:pPr algn="l" fontAlgn="ctr">
                        <a:buNone/>
                      </a:pPr>
                      <a:r>
                        <a:rPr lang="en-SG" sz="1100" u="none" strike="noStrike">
                          <a:effectLst/>
                        </a:rPr>
                        <a:t>A single unit (e.g., a function, method, or class)</a:t>
                      </a:r>
                      <a:endParaRPr lang="en-SG" sz="1100" b="0" i="0" u="none" strike="noStrike">
                        <a:solidFill>
                          <a:srgbClr val="000000"/>
                        </a:solidFill>
                        <a:effectLst/>
                        <a:latin typeface="Aptos Narrow" panose="020B0004020202020204" pitchFamily="34" charset="0"/>
                      </a:endParaRPr>
                    </a:p>
                  </a:txBody>
                  <a:tcPr marT="91440" marB="91440" anchor="ctr"/>
                </a:tc>
                <a:tc>
                  <a:txBody>
                    <a:bodyPr/>
                    <a:lstStyle/>
                    <a:p>
                      <a:pPr algn="l" fontAlgn="ctr">
                        <a:buNone/>
                      </a:pPr>
                      <a:r>
                        <a:rPr lang="en-SG" sz="1100" u="none" strike="noStrike">
                          <a:effectLst/>
                        </a:rPr>
                        <a:t>One component in isolation</a:t>
                      </a:r>
                      <a:endParaRPr lang="en-SG" sz="1100" b="0" i="0" u="none" strike="noStrike">
                        <a:solidFill>
                          <a:srgbClr val="000000"/>
                        </a:solidFill>
                        <a:effectLst/>
                        <a:latin typeface="Aptos Narrow" panose="020B0004020202020204" pitchFamily="34" charset="0"/>
                      </a:endParaRPr>
                    </a:p>
                  </a:txBody>
                  <a:tcPr marT="91440" marB="91440" anchor="ctr"/>
                </a:tc>
                <a:tc>
                  <a:txBody>
                    <a:bodyPr/>
                    <a:lstStyle/>
                    <a:p>
                      <a:pPr algn="l" fontAlgn="ctr">
                        <a:buNone/>
                      </a:pPr>
                      <a:r>
                        <a:rPr lang="en-SG" sz="1100" u="none" strike="noStrike">
                          <a:effectLst/>
                        </a:rPr>
                        <a:t>Verify that an individual unit works correctly.</a:t>
                      </a:r>
                      <a:endParaRPr lang="en-SG" sz="1100" b="0" i="0" u="none" strike="noStrike">
                        <a:solidFill>
                          <a:srgbClr val="000000"/>
                        </a:solidFill>
                        <a:effectLst/>
                        <a:latin typeface="Aptos Narrow" panose="020B0004020202020204" pitchFamily="34" charset="0"/>
                      </a:endParaRPr>
                    </a:p>
                  </a:txBody>
                  <a:tcPr marT="91440" marB="91440" anchor="ctr"/>
                </a:tc>
                <a:extLst>
                  <a:ext uri="{0D108BD9-81ED-4DB2-BD59-A6C34878D82A}">
                    <a16:rowId xmlns:a16="http://schemas.microsoft.com/office/drawing/2014/main" val="163843095"/>
                  </a:ext>
                </a:extLst>
              </a:tr>
              <a:tr h="702579">
                <a:tc>
                  <a:txBody>
                    <a:bodyPr/>
                    <a:lstStyle/>
                    <a:p>
                      <a:pPr algn="l" fontAlgn="ctr">
                        <a:buNone/>
                      </a:pPr>
                      <a:r>
                        <a:rPr lang="en-SG" sz="1100" b="1" u="none" strike="noStrike">
                          <a:effectLst/>
                        </a:rPr>
                        <a:t>Integration Test</a:t>
                      </a:r>
                      <a:endParaRPr lang="en-SG" sz="1100" b="1" i="0" u="none" strike="noStrike">
                        <a:solidFill>
                          <a:srgbClr val="000000"/>
                        </a:solidFill>
                        <a:effectLst/>
                        <a:latin typeface="Aptos Narrow" panose="020B0004020202020204" pitchFamily="34" charset="0"/>
                      </a:endParaRPr>
                    </a:p>
                  </a:txBody>
                  <a:tcPr marT="91440" marB="91440" anchor="ctr"/>
                </a:tc>
                <a:tc>
                  <a:txBody>
                    <a:bodyPr/>
                    <a:lstStyle/>
                    <a:p>
                      <a:pPr algn="l" fontAlgn="ctr">
                        <a:buNone/>
                      </a:pPr>
                      <a:r>
                        <a:rPr lang="en-SG" sz="1100" u="none" strike="noStrike">
                          <a:effectLst/>
                        </a:rPr>
                        <a:t>The interaction between multiple units or modules</a:t>
                      </a:r>
                      <a:endParaRPr lang="en-SG" sz="1100" b="0" i="0" u="none" strike="noStrike">
                        <a:solidFill>
                          <a:srgbClr val="000000"/>
                        </a:solidFill>
                        <a:effectLst/>
                        <a:latin typeface="Aptos Narrow" panose="020B0004020202020204" pitchFamily="34" charset="0"/>
                      </a:endParaRPr>
                    </a:p>
                  </a:txBody>
                  <a:tcPr marT="91440" marB="91440" anchor="ctr"/>
                </a:tc>
                <a:tc>
                  <a:txBody>
                    <a:bodyPr/>
                    <a:lstStyle/>
                    <a:p>
                      <a:pPr algn="l" fontAlgn="ctr">
                        <a:buNone/>
                      </a:pPr>
                      <a:r>
                        <a:rPr lang="en-SG" sz="1100" u="none" strike="noStrike">
                          <a:effectLst/>
                        </a:rPr>
                        <a:t>Two or more integrated components</a:t>
                      </a:r>
                      <a:endParaRPr lang="en-SG" sz="1100" b="0" i="0" u="none" strike="noStrike">
                        <a:solidFill>
                          <a:srgbClr val="000000"/>
                        </a:solidFill>
                        <a:effectLst/>
                        <a:latin typeface="Aptos Narrow" panose="020B0004020202020204" pitchFamily="34" charset="0"/>
                      </a:endParaRPr>
                    </a:p>
                  </a:txBody>
                  <a:tcPr marT="91440" marB="91440" anchor="ctr"/>
                </a:tc>
                <a:tc>
                  <a:txBody>
                    <a:bodyPr/>
                    <a:lstStyle/>
                    <a:p>
                      <a:pPr algn="l" fontAlgn="ctr">
                        <a:buNone/>
                      </a:pPr>
                      <a:r>
                        <a:rPr lang="en-SG" sz="1100" u="none" strike="noStrike">
                          <a:effectLst/>
                        </a:rPr>
                        <a:t>Verify that the components work correctly together.</a:t>
                      </a:r>
                      <a:endParaRPr lang="en-SG" sz="1100" b="0" i="0" u="none" strike="noStrike">
                        <a:solidFill>
                          <a:srgbClr val="000000"/>
                        </a:solidFill>
                        <a:effectLst/>
                        <a:latin typeface="Aptos Narrow" panose="020B0004020202020204" pitchFamily="34" charset="0"/>
                      </a:endParaRPr>
                    </a:p>
                  </a:txBody>
                  <a:tcPr marT="91440" marB="91440" anchor="ctr"/>
                </a:tc>
                <a:extLst>
                  <a:ext uri="{0D108BD9-81ED-4DB2-BD59-A6C34878D82A}">
                    <a16:rowId xmlns:a16="http://schemas.microsoft.com/office/drawing/2014/main" val="2920546947"/>
                  </a:ext>
                </a:extLst>
              </a:tr>
              <a:tr h="702579">
                <a:tc>
                  <a:txBody>
                    <a:bodyPr/>
                    <a:lstStyle/>
                    <a:p>
                      <a:pPr algn="l" fontAlgn="ctr">
                        <a:buNone/>
                      </a:pPr>
                      <a:r>
                        <a:rPr lang="en-SG" sz="1100" b="1" u="none" strike="noStrike">
                          <a:effectLst/>
                        </a:rPr>
                        <a:t>End-to-End (E2E) Test</a:t>
                      </a:r>
                      <a:endParaRPr lang="en-SG" sz="1100" b="1" i="0" u="none" strike="noStrike">
                        <a:solidFill>
                          <a:srgbClr val="000000"/>
                        </a:solidFill>
                        <a:effectLst/>
                        <a:latin typeface="Aptos Narrow" panose="020B0004020202020204" pitchFamily="34" charset="0"/>
                      </a:endParaRPr>
                    </a:p>
                  </a:txBody>
                  <a:tcPr marT="91440" marB="91440" anchor="ctr"/>
                </a:tc>
                <a:tc>
                  <a:txBody>
                    <a:bodyPr/>
                    <a:lstStyle/>
                    <a:p>
                      <a:pPr algn="l" fontAlgn="ctr">
                        <a:buNone/>
                      </a:pPr>
                      <a:r>
                        <a:rPr lang="en-SG" sz="1100" u="none" strike="noStrike">
                          <a:effectLst/>
                        </a:rPr>
                        <a:t>The complete system from the user's perspective</a:t>
                      </a:r>
                      <a:endParaRPr lang="en-SG" sz="1100" b="0" i="0" u="none" strike="noStrike">
                        <a:solidFill>
                          <a:srgbClr val="000000"/>
                        </a:solidFill>
                        <a:effectLst/>
                        <a:latin typeface="Aptos Narrow" panose="020B0004020202020204" pitchFamily="34" charset="0"/>
                      </a:endParaRPr>
                    </a:p>
                  </a:txBody>
                  <a:tcPr marT="91440" marB="91440" anchor="ctr"/>
                </a:tc>
                <a:tc>
                  <a:txBody>
                    <a:bodyPr/>
                    <a:lstStyle/>
                    <a:p>
                      <a:pPr algn="l" fontAlgn="ctr">
                        <a:buNone/>
                      </a:pPr>
                      <a:r>
                        <a:rPr lang="en-SG" sz="1100" u="none" strike="noStrike">
                          <a:effectLst/>
                        </a:rPr>
                        <a:t>Entire application, including databases, APIs, and UI</a:t>
                      </a:r>
                      <a:endParaRPr lang="en-SG" sz="1100" b="0" i="0" u="none" strike="noStrike">
                        <a:solidFill>
                          <a:srgbClr val="000000"/>
                        </a:solidFill>
                        <a:effectLst/>
                        <a:latin typeface="Aptos Narrow" panose="020B0004020202020204" pitchFamily="34" charset="0"/>
                      </a:endParaRPr>
                    </a:p>
                  </a:txBody>
                  <a:tcPr marT="91440" marB="91440" anchor="ctr"/>
                </a:tc>
                <a:tc>
                  <a:txBody>
                    <a:bodyPr/>
                    <a:lstStyle/>
                    <a:p>
                      <a:pPr algn="l" fontAlgn="ctr">
                        <a:buNone/>
                      </a:pPr>
                      <a:r>
                        <a:rPr lang="en-SG" sz="1100" u="none" strike="noStrike">
                          <a:effectLst/>
                        </a:rPr>
                        <a:t>Verify that complete user workflows function correctly.</a:t>
                      </a:r>
                      <a:endParaRPr lang="en-SG" sz="1100" b="0" i="0" u="none" strike="noStrike">
                        <a:solidFill>
                          <a:srgbClr val="000000"/>
                        </a:solidFill>
                        <a:effectLst/>
                        <a:latin typeface="Aptos Narrow" panose="020B0004020202020204" pitchFamily="34" charset="0"/>
                      </a:endParaRPr>
                    </a:p>
                  </a:txBody>
                  <a:tcPr marT="91440" marB="91440" anchor="ctr"/>
                </a:tc>
                <a:extLst>
                  <a:ext uri="{0D108BD9-81ED-4DB2-BD59-A6C34878D82A}">
                    <a16:rowId xmlns:a16="http://schemas.microsoft.com/office/drawing/2014/main" val="565354910"/>
                  </a:ext>
                </a:extLst>
              </a:tr>
            </a:tbl>
          </a:graphicData>
        </a:graphic>
      </p:graphicFrame>
      <p:sp>
        <p:nvSpPr>
          <p:cNvPr id="2" name="Rectangle 1">
            <a:extLst>
              <a:ext uri="{FF2B5EF4-FFF2-40B4-BE49-F238E27FC236}">
                <a16:creationId xmlns:a16="http://schemas.microsoft.com/office/drawing/2014/main" id="{2E3F2D82-5836-46E9-15C8-4EB1DEC5B21B}"/>
              </a:ext>
            </a:extLst>
          </p:cNvPr>
          <p:cNvSpPr/>
          <p:nvPr/>
        </p:nvSpPr>
        <p:spPr>
          <a:xfrm>
            <a:off x="903520" y="3094326"/>
            <a:ext cx="7336959" cy="715100"/>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 name="TextBox 5">
            <a:extLst>
              <a:ext uri="{FF2B5EF4-FFF2-40B4-BE49-F238E27FC236}">
                <a16:creationId xmlns:a16="http://schemas.microsoft.com/office/drawing/2014/main" id="{EBEAD6C9-00A4-6946-FB4E-5024B9801EC6}"/>
              </a:ext>
            </a:extLst>
          </p:cNvPr>
          <p:cNvSpPr txBox="1"/>
          <p:nvPr/>
        </p:nvSpPr>
        <p:spPr>
          <a:xfrm>
            <a:off x="300038" y="4024313"/>
            <a:ext cx="8629650" cy="1039475"/>
          </a:xfrm>
          <a:prstGeom prst="rect">
            <a:avLst/>
          </a:prstGeom>
          <a:noFill/>
        </p:spPr>
        <p:txBody>
          <a:bodyPr wrap="square">
            <a:spAutoFit/>
          </a:bodyPr>
          <a:lstStyle/>
          <a:p>
            <a:pPr marL="139700" indent="0">
              <a:buNone/>
            </a:pPr>
            <a:r>
              <a:rPr lang="en-SG" sz="1200" dirty="0"/>
              <a:t>E2E testing verifies that </a:t>
            </a:r>
            <a:r>
              <a:rPr lang="en-SG" sz="1200" dirty="0">
                <a:highlight>
                  <a:srgbClr val="FFFF00"/>
                </a:highlight>
              </a:rPr>
              <a:t>an entire app works correctly from the </a:t>
            </a:r>
            <a:r>
              <a:rPr lang="en-SG" sz="1200" b="1" dirty="0">
                <a:highlight>
                  <a:srgbClr val="FFFF00"/>
                </a:highlight>
              </a:rPr>
              <a:t>user's perspective</a:t>
            </a:r>
            <a:r>
              <a:rPr lang="en-SG" sz="1200" dirty="0"/>
              <a:t>, ensuring that all components (frontend, backend, database, APIs, etc.) work together as expected:</a:t>
            </a:r>
          </a:p>
          <a:p>
            <a:pPr marL="425450" indent="-285750">
              <a:buFont typeface="Arial" panose="020B0604020202020204" pitchFamily="34" charset="0"/>
              <a:buChar char="•"/>
            </a:pPr>
            <a:r>
              <a:rPr lang="en-SG" sz="1200" dirty="0"/>
              <a:t>Tests complete user workflows</a:t>
            </a:r>
          </a:p>
          <a:p>
            <a:pPr marL="425450" indent="-285750">
              <a:buFont typeface="Arial" panose="020B0604020202020204" pitchFamily="34" charset="0"/>
              <a:buChar char="•"/>
            </a:pPr>
            <a:r>
              <a:rPr lang="en-SG" sz="1200" dirty="0"/>
              <a:t>Simulates real user interactions</a:t>
            </a:r>
          </a:p>
          <a:p>
            <a:pPr marL="425450" indent="-285750">
              <a:buFont typeface="Arial" panose="020B0604020202020204" pitchFamily="34" charset="0"/>
              <a:buChar char="•"/>
            </a:pPr>
            <a:r>
              <a:rPr lang="en-SG" sz="1200" dirty="0"/>
              <a:t>Runs against the app as a whole</a:t>
            </a:r>
          </a:p>
        </p:txBody>
      </p:sp>
    </p:spTree>
    <p:extLst>
      <p:ext uri="{BB962C8B-B14F-4D97-AF65-F5344CB8AC3E}">
        <p14:creationId xmlns:p14="http://schemas.microsoft.com/office/powerpoint/2010/main" val="4176986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0437A-D346-D60C-2862-F8784630522B}"/>
              </a:ext>
            </a:extLst>
          </p:cNvPr>
          <p:cNvSpPr>
            <a:spLocks noGrp="1"/>
          </p:cNvSpPr>
          <p:nvPr>
            <p:ph type="title"/>
          </p:nvPr>
        </p:nvSpPr>
        <p:spPr>
          <a:xfrm>
            <a:off x="194687" y="95431"/>
            <a:ext cx="4201572" cy="679289"/>
          </a:xfrm>
        </p:spPr>
        <p:txBody>
          <a:bodyPr/>
          <a:lstStyle/>
          <a:p>
            <a:r>
              <a:rPr lang="en-US" sz="3200"/>
              <a:t>Tools</a:t>
            </a:r>
            <a:endParaRPr lang="en-US" sz="4000" dirty="0"/>
          </a:p>
        </p:txBody>
      </p:sp>
      <p:sp>
        <p:nvSpPr>
          <p:cNvPr id="3" name="Text Placeholder 2">
            <a:extLst>
              <a:ext uri="{FF2B5EF4-FFF2-40B4-BE49-F238E27FC236}">
                <a16:creationId xmlns:a16="http://schemas.microsoft.com/office/drawing/2014/main" id="{1ABEA072-67E9-9062-4704-33F26F6C3A7A}"/>
              </a:ext>
            </a:extLst>
          </p:cNvPr>
          <p:cNvSpPr>
            <a:spLocks noGrp="1"/>
          </p:cNvSpPr>
          <p:nvPr>
            <p:ph type="body" idx="1"/>
          </p:nvPr>
        </p:nvSpPr>
        <p:spPr>
          <a:xfrm>
            <a:off x="49762" y="1166813"/>
            <a:ext cx="7360689" cy="533400"/>
          </a:xfrm>
        </p:spPr>
        <p:txBody>
          <a:bodyPr/>
          <a:lstStyle/>
          <a:p>
            <a:pPr marL="139700" indent="0">
              <a:buNone/>
            </a:pPr>
            <a:r>
              <a:rPr lang="en-SG"/>
              <a:t>Comparison of modern E2E testing tools used in the industry: </a:t>
            </a:r>
          </a:p>
          <a:p>
            <a:pPr marL="139700" indent="0">
              <a:buNone/>
            </a:pPr>
            <a:endParaRPr lang="en-SG"/>
          </a:p>
          <a:p>
            <a:pPr marL="139700" indent="0">
              <a:buNone/>
            </a:pPr>
            <a:r>
              <a:rPr lang="en-US"/>
              <a:t>. </a:t>
            </a:r>
            <a:endParaRPr lang="en-US" dirty="0"/>
          </a:p>
        </p:txBody>
      </p:sp>
      <p:graphicFrame>
        <p:nvGraphicFramePr>
          <p:cNvPr id="8" name="Table 7">
            <a:extLst>
              <a:ext uri="{FF2B5EF4-FFF2-40B4-BE49-F238E27FC236}">
                <a16:creationId xmlns:a16="http://schemas.microsoft.com/office/drawing/2014/main" id="{E4B3B64A-AD2B-C31C-8F94-A9C0659A167A}"/>
              </a:ext>
            </a:extLst>
          </p:cNvPr>
          <p:cNvGraphicFramePr>
            <a:graphicFrameLocks noGrp="1"/>
          </p:cNvGraphicFramePr>
          <p:nvPr>
            <p:extLst>
              <p:ext uri="{D42A27DB-BD31-4B8C-83A1-F6EECF244321}">
                <p14:modId xmlns:p14="http://schemas.microsoft.com/office/powerpoint/2010/main" val="113108174"/>
              </p:ext>
            </p:extLst>
          </p:nvPr>
        </p:nvGraphicFramePr>
        <p:xfrm>
          <a:off x="656756" y="2024159"/>
          <a:ext cx="8073693" cy="1809750"/>
        </p:xfrm>
        <a:graphic>
          <a:graphicData uri="http://schemas.openxmlformats.org/drawingml/2006/table">
            <a:tbl>
              <a:tblPr>
                <a:tableStyleId>{775D735A-9BCC-4A0A-8336-7D16119737FB}</a:tableStyleId>
              </a:tblPr>
              <a:tblGrid>
                <a:gridCol w="811055">
                  <a:extLst>
                    <a:ext uri="{9D8B030D-6E8A-4147-A177-3AD203B41FA5}">
                      <a16:colId xmlns:a16="http://schemas.microsoft.com/office/drawing/2014/main" val="1053665183"/>
                    </a:ext>
                  </a:extLst>
                </a:gridCol>
                <a:gridCol w="1043768">
                  <a:extLst>
                    <a:ext uri="{9D8B030D-6E8A-4147-A177-3AD203B41FA5}">
                      <a16:colId xmlns:a16="http://schemas.microsoft.com/office/drawing/2014/main" val="377210254"/>
                    </a:ext>
                  </a:extLst>
                </a:gridCol>
                <a:gridCol w="1358563">
                  <a:extLst>
                    <a:ext uri="{9D8B030D-6E8A-4147-A177-3AD203B41FA5}">
                      <a16:colId xmlns:a16="http://schemas.microsoft.com/office/drawing/2014/main" val="2313804472"/>
                    </a:ext>
                  </a:extLst>
                </a:gridCol>
                <a:gridCol w="840964">
                  <a:extLst>
                    <a:ext uri="{9D8B030D-6E8A-4147-A177-3AD203B41FA5}">
                      <a16:colId xmlns:a16="http://schemas.microsoft.com/office/drawing/2014/main" val="3507003752"/>
                    </a:ext>
                  </a:extLst>
                </a:gridCol>
                <a:gridCol w="1361584">
                  <a:extLst>
                    <a:ext uri="{9D8B030D-6E8A-4147-A177-3AD203B41FA5}">
                      <a16:colId xmlns:a16="http://schemas.microsoft.com/office/drawing/2014/main" val="4023224167"/>
                    </a:ext>
                  </a:extLst>
                </a:gridCol>
                <a:gridCol w="2657759">
                  <a:extLst>
                    <a:ext uri="{9D8B030D-6E8A-4147-A177-3AD203B41FA5}">
                      <a16:colId xmlns:a16="http://schemas.microsoft.com/office/drawing/2014/main" val="2539408163"/>
                    </a:ext>
                  </a:extLst>
                </a:gridCol>
              </a:tblGrid>
              <a:tr h="361950">
                <a:tc>
                  <a:txBody>
                    <a:bodyPr/>
                    <a:lstStyle/>
                    <a:p>
                      <a:pPr algn="ctr" fontAlgn="ctr">
                        <a:buNone/>
                      </a:pPr>
                      <a:r>
                        <a:rPr lang="en-SG" sz="1100" u="none" strike="noStrike">
                          <a:effectLst/>
                        </a:rPr>
                        <a:t> </a:t>
                      </a:r>
                      <a:endParaRPr lang="en-SG" sz="1100" b="1" i="0" u="none" strike="noStrike">
                        <a:solidFill>
                          <a:srgbClr val="000000"/>
                        </a:solidFill>
                        <a:effectLst/>
                        <a:latin typeface="Aptos Narrow" panose="020B0004020202020204" pitchFamily="34" charset="0"/>
                      </a:endParaRPr>
                    </a:p>
                  </a:txBody>
                  <a:tcPr marL="45720" marR="45720" marT="4763" marB="9144" anchor="ctr"/>
                </a:tc>
                <a:tc>
                  <a:txBody>
                    <a:bodyPr/>
                    <a:lstStyle/>
                    <a:p>
                      <a:pPr algn="ctr" fontAlgn="ctr">
                        <a:buNone/>
                      </a:pPr>
                      <a:r>
                        <a:rPr lang="en-SG" sz="1100" b="1" u="none" strike="noStrike">
                          <a:effectLst/>
                        </a:rPr>
                        <a:t>Primary Use</a:t>
                      </a:r>
                      <a:endParaRPr lang="en-SG" sz="1100" b="1" i="0" u="none" strike="noStrike">
                        <a:solidFill>
                          <a:srgbClr val="000000"/>
                        </a:solidFill>
                        <a:effectLst/>
                        <a:latin typeface="Aptos Narrow" panose="020B0004020202020204" pitchFamily="34" charset="0"/>
                      </a:endParaRPr>
                    </a:p>
                  </a:txBody>
                  <a:tcPr marL="45720" marR="45720" marT="4763" marB="9144" anchor="ctr"/>
                </a:tc>
                <a:tc>
                  <a:txBody>
                    <a:bodyPr/>
                    <a:lstStyle/>
                    <a:p>
                      <a:pPr algn="ctr" fontAlgn="ctr">
                        <a:buNone/>
                      </a:pPr>
                      <a:r>
                        <a:rPr lang="en-SG" sz="1100" b="1" u="none" strike="noStrike">
                          <a:effectLst/>
                        </a:rPr>
                        <a:t>Browser Support</a:t>
                      </a:r>
                      <a:endParaRPr lang="en-SG" sz="1100" b="1" i="0" u="none" strike="noStrike">
                        <a:solidFill>
                          <a:srgbClr val="000000"/>
                        </a:solidFill>
                        <a:effectLst/>
                        <a:latin typeface="Aptos Narrow" panose="020B0004020202020204" pitchFamily="34" charset="0"/>
                      </a:endParaRPr>
                    </a:p>
                  </a:txBody>
                  <a:tcPr marL="45720" marR="45720" marT="4763" marB="9144" anchor="ctr"/>
                </a:tc>
                <a:tc>
                  <a:txBody>
                    <a:bodyPr/>
                    <a:lstStyle/>
                    <a:p>
                      <a:pPr algn="ctr" fontAlgn="ctr">
                        <a:buNone/>
                      </a:pPr>
                      <a:r>
                        <a:rPr lang="en-SG" sz="1100" b="1" u="none" strike="noStrike">
                          <a:effectLst/>
                        </a:rPr>
                        <a:t>Automatic Waiting</a:t>
                      </a:r>
                      <a:endParaRPr lang="en-SG" sz="1100" b="1" i="0" u="none" strike="noStrike">
                        <a:solidFill>
                          <a:srgbClr val="000000"/>
                        </a:solidFill>
                        <a:effectLst/>
                        <a:latin typeface="Aptos Narrow" panose="020B0004020202020204" pitchFamily="34" charset="0"/>
                      </a:endParaRPr>
                    </a:p>
                  </a:txBody>
                  <a:tcPr marL="45720" marR="45720" marT="4763" marB="9144" anchor="ctr"/>
                </a:tc>
                <a:tc>
                  <a:txBody>
                    <a:bodyPr/>
                    <a:lstStyle/>
                    <a:p>
                      <a:pPr algn="ctr" fontAlgn="ctr">
                        <a:buNone/>
                      </a:pPr>
                      <a:r>
                        <a:rPr lang="en-SG" sz="1100" b="1" u="none" strike="noStrike">
                          <a:effectLst/>
                        </a:rPr>
                        <a:t>Programming Languages</a:t>
                      </a:r>
                      <a:endParaRPr lang="en-SG" sz="1100" b="1" i="0" u="none" strike="noStrike">
                        <a:solidFill>
                          <a:srgbClr val="000000"/>
                        </a:solidFill>
                        <a:effectLst/>
                        <a:latin typeface="Aptos Narrow" panose="020B0004020202020204" pitchFamily="34" charset="0"/>
                      </a:endParaRPr>
                    </a:p>
                  </a:txBody>
                  <a:tcPr marL="45720" marR="45720" marT="4763" marB="9144" anchor="ctr"/>
                </a:tc>
                <a:tc>
                  <a:txBody>
                    <a:bodyPr/>
                    <a:lstStyle/>
                    <a:p>
                      <a:pPr algn="ctr" fontAlgn="ctr">
                        <a:buNone/>
                      </a:pPr>
                      <a:r>
                        <a:rPr lang="en-SG" sz="1100" b="1" u="none" strike="noStrike">
                          <a:effectLst/>
                        </a:rPr>
                        <a:t>Best For</a:t>
                      </a:r>
                      <a:endParaRPr lang="en-SG" sz="1100" b="1" i="0" u="none" strike="noStrike">
                        <a:solidFill>
                          <a:srgbClr val="000000"/>
                        </a:solidFill>
                        <a:effectLst/>
                        <a:latin typeface="Aptos Narrow" panose="020B0004020202020204" pitchFamily="34" charset="0"/>
                      </a:endParaRPr>
                    </a:p>
                  </a:txBody>
                  <a:tcPr marL="45720" marR="45720" marT="4763" marB="9144" anchor="ctr"/>
                </a:tc>
                <a:extLst>
                  <a:ext uri="{0D108BD9-81ED-4DB2-BD59-A6C34878D82A}">
                    <a16:rowId xmlns:a16="http://schemas.microsoft.com/office/drawing/2014/main" val="383723836"/>
                  </a:ext>
                </a:extLst>
              </a:tr>
              <a:tr h="361950">
                <a:tc>
                  <a:txBody>
                    <a:bodyPr/>
                    <a:lstStyle/>
                    <a:p>
                      <a:pPr algn="l" fontAlgn="ctr">
                        <a:buNone/>
                      </a:pPr>
                      <a:r>
                        <a:rPr lang="en-SG" sz="1100" b="1" u="none" strike="noStrike">
                          <a:effectLst/>
                        </a:rPr>
                        <a:t>Playwright</a:t>
                      </a:r>
                      <a:endParaRPr lang="en-SG" sz="1100" b="1" i="0" u="none" strike="noStrike">
                        <a:solidFill>
                          <a:srgbClr val="000000"/>
                        </a:solidFill>
                        <a:effectLst/>
                        <a:latin typeface="Aptos Narrow" panose="020B0004020202020204" pitchFamily="34" charset="0"/>
                      </a:endParaRPr>
                    </a:p>
                  </a:txBody>
                  <a:tcPr marL="45720" marR="45720" marT="4763" marB="9144" anchor="ctr"/>
                </a:tc>
                <a:tc>
                  <a:txBody>
                    <a:bodyPr/>
                    <a:lstStyle/>
                    <a:p>
                      <a:pPr algn="l" fontAlgn="ctr">
                        <a:buNone/>
                      </a:pPr>
                      <a:r>
                        <a:rPr lang="en-SG" sz="1100" u="none" strike="noStrike">
                          <a:effectLst/>
                        </a:rPr>
                        <a:t>E2E testing</a:t>
                      </a:r>
                      <a:endParaRPr lang="en-SG" sz="1100" b="0" i="0" u="none" strike="noStrike">
                        <a:solidFill>
                          <a:srgbClr val="000000"/>
                        </a:solidFill>
                        <a:effectLst/>
                        <a:latin typeface="Aptos Narrow" panose="020B0004020202020204" pitchFamily="34" charset="0"/>
                      </a:endParaRPr>
                    </a:p>
                  </a:txBody>
                  <a:tcPr marL="45720" marR="45720" marT="4763" marB="9144" anchor="ctr"/>
                </a:tc>
                <a:tc>
                  <a:txBody>
                    <a:bodyPr/>
                    <a:lstStyle/>
                    <a:p>
                      <a:pPr algn="l" fontAlgn="ctr">
                        <a:buNone/>
                      </a:pPr>
                      <a:r>
                        <a:rPr lang="en-SG" sz="1100" u="none" strike="noStrike">
                          <a:effectLst/>
                        </a:rPr>
                        <a:t>Chrome, Edge, Firefox, Safari</a:t>
                      </a:r>
                      <a:endParaRPr lang="en-SG" sz="1100" b="0" i="0" u="none" strike="noStrike">
                        <a:solidFill>
                          <a:srgbClr val="000000"/>
                        </a:solidFill>
                        <a:effectLst/>
                        <a:latin typeface="Aptos Narrow" panose="020B0004020202020204" pitchFamily="34" charset="0"/>
                      </a:endParaRPr>
                    </a:p>
                  </a:txBody>
                  <a:tcPr marL="45720" marR="45720" marT="4763" marB="9144" anchor="ctr"/>
                </a:tc>
                <a:tc>
                  <a:txBody>
                    <a:bodyPr/>
                    <a:lstStyle/>
                    <a:p>
                      <a:pPr algn="l" fontAlgn="ctr">
                        <a:buNone/>
                      </a:pPr>
                      <a:r>
                        <a:rPr lang="en-SG" sz="1100" u="none" strike="noStrike">
                          <a:effectLst/>
                        </a:rPr>
                        <a:t>Yes</a:t>
                      </a:r>
                      <a:endParaRPr lang="en-SG" sz="1100" b="0" i="0" u="none" strike="noStrike">
                        <a:solidFill>
                          <a:srgbClr val="000000"/>
                        </a:solidFill>
                        <a:effectLst/>
                        <a:latin typeface="Aptos Narrow" panose="020B0004020202020204" pitchFamily="34" charset="0"/>
                      </a:endParaRPr>
                    </a:p>
                  </a:txBody>
                  <a:tcPr marL="45720" marR="45720" marT="4763" marB="9144" anchor="ctr"/>
                </a:tc>
                <a:tc>
                  <a:txBody>
                    <a:bodyPr/>
                    <a:lstStyle/>
                    <a:p>
                      <a:pPr algn="l" fontAlgn="ctr">
                        <a:buNone/>
                      </a:pPr>
                      <a:r>
                        <a:rPr lang="en-SG" sz="1100" u="none" strike="noStrike">
                          <a:effectLst/>
                        </a:rPr>
                        <a:t>JS, TypeScript, Python, Java, .NET</a:t>
                      </a:r>
                      <a:endParaRPr lang="en-SG" sz="1100" b="0" i="0" u="none" strike="noStrike">
                        <a:solidFill>
                          <a:srgbClr val="000000"/>
                        </a:solidFill>
                        <a:effectLst/>
                        <a:latin typeface="Aptos Narrow" panose="020B0004020202020204" pitchFamily="34" charset="0"/>
                      </a:endParaRPr>
                    </a:p>
                  </a:txBody>
                  <a:tcPr marL="45720" marR="45720" marT="4763" marB="9144" anchor="ctr"/>
                </a:tc>
                <a:tc>
                  <a:txBody>
                    <a:bodyPr/>
                    <a:lstStyle/>
                    <a:p>
                      <a:pPr algn="l" fontAlgn="ctr">
                        <a:buNone/>
                      </a:pPr>
                      <a:r>
                        <a:rPr lang="en-SG" sz="1100" u="none" strike="noStrike">
                          <a:effectLst/>
                        </a:rPr>
                        <a:t>Modern web applications</a:t>
                      </a:r>
                      <a:endParaRPr lang="en-SG" sz="1100" b="0" i="0" u="none" strike="noStrike">
                        <a:solidFill>
                          <a:srgbClr val="000000"/>
                        </a:solidFill>
                        <a:effectLst/>
                        <a:latin typeface="Aptos Narrow" panose="020B0004020202020204" pitchFamily="34" charset="0"/>
                      </a:endParaRPr>
                    </a:p>
                  </a:txBody>
                  <a:tcPr marL="45720" marR="45720" marT="4763" marB="9144" anchor="ctr"/>
                </a:tc>
                <a:extLst>
                  <a:ext uri="{0D108BD9-81ED-4DB2-BD59-A6C34878D82A}">
                    <a16:rowId xmlns:a16="http://schemas.microsoft.com/office/drawing/2014/main" val="3808569480"/>
                  </a:ext>
                </a:extLst>
              </a:tr>
              <a:tr h="361950">
                <a:tc>
                  <a:txBody>
                    <a:bodyPr/>
                    <a:lstStyle/>
                    <a:p>
                      <a:pPr algn="l" fontAlgn="ctr">
                        <a:buNone/>
                      </a:pPr>
                      <a:r>
                        <a:rPr lang="en-SG" sz="1100" b="1" u="none" strike="noStrike">
                          <a:effectLst/>
                        </a:rPr>
                        <a:t>Puppeteer</a:t>
                      </a:r>
                      <a:endParaRPr lang="en-SG" sz="1100" b="1" i="0" u="none" strike="noStrike">
                        <a:solidFill>
                          <a:srgbClr val="000000"/>
                        </a:solidFill>
                        <a:effectLst/>
                        <a:latin typeface="Aptos Narrow" panose="020B0004020202020204" pitchFamily="34" charset="0"/>
                      </a:endParaRPr>
                    </a:p>
                  </a:txBody>
                  <a:tcPr marL="45720" marR="45720" marT="4763" marB="9144" anchor="ctr"/>
                </a:tc>
                <a:tc>
                  <a:txBody>
                    <a:bodyPr/>
                    <a:lstStyle/>
                    <a:p>
                      <a:pPr algn="l" fontAlgn="ctr">
                        <a:buNone/>
                      </a:pPr>
                      <a:r>
                        <a:rPr lang="en-SG" sz="1100" u="none" strike="noStrike">
                          <a:effectLst/>
                        </a:rPr>
                        <a:t>Browser automation</a:t>
                      </a:r>
                      <a:endParaRPr lang="en-SG" sz="1100" b="0" i="0" u="none" strike="noStrike">
                        <a:solidFill>
                          <a:srgbClr val="000000"/>
                        </a:solidFill>
                        <a:effectLst/>
                        <a:latin typeface="Aptos Narrow" panose="020B0004020202020204" pitchFamily="34" charset="0"/>
                      </a:endParaRPr>
                    </a:p>
                  </a:txBody>
                  <a:tcPr marL="45720" marR="45720" marT="4763" marB="9144" anchor="ctr"/>
                </a:tc>
                <a:tc>
                  <a:txBody>
                    <a:bodyPr/>
                    <a:lstStyle/>
                    <a:p>
                      <a:pPr algn="l" fontAlgn="ctr">
                        <a:buNone/>
                      </a:pPr>
                      <a:r>
                        <a:rPr lang="en-SG" sz="1100" u="none" strike="noStrike" dirty="0">
                          <a:effectLst/>
                        </a:rPr>
                        <a:t>Chrome/Edge/Firefox</a:t>
                      </a:r>
                      <a:endParaRPr lang="en-SG" sz="1100" b="0" i="0" u="none" strike="noStrike" dirty="0">
                        <a:solidFill>
                          <a:srgbClr val="000000"/>
                        </a:solidFill>
                        <a:effectLst/>
                        <a:latin typeface="Aptos Narrow" panose="020B0004020202020204" pitchFamily="34" charset="0"/>
                      </a:endParaRPr>
                    </a:p>
                  </a:txBody>
                  <a:tcPr marL="45720" marR="45720" marT="4763" marB="9144" anchor="ctr"/>
                </a:tc>
                <a:tc>
                  <a:txBody>
                    <a:bodyPr/>
                    <a:lstStyle/>
                    <a:p>
                      <a:pPr algn="l" fontAlgn="ctr">
                        <a:buNone/>
                      </a:pPr>
                      <a:r>
                        <a:rPr lang="en-SG" sz="1100" u="none" strike="noStrike">
                          <a:effectLst/>
                        </a:rPr>
                        <a:t>No</a:t>
                      </a:r>
                      <a:endParaRPr lang="en-SG" sz="1100" b="0" i="0" u="none" strike="noStrike">
                        <a:solidFill>
                          <a:srgbClr val="000000"/>
                        </a:solidFill>
                        <a:effectLst/>
                        <a:latin typeface="Aptos Narrow" panose="020B0004020202020204" pitchFamily="34" charset="0"/>
                      </a:endParaRPr>
                    </a:p>
                  </a:txBody>
                  <a:tcPr marL="45720" marR="45720" marT="4763" marB="9144" anchor="ctr"/>
                </a:tc>
                <a:tc>
                  <a:txBody>
                    <a:bodyPr/>
                    <a:lstStyle/>
                    <a:p>
                      <a:pPr algn="l" fontAlgn="ctr">
                        <a:buNone/>
                      </a:pPr>
                      <a:r>
                        <a:rPr lang="en-SG" sz="1100" u="none" strike="noStrike">
                          <a:effectLst/>
                        </a:rPr>
                        <a:t>JS, TypeScript</a:t>
                      </a:r>
                      <a:endParaRPr lang="en-SG" sz="1100" b="0" i="0" u="none" strike="noStrike">
                        <a:solidFill>
                          <a:srgbClr val="000000"/>
                        </a:solidFill>
                        <a:effectLst/>
                        <a:latin typeface="Aptos Narrow" panose="020B0004020202020204" pitchFamily="34" charset="0"/>
                      </a:endParaRPr>
                    </a:p>
                  </a:txBody>
                  <a:tcPr marL="45720" marR="45720" marT="4763" marB="9144" anchor="ctr"/>
                </a:tc>
                <a:tc>
                  <a:txBody>
                    <a:bodyPr/>
                    <a:lstStyle/>
                    <a:p>
                      <a:pPr algn="l" fontAlgn="ctr">
                        <a:buNone/>
                      </a:pPr>
                      <a:r>
                        <a:rPr lang="en-SG" sz="1100" u="none" strike="noStrike">
                          <a:effectLst/>
                        </a:rPr>
                        <a:t>Web scraping, automation, PDFs, screenshots</a:t>
                      </a:r>
                      <a:endParaRPr lang="en-SG" sz="1100" b="0" i="0" u="none" strike="noStrike">
                        <a:solidFill>
                          <a:srgbClr val="000000"/>
                        </a:solidFill>
                        <a:effectLst/>
                        <a:latin typeface="Aptos Narrow" panose="020B0004020202020204" pitchFamily="34" charset="0"/>
                      </a:endParaRPr>
                    </a:p>
                  </a:txBody>
                  <a:tcPr marL="45720" marR="45720" marT="4763" marB="9144" anchor="ctr"/>
                </a:tc>
                <a:extLst>
                  <a:ext uri="{0D108BD9-81ED-4DB2-BD59-A6C34878D82A}">
                    <a16:rowId xmlns:a16="http://schemas.microsoft.com/office/drawing/2014/main" val="3539415328"/>
                  </a:ext>
                </a:extLst>
              </a:tr>
              <a:tr h="361950">
                <a:tc>
                  <a:txBody>
                    <a:bodyPr/>
                    <a:lstStyle/>
                    <a:p>
                      <a:pPr algn="l" fontAlgn="ctr">
                        <a:buNone/>
                      </a:pPr>
                      <a:r>
                        <a:rPr lang="en-SG" sz="1100" b="1" u="none" strike="noStrike">
                          <a:effectLst/>
                        </a:rPr>
                        <a:t>Cypress</a:t>
                      </a:r>
                      <a:endParaRPr lang="en-SG" sz="1100" b="1" i="0" u="none" strike="noStrike">
                        <a:solidFill>
                          <a:srgbClr val="000000"/>
                        </a:solidFill>
                        <a:effectLst/>
                        <a:latin typeface="Aptos Narrow" panose="020B0004020202020204" pitchFamily="34" charset="0"/>
                      </a:endParaRPr>
                    </a:p>
                  </a:txBody>
                  <a:tcPr marL="45720" marR="45720" marT="4763" marB="9144" anchor="ctr"/>
                </a:tc>
                <a:tc>
                  <a:txBody>
                    <a:bodyPr/>
                    <a:lstStyle/>
                    <a:p>
                      <a:pPr algn="l" fontAlgn="ctr">
                        <a:buNone/>
                      </a:pPr>
                      <a:r>
                        <a:rPr lang="en-SG" sz="1100" u="none" strike="noStrike">
                          <a:effectLst/>
                        </a:rPr>
                        <a:t>E2E testing</a:t>
                      </a:r>
                      <a:endParaRPr lang="en-SG" sz="1100" b="0" i="0" u="none" strike="noStrike">
                        <a:solidFill>
                          <a:srgbClr val="000000"/>
                        </a:solidFill>
                        <a:effectLst/>
                        <a:latin typeface="Aptos Narrow" panose="020B0004020202020204" pitchFamily="34" charset="0"/>
                      </a:endParaRPr>
                    </a:p>
                  </a:txBody>
                  <a:tcPr marL="45720" marR="45720" marT="4763" marB="9144" anchor="ctr"/>
                </a:tc>
                <a:tc>
                  <a:txBody>
                    <a:bodyPr/>
                    <a:lstStyle/>
                    <a:p>
                      <a:pPr algn="l" fontAlgn="ctr">
                        <a:buNone/>
                      </a:pPr>
                      <a:r>
                        <a:rPr lang="en-SG" sz="1100" u="none" strike="noStrike">
                          <a:effectLst/>
                        </a:rPr>
                        <a:t>Chrome, Edge, Firefox</a:t>
                      </a:r>
                      <a:endParaRPr lang="en-SG" sz="1100" b="0" i="0" u="none" strike="noStrike">
                        <a:solidFill>
                          <a:srgbClr val="000000"/>
                        </a:solidFill>
                        <a:effectLst/>
                        <a:latin typeface="Aptos Narrow" panose="020B0004020202020204" pitchFamily="34" charset="0"/>
                      </a:endParaRPr>
                    </a:p>
                  </a:txBody>
                  <a:tcPr marL="45720" marR="45720" marT="4763" marB="9144" anchor="ctr"/>
                </a:tc>
                <a:tc>
                  <a:txBody>
                    <a:bodyPr/>
                    <a:lstStyle/>
                    <a:p>
                      <a:pPr algn="l" fontAlgn="ctr">
                        <a:buNone/>
                      </a:pPr>
                      <a:r>
                        <a:rPr lang="en-SG" sz="1100" u="none" strike="noStrike">
                          <a:effectLst/>
                        </a:rPr>
                        <a:t>Yes</a:t>
                      </a:r>
                      <a:endParaRPr lang="en-SG" sz="1100" b="0" i="0" u="none" strike="noStrike">
                        <a:solidFill>
                          <a:srgbClr val="000000"/>
                        </a:solidFill>
                        <a:effectLst/>
                        <a:latin typeface="Aptos Narrow" panose="020B0004020202020204" pitchFamily="34" charset="0"/>
                      </a:endParaRPr>
                    </a:p>
                  </a:txBody>
                  <a:tcPr marL="45720" marR="45720" marT="4763" marB="9144" anchor="ctr"/>
                </a:tc>
                <a:tc>
                  <a:txBody>
                    <a:bodyPr/>
                    <a:lstStyle/>
                    <a:p>
                      <a:pPr algn="l" fontAlgn="ctr">
                        <a:buNone/>
                      </a:pPr>
                      <a:r>
                        <a:rPr lang="en-SG" sz="1100" u="none" strike="noStrike">
                          <a:effectLst/>
                        </a:rPr>
                        <a:t>JS, TypeScript</a:t>
                      </a:r>
                      <a:endParaRPr lang="en-SG" sz="1100" b="0" i="0" u="none" strike="noStrike">
                        <a:solidFill>
                          <a:srgbClr val="000000"/>
                        </a:solidFill>
                        <a:effectLst/>
                        <a:latin typeface="Aptos Narrow" panose="020B0004020202020204" pitchFamily="34" charset="0"/>
                      </a:endParaRPr>
                    </a:p>
                  </a:txBody>
                  <a:tcPr marL="45720" marR="45720" marT="4763" marB="9144" anchor="ctr"/>
                </a:tc>
                <a:tc>
                  <a:txBody>
                    <a:bodyPr/>
                    <a:lstStyle/>
                    <a:p>
                      <a:pPr algn="l" fontAlgn="ctr">
                        <a:buNone/>
                      </a:pPr>
                      <a:r>
                        <a:rPr lang="en-SG" sz="1100" u="none" strike="noStrike">
                          <a:effectLst/>
                        </a:rPr>
                        <a:t>Frontend E2E testing and beginners</a:t>
                      </a:r>
                      <a:endParaRPr lang="en-SG" sz="1100" b="0" i="0" u="none" strike="noStrike">
                        <a:solidFill>
                          <a:srgbClr val="000000"/>
                        </a:solidFill>
                        <a:effectLst/>
                        <a:latin typeface="Aptos Narrow" panose="020B0004020202020204" pitchFamily="34" charset="0"/>
                      </a:endParaRPr>
                    </a:p>
                  </a:txBody>
                  <a:tcPr marL="45720" marR="45720" marT="4763" marB="9144" anchor="ctr"/>
                </a:tc>
                <a:extLst>
                  <a:ext uri="{0D108BD9-81ED-4DB2-BD59-A6C34878D82A}">
                    <a16:rowId xmlns:a16="http://schemas.microsoft.com/office/drawing/2014/main" val="2341089146"/>
                  </a:ext>
                </a:extLst>
              </a:tr>
              <a:tr h="361950">
                <a:tc>
                  <a:txBody>
                    <a:bodyPr/>
                    <a:lstStyle/>
                    <a:p>
                      <a:pPr algn="l" fontAlgn="ctr">
                        <a:buNone/>
                      </a:pPr>
                      <a:r>
                        <a:rPr lang="en-SG" sz="1100" b="1" u="none" strike="noStrike">
                          <a:effectLst/>
                        </a:rPr>
                        <a:t>Selenium</a:t>
                      </a:r>
                      <a:endParaRPr lang="en-SG" sz="1100" b="1" i="0" u="none" strike="noStrike">
                        <a:solidFill>
                          <a:srgbClr val="000000"/>
                        </a:solidFill>
                        <a:effectLst/>
                        <a:latin typeface="Aptos Narrow" panose="020B0004020202020204" pitchFamily="34" charset="0"/>
                      </a:endParaRPr>
                    </a:p>
                  </a:txBody>
                  <a:tcPr marL="45720" marR="45720" marT="4763" marB="9144" anchor="ctr"/>
                </a:tc>
                <a:tc>
                  <a:txBody>
                    <a:bodyPr/>
                    <a:lstStyle/>
                    <a:p>
                      <a:pPr algn="l" fontAlgn="ctr">
                        <a:buNone/>
                      </a:pPr>
                      <a:r>
                        <a:rPr lang="en-SG" sz="1100" u="none" strike="noStrike">
                          <a:effectLst/>
                        </a:rPr>
                        <a:t>E2E testing</a:t>
                      </a:r>
                      <a:endParaRPr lang="en-SG" sz="1100" b="0" i="0" u="none" strike="noStrike">
                        <a:solidFill>
                          <a:srgbClr val="000000"/>
                        </a:solidFill>
                        <a:effectLst/>
                        <a:latin typeface="Aptos Narrow" panose="020B0004020202020204" pitchFamily="34" charset="0"/>
                      </a:endParaRPr>
                    </a:p>
                  </a:txBody>
                  <a:tcPr marL="45720" marR="45720" marT="4763" marB="9144" anchor="ctr"/>
                </a:tc>
                <a:tc>
                  <a:txBody>
                    <a:bodyPr/>
                    <a:lstStyle/>
                    <a:p>
                      <a:pPr algn="l" fontAlgn="ctr">
                        <a:buNone/>
                      </a:pPr>
                      <a:r>
                        <a:rPr lang="en-SG" sz="1100" u="none" strike="noStrike">
                          <a:effectLst/>
                        </a:rPr>
                        <a:t>Almost all browsers</a:t>
                      </a:r>
                      <a:endParaRPr lang="en-SG" sz="1100" b="0" i="0" u="none" strike="noStrike">
                        <a:solidFill>
                          <a:srgbClr val="000000"/>
                        </a:solidFill>
                        <a:effectLst/>
                        <a:latin typeface="Aptos Narrow" panose="020B0004020202020204" pitchFamily="34" charset="0"/>
                      </a:endParaRPr>
                    </a:p>
                  </a:txBody>
                  <a:tcPr marL="45720" marR="45720" marT="4763" marB="9144" anchor="ctr"/>
                </a:tc>
                <a:tc>
                  <a:txBody>
                    <a:bodyPr/>
                    <a:lstStyle/>
                    <a:p>
                      <a:pPr algn="l" fontAlgn="ctr">
                        <a:buNone/>
                      </a:pPr>
                      <a:r>
                        <a:rPr lang="en-SG" sz="1100" u="none" strike="noStrike">
                          <a:effectLst/>
                        </a:rPr>
                        <a:t>No</a:t>
                      </a:r>
                      <a:endParaRPr lang="en-SG" sz="1100" b="0" i="0" u="none" strike="noStrike">
                        <a:solidFill>
                          <a:srgbClr val="000000"/>
                        </a:solidFill>
                        <a:effectLst/>
                        <a:latin typeface="Aptos Narrow" panose="020B0004020202020204" pitchFamily="34" charset="0"/>
                      </a:endParaRPr>
                    </a:p>
                  </a:txBody>
                  <a:tcPr marL="45720" marR="45720" marT="4763" marB="9144" anchor="ctr"/>
                </a:tc>
                <a:tc>
                  <a:txBody>
                    <a:bodyPr/>
                    <a:lstStyle/>
                    <a:p>
                      <a:pPr algn="l" fontAlgn="ctr">
                        <a:buNone/>
                      </a:pPr>
                      <a:r>
                        <a:rPr lang="en-SG" sz="1100" u="none" strike="noStrike">
                          <a:effectLst/>
                        </a:rPr>
                        <a:t>Java, Python, C#, JS &amp; more</a:t>
                      </a:r>
                      <a:endParaRPr lang="en-SG" sz="1100" b="0" i="0" u="none" strike="noStrike">
                        <a:solidFill>
                          <a:srgbClr val="000000"/>
                        </a:solidFill>
                        <a:effectLst/>
                        <a:latin typeface="Aptos Narrow" panose="020B0004020202020204" pitchFamily="34" charset="0"/>
                      </a:endParaRPr>
                    </a:p>
                  </a:txBody>
                  <a:tcPr marL="45720" marR="45720" marT="4763" marB="9144" anchor="ctr"/>
                </a:tc>
                <a:tc>
                  <a:txBody>
                    <a:bodyPr/>
                    <a:lstStyle/>
                    <a:p>
                      <a:pPr algn="l" fontAlgn="ctr">
                        <a:buNone/>
                      </a:pPr>
                      <a:r>
                        <a:rPr lang="en-SG" sz="1100" u="none" strike="noStrike" dirty="0">
                          <a:effectLst/>
                        </a:rPr>
                        <a:t>Enterprise, legacy, &amp; modern applications</a:t>
                      </a:r>
                      <a:endParaRPr lang="en-SG" sz="1100" b="0" i="0" u="none" strike="noStrike" dirty="0">
                        <a:solidFill>
                          <a:srgbClr val="000000"/>
                        </a:solidFill>
                        <a:effectLst/>
                        <a:latin typeface="Aptos Narrow" panose="020B0004020202020204" pitchFamily="34" charset="0"/>
                      </a:endParaRPr>
                    </a:p>
                  </a:txBody>
                  <a:tcPr marL="45720" marR="45720" marT="4763" marB="9144" anchor="ctr"/>
                </a:tc>
                <a:extLst>
                  <a:ext uri="{0D108BD9-81ED-4DB2-BD59-A6C34878D82A}">
                    <a16:rowId xmlns:a16="http://schemas.microsoft.com/office/drawing/2014/main" val="2778184911"/>
                  </a:ext>
                </a:extLst>
              </a:tr>
            </a:tbl>
          </a:graphicData>
        </a:graphic>
      </p:graphicFrame>
      <p:sp>
        <p:nvSpPr>
          <p:cNvPr id="10" name="TextBox 9">
            <a:extLst>
              <a:ext uri="{FF2B5EF4-FFF2-40B4-BE49-F238E27FC236}">
                <a16:creationId xmlns:a16="http://schemas.microsoft.com/office/drawing/2014/main" id="{E29129BF-AF6C-A65B-D5FC-6E97CA21F572}"/>
              </a:ext>
            </a:extLst>
          </p:cNvPr>
          <p:cNvSpPr txBox="1"/>
          <p:nvPr/>
        </p:nvSpPr>
        <p:spPr>
          <a:xfrm>
            <a:off x="357187" y="4140456"/>
            <a:ext cx="8172452" cy="830997"/>
          </a:xfrm>
          <a:prstGeom prst="rect">
            <a:avLst/>
          </a:prstGeom>
          <a:noFill/>
        </p:spPr>
        <p:txBody>
          <a:bodyPr wrap="square">
            <a:spAutoFit/>
          </a:bodyPr>
          <a:lstStyle/>
          <a:p>
            <a:r>
              <a:rPr lang="en-SG" sz="1200" b="1"/>
              <a:t>Automatic waiting</a:t>
            </a:r>
            <a:r>
              <a:rPr lang="en-SG" sz="1200"/>
              <a:t> is a feature of Playwright &amp; Cypress that automatically waits for elements or page updates to be ready before performing an action or checking an assertion. This makes tests more reliable and eliminates the need for arbitrary delays. If a test tries to interact with an element before it is ready, the test may fail even though the application is working correctly.</a:t>
            </a:r>
          </a:p>
        </p:txBody>
      </p:sp>
      <p:pic>
        <p:nvPicPr>
          <p:cNvPr id="4" name="Picture 3" descr="The Pros and Cons of Playwright Automation Framework">
            <a:extLst>
              <a:ext uri="{FF2B5EF4-FFF2-40B4-BE49-F238E27FC236}">
                <a16:creationId xmlns:a16="http://schemas.microsoft.com/office/drawing/2014/main" id="{D4827C2A-B7B7-4D77-4BF7-C093B97097A9}"/>
              </a:ext>
            </a:extLst>
          </p:cNvPr>
          <p:cNvPicPr>
            <a:picLocks noChangeAspect="1"/>
          </p:cNvPicPr>
          <p:nvPr/>
        </p:nvPicPr>
        <p:blipFill>
          <a:blip r:embed="rId3"/>
          <a:srcRect l="18860" t="5845" r="18387" b="8827"/>
          <a:stretch>
            <a:fillRect/>
          </a:stretch>
        </p:blipFill>
        <p:spPr>
          <a:xfrm>
            <a:off x="4916834" y="268709"/>
            <a:ext cx="827118" cy="696393"/>
          </a:xfrm>
          <a:prstGeom prst="rect">
            <a:avLst/>
          </a:prstGeom>
        </p:spPr>
      </p:pic>
      <p:pic>
        <p:nvPicPr>
          <p:cNvPr id="5" name="Picture 4">
            <a:extLst>
              <a:ext uri="{FF2B5EF4-FFF2-40B4-BE49-F238E27FC236}">
                <a16:creationId xmlns:a16="http://schemas.microsoft.com/office/drawing/2014/main" id="{A10E2790-D01B-F6EF-4015-595F055C7390}"/>
              </a:ext>
            </a:extLst>
          </p:cNvPr>
          <p:cNvPicPr>
            <a:picLocks noChangeAspect="1"/>
          </p:cNvPicPr>
          <p:nvPr/>
        </p:nvPicPr>
        <p:blipFill>
          <a:blip r:embed="rId4"/>
          <a:stretch>
            <a:fillRect/>
          </a:stretch>
        </p:blipFill>
        <p:spPr>
          <a:xfrm>
            <a:off x="6084774" y="187372"/>
            <a:ext cx="856353" cy="1246141"/>
          </a:xfrm>
          <a:prstGeom prst="rect">
            <a:avLst/>
          </a:prstGeom>
        </p:spPr>
      </p:pic>
      <p:pic>
        <p:nvPicPr>
          <p:cNvPr id="6" name="Picture 5" descr="About Cypress | Cypress.io Testing Tools (Component Tests &amp; More)">
            <a:extLst>
              <a:ext uri="{FF2B5EF4-FFF2-40B4-BE49-F238E27FC236}">
                <a16:creationId xmlns:a16="http://schemas.microsoft.com/office/drawing/2014/main" id="{8B351C0E-930C-FE37-9F64-C0D382E8F2F2}"/>
              </a:ext>
            </a:extLst>
          </p:cNvPr>
          <p:cNvPicPr>
            <a:picLocks noChangeAspect="1"/>
          </p:cNvPicPr>
          <p:nvPr/>
        </p:nvPicPr>
        <p:blipFill>
          <a:blip r:embed="rId5"/>
          <a:srcRect l="8132" t="16901" r="5512" b="16734"/>
          <a:stretch>
            <a:fillRect/>
          </a:stretch>
        </p:blipFill>
        <p:spPr>
          <a:xfrm>
            <a:off x="7149381" y="137336"/>
            <a:ext cx="1367444" cy="551844"/>
          </a:xfrm>
          <a:prstGeom prst="rect">
            <a:avLst/>
          </a:prstGeom>
        </p:spPr>
      </p:pic>
      <p:pic>
        <p:nvPicPr>
          <p:cNvPr id="7" name="Picture 6" descr="🚀 Unlocking the Power of Selenium: Unveiling Hidden Features! 🌐">
            <a:extLst>
              <a:ext uri="{FF2B5EF4-FFF2-40B4-BE49-F238E27FC236}">
                <a16:creationId xmlns:a16="http://schemas.microsoft.com/office/drawing/2014/main" id="{B2838F4D-35E7-978E-85C4-42825025BA45}"/>
              </a:ext>
            </a:extLst>
          </p:cNvPr>
          <p:cNvPicPr>
            <a:picLocks noChangeAspect="1"/>
          </p:cNvPicPr>
          <p:nvPr/>
        </p:nvPicPr>
        <p:blipFill>
          <a:blip r:embed="rId6"/>
          <a:srcRect l="10077" t="10582" r="10303" b="16936"/>
          <a:stretch>
            <a:fillRect/>
          </a:stretch>
        </p:blipFill>
        <p:spPr>
          <a:xfrm>
            <a:off x="7360920" y="695244"/>
            <a:ext cx="1471353" cy="936822"/>
          </a:xfrm>
          <a:prstGeom prst="rect">
            <a:avLst/>
          </a:prstGeom>
        </p:spPr>
      </p:pic>
    </p:spTree>
    <p:extLst>
      <p:ext uri="{BB962C8B-B14F-4D97-AF65-F5344CB8AC3E}">
        <p14:creationId xmlns:p14="http://schemas.microsoft.com/office/powerpoint/2010/main" val="1818307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3553B-A749-3B2E-D06B-60A72BBDEB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8BC05-5F8C-B600-3A9A-273E5DFBA8EC}"/>
              </a:ext>
            </a:extLst>
          </p:cNvPr>
          <p:cNvSpPr>
            <a:spLocks noGrp="1"/>
          </p:cNvSpPr>
          <p:nvPr>
            <p:ph type="title"/>
          </p:nvPr>
        </p:nvSpPr>
        <p:spPr>
          <a:xfrm>
            <a:off x="194687" y="95431"/>
            <a:ext cx="4201572" cy="679289"/>
          </a:xfrm>
        </p:spPr>
        <p:txBody>
          <a:bodyPr/>
          <a:lstStyle/>
          <a:p>
            <a:r>
              <a:rPr lang="en-US" sz="3200"/>
              <a:t>Playwright</a:t>
            </a:r>
            <a:endParaRPr lang="en-US" sz="4000" dirty="0"/>
          </a:p>
        </p:txBody>
      </p:sp>
      <p:sp>
        <p:nvSpPr>
          <p:cNvPr id="3" name="Text Placeholder 2">
            <a:extLst>
              <a:ext uri="{FF2B5EF4-FFF2-40B4-BE49-F238E27FC236}">
                <a16:creationId xmlns:a16="http://schemas.microsoft.com/office/drawing/2014/main" id="{17903256-B158-3C35-A069-3031B18F294B}"/>
              </a:ext>
            </a:extLst>
          </p:cNvPr>
          <p:cNvSpPr>
            <a:spLocks noGrp="1"/>
          </p:cNvSpPr>
          <p:nvPr>
            <p:ph type="body" idx="1"/>
          </p:nvPr>
        </p:nvSpPr>
        <p:spPr>
          <a:xfrm>
            <a:off x="353429" y="1020250"/>
            <a:ext cx="3999900" cy="3602350"/>
          </a:xfrm>
        </p:spPr>
        <p:txBody>
          <a:bodyPr/>
          <a:lstStyle/>
          <a:p>
            <a:pPr marL="139700" indent="0">
              <a:buNone/>
            </a:pPr>
            <a:r>
              <a:rPr lang="en-SG" b="1"/>
              <a:t>Playwright</a:t>
            </a:r>
            <a:r>
              <a:rPr lang="en-SG"/>
              <a:t> is an open-source E2E testing framework developed by Microsoft for automating web browsers. It allows you to simulate real user interactions (e.g. clicking buttons, typing into forms, navigating pages, and verifying content) to ensure that an application works correctly from the user's perspective.</a:t>
            </a:r>
          </a:p>
          <a:p>
            <a:pPr marL="139700" indent="0">
              <a:buNone/>
            </a:pPr>
            <a:endParaRPr lang="en-SG"/>
          </a:p>
          <a:p>
            <a:pPr marL="139700" indent="0">
              <a:buNone/>
            </a:pPr>
            <a:r>
              <a:rPr lang="en-US"/>
              <a:t>Playwright can automate user interactions in Chromium (Edge, Chrome), Firefox &amp; WebKit (Safari) browsers</a:t>
            </a:r>
          </a:p>
          <a:p>
            <a:pPr marL="139700" indent="0">
              <a:buNone/>
            </a:pPr>
            <a:endParaRPr lang="en-US"/>
          </a:p>
          <a:p>
            <a:pPr marL="139700" indent="0">
              <a:buNone/>
            </a:pPr>
            <a:r>
              <a:rPr lang="en-US"/>
              <a:t>We will only cover PlayWright in this course</a:t>
            </a:r>
            <a:endParaRPr lang="en-SG"/>
          </a:p>
          <a:p>
            <a:pPr marL="139700" indent="0">
              <a:buNone/>
            </a:pPr>
            <a:endParaRPr lang="en-SG"/>
          </a:p>
          <a:p>
            <a:pPr marL="139700" indent="0">
              <a:buNone/>
            </a:pPr>
            <a:endParaRPr lang="en-US" dirty="0"/>
          </a:p>
        </p:txBody>
      </p:sp>
      <p:sp>
        <p:nvSpPr>
          <p:cNvPr id="4" name="Text Placeholder 3">
            <a:extLst>
              <a:ext uri="{FF2B5EF4-FFF2-40B4-BE49-F238E27FC236}">
                <a16:creationId xmlns:a16="http://schemas.microsoft.com/office/drawing/2014/main" id="{4131D1F6-3379-88D4-1EF1-D93A4A52D7F7}"/>
              </a:ext>
            </a:extLst>
          </p:cNvPr>
          <p:cNvSpPr>
            <a:spLocks noGrp="1"/>
          </p:cNvSpPr>
          <p:nvPr>
            <p:ph type="body" idx="2"/>
          </p:nvPr>
        </p:nvSpPr>
        <p:spPr>
          <a:xfrm>
            <a:off x="4624587" y="2017000"/>
            <a:ext cx="4402679" cy="1951885"/>
          </a:xfrm>
        </p:spPr>
        <p:txBody>
          <a:bodyPr/>
          <a:lstStyle/>
          <a:p>
            <a:pPr marL="139700" indent="0">
              <a:buNone/>
            </a:pPr>
            <a:r>
              <a:rPr lang="en-SG"/>
              <a:t>A Playwright test usually follows these steps:</a:t>
            </a:r>
          </a:p>
          <a:p>
            <a:r>
              <a:rPr lang="en-SG"/>
              <a:t>Launch a browser. </a:t>
            </a:r>
          </a:p>
          <a:p>
            <a:r>
              <a:rPr lang="en-SG"/>
              <a:t>Navigate to the application. </a:t>
            </a:r>
          </a:p>
          <a:p>
            <a:r>
              <a:rPr lang="en-SG"/>
              <a:t>Interact with the page. </a:t>
            </a:r>
          </a:p>
          <a:p>
            <a:r>
              <a:rPr lang="en-SG"/>
              <a:t>Verify the results. </a:t>
            </a:r>
          </a:p>
          <a:p>
            <a:r>
              <a:rPr lang="en-SG"/>
              <a:t>Close the browser.</a:t>
            </a:r>
          </a:p>
        </p:txBody>
      </p:sp>
      <p:cxnSp>
        <p:nvCxnSpPr>
          <p:cNvPr id="7" name="Straight Connector 6">
            <a:extLst>
              <a:ext uri="{FF2B5EF4-FFF2-40B4-BE49-F238E27FC236}">
                <a16:creationId xmlns:a16="http://schemas.microsoft.com/office/drawing/2014/main" id="{8B8541EF-3DE3-FDFC-FD40-55B6BD293335}"/>
              </a:ext>
            </a:extLst>
          </p:cNvPr>
          <p:cNvCxnSpPr>
            <a:cxnSpLocks/>
          </p:cNvCxnSpPr>
          <p:nvPr/>
        </p:nvCxnSpPr>
        <p:spPr>
          <a:xfrm>
            <a:off x="4396259" y="611932"/>
            <a:ext cx="1" cy="4256199"/>
          </a:xfrm>
          <a:prstGeom prst="line">
            <a:avLst/>
          </a:prstGeom>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3BDAD5CB-7CCC-BF39-CA18-DEEDCEFD4EE7}"/>
              </a:ext>
            </a:extLst>
          </p:cNvPr>
          <p:cNvPicPr>
            <a:picLocks noChangeAspect="1"/>
          </p:cNvPicPr>
          <p:nvPr/>
        </p:nvPicPr>
        <p:blipFill>
          <a:blip r:embed="rId3"/>
          <a:srcRect l="5561" t="-303" r="12021" b="303"/>
          <a:stretch>
            <a:fillRect/>
          </a:stretch>
        </p:blipFill>
        <p:spPr>
          <a:xfrm>
            <a:off x="4938776" y="558630"/>
            <a:ext cx="3684508" cy="1125395"/>
          </a:xfrm>
          <a:prstGeom prst="rect">
            <a:avLst/>
          </a:prstGeom>
        </p:spPr>
      </p:pic>
      <p:sp>
        <p:nvSpPr>
          <p:cNvPr id="6" name="TextBox 5">
            <a:extLst>
              <a:ext uri="{FF2B5EF4-FFF2-40B4-BE49-F238E27FC236}">
                <a16:creationId xmlns:a16="http://schemas.microsoft.com/office/drawing/2014/main" id="{9CE54674-5BBA-7C4F-9E69-88676E892124}"/>
              </a:ext>
            </a:extLst>
          </p:cNvPr>
          <p:cNvSpPr txBox="1"/>
          <p:nvPr/>
        </p:nvSpPr>
        <p:spPr>
          <a:xfrm>
            <a:off x="4624587" y="4048504"/>
            <a:ext cx="4312886" cy="738664"/>
          </a:xfrm>
          <a:prstGeom prst="rect">
            <a:avLst/>
          </a:prstGeom>
          <a:noFill/>
        </p:spPr>
        <p:txBody>
          <a:bodyPr wrap="square">
            <a:spAutoFit/>
          </a:bodyPr>
          <a:lstStyle/>
          <a:p>
            <a:r>
              <a:rPr lang="en-SG"/>
              <a:t>Vitest asks: "</a:t>
            </a:r>
            <a:r>
              <a:rPr lang="en-SG" i="1">
                <a:latin typeface="Times New Roman" panose="02020603050405020304" pitchFamily="18" charset="0"/>
                <a:cs typeface="Times New Roman" panose="02020603050405020304" pitchFamily="18" charset="0"/>
              </a:rPr>
              <a:t>Does this piece of code work correctly?</a:t>
            </a:r>
            <a:r>
              <a:rPr lang="en-SG"/>
              <a:t>"</a:t>
            </a:r>
          </a:p>
          <a:p>
            <a:r>
              <a:rPr lang="en-SG"/>
              <a:t>Playwright asks: "</a:t>
            </a:r>
            <a:r>
              <a:rPr lang="en-SG" i="1">
                <a:latin typeface="Times New Roman" panose="02020603050405020304" pitchFamily="18" charset="0"/>
                <a:cs typeface="Times New Roman" panose="02020603050405020304" pitchFamily="18" charset="0"/>
              </a:rPr>
              <a:t>Can the user successfully complete a task?</a:t>
            </a:r>
            <a:r>
              <a:rPr lang="en-SG"/>
              <a:t>"</a:t>
            </a:r>
          </a:p>
        </p:txBody>
      </p:sp>
    </p:spTree>
    <p:extLst>
      <p:ext uri="{BB962C8B-B14F-4D97-AF65-F5344CB8AC3E}">
        <p14:creationId xmlns:p14="http://schemas.microsoft.com/office/powerpoint/2010/main" val="2603293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DF59F-54EF-CE18-D258-01F04ABB3053}"/>
              </a:ext>
            </a:extLst>
          </p:cNvPr>
          <p:cNvSpPr>
            <a:spLocks noGrp="1"/>
          </p:cNvSpPr>
          <p:nvPr>
            <p:ph type="title"/>
          </p:nvPr>
        </p:nvSpPr>
        <p:spPr>
          <a:xfrm>
            <a:off x="311700" y="315925"/>
            <a:ext cx="8520600" cy="630901"/>
          </a:xfrm>
        </p:spPr>
        <p:txBody>
          <a:bodyPr/>
          <a:lstStyle/>
          <a:p>
            <a:r>
              <a:rPr lang="en-US" sz="2800"/>
              <a:t>(Demo) Ex 3: E2E Testing on a Simple Web App</a:t>
            </a:r>
            <a:endParaRPr lang="en-SG" sz="4000"/>
          </a:p>
        </p:txBody>
      </p:sp>
      <p:sp>
        <p:nvSpPr>
          <p:cNvPr id="3" name="Text Placeholder 2">
            <a:extLst>
              <a:ext uri="{FF2B5EF4-FFF2-40B4-BE49-F238E27FC236}">
                <a16:creationId xmlns:a16="http://schemas.microsoft.com/office/drawing/2014/main" id="{C8FD70A0-0C50-41FA-3BE7-5072EC999E19}"/>
              </a:ext>
            </a:extLst>
          </p:cNvPr>
          <p:cNvSpPr>
            <a:spLocks noGrp="1"/>
          </p:cNvSpPr>
          <p:nvPr>
            <p:ph type="body" idx="1"/>
          </p:nvPr>
        </p:nvSpPr>
        <p:spPr>
          <a:xfrm>
            <a:off x="1025060" y="1523540"/>
            <a:ext cx="7166439" cy="1991388"/>
          </a:xfrm>
        </p:spPr>
        <p:txBody>
          <a:bodyPr/>
          <a:lstStyle/>
          <a:p>
            <a:pPr marL="139700" indent="0">
              <a:buNone/>
            </a:pPr>
            <a:r>
              <a:rPr lang="en-US" sz="1600"/>
              <a:t>In this exercise, we will:</a:t>
            </a:r>
          </a:p>
          <a:p>
            <a:r>
              <a:rPr lang="en-US" sz="1600"/>
              <a:t>Install Playwright &amp; the VSCode extension for Playwright</a:t>
            </a:r>
          </a:p>
          <a:p>
            <a:r>
              <a:rPr lang="en-US" sz="1600"/>
              <a:t>Host a very simple web app for testing</a:t>
            </a:r>
          </a:p>
          <a:p>
            <a:r>
              <a:rPr lang="en-US" sz="1600"/>
              <a:t>Record user actions on the web app using VSCode</a:t>
            </a:r>
          </a:p>
          <a:p>
            <a:r>
              <a:rPr lang="en-US" sz="1600"/>
              <a:t>Run the test and read the test results</a:t>
            </a:r>
          </a:p>
          <a:p>
            <a:endParaRPr lang="en-SG"/>
          </a:p>
        </p:txBody>
      </p:sp>
    </p:spTree>
    <p:extLst>
      <p:ext uri="{BB962C8B-B14F-4D97-AF65-F5344CB8AC3E}">
        <p14:creationId xmlns:p14="http://schemas.microsoft.com/office/powerpoint/2010/main" val="158379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44AF1-2771-4A23-7DA9-3EB5CC6D26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369519-4407-B2F5-C1E9-756054AC88CF}"/>
              </a:ext>
            </a:extLst>
          </p:cNvPr>
          <p:cNvSpPr>
            <a:spLocks noGrp="1"/>
          </p:cNvSpPr>
          <p:nvPr>
            <p:ph type="title"/>
          </p:nvPr>
        </p:nvSpPr>
        <p:spPr>
          <a:xfrm>
            <a:off x="206663" y="66544"/>
            <a:ext cx="8520600" cy="630901"/>
          </a:xfrm>
        </p:spPr>
        <p:txBody>
          <a:bodyPr/>
          <a:lstStyle/>
          <a:p>
            <a:r>
              <a:rPr lang="en-US" sz="2800"/>
              <a:t>Setting Up for Ex 3 (1)</a:t>
            </a:r>
            <a:endParaRPr lang="en-SG" sz="4000"/>
          </a:p>
        </p:txBody>
      </p:sp>
      <p:sp>
        <p:nvSpPr>
          <p:cNvPr id="3" name="Text Placeholder 2">
            <a:extLst>
              <a:ext uri="{FF2B5EF4-FFF2-40B4-BE49-F238E27FC236}">
                <a16:creationId xmlns:a16="http://schemas.microsoft.com/office/drawing/2014/main" id="{4DE41AD6-740F-E5EB-D0D9-28377A338C0F}"/>
              </a:ext>
            </a:extLst>
          </p:cNvPr>
          <p:cNvSpPr>
            <a:spLocks noGrp="1"/>
          </p:cNvSpPr>
          <p:nvPr>
            <p:ph type="body" idx="1"/>
          </p:nvPr>
        </p:nvSpPr>
        <p:spPr>
          <a:xfrm>
            <a:off x="638175" y="785813"/>
            <a:ext cx="8229599" cy="3969413"/>
          </a:xfrm>
        </p:spPr>
        <p:txBody>
          <a:bodyPr/>
          <a:lstStyle/>
          <a:p>
            <a:pPr marL="482600" indent="-342900">
              <a:buFont typeface="Arial"/>
              <a:buAutoNum type="arabicParenBoth"/>
            </a:pPr>
            <a:r>
              <a:rPr lang="en-GB" sz="1600"/>
              <a:t>Install Playwright: In a terminal window, type: </a:t>
            </a:r>
            <a:br>
              <a:rPr lang="en-GB" sz="1600"/>
            </a:br>
            <a:r>
              <a:rPr lang="en-GB" sz="1600"/>
              <a:t>        </a:t>
            </a:r>
            <a:r>
              <a:rPr lang="en-GB" sz="1600" b="1"/>
              <a:t>pnpm create playwright</a:t>
            </a:r>
            <a:br>
              <a:rPr lang="en-GB" sz="1600"/>
            </a:br>
            <a:r>
              <a:rPr lang="en-GB" sz="1600"/>
              <a:t>Installation options: JavaScript</a:t>
            </a:r>
            <a:br>
              <a:rPr lang="en-GB" sz="1600"/>
            </a:br>
            <a:r>
              <a:rPr lang="en-GB" sz="1600"/>
              <a:t>                                where to put e2e tests: </a:t>
            </a:r>
            <a:r>
              <a:rPr lang="en-GB" sz="1600" b="1"/>
              <a:t>tests</a:t>
            </a:r>
            <a:br>
              <a:rPr lang="en-GB" sz="1600"/>
            </a:br>
            <a:r>
              <a:rPr lang="en-GB" sz="1600"/>
              <a:t>                                add a GitHub Actions workflow: </a:t>
            </a:r>
            <a:r>
              <a:rPr lang="en-GB" sz="1600" b="1"/>
              <a:t>false</a:t>
            </a:r>
            <a:br>
              <a:rPr lang="en-GB" sz="1600"/>
            </a:br>
            <a:r>
              <a:rPr lang="en-GB" sz="1600"/>
              <a:t>                                install Playwright browsers: </a:t>
            </a:r>
            <a:r>
              <a:rPr lang="en-GB" sz="1600" b="1"/>
              <a:t>true</a:t>
            </a:r>
            <a:br>
              <a:rPr lang="en-GB" sz="1600" b="1"/>
            </a:br>
            <a:r>
              <a:rPr lang="en-GB" sz="1600"/>
              <a:t>After successful installation, you will see tests/</a:t>
            </a:r>
            <a:r>
              <a:rPr lang="en-GB" sz="1600" b="1"/>
              <a:t>example.spec.js</a:t>
            </a:r>
            <a:r>
              <a:rPr lang="en-GB" sz="1600"/>
              <a:t> (default test file)</a:t>
            </a:r>
          </a:p>
          <a:p>
            <a:pPr marL="482600" indent="-342900">
              <a:buFont typeface="Arial"/>
              <a:buAutoNum type="arabicParenBoth"/>
            </a:pPr>
            <a:endParaRPr lang="en-GB" sz="1600" b="1"/>
          </a:p>
          <a:p>
            <a:pPr marL="482600" indent="-342900">
              <a:buFont typeface="Arial"/>
              <a:buAutoNum type="arabicParenBoth"/>
            </a:pPr>
            <a:r>
              <a:rPr lang="en-GB" sz="1600"/>
              <a:t>Verify that Playwright works: In the terminal window: </a:t>
            </a:r>
            <a:br>
              <a:rPr lang="en-GB" sz="1600"/>
            </a:br>
            <a:r>
              <a:rPr lang="en-GB" sz="1600" b="1"/>
              <a:t>        pnpm playwright test</a:t>
            </a:r>
            <a:br>
              <a:rPr lang="en-GB" sz="1600"/>
            </a:br>
            <a:r>
              <a:rPr lang="en-GB" sz="1600"/>
              <a:t>You should see 6 tests (in </a:t>
            </a:r>
            <a:r>
              <a:rPr lang="en-GB" sz="1600" b="1"/>
              <a:t>example.spec.js</a:t>
            </a:r>
            <a:r>
              <a:rPr lang="en-GB" sz="1600"/>
              <a:t>) passing. Generate the test report:</a:t>
            </a:r>
            <a:br>
              <a:rPr lang="en-GB" sz="1600"/>
            </a:br>
            <a:r>
              <a:rPr lang="en-GB" sz="1600" b="1"/>
              <a:t>        pnpm exec playwright show-report</a:t>
            </a:r>
            <a:br>
              <a:rPr lang="en-GB" sz="1600"/>
            </a:br>
            <a:r>
              <a:rPr lang="en-GB" sz="1600"/>
              <a:t>Then visit http://localhost:9323 (as prompted) to see the report</a:t>
            </a:r>
            <a:br>
              <a:rPr lang="en-GB" sz="1600"/>
            </a:br>
            <a:endParaRPr lang="en-SG"/>
          </a:p>
        </p:txBody>
      </p:sp>
    </p:spTree>
    <p:extLst>
      <p:ext uri="{BB962C8B-B14F-4D97-AF65-F5344CB8AC3E}">
        <p14:creationId xmlns:p14="http://schemas.microsoft.com/office/powerpoint/2010/main" val="2444237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662BE-95A3-94EA-3DFA-A6F5EAFB26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B12776-9F58-F1FE-70A9-ACFCC5BFF7DC}"/>
              </a:ext>
            </a:extLst>
          </p:cNvPr>
          <p:cNvSpPr>
            <a:spLocks noGrp="1"/>
          </p:cNvSpPr>
          <p:nvPr>
            <p:ph type="title"/>
          </p:nvPr>
        </p:nvSpPr>
        <p:spPr>
          <a:xfrm>
            <a:off x="206663" y="66544"/>
            <a:ext cx="8520600" cy="630901"/>
          </a:xfrm>
        </p:spPr>
        <p:txBody>
          <a:bodyPr/>
          <a:lstStyle/>
          <a:p>
            <a:r>
              <a:rPr lang="en-US" sz="2800"/>
              <a:t>Setting Up for Ex 3 (2)</a:t>
            </a:r>
            <a:endParaRPr lang="en-SG" sz="4000"/>
          </a:p>
        </p:txBody>
      </p:sp>
      <p:sp>
        <p:nvSpPr>
          <p:cNvPr id="3" name="Text Placeholder 2">
            <a:extLst>
              <a:ext uri="{FF2B5EF4-FFF2-40B4-BE49-F238E27FC236}">
                <a16:creationId xmlns:a16="http://schemas.microsoft.com/office/drawing/2014/main" id="{BFAE7F9D-D09B-BE5B-A7D4-E17AEDAB8E42}"/>
              </a:ext>
            </a:extLst>
          </p:cNvPr>
          <p:cNvSpPr>
            <a:spLocks noGrp="1"/>
          </p:cNvSpPr>
          <p:nvPr>
            <p:ph type="body" idx="1"/>
          </p:nvPr>
        </p:nvSpPr>
        <p:spPr>
          <a:xfrm>
            <a:off x="704850" y="1152525"/>
            <a:ext cx="7734300" cy="3046781"/>
          </a:xfrm>
        </p:spPr>
        <p:txBody>
          <a:bodyPr/>
          <a:lstStyle/>
          <a:p>
            <a:pPr marL="139700" indent="0">
              <a:buNone/>
            </a:pPr>
            <a:r>
              <a:rPr lang="en-GB" sz="1600"/>
              <a:t>(3) Examine tests/</a:t>
            </a:r>
            <a:r>
              <a:rPr lang="en-GB" sz="1600" b="1"/>
              <a:t>example.spec.js </a:t>
            </a:r>
            <a:r>
              <a:rPr lang="en-GB" sz="1600"/>
              <a:t>&amp; understand the tests. </a:t>
            </a:r>
          </a:p>
          <a:p>
            <a:pPr marL="139700" indent="0">
              <a:buNone/>
            </a:pPr>
            <a:endParaRPr lang="en-GB" sz="1600"/>
          </a:p>
          <a:p>
            <a:pPr>
              <a:buFont typeface="Arial" panose="020B0604020202020204" pitchFamily="34" charset="0"/>
              <a:buChar char="•"/>
            </a:pPr>
            <a:r>
              <a:rPr lang="en-GB" sz="1600"/>
              <a:t>Basically the test visits </a:t>
            </a:r>
            <a:r>
              <a:rPr lang="en-GB" sz="1600">
                <a:hlinkClick r:id="rId2"/>
              </a:rPr>
              <a:t>https://playwright.dev</a:t>
            </a:r>
            <a:r>
              <a:rPr lang="en-GB" sz="1600"/>
              <a:t> and checks if the page's title has the string "Playwright". When the "Get Started" button gets clicked, the user will be directed to a page that has the string "Installation" in the title.</a:t>
            </a:r>
          </a:p>
          <a:p>
            <a:pPr>
              <a:buFont typeface="Arial" panose="020B0604020202020204" pitchFamily="34" charset="0"/>
              <a:buChar char="•"/>
            </a:pPr>
            <a:r>
              <a:rPr lang="en-GB" sz="1600"/>
              <a:t>There are only 2 tests: "has title" and "get started link". These tests were done on 3 different browsers (chromium, firefox and webkit), making 6 tests in total.</a:t>
            </a:r>
          </a:p>
          <a:p>
            <a:pPr>
              <a:buFont typeface="Arial" panose="020B0604020202020204" pitchFamily="34" charset="0"/>
              <a:buChar char="•"/>
            </a:pPr>
            <a:r>
              <a:rPr lang="en-GB" sz="1600"/>
              <a:t>If https://playwright.dev is up, you should see all 6 tests passing. You can disconnect from the Internet (or edit the URL in the test script), and run the test again to see them fail.  </a:t>
            </a:r>
            <a:br>
              <a:rPr lang="en-GB" sz="1600"/>
            </a:br>
            <a:endParaRPr lang="en-GB" sz="1600"/>
          </a:p>
        </p:txBody>
      </p:sp>
    </p:spTree>
    <p:extLst>
      <p:ext uri="{BB962C8B-B14F-4D97-AF65-F5344CB8AC3E}">
        <p14:creationId xmlns:p14="http://schemas.microsoft.com/office/powerpoint/2010/main" val="1407660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F6384-B76E-705F-5E73-A8D1BAFEC3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D20385-9CF1-7C8E-9A9D-0D623CD9C435}"/>
              </a:ext>
            </a:extLst>
          </p:cNvPr>
          <p:cNvSpPr>
            <a:spLocks noGrp="1"/>
          </p:cNvSpPr>
          <p:nvPr>
            <p:ph type="title"/>
          </p:nvPr>
        </p:nvSpPr>
        <p:spPr>
          <a:xfrm>
            <a:off x="206663" y="66544"/>
            <a:ext cx="8520600" cy="630901"/>
          </a:xfrm>
        </p:spPr>
        <p:txBody>
          <a:bodyPr/>
          <a:lstStyle/>
          <a:p>
            <a:r>
              <a:rPr lang="en-US" sz="2800"/>
              <a:t>Setting Up for Ex 3 (3)</a:t>
            </a:r>
            <a:endParaRPr lang="en-SG" sz="4000"/>
          </a:p>
        </p:txBody>
      </p:sp>
      <p:sp>
        <p:nvSpPr>
          <p:cNvPr id="3" name="Text Placeholder 2">
            <a:extLst>
              <a:ext uri="{FF2B5EF4-FFF2-40B4-BE49-F238E27FC236}">
                <a16:creationId xmlns:a16="http://schemas.microsoft.com/office/drawing/2014/main" id="{FC91FBCC-84B8-D57C-28B2-46B946C5006B}"/>
              </a:ext>
            </a:extLst>
          </p:cNvPr>
          <p:cNvSpPr>
            <a:spLocks noGrp="1"/>
          </p:cNvSpPr>
          <p:nvPr>
            <p:ph type="body" idx="1"/>
          </p:nvPr>
        </p:nvSpPr>
        <p:spPr>
          <a:xfrm>
            <a:off x="209307" y="881063"/>
            <a:ext cx="7651934" cy="3734274"/>
          </a:xfrm>
        </p:spPr>
        <p:txBody>
          <a:bodyPr/>
          <a:lstStyle/>
          <a:p>
            <a:pPr marL="139700" indent="0">
              <a:buNone/>
            </a:pPr>
            <a:r>
              <a:rPr lang="en-GB" dirty="0"/>
              <a:t>(4) Install Playwright extension for VS code</a:t>
            </a:r>
          </a:p>
          <a:p>
            <a:pPr>
              <a:buFont typeface="Arial" panose="020B0604020202020204" pitchFamily="34" charset="0"/>
              <a:buChar char="•"/>
            </a:pPr>
            <a:r>
              <a:rPr lang="en-GB" dirty="0"/>
              <a:t>In VS Code, open Extensions (</a:t>
            </a:r>
            <a:r>
              <a:rPr lang="en-GB" dirty="0" err="1"/>
              <a:t>Ctrl+Shift+X</a:t>
            </a:r>
            <a:r>
              <a:rPr lang="en-GB" dirty="0"/>
              <a:t>). Search for "Playwright Test for VS Code" published by Microsoft and install it. Restart VS Code if necessary.</a:t>
            </a:r>
          </a:p>
          <a:p>
            <a:pPr>
              <a:buFont typeface="Arial" panose="020B0604020202020204" pitchFamily="34" charset="0"/>
              <a:buChar char="•"/>
            </a:pPr>
            <a:r>
              <a:rPr lang="en-GB" dirty="0"/>
              <a:t>On the Activity Bar of VS code, you'll now see a Testing icon (looks like a laboratory flask). Click on it to open Test Explorer. You may see an error message "No tests have been found in this workspace yet". </a:t>
            </a:r>
          </a:p>
          <a:p>
            <a:pPr>
              <a:buFont typeface="Arial" panose="020B0604020202020204" pitchFamily="34" charset="0"/>
              <a:buChar char="•"/>
            </a:pPr>
            <a:r>
              <a:rPr lang="en-GB" dirty="0"/>
              <a:t>In VS Code, open the folder where you installed Playwright, and you should see your default disabled tests in the Test Explorer.  </a:t>
            </a:r>
          </a:p>
          <a:p>
            <a:pPr lvl="1">
              <a:spcBef>
                <a:spcPts val="0"/>
              </a:spcBef>
              <a:buFont typeface="Arial" panose="020B0604020202020204" pitchFamily="34" charset="0"/>
              <a:buChar char="•"/>
            </a:pPr>
            <a:r>
              <a:rPr lang="en-GB" dirty="0"/>
              <a:t>If you don’t see it, </a:t>
            </a:r>
            <a:r>
              <a:rPr lang="en-GB" b="1" dirty="0"/>
              <a:t>expand “Playwright”. Under “Configs”,</a:t>
            </a:r>
            <a:r>
              <a:rPr lang="en-GB" dirty="0"/>
              <a:t> select ”</a:t>
            </a:r>
            <a:r>
              <a:rPr lang="en-GB" dirty="0" err="1"/>
              <a:t>playwright.config.js</a:t>
            </a:r>
            <a:r>
              <a:rPr lang="en-GB" dirty="0"/>
              <a:t>” file that was created when you run </a:t>
            </a:r>
            <a:r>
              <a:rPr lang="en-GB" dirty="0" err="1"/>
              <a:t>pnpm</a:t>
            </a:r>
            <a:r>
              <a:rPr lang="en-GB" dirty="0"/>
              <a:t> create playwright (slide 7) </a:t>
            </a:r>
          </a:p>
          <a:p>
            <a:pPr>
              <a:buFont typeface="Arial" panose="020B0604020202020204" pitchFamily="34" charset="0"/>
              <a:buChar char="•"/>
            </a:pPr>
            <a:r>
              <a:rPr lang="en-GB" dirty="0"/>
              <a:t>Expand "tests" to see </a:t>
            </a:r>
            <a:r>
              <a:rPr lang="en-GB" b="1" dirty="0"/>
              <a:t>example.spec.js</a:t>
            </a:r>
            <a:r>
              <a:rPr lang="en-GB" dirty="0"/>
              <a:t>. Right-click on </a:t>
            </a:r>
            <a:r>
              <a:rPr lang="en-GB" b="1" dirty="0"/>
              <a:t>example.spec.js </a:t>
            </a:r>
            <a:r>
              <a:rPr lang="en-GB" dirty="0"/>
              <a:t>and select "Go To Test" to see the source file (you used this same test in the previous step)</a:t>
            </a:r>
          </a:p>
          <a:p>
            <a:pPr>
              <a:buFont typeface="Arial" panose="020B0604020202020204" pitchFamily="34" charset="0"/>
              <a:buChar char="•"/>
            </a:pPr>
            <a:r>
              <a:rPr lang="en-GB" dirty="0"/>
              <a:t>Click on the "play" icon just beside </a:t>
            </a:r>
            <a:r>
              <a:rPr lang="en-GB" b="1" dirty="0"/>
              <a:t>example.spec.js</a:t>
            </a:r>
            <a:r>
              <a:rPr lang="en-GB" dirty="0"/>
              <a:t> to run the test. </a:t>
            </a:r>
          </a:p>
          <a:p>
            <a:pPr>
              <a:buFont typeface="Arial" panose="020B0604020202020204" pitchFamily="34" charset="0"/>
              <a:buChar char="•"/>
            </a:pPr>
            <a:r>
              <a:rPr lang="en-GB" dirty="0"/>
              <a:t>You can see the test results in the "Test Results" tab of the VS Code "Panel". (If you don't see the "Panel", from the VS Code menu bar, click View-&gt;Appearance-&gt;Panel to open it)</a:t>
            </a:r>
          </a:p>
        </p:txBody>
      </p:sp>
      <p:pic>
        <p:nvPicPr>
          <p:cNvPr id="4" name="Picture 3">
            <a:extLst>
              <a:ext uri="{FF2B5EF4-FFF2-40B4-BE49-F238E27FC236}">
                <a16:creationId xmlns:a16="http://schemas.microsoft.com/office/drawing/2014/main" id="{6CD16B81-21B8-2B34-B6E7-5977F7862AB6}"/>
              </a:ext>
            </a:extLst>
          </p:cNvPr>
          <p:cNvPicPr>
            <a:picLocks noChangeAspect="1"/>
          </p:cNvPicPr>
          <p:nvPr/>
        </p:nvPicPr>
        <p:blipFill>
          <a:blip r:embed="rId3"/>
          <a:srcRect l="84564"/>
          <a:stretch>
            <a:fillRect/>
          </a:stretch>
        </p:blipFill>
        <p:spPr>
          <a:xfrm>
            <a:off x="8233480" y="292584"/>
            <a:ext cx="585031" cy="2994080"/>
          </a:xfrm>
          <a:prstGeom prst="rect">
            <a:avLst/>
          </a:prstGeom>
        </p:spPr>
      </p:pic>
      <p:sp>
        <p:nvSpPr>
          <p:cNvPr id="6" name="Rectangle 5">
            <a:extLst>
              <a:ext uri="{FF2B5EF4-FFF2-40B4-BE49-F238E27FC236}">
                <a16:creationId xmlns:a16="http://schemas.microsoft.com/office/drawing/2014/main" id="{1327C010-32DF-9369-E851-892444D62ED3}"/>
              </a:ext>
            </a:extLst>
          </p:cNvPr>
          <p:cNvSpPr/>
          <p:nvPr/>
        </p:nvSpPr>
        <p:spPr>
          <a:xfrm>
            <a:off x="8372707" y="2763445"/>
            <a:ext cx="354556" cy="404453"/>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7" name="Straight Connector 6">
            <a:extLst>
              <a:ext uri="{FF2B5EF4-FFF2-40B4-BE49-F238E27FC236}">
                <a16:creationId xmlns:a16="http://schemas.microsoft.com/office/drawing/2014/main" id="{82203245-E6DC-96F1-454A-FE802FDD6DE5}"/>
              </a:ext>
            </a:extLst>
          </p:cNvPr>
          <p:cNvCxnSpPr>
            <a:cxnSpLocks/>
          </p:cNvCxnSpPr>
          <p:nvPr/>
        </p:nvCxnSpPr>
        <p:spPr>
          <a:xfrm flipH="1">
            <a:off x="8372707" y="3167898"/>
            <a:ext cx="216669" cy="615042"/>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9C214AD-30F8-BBE6-A1C0-61D4A66E4E04}"/>
              </a:ext>
            </a:extLst>
          </p:cNvPr>
          <p:cNvSpPr txBox="1"/>
          <p:nvPr/>
        </p:nvSpPr>
        <p:spPr>
          <a:xfrm>
            <a:off x="7704976" y="3782940"/>
            <a:ext cx="1335461" cy="600164"/>
          </a:xfrm>
          <a:prstGeom prst="rect">
            <a:avLst/>
          </a:prstGeom>
          <a:noFill/>
        </p:spPr>
        <p:txBody>
          <a:bodyPr wrap="square" rtlCol="0">
            <a:spAutoFit/>
          </a:bodyPr>
          <a:lstStyle/>
          <a:p>
            <a:pPr marL="139700" indent="0" algn="l">
              <a:buNone/>
            </a:pPr>
            <a:r>
              <a:rPr lang="en-US" sz="1100"/>
              <a:t>"Lab Flask" icon on VS Code's Activity Bar</a:t>
            </a:r>
            <a:endParaRPr lang="en-SG" sz="1100"/>
          </a:p>
        </p:txBody>
      </p:sp>
      <p:pic>
        <p:nvPicPr>
          <p:cNvPr id="9" name="Picture 8">
            <a:extLst>
              <a:ext uri="{FF2B5EF4-FFF2-40B4-BE49-F238E27FC236}">
                <a16:creationId xmlns:a16="http://schemas.microsoft.com/office/drawing/2014/main" id="{B6A380A7-13E6-E513-0873-82F455B9F3DD}"/>
              </a:ext>
            </a:extLst>
          </p:cNvPr>
          <p:cNvPicPr>
            <a:picLocks noChangeAspect="1"/>
          </p:cNvPicPr>
          <p:nvPr/>
        </p:nvPicPr>
        <p:blipFill>
          <a:blip r:embed="rId4"/>
          <a:stretch>
            <a:fillRect/>
          </a:stretch>
        </p:blipFill>
        <p:spPr>
          <a:xfrm>
            <a:off x="5462165" y="292584"/>
            <a:ext cx="2585196" cy="663185"/>
          </a:xfrm>
          <a:prstGeom prst="rect">
            <a:avLst/>
          </a:prstGeom>
        </p:spPr>
      </p:pic>
    </p:spTree>
    <p:extLst>
      <p:ext uri="{BB962C8B-B14F-4D97-AF65-F5344CB8AC3E}">
        <p14:creationId xmlns:p14="http://schemas.microsoft.com/office/powerpoint/2010/main" val="2167758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D4B75-4BE2-8DDE-87FB-2C69C3463C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A14493-CCE5-EB47-3E42-3B70FCEB636E}"/>
              </a:ext>
            </a:extLst>
          </p:cNvPr>
          <p:cNvSpPr>
            <a:spLocks noGrp="1"/>
          </p:cNvSpPr>
          <p:nvPr>
            <p:ph type="title"/>
          </p:nvPr>
        </p:nvSpPr>
        <p:spPr>
          <a:xfrm>
            <a:off x="206663" y="66544"/>
            <a:ext cx="8520600" cy="630901"/>
          </a:xfrm>
        </p:spPr>
        <p:txBody>
          <a:bodyPr/>
          <a:lstStyle/>
          <a:p>
            <a:r>
              <a:rPr lang="en-US" sz="2800"/>
              <a:t>Setting Up for Ex 3 (4)</a:t>
            </a:r>
            <a:endParaRPr lang="en-SG" sz="4000"/>
          </a:p>
        </p:txBody>
      </p:sp>
      <p:sp>
        <p:nvSpPr>
          <p:cNvPr id="3" name="Text Placeholder 2">
            <a:extLst>
              <a:ext uri="{FF2B5EF4-FFF2-40B4-BE49-F238E27FC236}">
                <a16:creationId xmlns:a16="http://schemas.microsoft.com/office/drawing/2014/main" id="{19ED0AB3-76BD-97F4-2E5F-06D1844FADF0}"/>
              </a:ext>
            </a:extLst>
          </p:cNvPr>
          <p:cNvSpPr>
            <a:spLocks noGrp="1"/>
          </p:cNvSpPr>
          <p:nvPr>
            <p:ph type="body" idx="1"/>
          </p:nvPr>
        </p:nvSpPr>
        <p:spPr>
          <a:xfrm>
            <a:off x="280744" y="852489"/>
            <a:ext cx="8725387" cy="4038600"/>
          </a:xfrm>
        </p:spPr>
        <p:txBody>
          <a:bodyPr/>
          <a:lstStyle/>
          <a:p>
            <a:pPr marL="139700" indent="0">
              <a:buNone/>
            </a:pPr>
            <a:r>
              <a:rPr lang="en-GB" sz="1600"/>
              <a:t>(5) Host a simple Web App for testing</a:t>
            </a:r>
          </a:p>
          <a:p>
            <a:pPr>
              <a:buFont typeface="Arial" panose="020B0604020202020204" pitchFamily="34" charset="0"/>
              <a:buChar char="•"/>
            </a:pPr>
            <a:r>
              <a:rPr lang="en-GB" sz="1600"/>
              <a:t>Copy </a:t>
            </a:r>
            <a:r>
              <a:rPr lang="en-GB" sz="1600" b="1"/>
              <a:t>index.html </a:t>
            </a:r>
            <a:r>
              <a:rPr lang="en-GB" sz="1600"/>
              <a:t>to the folder where you will host it on your laptop. </a:t>
            </a:r>
          </a:p>
          <a:p>
            <a:pPr>
              <a:buFont typeface="Arial" panose="020B0604020202020204" pitchFamily="34" charset="0"/>
              <a:buChar char="•"/>
            </a:pPr>
            <a:r>
              <a:rPr lang="en-GB" sz="1600"/>
              <a:t>Start a local web server. You can host </a:t>
            </a:r>
            <a:r>
              <a:rPr lang="en-GB" sz="1600" b="1"/>
              <a:t>index.html </a:t>
            </a:r>
            <a:r>
              <a:rPr lang="en-GB" sz="1600"/>
              <a:t>on Node (or any other local web server). </a:t>
            </a:r>
          </a:p>
          <a:p>
            <a:pPr>
              <a:buFont typeface="Arial" panose="020B0604020202020204" pitchFamily="34" charset="0"/>
              <a:buChar char="•"/>
            </a:pPr>
            <a:r>
              <a:rPr lang="en-GB" sz="1600"/>
              <a:t>Alternatively if you don't have a web server running, open terminal, cd to the folder containing </a:t>
            </a:r>
            <a:r>
              <a:rPr lang="en-GB" sz="1600" b="1"/>
              <a:t>index.html</a:t>
            </a:r>
            <a:r>
              <a:rPr lang="en-GB" sz="1600"/>
              <a:t>, and type:</a:t>
            </a:r>
            <a:br>
              <a:rPr lang="en-GB" sz="1600"/>
            </a:br>
            <a:r>
              <a:rPr lang="en-GB" sz="1600"/>
              <a:t>        </a:t>
            </a:r>
            <a:r>
              <a:rPr lang="en-GB" sz="1600" b="1"/>
              <a:t>pnpm dlx http-server</a:t>
            </a:r>
            <a:br>
              <a:rPr lang="en-GB" sz="1600" b="1"/>
            </a:br>
            <a:r>
              <a:rPr lang="en-GB" sz="1600"/>
              <a:t>This downloads and runs a simple http server on your laptop. ("dlx" is pnpm's command for temporarily downloading and running a package without installing it permanently in your project)</a:t>
            </a:r>
          </a:p>
          <a:p>
            <a:pPr>
              <a:buFont typeface="Arial" panose="020B0604020202020204" pitchFamily="34" charset="0"/>
              <a:buChar char="•"/>
            </a:pPr>
            <a:r>
              <a:rPr lang="en-GB" sz="1600"/>
              <a:t>View the hosted </a:t>
            </a:r>
            <a:r>
              <a:rPr lang="en-GB" sz="1600" b="1"/>
              <a:t>index.html </a:t>
            </a:r>
            <a:r>
              <a:rPr lang="en-GB" sz="1600"/>
              <a:t>in a browser to ensure that it's running: http://127.0.0.1:8080 (or whichever port mentioned in the prompt). Try entering "admin" and "1234" for a successful login; also observe the error message when login fails.</a:t>
            </a:r>
          </a:p>
        </p:txBody>
      </p:sp>
    </p:spTree>
    <p:extLst>
      <p:ext uri="{BB962C8B-B14F-4D97-AF65-F5344CB8AC3E}">
        <p14:creationId xmlns:p14="http://schemas.microsoft.com/office/powerpoint/2010/main" val="1268957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472E0-D17A-BDA5-DA60-AEA44059A5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EA24E8-139F-D451-4BD0-17A3CFC5CCCE}"/>
              </a:ext>
            </a:extLst>
          </p:cNvPr>
          <p:cNvSpPr>
            <a:spLocks noGrp="1"/>
          </p:cNvSpPr>
          <p:nvPr>
            <p:ph type="title"/>
          </p:nvPr>
        </p:nvSpPr>
        <p:spPr>
          <a:xfrm>
            <a:off x="206663" y="66544"/>
            <a:ext cx="8520600" cy="630901"/>
          </a:xfrm>
        </p:spPr>
        <p:txBody>
          <a:bodyPr/>
          <a:lstStyle/>
          <a:p>
            <a:r>
              <a:rPr lang="en-US" sz="2800"/>
              <a:t>(Demo) Ex3: E2E Testing On a Simple Web App</a:t>
            </a:r>
            <a:endParaRPr lang="en-SG" sz="4000"/>
          </a:p>
        </p:txBody>
      </p:sp>
      <p:sp>
        <p:nvSpPr>
          <p:cNvPr id="3" name="Text Placeholder 2">
            <a:extLst>
              <a:ext uri="{FF2B5EF4-FFF2-40B4-BE49-F238E27FC236}">
                <a16:creationId xmlns:a16="http://schemas.microsoft.com/office/drawing/2014/main" id="{1B58FA51-BFB6-9AC5-8B3E-B2084DA44A8C}"/>
              </a:ext>
            </a:extLst>
          </p:cNvPr>
          <p:cNvSpPr>
            <a:spLocks noGrp="1"/>
          </p:cNvSpPr>
          <p:nvPr>
            <p:ph type="body" idx="1"/>
          </p:nvPr>
        </p:nvSpPr>
        <p:spPr>
          <a:xfrm>
            <a:off x="314082" y="795339"/>
            <a:ext cx="8725387" cy="4038600"/>
          </a:xfrm>
        </p:spPr>
        <p:txBody>
          <a:bodyPr/>
          <a:lstStyle/>
          <a:p>
            <a:pPr marL="482600" indent="-342900">
              <a:buAutoNum type="arabicParenBoth"/>
            </a:pPr>
            <a:r>
              <a:rPr lang="en-GB" sz="1600" dirty="0"/>
              <a:t>Record user actions and automatically generate Playwright code</a:t>
            </a:r>
          </a:p>
          <a:p>
            <a:pPr>
              <a:buFont typeface="Arial" panose="020B0604020202020204" pitchFamily="34" charset="0"/>
              <a:buChar char="•"/>
            </a:pPr>
            <a:r>
              <a:rPr lang="en-GB" sz="1600" dirty="0"/>
              <a:t>In the Playwright panel (usually under Test Explorer), click "Record new". A browser opens with a pink page background. In VS Code, you can see a new default test file (</a:t>
            </a:r>
            <a:r>
              <a:rPr lang="en-GB" sz="1600" b="1" dirty="0"/>
              <a:t>test-1.spec.ts</a:t>
            </a:r>
            <a:r>
              <a:rPr lang="en-GB" sz="1600" dirty="0"/>
              <a:t>)</a:t>
            </a:r>
            <a:r>
              <a:rPr lang="en-GB" sz="1600" b="1" dirty="0"/>
              <a:t> </a:t>
            </a:r>
            <a:r>
              <a:rPr lang="en-GB" sz="1600" dirty="0"/>
              <a:t>file being generated. </a:t>
            </a:r>
          </a:p>
          <a:p>
            <a:pPr>
              <a:buFont typeface="Arial" panose="020B0604020202020204" pitchFamily="34" charset="0"/>
              <a:buChar char="•"/>
            </a:pPr>
            <a:r>
              <a:rPr lang="en-GB" sz="1600" dirty="0"/>
              <a:t>In the browser that opened, type in the URL: http://127.0.0.1:8080 and hit ENTER. In the VS Code window, notice that statements are automatically inserted into a default test file as your actions are "recorded".</a:t>
            </a:r>
          </a:p>
          <a:p>
            <a:pPr>
              <a:buFont typeface="Arial" panose="020B0604020202020204" pitchFamily="34" charset="0"/>
              <a:buChar char="•"/>
            </a:pPr>
            <a:r>
              <a:rPr lang="en-GB" sz="1600" dirty="0"/>
              <a:t>Type in "admin" and "1234" for the username and password fields and click on Login for a successful login. The "Welcome Admin!" text should appear. Click on "Welcome Admin!". </a:t>
            </a:r>
          </a:p>
          <a:p>
            <a:pPr>
              <a:buFont typeface="Arial" panose="020B0604020202020204" pitchFamily="34" charset="0"/>
              <a:buChar char="•"/>
            </a:pPr>
            <a:r>
              <a:rPr lang="en-GB" sz="1600" dirty="0"/>
              <a:t>Close the browser to stop recording, &amp; observe the test file that has been generated (see next slide). Remove unnecessary statements that were recorded.  </a:t>
            </a:r>
          </a:p>
          <a:p>
            <a:pPr>
              <a:buFont typeface="Arial" panose="020B0604020202020204" pitchFamily="34" charset="0"/>
              <a:buChar char="•"/>
            </a:pPr>
            <a:r>
              <a:rPr lang="en-GB" sz="1600" dirty="0"/>
              <a:t>The last statement simulates a mouse click on the "Welcome Admin!" text. Change that to an assertion instead:</a:t>
            </a:r>
          </a:p>
          <a:p>
            <a:pPr marL="139700" indent="0">
              <a:buNone/>
            </a:pPr>
            <a:r>
              <a:rPr lang="en-GB" sz="1600" dirty="0"/>
              <a:t>            </a:t>
            </a:r>
            <a:r>
              <a:rPr lang="en-GB" sz="1600" b="1" dirty="0"/>
              <a:t>await expect(</a:t>
            </a:r>
            <a:r>
              <a:rPr lang="en-GB" sz="1600" b="1" dirty="0" err="1"/>
              <a:t>page.getByText</a:t>
            </a:r>
            <a:r>
              <a:rPr lang="en-GB" sz="1600" b="1" dirty="0"/>
              <a:t>('Welcome Admin!')).</a:t>
            </a:r>
            <a:r>
              <a:rPr lang="en-GB" sz="1600" b="1" dirty="0" err="1"/>
              <a:t>toBeVisible</a:t>
            </a:r>
            <a:r>
              <a:rPr lang="en-GB" sz="1600" b="1" dirty="0"/>
              <a:t>();</a:t>
            </a:r>
          </a:p>
          <a:p>
            <a:pPr marL="139700" indent="0">
              <a:buNone/>
            </a:pPr>
            <a:endParaRPr lang="en-GB" sz="1600" dirty="0"/>
          </a:p>
        </p:txBody>
      </p:sp>
    </p:spTree>
    <p:extLst>
      <p:ext uri="{BB962C8B-B14F-4D97-AF65-F5344CB8AC3E}">
        <p14:creationId xmlns:p14="http://schemas.microsoft.com/office/powerpoint/2010/main" val="1816440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E67B3-0D5F-4641-0297-66DAEA2EA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EA196-94F9-D5B3-D307-B85A055A167F}"/>
              </a:ext>
            </a:extLst>
          </p:cNvPr>
          <p:cNvSpPr>
            <a:spLocks noGrp="1"/>
          </p:cNvSpPr>
          <p:nvPr>
            <p:ph type="title"/>
          </p:nvPr>
        </p:nvSpPr>
        <p:spPr>
          <a:xfrm>
            <a:off x="206663" y="66544"/>
            <a:ext cx="8520600" cy="630901"/>
          </a:xfrm>
        </p:spPr>
        <p:txBody>
          <a:bodyPr/>
          <a:lstStyle/>
          <a:p>
            <a:r>
              <a:rPr lang="en-US" sz="2800"/>
              <a:t>Ex3 (2)</a:t>
            </a:r>
            <a:endParaRPr lang="en-SG" sz="4000"/>
          </a:p>
        </p:txBody>
      </p:sp>
      <p:pic>
        <p:nvPicPr>
          <p:cNvPr id="7" name="Picture 6">
            <a:extLst>
              <a:ext uri="{FF2B5EF4-FFF2-40B4-BE49-F238E27FC236}">
                <a16:creationId xmlns:a16="http://schemas.microsoft.com/office/drawing/2014/main" id="{56083108-1DE5-17A6-C0A8-DE2DA1725228}"/>
              </a:ext>
            </a:extLst>
          </p:cNvPr>
          <p:cNvPicPr>
            <a:picLocks noChangeAspect="1"/>
          </p:cNvPicPr>
          <p:nvPr/>
        </p:nvPicPr>
        <p:blipFill>
          <a:blip r:embed="rId3"/>
          <a:stretch>
            <a:fillRect/>
          </a:stretch>
        </p:blipFill>
        <p:spPr>
          <a:xfrm>
            <a:off x="206663" y="1443038"/>
            <a:ext cx="8458025" cy="2705444"/>
          </a:xfrm>
          <a:prstGeom prst="rect">
            <a:avLst/>
          </a:prstGeom>
        </p:spPr>
      </p:pic>
      <p:grpSp>
        <p:nvGrpSpPr>
          <p:cNvPr id="15" name="Group 14">
            <a:extLst>
              <a:ext uri="{FF2B5EF4-FFF2-40B4-BE49-F238E27FC236}">
                <a16:creationId xmlns:a16="http://schemas.microsoft.com/office/drawing/2014/main" id="{6560B952-FB7A-B625-913B-0FC6DC74EB6B}"/>
              </a:ext>
            </a:extLst>
          </p:cNvPr>
          <p:cNvGrpSpPr/>
          <p:nvPr/>
        </p:nvGrpSpPr>
        <p:grpSpPr>
          <a:xfrm>
            <a:off x="989938" y="3629028"/>
            <a:ext cx="7591424" cy="944804"/>
            <a:chOff x="1052513" y="3157541"/>
            <a:chExt cx="7591424" cy="944804"/>
          </a:xfrm>
        </p:grpSpPr>
        <p:sp>
          <p:nvSpPr>
            <p:cNvPr id="9" name="Rectangle 8">
              <a:extLst>
                <a:ext uri="{FF2B5EF4-FFF2-40B4-BE49-F238E27FC236}">
                  <a16:creationId xmlns:a16="http://schemas.microsoft.com/office/drawing/2014/main" id="{8EDDB64E-022D-618E-E1EE-EF80BA1EFF90}"/>
                </a:ext>
              </a:extLst>
            </p:cNvPr>
            <p:cNvSpPr/>
            <p:nvPr/>
          </p:nvSpPr>
          <p:spPr>
            <a:xfrm>
              <a:off x="1052513" y="3157541"/>
              <a:ext cx="7591424" cy="271462"/>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1" name="Straight Connector 10">
              <a:extLst>
                <a:ext uri="{FF2B5EF4-FFF2-40B4-BE49-F238E27FC236}">
                  <a16:creationId xmlns:a16="http://schemas.microsoft.com/office/drawing/2014/main" id="{E6BDB97B-191A-AA02-FE9A-7B6534FCBDEB}"/>
                </a:ext>
              </a:extLst>
            </p:cNvPr>
            <p:cNvCxnSpPr/>
            <p:nvPr/>
          </p:nvCxnSpPr>
          <p:spPr>
            <a:xfrm>
              <a:off x="2738438" y="3429003"/>
              <a:ext cx="395287" cy="495297"/>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A590E6B-F310-F244-96E2-A0A9A80E6795}"/>
                </a:ext>
              </a:extLst>
            </p:cNvPr>
            <p:cNvSpPr txBox="1"/>
            <p:nvPr/>
          </p:nvSpPr>
          <p:spPr>
            <a:xfrm>
              <a:off x="2995613" y="3794568"/>
              <a:ext cx="4136069" cy="307777"/>
            </a:xfrm>
            <a:prstGeom prst="rect">
              <a:avLst/>
            </a:prstGeom>
            <a:noFill/>
          </p:spPr>
          <p:txBody>
            <a:bodyPr wrap="none" rtlCol="0">
              <a:spAutoFit/>
            </a:bodyPr>
            <a:lstStyle/>
            <a:p>
              <a:pPr marL="139700" indent="0" algn="l">
                <a:buNone/>
              </a:pPr>
              <a:r>
                <a:rPr lang="en-US"/>
                <a:t>Edit the last statement manually to an assertion.</a:t>
              </a:r>
              <a:endParaRPr lang="en-SG"/>
            </a:p>
          </p:txBody>
        </p:sp>
      </p:grpSp>
      <p:sp>
        <p:nvSpPr>
          <p:cNvPr id="14" name="TextBox 13">
            <a:extLst>
              <a:ext uri="{FF2B5EF4-FFF2-40B4-BE49-F238E27FC236}">
                <a16:creationId xmlns:a16="http://schemas.microsoft.com/office/drawing/2014/main" id="{3C165EA8-B243-2C27-E2FE-326DE58AF39C}"/>
              </a:ext>
            </a:extLst>
          </p:cNvPr>
          <p:cNvSpPr txBox="1"/>
          <p:nvPr/>
        </p:nvSpPr>
        <p:spPr>
          <a:xfrm>
            <a:off x="109538" y="815018"/>
            <a:ext cx="3706464" cy="307777"/>
          </a:xfrm>
          <a:prstGeom prst="rect">
            <a:avLst/>
          </a:prstGeom>
          <a:noFill/>
        </p:spPr>
        <p:txBody>
          <a:bodyPr wrap="none" rtlCol="0">
            <a:spAutoFit/>
          </a:bodyPr>
          <a:lstStyle/>
          <a:p>
            <a:pPr marL="139700" indent="0" algn="l">
              <a:buNone/>
            </a:pPr>
            <a:r>
              <a:rPr lang="en-US"/>
              <a:t>Test generated automatically by recording:</a:t>
            </a:r>
            <a:endParaRPr lang="en-SG"/>
          </a:p>
        </p:txBody>
      </p:sp>
    </p:spTree>
    <p:extLst>
      <p:ext uri="{BB962C8B-B14F-4D97-AF65-F5344CB8AC3E}">
        <p14:creationId xmlns:p14="http://schemas.microsoft.com/office/powerpoint/2010/main" val="420457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D2CEF-7A7F-25E4-ADA7-EE845E7361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C24256-0C69-68B6-4755-D23D8DB2F72E}"/>
              </a:ext>
            </a:extLst>
          </p:cNvPr>
          <p:cNvSpPr>
            <a:spLocks noGrp="1"/>
          </p:cNvSpPr>
          <p:nvPr>
            <p:ph type="title"/>
          </p:nvPr>
        </p:nvSpPr>
        <p:spPr>
          <a:xfrm>
            <a:off x="206663" y="66544"/>
            <a:ext cx="8520600" cy="630901"/>
          </a:xfrm>
        </p:spPr>
        <p:txBody>
          <a:bodyPr/>
          <a:lstStyle/>
          <a:p>
            <a:r>
              <a:rPr lang="en-US" sz="2800"/>
              <a:t>Ex3 (3)</a:t>
            </a:r>
            <a:endParaRPr lang="en-SG" sz="4000"/>
          </a:p>
        </p:txBody>
      </p:sp>
      <p:pic>
        <p:nvPicPr>
          <p:cNvPr id="7" name="Picture 6">
            <a:extLst>
              <a:ext uri="{FF2B5EF4-FFF2-40B4-BE49-F238E27FC236}">
                <a16:creationId xmlns:a16="http://schemas.microsoft.com/office/drawing/2014/main" id="{E4CC443F-4507-DD78-BB74-790BF09CB63B}"/>
              </a:ext>
            </a:extLst>
          </p:cNvPr>
          <p:cNvPicPr>
            <a:picLocks noChangeAspect="1"/>
          </p:cNvPicPr>
          <p:nvPr/>
        </p:nvPicPr>
        <p:blipFill>
          <a:blip r:embed="rId3"/>
          <a:stretch>
            <a:fillRect/>
          </a:stretch>
        </p:blipFill>
        <p:spPr>
          <a:xfrm>
            <a:off x="2080577" y="1522715"/>
            <a:ext cx="6130611" cy="1960981"/>
          </a:xfrm>
          <a:prstGeom prst="rect">
            <a:avLst/>
          </a:prstGeom>
        </p:spPr>
      </p:pic>
      <p:grpSp>
        <p:nvGrpSpPr>
          <p:cNvPr id="84" name="Group 83">
            <a:extLst>
              <a:ext uri="{FF2B5EF4-FFF2-40B4-BE49-F238E27FC236}">
                <a16:creationId xmlns:a16="http://schemas.microsoft.com/office/drawing/2014/main" id="{A3FBE68F-C578-F71C-AE62-0D604E1C73C4}"/>
              </a:ext>
            </a:extLst>
          </p:cNvPr>
          <p:cNvGrpSpPr/>
          <p:nvPr/>
        </p:nvGrpSpPr>
        <p:grpSpPr>
          <a:xfrm>
            <a:off x="255657" y="1474816"/>
            <a:ext cx="2584860" cy="705942"/>
            <a:chOff x="255657" y="1474816"/>
            <a:chExt cx="2584860" cy="705942"/>
          </a:xfrm>
        </p:grpSpPr>
        <p:sp>
          <p:nvSpPr>
            <p:cNvPr id="9" name="Rectangle 8">
              <a:extLst>
                <a:ext uri="{FF2B5EF4-FFF2-40B4-BE49-F238E27FC236}">
                  <a16:creationId xmlns:a16="http://schemas.microsoft.com/office/drawing/2014/main" id="{B147CC09-7D26-51B9-B7E9-D1CBCBC8F97B}"/>
                </a:ext>
              </a:extLst>
            </p:cNvPr>
            <p:cNvSpPr/>
            <p:nvPr/>
          </p:nvSpPr>
          <p:spPr>
            <a:xfrm>
              <a:off x="2582210" y="2027844"/>
              <a:ext cx="258307" cy="152914"/>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1" name="Straight Connector 10">
              <a:extLst>
                <a:ext uri="{FF2B5EF4-FFF2-40B4-BE49-F238E27FC236}">
                  <a16:creationId xmlns:a16="http://schemas.microsoft.com/office/drawing/2014/main" id="{593B8F26-71A4-05A5-EFA1-6754CB18C2C6}"/>
                </a:ext>
              </a:extLst>
            </p:cNvPr>
            <p:cNvCxnSpPr>
              <a:cxnSpLocks/>
              <a:stCxn id="9" idx="1"/>
              <a:endCxn id="12" idx="3"/>
            </p:cNvCxnSpPr>
            <p:nvPr/>
          </p:nvCxnSpPr>
          <p:spPr>
            <a:xfrm flipH="1" flipV="1">
              <a:off x="1777903" y="1782593"/>
              <a:ext cx="804307" cy="321708"/>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AEBAFEA-F566-6D76-C93F-7BD3F901A4DB}"/>
                </a:ext>
              </a:extLst>
            </p:cNvPr>
            <p:cNvSpPr txBox="1"/>
            <p:nvPr/>
          </p:nvSpPr>
          <p:spPr>
            <a:xfrm>
              <a:off x="255657" y="1474816"/>
              <a:ext cx="1522246" cy="615553"/>
            </a:xfrm>
            <a:prstGeom prst="rect">
              <a:avLst/>
            </a:prstGeom>
            <a:noFill/>
          </p:spPr>
          <p:txBody>
            <a:bodyPr wrap="square" lIns="0" tIns="0" rIns="0" bIns="0" rtlCol="0">
              <a:spAutoFit/>
            </a:bodyPr>
            <a:lstStyle/>
            <a:p>
              <a:pPr marL="139700" indent="0" algn="l">
                <a:buNone/>
              </a:pPr>
              <a:r>
                <a:rPr lang="en-US" sz="1000" b="1"/>
                <a:t>test() </a:t>
              </a:r>
              <a:r>
                <a:rPr lang="en-US" sz="1000"/>
                <a:t>is used to define a test case. </a:t>
              </a:r>
            </a:p>
            <a:p>
              <a:pPr marL="139700" indent="0" algn="l">
                <a:buNone/>
              </a:pPr>
              <a:r>
                <a:rPr lang="en-US" sz="1000"/>
                <a:t>Recall that </a:t>
              </a:r>
              <a:r>
                <a:rPr lang="en-US" sz="1000" b="1"/>
                <a:t>test()</a:t>
              </a:r>
              <a:r>
                <a:rPr lang="en-US" sz="1000"/>
                <a:t> is the same as </a:t>
              </a:r>
              <a:r>
                <a:rPr lang="en-US" sz="1000" b="1"/>
                <a:t>it()</a:t>
              </a:r>
              <a:r>
                <a:rPr lang="en-US" sz="1000"/>
                <a:t>.</a:t>
              </a:r>
            </a:p>
          </p:txBody>
        </p:sp>
      </p:grpSp>
      <p:grpSp>
        <p:nvGrpSpPr>
          <p:cNvPr id="78" name="Group 77">
            <a:extLst>
              <a:ext uri="{FF2B5EF4-FFF2-40B4-BE49-F238E27FC236}">
                <a16:creationId xmlns:a16="http://schemas.microsoft.com/office/drawing/2014/main" id="{A88E2DB2-14E4-2B11-C486-EBC223536277}"/>
              </a:ext>
            </a:extLst>
          </p:cNvPr>
          <p:cNvGrpSpPr/>
          <p:nvPr/>
        </p:nvGrpSpPr>
        <p:grpSpPr>
          <a:xfrm>
            <a:off x="2505655" y="420001"/>
            <a:ext cx="4953141" cy="1611439"/>
            <a:chOff x="2505655" y="420001"/>
            <a:chExt cx="4953141" cy="1611439"/>
          </a:xfrm>
        </p:grpSpPr>
        <p:cxnSp>
          <p:nvCxnSpPr>
            <p:cNvPr id="6" name="Straight Connector 5">
              <a:extLst>
                <a:ext uri="{FF2B5EF4-FFF2-40B4-BE49-F238E27FC236}">
                  <a16:creationId xmlns:a16="http://schemas.microsoft.com/office/drawing/2014/main" id="{84F26E1F-6DEE-7CEF-1298-AF3A948D88A8}"/>
                </a:ext>
              </a:extLst>
            </p:cNvPr>
            <p:cNvCxnSpPr>
              <a:cxnSpLocks/>
            </p:cNvCxnSpPr>
            <p:nvPr/>
          </p:nvCxnSpPr>
          <p:spPr>
            <a:xfrm flipV="1">
              <a:off x="3056617" y="727778"/>
              <a:ext cx="36897" cy="1303662"/>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6F705F8-F3B6-5E36-EBF1-F11047A0B35D}"/>
                </a:ext>
              </a:extLst>
            </p:cNvPr>
            <p:cNvSpPr txBox="1"/>
            <p:nvPr/>
          </p:nvSpPr>
          <p:spPr>
            <a:xfrm>
              <a:off x="2505655" y="420001"/>
              <a:ext cx="4953141" cy="307777"/>
            </a:xfrm>
            <a:prstGeom prst="rect">
              <a:avLst/>
            </a:prstGeom>
            <a:noFill/>
          </p:spPr>
          <p:txBody>
            <a:bodyPr wrap="square" lIns="0" tIns="0" rIns="0" bIns="0" rtlCol="0">
              <a:spAutoFit/>
            </a:bodyPr>
            <a:lstStyle/>
            <a:p>
              <a:pPr marL="139700" indent="0" algn="l">
                <a:buNone/>
              </a:pPr>
              <a:r>
                <a:rPr lang="en-US" sz="1000" b="1"/>
                <a:t>'test' </a:t>
              </a:r>
              <a:r>
                <a:rPr lang="en-US" sz="1000"/>
                <a:t>is the default name of this test case. You should change this to something more descriptive such as "should successfully log in with valid credentials"</a:t>
              </a:r>
              <a:endParaRPr lang="en-SG" sz="1000"/>
            </a:p>
          </p:txBody>
        </p:sp>
      </p:grpSp>
      <p:grpSp>
        <p:nvGrpSpPr>
          <p:cNvPr id="79" name="Group 78">
            <a:extLst>
              <a:ext uri="{FF2B5EF4-FFF2-40B4-BE49-F238E27FC236}">
                <a16:creationId xmlns:a16="http://schemas.microsoft.com/office/drawing/2014/main" id="{FBA59804-7852-552A-9708-8D7A11ACE575}"/>
              </a:ext>
            </a:extLst>
          </p:cNvPr>
          <p:cNvGrpSpPr/>
          <p:nvPr/>
        </p:nvGrpSpPr>
        <p:grpSpPr>
          <a:xfrm>
            <a:off x="3580760" y="817046"/>
            <a:ext cx="4809515" cy="1210798"/>
            <a:chOff x="3580760" y="817046"/>
            <a:chExt cx="4809515" cy="1210798"/>
          </a:xfrm>
        </p:grpSpPr>
        <p:cxnSp>
          <p:nvCxnSpPr>
            <p:cNvPr id="18" name="Straight Connector 17">
              <a:extLst>
                <a:ext uri="{FF2B5EF4-FFF2-40B4-BE49-F238E27FC236}">
                  <a16:creationId xmlns:a16="http://schemas.microsoft.com/office/drawing/2014/main" id="{3C24BB79-A525-DE46-86A5-D54173D0CFCF}"/>
                </a:ext>
              </a:extLst>
            </p:cNvPr>
            <p:cNvCxnSpPr>
              <a:cxnSpLocks/>
            </p:cNvCxnSpPr>
            <p:nvPr/>
          </p:nvCxnSpPr>
          <p:spPr>
            <a:xfrm flipV="1">
              <a:off x="3580760" y="985861"/>
              <a:ext cx="421872" cy="1041983"/>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41312345-92BF-68E0-BC71-853F23195DC4}"/>
                </a:ext>
              </a:extLst>
            </p:cNvPr>
            <p:cNvSpPr txBox="1"/>
            <p:nvPr/>
          </p:nvSpPr>
          <p:spPr>
            <a:xfrm>
              <a:off x="3818275" y="817046"/>
              <a:ext cx="4572000" cy="400110"/>
            </a:xfrm>
            <a:prstGeom prst="rect">
              <a:avLst/>
            </a:prstGeom>
            <a:noFill/>
          </p:spPr>
          <p:txBody>
            <a:bodyPr wrap="square">
              <a:spAutoFit/>
            </a:bodyPr>
            <a:lstStyle/>
            <a:p>
              <a:pPr marL="139700"/>
              <a:r>
                <a:rPr lang="en-SG" sz="1000" b="1"/>
                <a:t>async</a:t>
              </a:r>
              <a:r>
                <a:rPr lang="en-SG" sz="1000"/>
                <a:t> means the function contains asynchronous operations. Because </a:t>
              </a:r>
              <a:r>
                <a:rPr lang="en-SG" sz="1000" b="1"/>
                <a:t>await</a:t>
              </a:r>
              <a:r>
                <a:rPr lang="en-SG" sz="1000"/>
                <a:t> is used, the surrounding function must be declared with </a:t>
              </a:r>
              <a:r>
                <a:rPr lang="en-SG" sz="1000" b="1"/>
                <a:t>async</a:t>
              </a:r>
              <a:r>
                <a:rPr lang="en-SG" sz="1000"/>
                <a:t>.</a:t>
              </a:r>
            </a:p>
          </p:txBody>
        </p:sp>
      </p:grpSp>
      <p:grpSp>
        <p:nvGrpSpPr>
          <p:cNvPr id="80" name="Group 79">
            <a:extLst>
              <a:ext uri="{FF2B5EF4-FFF2-40B4-BE49-F238E27FC236}">
                <a16:creationId xmlns:a16="http://schemas.microsoft.com/office/drawing/2014/main" id="{693D9722-E213-E3D5-DEF5-F31443B9B2C6}"/>
              </a:ext>
            </a:extLst>
          </p:cNvPr>
          <p:cNvGrpSpPr/>
          <p:nvPr/>
        </p:nvGrpSpPr>
        <p:grpSpPr>
          <a:xfrm>
            <a:off x="4140603" y="1205234"/>
            <a:ext cx="3952260" cy="822610"/>
            <a:chOff x="4140603" y="1205234"/>
            <a:chExt cx="3952260" cy="822610"/>
          </a:xfrm>
        </p:grpSpPr>
        <p:sp>
          <p:nvSpPr>
            <p:cNvPr id="24" name="TextBox 23">
              <a:extLst>
                <a:ext uri="{FF2B5EF4-FFF2-40B4-BE49-F238E27FC236}">
                  <a16:creationId xmlns:a16="http://schemas.microsoft.com/office/drawing/2014/main" id="{B0FBFA38-2E6C-B642-5AA0-A08E4878768F}"/>
                </a:ext>
              </a:extLst>
            </p:cNvPr>
            <p:cNvSpPr txBox="1"/>
            <p:nvPr/>
          </p:nvSpPr>
          <p:spPr>
            <a:xfrm>
              <a:off x="4466963" y="1205234"/>
              <a:ext cx="3625900" cy="246221"/>
            </a:xfrm>
            <a:prstGeom prst="rect">
              <a:avLst/>
            </a:prstGeom>
            <a:noFill/>
          </p:spPr>
          <p:txBody>
            <a:bodyPr wrap="square">
              <a:spAutoFit/>
            </a:bodyPr>
            <a:lstStyle/>
            <a:p>
              <a:pPr marL="139700"/>
              <a:r>
                <a:rPr lang="en-SG" sz="1000" b="1"/>
                <a:t>page </a:t>
              </a:r>
              <a:r>
                <a:rPr lang="en-SG" sz="1000"/>
                <a:t>represents a browser page controlled by Playwright. </a:t>
              </a:r>
            </a:p>
          </p:txBody>
        </p:sp>
        <p:cxnSp>
          <p:nvCxnSpPr>
            <p:cNvPr id="25" name="Straight Connector 24">
              <a:extLst>
                <a:ext uri="{FF2B5EF4-FFF2-40B4-BE49-F238E27FC236}">
                  <a16:creationId xmlns:a16="http://schemas.microsoft.com/office/drawing/2014/main" id="{55C2283A-CA2F-D7EE-566F-8FAA756AC205}"/>
                </a:ext>
              </a:extLst>
            </p:cNvPr>
            <p:cNvCxnSpPr>
              <a:cxnSpLocks/>
            </p:cNvCxnSpPr>
            <p:nvPr/>
          </p:nvCxnSpPr>
          <p:spPr>
            <a:xfrm flipV="1">
              <a:off x="4140603" y="1383368"/>
              <a:ext cx="497740" cy="644476"/>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82" name="Group 81">
            <a:extLst>
              <a:ext uri="{FF2B5EF4-FFF2-40B4-BE49-F238E27FC236}">
                <a16:creationId xmlns:a16="http://schemas.microsoft.com/office/drawing/2014/main" id="{30765851-D0D9-8BF7-FB35-F50D841D3707}"/>
              </a:ext>
            </a:extLst>
          </p:cNvPr>
          <p:cNvGrpSpPr/>
          <p:nvPr/>
        </p:nvGrpSpPr>
        <p:grpSpPr>
          <a:xfrm>
            <a:off x="3519311" y="3131024"/>
            <a:ext cx="5377455" cy="1634338"/>
            <a:chOff x="3519311" y="3131024"/>
            <a:chExt cx="5377455" cy="1634338"/>
          </a:xfrm>
        </p:grpSpPr>
        <p:cxnSp>
          <p:nvCxnSpPr>
            <p:cNvPr id="33" name="Straight Connector 32">
              <a:extLst>
                <a:ext uri="{FF2B5EF4-FFF2-40B4-BE49-F238E27FC236}">
                  <a16:creationId xmlns:a16="http://schemas.microsoft.com/office/drawing/2014/main" id="{41209E21-CE54-7D1D-AE90-FEACB8D30CDA}"/>
                </a:ext>
              </a:extLst>
            </p:cNvPr>
            <p:cNvCxnSpPr>
              <a:cxnSpLocks/>
              <a:stCxn id="36" idx="2"/>
              <a:endCxn id="34" idx="1"/>
            </p:cNvCxnSpPr>
            <p:nvPr/>
          </p:nvCxnSpPr>
          <p:spPr>
            <a:xfrm>
              <a:off x="4525908" y="3291980"/>
              <a:ext cx="1189314" cy="888607"/>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82A4DE83-F4AD-7562-F23B-8C6A698313A2}"/>
                </a:ext>
              </a:extLst>
            </p:cNvPr>
            <p:cNvSpPr txBox="1"/>
            <p:nvPr/>
          </p:nvSpPr>
          <p:spPr>
            <a:xfrm>
              <a:off x="5715222" y="3595811"/>
              <a:ext cx="3181544" cy="1169551"/>
            </a:xfrm>
            <a:prstGeom prst="rect">
              <a:avLst/>
            </a:prstGeom>
            <a:noFill/>
          </p:spPr>
          <p:txBody>
            <a:bodyPr wrap="square">
              <a:spAutoFit/>
            </a:bodyPr>
            <a:lstStyle/>
            <a:p>
              <a:pPr marL="139700" indent="0" algn="l">
                <a:buNone/>
              </a:pPr>
              <a:r>
                <a:rPr lang="en-US" sz="1000"/>
                <a:t>Assertion in the test. </a:t>
              </a:r>
            </a:p>
            <a:p>
              <a:pPr marL="139700" indent="0" algn="l">
                <a:buNone/>
              </a:pPr>
              <a:r>
                <a:rPr lang="en-US" sz="1000" b="1"/>
                <a:t>page.getByText('Welcome Admin!')</a:t>
              </a:r>
              <a:r>
                <a:rPr lang="en-US" sz="1000"/>
                <a:t> locates an element containing the text 'Welcome Admin!'.</a:t>
              </a:r>
            </a:p>
            <a:p>
              <a:pPr marL="139700" indent="0" algn="l">
                <a:buNone/>
              </a:pPr>
              <a:r>
                <a:rPr lang="en-US" sz="1000" b="1"/>
                <a:t>.toBeVisible()</a:t>
              </a:r>
              <a:r>
                <a:rPr lang="en-US" sz="1000"/>
                <a:t> is the matcher</a:t>
              </a:r>
            </a:p>
            <a:p>
              <a:pPr marL="139700" indent="0" algn="l">
                <a:buNone/>
              </a:pPr>
              <a:r>
                <a:rPr lang="en-US" sz="1000"/>
                <a:t>In plain English:</a:t>
              </a:r>
            </a:p>
            <a:p>
              <a:pPr marL="139700"/>
              <a:r>
                <a:rPr lang="en-SG" sz="1000" i="1">
                  <a:latin typeface="Times New Roman" panose="02020603050405020304" pitchFamily="18" charset="0"/>
                  <a:cs typeface="Times New Roman" panose="02020603050405020304" pitchFamily="18" charset="0"/>
                </a:rPr>
                <a:t>I expect the text "Welcome Admin!" to be visible on the page.</a:t>
              </a:r>
              <a:endParaRPr lang="en-US" sz="1000" i="1">
                <a:latin typeface="Times New Roman" panose="02020603050405020304" pitchFamily="18" charset="0"/>
                <a:cs typeface="Times New Roman" panose="02020603050405020304" pitchFamily="18" charset="0"/>
              </a:endParaRPr>
            </a:p>
          </p:txBody>
        </p:sp>
        <p:sp>
          <p:nvSpPr>
            <p:cNvPr id="36" name="Rectangle 35">
              <a:extLst>
                <a:ext uri="{FF2B5EF4-FFF2-40B4-BE49-F238E27FC236}">
                  <a16:creationId xmlns:a16="http://schemas.microsoft.com/office/drawing/2014/main" id="{E9DD9E6D-CEEE-FE96-2225-5D4DEA65A735}"/>
                </a:ext>
              </a:extLst>
            </p:cNvPr>
            <p:cNvSpPr/>
            <p:nvPr/>
          </p:nvSpPr>
          <p:spPr>
            <a:xfrm>
              <a:off x="3519311" y="3131024"/>
              <a:ext cx="2013193" cy="160956"/>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44" name="TextBox 43">
            <a:extLst>
              <a:ext uri="{FF2B5EF4-FFF2-40B4-BE49-F238E27FC236}">
                <a16:creationId xmlns:a16="http://schemas.microsoft.com/office/drawing/2014/main" id="{9A95D500-DE96-47E3-4434-98E1437C1499}"/>
              </a:ext>
            </a:extLst>
          </p:cNvPr>
          <p:cNvSpPr txBox="1"/>
          <p:nvPr/>
        </p:nvSpPr>
        <p:spPr>
          <a:xfrm>
            <a:off x="2054536" y="4186493"/>
            <a:ext cx="3047848" cy="707886"/>
          </a:xfrm>
          <a:prstGeom prst="rect">
            <a:avLst/>
          </a:prstGeom>
          <a:solidFill>
            <a:schemeClr val="accent5">
              <a:lumMod val="20000"/>
              <a:lumOff val="80000"/>
            </a:schemeClr>
          </a:solidFill>
        </p:spPr>
        <p:txBody>
          <a:bodyPr wrap="square">
            <a:spAutoFit/>
          </a:bodyPr>
          <a:lstStyle/>
          <a:p>
            <a:r>
              <a:rPr lang="en-US" sz="1000"/>
              <a:t>There are 3 stages in most tests:</a:t>
            </a:r>
          </a:p>
          <a:p>
            <a:r>
              <a:rPr lang="en-US" sz="1000"/>
              <a:t>(1) setup: go to a particular page (line 4)</a:t>
            </a:r>
          </a:p>
          <a:p>
            <a:r>
              <a:rPr lang="en-US" sz="1000"/>
              <a:t>(2) actions: enter credentials &amp; log in (lines 5-9)</a:t>
            </a:r>
          </a:p>
          <a:p>
            <a:r>
              <a:rPr lang="en-US" sz="1000"/>
              <a:t>(3) assert: verify that login was successful (line 10)</a:t>
            </a:r>
            <a:endParaRPr lang="en-SG"/>
          </a:p>
        </p:txBody>
      </p:sp>
      <p:grpSp>
        <p:nvGrpSpPr>
          <p:cNvPr id="81" name="Group 80">
            <a:extLst>
              <a:ext uri="{FF2B5EF4-FFF2-40B4-BE49-F238E27FC236}">
                <a16:creationId xmlns:a16="http://schemas.microsoft.com/office/drawing/2014/main" id="{4D3D8EDA-3FD0-B166-07F4-5D3C256E38CC}"/>
              </a:ext>
            </a:extLst>
          </p:cNvPr>
          <p:cNvGrpSpPr/>
          <p:nvPr/>
        </p:nvGrpSpPr>
        <p:grpSpPr>
          <a:xfrm>
            <a:off x="3056617" y="1753547"/>
            <a:ext cx="5930176" cy="1365705"/>
            <a:chOff x="3056617" y="1753547"/>
            <a:chExt cx="5930176" cy="1365705"/>
          </a:xfrm>
        </p:grpSpPr>
        <p:cxnSp>
          <p:nvCxnSpPr>
            <p:cNvPr id="29" name="Straight Connector 28">
              <a:extLst>
                <a:ext uri="{FF2B5EF4-FFF2-40B4-BE49-F238E27FC236}">
                  <a16:creationId xmlns:a16="http://schemas.microsoft.com/office/drawing/2014/main" id="{350FA009-D81A-3AF8-DB7B-BEE0F7CDED3F}"/>
                </a:ext>
              </a:extLst>
            </p:cNvPr>
            <p:cNvCxnSpPr>
              <a:cxnSpLocks/>
            </p:cNvCxnSpPr>
            <p:nvPr/>
          </p:nvCxnSpPr>
          <p:spPr>
            <a:xfrm flipV="1">
              <a:off x="6400800" y="2503205"/>
              <a:ext cx="1810388" cy="541349"/>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1319BE18-7285-84F7-21A5-D27F8B31AB66}"/>
                </a:ext>
              </a:extLst>
            </p:cNvPr>
            <p:cNvSpPr txBox="1"/>
            <p:nvPr/>
          </p:nvSpPr>
          <p:spPr>
            <a:xfrm>
              <a:off x="6912104" y="1753547"/>
              <a:ext cx="2074689" cy="861774"/>
            </a:xfrm>
            <a:prstGeom prst="rect">
              <a:avLst/>
            </a:prstGeom>
            <a:noFill/>
          </p:spPr>
          <p:txBody>
            <a:bodyPr wrap="square">
              <a:spAutoFit/>
            </a:bodyPr>
            <a:lstStyle/>
            <a:p>
              <a:pPr marL="139700" indent="0" algn="l">
                <a:buNone/>
              </a:pPr>
              <a:r>
                <a:rPr lang="en-US" sz="1000" b="1"/>
                <a:t>page.getByRole('button',….).click()</a:t>
              </a:r>
              <a:r>
                <a:rPr lang="en-US" sz="1000"/>
                <a:t> locates a button with role (of button) and accessible name (Login). Then simulate a user click.</a:t>
              </a:r>
            </a:p>
          </p:txBody>
        </p:sp>
        <p:sp>
          <p:nvSpPr>
            <p:cNvPr id="64" name="Rectangle 63">
              <a:extLst>
                <a:ext uri="{FF2B5EF4-FFF2-40B4-BE49-F238E27FC236}">
                  <a16:creationId xmlns:a16="http://schemas.microsoft.com/office/drawing/2014/main" id="{05860940-4AD4-D929-B5AC-4A6809E99010}"/>
                </a:ext>
              </a:extLst>
            </p:cNvPr>
            <p:cNvSpPr/>
            <p:nvPr/>
          </p:nvSpPr>
          <p:spPr>
            <a:xfrm>
              <a:off x="3056617" y="2958296"/>
              <a:ext cx="3344183" cy="160956"/>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83" name="Group 82">
            <a:extLst>
              <a:ext uri="{FF2B5EF4-FFF2-40B4-BE49-F238E27FC236}">
                <a16:creationId xmlns:a16="http://schemas.microsoft.com/office/drawing/2014/main" id="{A097DE45-147C-C0F3-51BF-0F23004EFA11}"/>
              </a:ext>
            </a:extLst>
          </p:cNvPr>
          <p:cNvGrpSpPr/>
          <p:nvPr/>
        </p:nvGrpSpPr>
        <p:grpSpPr>
          <a:xfrm>
            <a:off x="157207" y="2205766"/>
            <a:ext cx="2878989" cy="2244155"/>
            <a:chOff x="157207" y="2205766"/>
            <a:chExt cx="2878989" cy="2244155"/>
          </a:xfrm>
        </p:grpSpPr>
        <p:sp>
          <p:nvSpPr>
            <p:cNvPr id="66" name="Rectangle 65">
              <a:extLst>
                <a:ext uri="{FF2B5EF4-FFF2-40B4-BE49-F238E27FC236}">
                  <a16:creationId xmlns:a16="http://schemas.microsoft.com/office/drawing/2014/main" id="{40B89D7E-5CBC-DECE-695F-A3CF3D7CB3D6}"/>
                </a:ext>
              </a:extLst>
            </p:cNvPr>
            <p:cNvSpPr/>
            <p:nvPr/>
          </p:nvSpPr>
          <p:spPr>
            <a:xfrm>
              <a:off x="2690942" y="2205766"/>
              <a:ext cx="345254" cy="138608"/>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67" name="Straight Connector 66">
              <a:extLst>
                <a:ext uri="{FF2B5EF4-FFF2-40B4-BE49-F238E27FC236}">
                  <a16:creationId xmlns:a16="http://schemas.microsoft.com/office/drawing/2014/main" id="{AE627E7C-3AF2-3C55-35C5-8E6F65E1C486}"/>
                </a:ext>
              </a:extLst>
            </p:cNvPr>
            <p:cNvCxnSpPr>
              <a:cxnSpLocks/>
              <a:stCxn id="66" idx="1"/>
              <a:endCxn id="68" idx="3"/>
            </p:cNvCxnSpPr>
            <p:nvPr/>
          </p:nvCxnSpPr>
          <p:spPr>
            <a:xfrm flipH="1">
              <a:off x="1846708" y="2275070"/>
              <a:ext cx="844234" cy="1174577"/>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2333C38B-459D-237A-84CD-9755EC30DBF1}"/>
                </a:ext>
              </a:extLst>
            </p:cNvPr>
            <p:cNvSpPr txBox="1"/>
            <p:nvPr/>
          </p:nvSpPr>
          <p:spPr>
            <a:xfrm>
              <a:off x="157207" y="2449373"/>
              <a:ext cx="1689501" cy="2000548"/>
            </a:xfrm>
            <a:prstGeom prst="rect">
              <a:avLst/>
            </a:prstGeom>
            <a:noFill/>
          </p:spPr>
          <p:txBody>
            <a:bodyPr wrap="square" lIns="0" tIns="0" rIns="0" bIns="0" rtlCol="0">
              <a:spAutoFit/>
            </a:bodyPr>
            <a:lstStyle/>
            <a:p>
              <a:pPr marL="139700" indent="0" algn="l">
                <a:buNone/>
              </a:pPr>
              <a:r>
                <a:rPr lang="en-US" sz="1000" b="1"/>
                <a:t>await </a:t>
              </a:r>
              <a:r>
                <a:rPr lang="en-US" sz="1000"/>
                <a:t>pauses execution at that point until the async operation is complete. So here, the </a:t>
              </a:r>
              <a:r>
                <a:rPr lang="en-US" sz="1000" b="1"/>
                <a:t>await </a:t>
              </a:r>
              <a:r>
                <a:rPr lang="en-US" sz="1000"/>
                <a:t>keyword waits for Playwright to complete going to the URL before continuing to the next line. Without </a:t>
              </a:r>
              <a:r>
                <a:rPr lang="en-US" sz="1000" b="1"/>
                <a:t>await</a:t>
              </a:r>
              <a:r>
                <a:rPr lang="en-US" sz="1000"/>
                <a:t>, the program could start tryhing to find the Username textbox before the page has finished loading!</a:t>
              </a:r>
            </a:p>
          </p:txBody>
        </p:sp>
      </p:grpSp>
    </p:spTree>
    <p:extLst>
      <p:ext uri="{BB962C8B-B14F-4D97-AF65-F5344CB8AC3E}">
        <p14:creationId xmlns:p14="http://schemas.microsoft.com/office/powerpoint/2010/main" val="3950927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5311A-9690-7A2C-A670-9A933AEB12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99A127-6103-6DBC-8F50-314D18E3A5E5}"/>
              </a:ext>
            </a:extLst>
          </p:cNvPr>
          <p:cNvSpPr>
            <a:spLocks noGrp="1"/>
          </p:cNvSpPr>
          <p:nvPr>
            <p:ph type="title"/>
          </p:nvPr>
        </p:nvSpPr>
        <p:spPr>
          <a:xfrm>
            <a:off x="206663" y="66544"/>
            <a:ext cx="8520600" cy="630901"/>
          </a:xfrm>
        </p:spPr>
        <p:txBody>
          <a:bodyPr/>
          <a:lstStyle/>
          <a:p>
            <a:r>
              <a:rPr lang="en-US" sz="2800"/>
              <a:t>Ex3 (4)</a:t>
            </a:r>
            <a:endParaRPr lang="en-SG" sz="4000"/>
          </a:p>
        </p:txBody>
      </p:sp>
      <p:sp>
        <p:nvSpPr>
          <p:cNvPr id="3" name="Text Placeholder 2">
            <a:extLst>
              <a:ext uri="{FF2B5EF4-FFF2-40B4-BE49-F238E27FC236}">
                <a16:creationId xmlns:a16="http://schemas.microsoft.com/office/drawing/2014/main" id="{27F753F1-E4DE-047F-B71A-30D61DED0045}"/>
              </a:ext>
            </a:extLst>
          </p:cNvPr>
          <p:cNvSpPr>
            <a:spLocks noGrp="1"/>
          </p:cNvSpPr>
          <p:nvPr>
            <p:ph type="body" idx="1"/>
          </p:nvPr>
        </p:nvSpPr>
        <p:spPr>
          <a:xfrm>
            <a:off x="406665" y="767666"/>
            <a:ext cx="8623300" cy="1560327"/>
          </a:xfrm>
        </p:spPr>
        <p:txBody>
          <a:bodyPr/>
          <a:lstStyle/>
          <a:p>
            <a:pPr marL="139700" indent="0">
              <a:buNone/>
            </a:pPr>
            <a:r>
              <a:rPr lang="en-GB" sz="1600"/>
              <a:t>(2) Run the recorded test</a:t>
            </a:r>
          </a:p>
          <a:p>
            <a:pPr>
              <a:buFont typeface="Arial" panose="020B0604020202020204" pitchFamily="34" charset="0"/>
              <a:buChar char="•"/>
            </a:pPr>
            <a:r>
              <a:rPr lang="en-GB" sz="1600"/>
              <a:t>Select the </a:t>
            </a:r>
            <a:r>
              <a:rPr lang="en-GB" sz="1600" b="1"/>
              <a:t>test.spec.ts </a:t>
            </a:r>
            <a:r>
              <a:rPr lang="en-GB" sz="1600"/>
              <a:t>file you have just generated in Text Explorer. Click on the "play" icon at the right of the file name to run the test. </a:t>
            </a:r>
          </a:p>
          <a:p>
            <a:pPr>
              <a:buFont typeface="Arial" panose="020B0604020202020204" pitchFamily="34" charset="0"/>
              <a:buChar char="•"/>
            </a:pPr>
            <a:r>
              <a:rPr lang="en-GB" sz="1600"/>
              <a:t>The test should pass at this point (unless your web server is down). You can see the test results in the "Test Results" tab.</a:t>
            </a:r>
          </a:p>
        </p:txBody>
      </p:sp>
      <p:grpSp>
        <p:nvGrpSpPr>
          <p:cNvPr id="17" name="Group 16">
            <a:extLst>
              <a:ext uri="{FF2B5EF4-FFF2-40B4-BE49-F238E27FC236}">
                <a16:creationId xmlns:a16="http://schemas.microsoft.com/office/drawing/2014/main" id="{AAB7E12B-CC39-0A85-D03F-2F0132F20705}"/>
              </a:ext>
            </a:extLst>
          </p:cNvPr>
          <p:cNvGrpSpPr/>
          <p:nvPr/>
        </p:nvGrpSpPr>
        <p:grpSpPr>
          <a:xfrm>
            <a:off x="424208" y="2796460"/>
            <a:ext cx="5844624" cy="1909595"/>
            <a:chOff x="424208" y="2796460"/>
            <a:chExt cx="5844624" cy="1909595"/>
          </a:xfrm>
        </p:grpSpPr>
        <p:pic>
          <p:nvPicPr>
            <p:cNvPr id="5" name="Picture 4">
              <a:extLst>
                <a:ext uri="{FF2B5EF4-FFF2-40B4-BE49-F238E27FC236}">
                  <a16:creationId xmlns:a16="http://schemas.microsoft.com/office/drawing/2014/main" id="{5E701F03-FC9F-7BBD-E12A-C585D26D1176}"/>
                </a:ext>
              </a:extLst>
            </p:cNvPr>
            <p:cNvPicPr>
              <a:picLocks noChangeAspect="1"/>
            </p:cNvPicPr>
            <p:nvPr/>
          </p:nvPicPr>
          <p:blipFill>
            <a:blip r:embed="rId3"/>
            <a:stretch>
              <a:fillRect/>
            </a:stretch>
          </p:blipFill>
          <p:spPr>
            <a:xfrm>
              <a:off x="2169111" y="2796460"/>
              <a:ext cx="2417292" cy="1909595"/>
            </a:xfrm>
            <a:prstGeom prst="rect">
              <a:avLst/>
            </a:prstGeom>
          </p:spPr>
        </p:pic>
        <p:grpSp>
          <p:nvGrpSpPr>
            <p:cNvPr id="6" name="Group 5">
              <a:extLst>
                <a:ext uri="{FF2B5EF4-FFF2-40B4-BE49-F238E27FC236}">
                  <a16:creationId xmlns:a16="http://schemas.microsoft.com/office/drawing/2014/main" id="{31F9F947-0B6A-1F81-DAD0-4D37528B20CD}"/>
                </a:ext>
              </a:extLst>
            </p:cNvPr>
            <p:cNvGrpSpPr/>
            <p:nvPr/>
          </p:nvGrpSpPr>
          <p:grpSpPr>
            <a:xfrm>
              <a:off x="3544312" y="2838108"/>
              <a:ext cx="2724520" cy="1458156"/>
              <a:chOff x="-6577511" y="2888396"/>
              <a:chExt cx="18495645" cy="967310"/>
            </a:xfrm>
          </p:grpSpPr>
          <p:sp>
            <p:nvSpPr>
              <p:cNvPr id="7" name="Rectangle 6">
                <a:extLst>
                  <a:ext uri="{FF2B5EF4-FFF2-40B4-BE49-F238E27FC236}">
                    <a16:creationId xmlns:a16="http://schemas.microsoft.com/office/drawing/2014/main" id="{0211AEFD-58C6-932D-0A5D-D7FC19EBD9D9}"/>
                  </a:ext>
                </a:extLst>
              </p:cNvPr>
              <p:cNvSpPr/>
              <p:nvPr/>
            </p:nvSpPr>
            <p:spPr>
              <a:xfrm>
                <a:off x="-6577511" y="3731135"/>
                <a:ext cx="1348383" cy="124571"/>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 name="Straight Connector 7">
                <a:extLst>
                  <a:ext uri="{FF2B5EF4-FFF2-40B4-BE49-F238E27FC236}">
                    <a16:creationId xmlns:a16="http://schemas.microsoft.com/office/drawing/2014/main" id="{6DE4EBC7-9518-87A4-0972-1483322E3986}"/>
                  </a:ext>
                </a:extLst>
              </p:cNvPr>
              <p:cNvCxnSpPr>
                <a:cxnSpLocks/>
                <a:stCxn id="7" idx="3"/>
              </p:cNvCxnSpPr>
              <p:nvPr/>
            </p:nvCxnSpPr>
            <p:spPr>
              <a:xfrm flipV="1">
                <a:off x="-5229128" y="3022472"/>
                <a:ext cx="9082052" cy="77094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6DB58D1-EB1A-4B74-128E-5C7BFE55BD29}"/>
                  </a:ext>
                </a:extLst>
              </p:cNvPr>
              <p:cNvSpPr txBox="1"/>
              <p:nvPr/>
            </p:nvSpPr>
            <p:spPr>
              <a:xfrm>
                <a:off x="2531478" y="2888396"/>
                <a:ext cx="9386656" cy="204173"/>
              </a:xfrm>
              <a:prstGeom prst="rect">
                <a:avLst/>
              </a:prstGeom>
              <a:noFill/>
            </p:spPr>
            <p:txBody>
              <a:bodyPr wrap="square" rtlCol="0">
                <a:spAutoFit/>
              </a:bodyPr>
              <a:lstStyle/>
              <a:p>
                <a:pPr marL="139700" indent="0">
                  <a:buNone/>
                </a:pPr>
                <a:r>
                  <a:rPr lang="en-US"/>
                  <a:t>Run the test</a:t>
                </a:r>
                <a:endParaRPr lang="en-SG"/>
              </a:p>
            </p:txBody>
          </p:sp>
        </p:grpSp>
        <p:grpSp>
          <p:nvGrpSpPr>
            <p:cNvPr id="12" name="Group 11">
              <a:extLst>
                <a:ext uri="{FF2B5EF4-FFF2-40B4-BE49-F238E27FC236}">
                  <a16:creationId xmlns:a16="http://schemas.microsoft.com/office/drawing/2014/main" id="{E9699D14-9326-C406-5568-3E5502EB1A0C}"/>
                </a:ext>
              </a:extLst>
            </p:cNvPr>
            <p:cNvGrpSpPr/>
            <p:nvPr/>
          </p:nvGrpSpPr>
          <p:grpSpPr>
            <a:xfrm>
              <a:off x="424208" y="3124551"/>
              <a:ext cx="2981094" cy="1169387"/>
              <a:chOff x="5338546" y="2947911"/>
              <a:chExt cx="17862197" cy="894945"/>
            </a:xfrm>
          </p:grpSpPr>
          <p:sp>
            <p:nvSpPr>
              <p:cNvPr id="13" name="Rectangle 12">
                <a:extLst>
                  <a:ext uri="{FF2B5EF4-FFF2-40B4-BE49-F238E27FC236}">
                    <a16:creationId xmlns:a16="http://schemas.microsoft.com/office/drawing/2014/main" id="{268A374B-E2F9-F807-A3EE-4AEFB3B3B310}"/>
                  </a:ext>
                </a:extLst>
              </p:cNvPr>
              <p:cNvSpPr/>
              <p:nvPr/>
            </p:nvSpPr>
            <p:spPr>
              <a:xfrm>
                <a:off x="18064256" y="3699144"/>
                <a:ext cx="5136487" cy="143712"/>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4" name="Straight Connector 13">
                <a:extLst>
                  <a:ext uri="{FF2B5EF4-FFF2-40B4-BE49-F238E27FC236}">
                    <a16:creationId xmlns:a16="http://schemas.microsoft.com/office/drawing/2014/main" id="{73D3AD8D-9EF4-6BB1-05EA-BBC05924F5A1}"/>
                  </a:ext>
                </a:extLst>
              </p:cNvPr>
              <p:cNvCxnSpPr>
                <a:cxnSpLocks/>
                <a:endCxn id="15" idx="3"/>
              </p:cNvCxnSpPr>
              <p:nvPr/>
            </p:nvCxnSpPr>
            <p:spPr>
              <a:xfrm flipH="1" flipV="1">
                <a:off x="14263149" y="3230565"/>
                <a:ext cx="3699312" cy="46857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3DDB5B9-8396-C68E-96A4-3A9F170A4003}"/>
                  </a:ext>
                </a:extLst>
              </p:cNvPr>
              <p:cNvSpPr txBox="1"/>
              <p:nvPr/>
            </p:nvSpPr>
            <p:spPr>
              <a:xfrm>
                <a:off x="5338546" y="2947911"/>
                <a:ext cx="8924603" cy="565308"/>
              </a:xfrm>
              <a:prstGeom prst="rect">
                <a:avLst/>
              </a:prstGeom>
              <a:noFill/>
            </p:spPr>
            <p:txBody>
              <a:bodyPr wrap="square" rtlCol="0">
                <a:spAutoFit/>
              </a:bodyPr>
              <a:lstStyle/>
              <a:p>
                <a:pPr marL="139700" indent="0" algn="l">
                  <a:buNone/>
                </a:pPr>
                <a:r>
                  <a:rPr lang="en-US"/>
                  <a:t>Test that was recorded using plugin</a:t>
                </a:r>
                <a:endParaRPr lang="en-SG"/>
              </a:p>
            </p:txBody>
          </p:sp>
        </p:grpSp>
      </p:grpSp>
      <p:grpSp>
        <p:nvGrpSpPr>
          <p:cNvPr id="18" name="Group 17">
            <a:extLst>
              <a:ext uri="{FF2B5EF4-FFF2-40B4-BE49-F238E27FC236}">
                <a16:creationId xmlns:a16="http://schemas.microsoft.com/office/drawing/2014/main" id="{C901C131-6C66-E374-415B-E1F28E4B2716}"/>
              </a:ext>
            </a:extLst>
          </p:cNvPr>
          <p:cNvGrpSpPr/>
          <p:nvPr/>
        </p:nvGrpSpPr>
        <p:grpSpPr>
          <a:xfrm>
            <a:off x="5317304" y="3401469"/>
            <a:ext cx="3712661" cy="1418788"/>
            <a:chOff x="5317304" y="3401469"/>
            <a:chExt cx="3712661" cy="1418788"/>
          </a:xfrm>
        </p:grpSpPr>
        <p:pic>
          <p:nvPicPr>
            <p:cNvPr id="36" name="Picture 35">
              <a:extLst>
                <a:ext uri="{FF2B5EF4-FFF2-40B4-BE49-F238E27FC236}">
                  <a16:creationId xmlns:a16="http://schemas.microsoft.com/office/drawing/2014/main" id="{446C0EDE-AC1F-69F5-FA94-617E94004470}"/>
                </a:ext>
              </a:extLst>
            </p:cNvPr>
            <p:cNvPicPr>
              <a:picLocks noChangeAspect="1"/>
            </p:cNvPicPr>
            <p:nvPr/>
          </p:nvPicPr>
          <p:blipFill>
            <a:blip r:embed="rId4"/>
            <a:stretch>
              <a:fillRect/>
            </a:stretch>
          </p:blipFill>
          <p:spPr>
            <a:xfrm>
              <a:off x="5317304" y="3989354"/>
              <a:ext cx="3712661" cy="830903"/>
            </a:xfrm>
            <a:prstGeom prst="rect">
              <a:avLst/>
            </a:prstGeom>
          </p:spPr>
        </p:pic>
        <p:grpSp>
          <p:nvGrpSpPr>
            <p:cNvPr id="40" name="Group 39">
              <a:extLst>
                <a:ext uri="{FF2B5EF4-FFF2-40B4-BE49-F238E27FC236}">
                  <a16:creationId xmlns:a16="http://schemas.microsoft.com/office/drawing/2014/main" id="{980801C1-AB0B-8215-EDD1-85F1CE1EDD07}"/>
                </a:ext>
              </a:extLst>
            </p:cNvPr>
            <p:cNvGrpSpPr/>
            <p:nvPr/>
          </p:nvGrpSpPr>
          <p:grpSpPr>
            <a:xfrm>
              <a:off x="6881341" y="3401469"/>
              <a:ext cx="1845922" cy="1170534"/>
              <a:chOff x="4182182" y="2885739"/>
              <a:chExt cx="12531208" cy="776506"/>
            </a:xfrm>
          </p:grpSpPr>
          <p:sp>
            <p:nvSpPr>
              <p:cNvPr id="41" name="Rectangle 40">
                <a:extLst>
                  <a:ext uri="{FF2B5EF4-FFF2-40B4-BE49-F238E27FC236}">
                    <a16:creationId xmlns:a16="http://schemas.microsoft.com/office/drawing/2014/main" id="{B4AE372B-5C9D-B1ED-2D0C-149074D61626}"/>
                  </a:ext>
                </a:extLst>
              </p:cNvPr>
              <p:cNvSpPr/>
              <p:nvPr/>
            </p:nvSpPr>
            <p:spPr>
              <a:xfrm>
                <a:off x="6656494" y="3443197"/>
                <a:ext cx="10056896" cy="219048"/>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42" name="Straight Connector 41">
                <a:extLst>
                  <a:ext uri="{FF2B5EF4-FFF2-40B4-BE49-F238E27FC236}">
                    <a16:creationId xmlns:a16="http://schemas.microsoft.com/office/drawing/2014/main" id="{AFB462EA-EE70-4870-1F99-9EAC8A05F5CC}"/>
                  </a:ext>
                </a:extLst>
              </p:cNvPr>
              <p:cNvCxnSpPr>
                <a:cxnSpLocks/>
                <a:stCxn id="41" idx="0"/>
                <a:endCxn id="43" idx="2"/>
              </p:cNvCxnSpPr>
              <p:nvPr/>
            </p:nvCxnSpPr>
            <p:spPr>
              <a:xfrm flipH="1" flipV="1">
                <a:off x="10012603" y="3089911"/>
                <a:ext cx="1672342" cy="35328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738AE62F-8F9C-831D-C0BF-93DAEF6E6B4B}"/>
                  </a:ext>
                </a:extLst>
              </p:cNvPr>
              <p:cNvSpPr txBox="1"/>
              <p:nvPr/>
            </p:nvSpPr>
            <p:spPr>
              <a:xfrm>
                <a:off x="4182182" y="2885739"/>
                <a:ext cx="11660836" cy="204172"/>
              </a:xfrm>
              <a:prstGeom prst="rect">
                <a:avLst/>
              </a:prstGeom>
              <a:noFill/>
            </p:spPr>
            <p:txBody>
              <a:bodyPr wrap="square" rtlCol="0">
                <a:spAutoFit/>
              </a:bodyPr>
              <a:lstStyle/>
              <a:p>
                <a:pPr marL="139700" indent="0" algn="l">
                  <a:buNone/>
                </a:pPr>
                <a:r>
                  <a:rPr lang="en-US"/>
                  <a:t>Test results</a:t>
                </a:r>
                <a:endParaRPr lang="en-SG"/>
              </a:p>
            </p:txBody>
          </p:sp>
        </p:grpSp>
        <p:sp>
          <p:nvSpPr>
            <p:cNvPr id="16" name="Rectangle 15">
              <a:extLst>
                <a:ext uri="{FF2B5EF4-FFF2-40B4-BE49-F238E27FC236}">
                  <a16:creationId xmlns:a16="http://schemas.microsoft.com/office/drawing/2014/main" id="{AD986161-A213-BEF6-7209-81EDC59EF337}"/>
                </a:ext>
              </a:extLst>
            </p:cNvPr>
            <p:cNvSpPr/>
            <p:nvPr/>
          </p:nvSpPr>
          <p:spPr>
            <a:xfrm>
              <a:off x="6950804" y="4038491"/>
              <a:ext cx="610285" cy="172573"/>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spTree>
    <p:extLst>
      <p:ext uri="{BB962C8B-B14F-4D97-AF65-F5344CB8AC3E}">
        <p14:creationId xmlns:p14="http://schemas.microsoft.com/office/powerpoint/2010/main" val="2511948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1F06A-F2D1-3A25-ECF8-A1EF94FFA703}"/>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88A2CC41-2E2D-8C1D-053C-87358E2285BC}"/>
              </a:ext>
            </a:extLst>
          </p:cNvPr>
          <p:cNvPicPr>
            <a:picLocks noChangeAspect="1"/>
          </p:cNvPicPr>
          <p:nvPr/>
        </p:nvPicPr>
        <p:blipFill>
          <a:blip r:embed="rId3"/>
          <a:stretch>
            <a:fillRect/>
          </a:stretch>
        </p:blipFill>
        <p:spPr>
          <a:xfrm>
            <a:off x="3746183" y="2895199"/>
            <a:ext cx="5397817" cy="1853990"/>
          </a:xfrm>
          <a:prstGeom prst="rect">
            <a:avLst/>
          </a:prstGeom>
        </p:spPr>
      </p:pic>
      <p:sp>
        <p:nvSpPr>
          <p:cNvPr id="2" name="Title 1">
            <a:extLst>
              <a:ext uri="{FF2B5EF4-FFF2-40B4-BE49-F238E27FC236}">
                <a16:creationId xmlns:a16="http://schemas.microsoft.com/office/drawing/2014/main" id="{3F468414-0094-07A3-3CD1-ABD4876ECC07}"/>
              </a:ext>
            </a:extLst>
          </p:cNvPr>
          <p:cNvSpPr>
            <a:spLocks noGrp="1"/>
          </p:cNvSpPr>
          <p:nvPr>
            <p:ph type="title"/>
          </p:nvPr>
        </p:nvSpPr>
        <p:spPr>
          <a:xfrm>
            <a:off x="206663" y="66544"/>
            <a:ext cx="8520600" cy="630901"/>
          </a:xfrm>
        </p:spPr>
        <p:txBody>
          <a:bodyPr/>
          <a:lstStyle/>
          <a:p>
            <a:r>
              <a:rPr lang="en-US" sz="2800"/>
              <a:t>Ex3 (5)</a:t>
            </a:r>
            <a:endParaRPr lang="en-SG" sz="4000"/>
          </a:p>
        </p:txBody>
      </p:sp>
      <p:sp>
        <p:nvSpPr>
          <p:cNvPr id="3" name="Text Placeholder 2">
            <a:extLst>
              <a:ext uri="{FF2B5EF4-FFF2-40B4-BE49-F238E27FC236}">
                <a16:creationId xmlns:a16="http://schemas.microsoft.com/office/drawing/2014/main" id="{8A0058DD-71CE-D0BA-99F0-A39832CED360}"/>
              </a:ext>
            </a:extLst>
          </p:cNvPr>
          <p:cNvSpPr>
            <a:spLocks noGrp="1"/>
          </p:cNvSpPr>
          <p:nvPr>
            <p:ph type="body" idx="1"/>
          </p:nvPr>
        </p:nvSpPr>
        <p:spPr>
          <a:xfrm>
            <a:off x="101600" y="767666"/>
            <a:ext cx="8928365" cy="1560327"/>
          </a:xfrm>
        </p:spPr>
        <p:txBody>
          <a:bodyPr/>
          <a:lstStyle/>
          <a:p>
            <a:pPr marL="139700" indent="0">
              <a:buNone/>
            </a:pPr>
            <a:r>
              <a:rPr lang="en-GB" sz="1600"/>
              <a:t>(3) Record a 2</a:t>
            </a:r>
            <a:r>
              <a:rPr lang="en-GB" sz="1600" baseline="30000"/>
              <a:t>nd</a:t>
            </a:r>
            <a:r>
              <a:rPr lang="en-GB" sz="1600"/>
              <a:t> test (for Failed Login)</a:t>
            </a:r>
          </a:p>
          <a:p>
            <a:pPr>
              <a:buFont typeface="Arial" panose="020B0604020202020204" pitchFamily="34" charset="0"/>
              <a:buChar char="•"/>
            </a:pPr>
            <a:r>
              <a:rPr lang="en-GB" sz="1600"/>
              <a:t>Click "Record new" again and record the actions to attempt to log in using an invalid user account (e.g. Admin/abcd). </a:t>
            </a:r>
          </a:p>
          <a:p>
            <a:pPr>
              <a:buFont typeface="Arial" panose="020B0604020202020204" pitchFamily="34" charset="0"/>
              <a:buChar char="•"/>
            </a:pPr>
            <a:r>
              <a:rPr lang="en-GB" sz="1600"/>
              <a:t>When you click on the Login button, the text "Login Failed" appears instead of "Welcome Admin!".</a:t>
            </a:r>
          </a:p>
          <a:p>
            <a:pPr>
              <a:buFont typeface="Arial" panose="020B0604020202020204" pitchFamily="34" charset="0"/>
              <a:buChar char="•"/>
            </a:pPr>
            <a:r>
              <a:rPr lang="en-GB" sz="1600"/>
              <a:t>Edit the last statement to assert that the text which appears is "Login Failed"</a:t>
            </a:r>
          </a:p>
          <a:p>
            <a:pPr>
              <a:buFont typeface="Arial" panose="020B0604020202020204" pitchFamily="34" charset="0"/>
              <a:buChar char="•"/>
            </a:pPr>
            <a:endParaRPr lang="en-GB" sz="1600"/>
          </a:p>
          <a:p>
            <a:pPr>
              <a:buFont typeface="Arial" panose="020B0604020202020204" pitchFamily="34" charset="0"/>
              <a:buChar char="•"/>
            </a:pPr>
            <a:endParaRPr lang="en-GB" sz="1600"/>
          </a:p>
        </p:txBody>
      </p:sp>
      <p:sp>
        <p:nvSpPr>
          <p:cNvPr id="16" name="TextBox 15">
            <a:extLst>
              <a:ext uri="{FF2B5EF4-FFF2-40B4-BE49-F238E27FC236}">
                <a16:creationId xmlns:a16="http://schemas.microsoft.com/office/drawing/2014/main" id="{8A4F1EE5-D495-F6E5-81FF-EB6DA765D502}"/>
              </a:ext>
            </a:extLst>
          </p:cNvPr>
          <p:cNvSpPr txBox="1"/>
          <p:nvPr/>
        </p:nvSpPr>
        <p:spPr>
          <a:xfrm>
            <a:off x="251113" y="2815508"/>
            <a:ext cx="3374737" cy="1853990"/>
          </a:xfrm>
          <a:prstGeom prst="rect">
            <a:avLst/>
          </a:prstGeom>
          <a:noFill/>
        </p:spPr>
        <p:txBody>
          <a:bodyPr wrap="square">
            <a:spAutoFit/>
          </a:bodyPr>
          <a:lstStyle/>
          <a:p>
            <a:pPr marL="285750" indent="-285750">
              <a:buFont typeface="Arial" panose="020B0604020202020204" pitchFamily="34" charset="0"/>
              <a:buChar char="•"/>
            </a:pPr>
            <a:r>
              <a:rPr lang="en-GB" sz="1600"/>
              <a:t>Run this 2nd test to ensure it passes. </a:t>
            </a:r>
          </a:p>
          <a:p>
            <a:pPr marL="285750" indent="-285750">
              <a:buFont typeface="Arial" panose="020B0604020202020204" pitchFamily="34" charset="0"/>
              <a:buChar char="•"/>
            </a:pPr>
            <a:r>
              <a:rPr lang="en-GB" sz="1600"/>
              <a:t>You can run all the tests cases in your test suite by clicking on the "play" icon for the "tests" folder in Test Explorer instead of an individual test case</a:t>
            </a:r>
          </a:p>
        </p:txBody>
      </p:sp>
      <p:sp>
        <p:nvSpPr>
          <p:cNvPr id="18" name="Rectangle 17">
            <a:extLst>
              <a:ext uri="{FF2B5EF4-FFF2-40B4-BE49-F238E27FC236}">
                <a16:creationId xmlns:a16="http://schemas.microsoft.com/office/drawing/2014/main" id="{71846750-AD08-8F51-35F6-99FF52D5AEF0}"/>
              </a:ext>
            </a:extLst>
          </p:cNvPr>
          <p:cNvSpPr/>
          <p:nvPr/>
        </p:nvSpPr>
        <p:spPr>
          <a:xfrm>
            <a:off x="4260850" y="4425950"/>
            <a:ext cx="3654137" cy="178863"/>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9" name="Straight Connector 18">
            <a:extLst>
              <a:ext uri="{FF2B5EF4-FFF2-40B4-BE49-F238E27FC236}">
                <a16:creationId xmlns:a16="http://schemas.microsoft.com/office/drawing/2014/main" id="{EC4E9E5E-1B02-1A97-24AD-71A681E48C6B}"/>
              </a:ext>
            </a:extLst>
          </p:cNvPr>
          <p:cNvCxnSpPr>
            <a:cxnSpLocks/>
            <a:endCxn id="20" idx="1"/>
          </p:cNvCxnSpPr>
          <p:nvPr/>
        </p:nvCxnSpPr>
        <p:spPr>
          <a:xfrm>
            <a:off x="5173832" y="4623863"/>
            <a:ext cx="331618" cy="343517"/>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68DC42F-D104-2FD8-C7ED-A61FC1C95B1F}"/>
              </a:ext>
            </a:extLst>
          </p:cNvPr>
          <p:cNvSpPr txBox="1"/>
          <p:nvPr/>
        </p:nvSpPr>
        <p:spPr>
          <a:xfrm>
            <a:off x="5505450" y="4828880"/>
            <a:ext cx="3435350" cy="276999"/>
          </a:xfrm>
          <a:prstGeom prst="rect">
            <a:avLst/>
          </a:prstGeom>
          <a:noFill/>
        </p:spPr>
        <p:txBody>
          <a:bodyPr wrap="square" lIns="0" rIns="0" rtlCol="0">
            <a:spAutoFit/>
          </a:bodyPr>
          <a:lstStyle/>
          <a:p>
            <a:pPr marL="139700" indent="0" algn="l">
              <a:buNone/>
            </a:pPr>
            <a:r>
              <a:rPr lang="en-US" sz="1200"/>
              <a:t>Edit the last statement manually to an assertion.</a:t>
            </a:r>
            <a:endParaRPr lang="en-SG" sz="1200"/>
          </a:p>
        </p:txBody>
      </p:sp>
    </p:spTree>
    <p:extLst>
      <p:ext uri="{BB962C8B-B14F-4D97-AF65-F5344CB8AC3E}">
        <p14:creationId xmlns:p14="http://schemas.microsoft.com/office/powerpoint/2010/main" val="160913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5A0BB-FEE4-42D0-6CBD-07AE605947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EA799-A9A4-96F1-3D8A-012D39DDBCF9}"/>
              </a:ext>
            </a:extLst>
          </p:cNvPr>
          <p:cNvSpPr>
            <a:spLocks noGrp="1"/>
          </p:cNvSpPr>
          <p:nvPr>
            <p:ph type="title"/>
          </p:nvPr>
        </p:nvSpPr>
        <p:spPr>
          <a:xfrm>
            <a:off x="206663" y="66544"/>
            <a:ext cx="8520600" cy="630901"/>
          </a:xfrm>
        </p:spPr>
        <p:txBody>
          <a:bodyPr/>
          <a:lstStyle/>
          <a:p>
            <a:r>
              <a:rPr lang="en-US" sz="2800"/>
              <a:t>Ex3 (6)</a:t>
            </a:r>
            <a:endParaRPr lang="en-SG" sz="4000"/>
          </a:p>
        </p:txBody>
      </p:sp>
      <p:sp>
        <p:nvSpPr>
          <p:cNvPr id="3" name="Text Placeholder 2">
            <a:extLst>
              <a:ext uri="{FF2B5EF4-FFF2-40B4-BE49-F238E27FC236}">
                <a16:creationId xmlns:a16="http://schemas.microsoft.com/office/drawing/2014/main" id="{9A7ACA54-0CC3-122F-064E-7B10D7197B74}"/>
              </a:ext>
            </a:extLst>
          </p:cNvPr>
          <p:cNvSpPr>
            <a:spLocks noGrp="1"/>
          </p:cNvSpPr>
          <p:nvPr>
            <p:ph type="body" idx="1"/>
          </p:nvPr>
        </p:nvSpPr>
        <p:spPr>
          <a:xfrm>
            <a:off x="358708" y="1040345"/>
            <a:ext cx="8426583" cy="3602411"/>
          </a:xfrm>
        </p:spPr>
        <p:txBody>
          <a:bodyPr/>
          <a:lstStyle/>
          <a:p>
            <a:pPr marL="139700" indent="0">
              <a:buNone/>
            </a:pPr>
            <a:r>
              <a:rPr lang="en-GB" sz="1600"/>
              <a:t>(4) Deliberately break a test</a:t>
            </a:r>
          </a:p>
          <a:p>
            <a:pPr>
              <a:buFont typeface="Arial" panose="020B0604020202020204" pitchFamily="34" charset="0"/>
              <a:buChar char="•"/>
            </a:pPr>
            <a:r>
              <a:rPr lang="en-GB" sz="1600"/>
              <a:t>We want to observe what happens when a test fails. </a:t>
            </a:r>
          </a:p>
          <a:p>
            <a:pPr>
              <a:buFont typeface="Arial" panose="020B0604020202020204" pitchFamily="34" charset="0"/>
              <a:buChar char="•"/>
            </a:pPr>
            <a:r>
              <a:rPr lang="en-GB" sz="1600"/>
              <a:t>Choose one of the 2 tests you have recorded and edit the assertion statement so that the test fails. e.g. we can edit the 1st test so that it fails. </a:t>
            </a:r>
          </a:p>
          <a:p>
            <a:pPr>
              <a:buFont typeface="Arial" panose="020B0604020202020204" pitchFamily="34" charset="0"/>
              <a:buChar char="•"/>
            </a:pPr>
            <a:r>
              <a:rPr lang="en-GB" sz="1600"/>
              <a:t>Run the test and see the failed test and the error message.</a:t>
            </a:r>
          </a:p>
          <a:p>
            <a:pPr marL="139700" indent="0">
              <a:buNone/>
            </a:pPr>
            <a:r>
              <a:rPr lang="en-GB" sz="1600"/>
              <a:t>(Instead of clicking on the "play" icon, you can click on the "Debug" icon. In debug mode, you can set breakpoints in the test code, "step over" an error when a failure occurs and inspect variables.)</a:t>
            </a:r>
          </a:p>
          <a:p>
            <a:pPr marL="139700" indent="0">
              <a:buNone/>
            </a:pPr>
            <a:endParaRPr lang="en-GB" sz="1600"/>
          </a:p>
          <a:p>
            <a:pPr marL="139700" indent="0">
              <a:buNone/>
            </a:pPr>
            <a:r>
              <a:rPr lang="en-GB" sz="1600"/>
              <a:t>The objective of this exercise is to see what happens when a test fails. You should not be deliberately writing tests that fail.</a:t>
            </a:r>
          </a:p>
        </p:txBody>
      </p:sp>
    </p:spTree>
    <p:extLst>
      <p:ext uri="{BB962C8B-B14F-4D97-AF65-F5344CB8AC3E}">
        <p14:creationId xmlns:p14="http://schemas.microsoft.com/office/powerpoint/2010/main" val="3232320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BF757-CDD5-B9F9-611F-093DFF735C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8C1CA0-4F76-4994-6CEC-9AB87F118AA7}"/>
              </a:ext>
            </a:extLst>
          </p:cNvPr>
          <p:cNvSpPr>
            <a:spLocks noGrp="1"/>
          </p:cNvSpPr>
          <p:nvPr>
            <p:ph type="title"/>
          </p:nvPr>
        </p:nvSpPr>
        <p:spPr>
          <a:xfrm>
            <a:off x="201169" y="119982"/>
            <a:ext cx="8520600" cy="630901"/>
          </a:xfrm>
        </p:spPr>
        <p:txBody>
          <a:bodyPr/>
          <a:lstStyle/>
          <a:p>
            <a:r>
              <a:rPr lang="en-US" sz="3200"/>
              <a:t>Ex3a: E2E Testing for a Vue App</a:t>
            </a:r>
            <a:endParaRPr lang="en-SG"/>
          </a:p>
        </p:txBody>
      </p:sp>
      <p:sp>
        <p:nvSpPr>
          <p:cNvPr id="3" name="Text Placeholder 2">
            <a:extLst>
              <a:ext uri="{FF2B5EF4-FFF2-40B4-BE49-F238E27FC236}">
                <a16:creationId xmlns:a16="http://schemas.microsoft.com/office/drawing/2014/main" id="{ECD918F0-5763-196C-975E-D17E1D2F4BD9}"/>
              </a:ext>
            </a:extLst>
          </p:cNvPr>
          <p:cNvSpPr>
            <a:spLocks noGrp="1"/>
          </p:cNvSpPr>
          <p:nvPr>
            <p:ph type="body" idx="1"/>
          </p:nvPr>
        </p:nvSpPr>
        <p:spPr>
          <a:xfrm>
            <a:off x="434818" y="1014632"/>
            <a:ext cx="5413347" cy="3808577"/>
          </a:xfrm>
        </p:spPr>
        <p:txBody>
          <a:bodyPr/>
          <a:lstStyle/>
          <a:p>
            <a:pPr marL="139700" indent="0">
              <a:buNone/>
            </a:pPr>
            <a:r>
              <a:rPr lang="en-US"/>
              <a:t>Now that you are familiar with using PlayWright for E2E testing, host the Vue app we used for exploring component/integration testing. </a:t>
            </a:r>
          </a:p>
          <a:p>
            <a:pPr marL="139700" indent="0">
              <a:buNone/>
            </a:pPr>
            <a:r>
              <a:rPr lang="en-US"/>
              <a:t>Replace </a:t>
            </a:r>
            <a:r>
              <a:rPr lang="en-US" b="1"/>
              <a:t>Ex2.vu</a:t>
            </a:r>
            <a:r>
              <a:rPr lang="en-US"/>
              <a:t>e with the new version of </a:t>
            </a:r>
            <a:r>
              <a:rPr lang="en-US" b="1"/>
              <a:t>Ex2.vue</a:t>
            </a:r>
            <a:r>
              <a:rPr lang="en-US"/>
              <a:t>. The new version presents a form to the user for him to key in the name and score.</a:t>
            </a:r>
          </a:p>
          <a:p>
            <a:pPr marL="139700" indent="0">
              <a:buNone/>
            </a:pPr>
            <a:endParaRPr lang="en-US"/>
          </a:p>
          <a:p>
            <a:pPr marL="139700" indent="0">
              <a:buNone/>
            </a:pPr>
            <a:r>
              <a:rPr lang="en-US"/>
              <a:t>A workflow that can be tested will be:</a:t>
            </a:r>
          </a:p>
          <a:p>
            <a:r>
              <a:rPr lang="en-SG"/>
              <a:t>Enter a student's name and score. Click Submit. </a:t>
            </a:r>
          </a:p>
          <a:p>
            <a:r>
              <a:rPr lang="en-SG"/>
              <a:t>The student's name and the correct letter grade is displayed.</a:t>
            </a:r>
          </a:p>
          <a:p>
            <a:endParaRPr lang="en-SG"/>
          </a:p>
          <a:p>
            <a:pPr marL="139700" indent="0">
              <a:buNone/>
            </a:pPr>
            <a:r>
              <a:rPr lang="en-SG"/>
              <a:t>Create an E2E test that checks this workflow using what you have learnt.</a:t>
            </a:r>
            <a:endParaRPr lang="en-US"/>
          </a:p>
        </p:txBody>
      </p:sp>
      <p:pic>
        <p:nvPicPr>
          <p:cNvPr id="5" name="Picture 4">
            <a:extLst>
              <a:ext uri="{FF2B5EF4-FFF2-40B4-BE49-F238E27FC236}">
                <a16:creationId xmlns:a16="http://schemas.microsoft.com/office/drawing/2014/main" id="{8268F130-AE00-480D-97FC-87B7290D3B29}"/>
              </a:ext>
            </a:extLst>
          </p:cNvPr>
          <p:cNvPicPr>
            <a:picLocks noChangeAspect="1"/>
          </p:cNvPicPr>
          <p:nvPr/>
        </p:nvPicPr>
        <p:blipFill>
          <a:blip r:embed="rId3"/>
          <a:stretch>
            <a:fillRect/>
          </a:stretch>
        </p:blipFill>
        <p:spPr>
          <a:xfrm>
            <a:off x="6002509" y="1499005"/>
            <a:ext cx="2772012" cy="2153572"/>
          </a:xfrm>
          <a:prstGeom prst="rect">
            <a:avLst/>
          </a:prstGeom>
        </p:spPr>
      </p:pic>
    </p:spTree>
    <p:extLst>
      <p:ext uri="{BB962C8B-B14F-4D97-AF65-F5344CB8AC3E}">
        <p14:creationId xmlns:p14="http://schemas.microsoft.com/office/powerpoint/2010/main" val="2394654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316F-5E68-CFB1-5A1A-07E0DFCF5E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2EB9D1-E335-3B95-0DBD-D614974ADC10}"/>
              </a:ext>
            </a:extLst>
          </p:cNvPr>
          <p:cNvSpPr>
            <a:spLocks noGrp="1"/>
          </p:cNvSpPr>
          <p:nvPr>
            <p:ph type="title"/>
          </p:nvPr>
        </p:nvSpPr>
        <p:spPr>
          <a:xfrm>
            <a:off x="194687" y="95431"/>
            <a:ext cx="4201572" cy="679289"/>
          </a:xfrm>
        </p:spPr>
        <p:txBody>
          <a:bodyPr/>
          <a:lstStyle/>
          <a:p>
            <a:r>
              <a:rPr lang="en-US" sz="3200"/>
              <a:t>TakeAways</a:t>
            </a:r>
            <a:endParaRPr lang="en-US" sz="4000" dirty="0"/>
          </a:p>
        </p:txBody>
      </p:sp>
      <p:sp>
        <p:nvSpPr>
          <p:cNvPr id="3" name="Text Placeholder 2">
            <a:extLst>
              <a:ext uri="{FF2B5EF4-FFF2-40B4-BE49-F238E27FC236}">
                <a16:creationId xmlns:a16="http://schemas.microsoft.com/office/drawing/2014/main" id="{C15EFFE0-9304-3D1C-B9DA-C01D2DAEE10C}"/>
              </a:ext>
            </a:extLst>
          </p:cNvPr>
          <p:cNvSpPr>
            <a:spLocks noGrp="1"/>
          </p:cNvSpPr>
          <p:nvPr>
            <p:ph type="body" idx="1"/>
          </p:nvPr>
        </p:nvSpPr>
        <p:spPr>
          <a:xfrm>
            <a:off x="311701" y="1225225"/>
            <a:ext cx="4031700" cy="3602350"/>
          </a:xfrm>
        </p:spPr>
        <p:txBody>
          <a:bodyPr/>
          <a:lstStyle/>
          <a:p>
            <a:pPr>
              <a:buFont typeface="Arial" panose="020B0604020202020204" pitchFamily="34" charset="0"/>
              <a:buChar char="•"/>
            </a:pPr>
            <a:r>
              <a:rPr lang="en-SG"/>
              <a:t>E2E testing verifies that an entire application works correctly from the user's perspective by testing complete workflows across all integrated components</a:t>
            </a:r>
          </a:p>
          <a:p>
            <a:pPr>
              <a:buFont typeface="Arial" panose="020B0604020202020204" pitchFamily="34" charset="0"/>
              <a:buChar char="•"/>
            </a:pPr>
            <a:r>
              <a:rPr lang="en-SG"/>
              <a:t>The commonly-used modern E2E testing tools include Playwright, Cypress, Selenium &amp; Puppeteer</a:t>
            </a:r>
          </a:p>
          <a:p>
            <a:pPr>
              <a:buFont typeface="Arial" panose="020B0604020202020204" pitchFamily="34" charset="0"/>
              <a:buChar char="•"/>
            </a:pPr>
            <a:endParaRPr lang="en-SG"/>
          </a:p>
          <a:p>
            <a:pPr>
              <a:buFont typeface="Arial" panose="020B0604020202020204" pitchFamily="34" charset="0"/>
              <a:buChar char="•"/>
            </a:pPr>
            <a:endParaRPr lang="en-SG"/>
          </a:p>
        </p:txBody>
      </p:sp>
      <p:cxnSp>
        <p:nvCxnSpPr>
          <p:cNvPr id="7" name="Straight Connector 6">
            <a:extLst>
              <a:ext uri="{FF2B5EF4-FFF2-40B4-BE49-F238E27FC236}">
                <a16:creationId xmlns:a16="http://schemas.microsoft.com/office/drawing/2014/main" id="{76ED41BC-A19F-B21C-43F4-92B9FD6319C0}"/>
              </a:ext>
            </a:extLst>
          </p:cNvPr>
          <p:cNvCxnSpPr>
            <a:cxnSpLocks/>
          </p:cNvCxnSpPr>
          <p:nvPr/>
        </p:nvCxnSpPr>
        <p:spPr>
          <a:xfrm>
            <a:off x="4571357" y="571376"/>
            <a:ext cx="1" cy="4256199"/>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EDCC56E-0E28-D5A1-F027-116E3E287035}"/>
              </a:ext>
            </a:extLst>
          </p:cNvPr>
          <p:cNvSpPr>
            <a:spLocks noGrp="1"/>
          </p:cNvSpPr>
          <p:nvPr>
            <p:ph type="body" idx="2"/>
          </p:nvPr>
        </p:nvSpPr>
        <p:spPr>
          <a:xfrm>
            <a:off x="4676757" y="1225225"/>
            <a:ext cx="3999900" cy="1447318"/>
          </a:xfrm>
        </p:spPr>
        <p:txBody>
          <a:bodyPr/>
          <a:lstStyle/>
          <a:p>
            <a:pPr marL="139700" indent="0">
              <a:buNone/>
            </a:pPr>
            <a:r>
              <a:rPr lang="en-SG"/>
              <a:t>Practical testing skills:</a:t>
            </a:r>
          </a:p>
          <a:p>
            <a:pPr>
              <a:buFont typeface="Arial" panose="020B0604020202020204" pitchFamily="34" charset="0"/>
              <a:buChar char="•"/>
            </a:pPr>
            <a:r>
              <a:rPr lang="en-SG"/>
              <a:t>Write &amp; run an E2E test using Playwright for a web application using the Playwright VS Code plugin and manually editing relevant statements in the recorded test code.</a:t>
            </a:r>
          </a:p>
          <a:p>
            <a:endParaRPr lang="en-SG"/>
          </a:p>
        </p:txBody>
      </p:sp>
    </p:spTree>
    <p:extLst>
      <p:ext uri="{BB962C8B-B14F-4D97-AF65-F5344CB8AC3E}">
        <p14:creationId xmlns:p14="http://schemas.microsoft.com/office/powerpoint/2010/main" val="625952951"/>
      </p:ext>
    </p:extLst>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a:spAutoFit/>
      </a:bodyPr>
      <a:lstStyle>
        <a:defPPr marL="139700" indent="0" algn="l">
          <a:buNone/>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e756f9c-e3e7-4810-90da-ea6bfb97c434}" enabled="1" method="Privileged" siteId="{c98a79ca-5a9a-4791-a243-f06afd67464d}" contentBits="0" removed="0"/>
</clbl:labelList>
</file>

<file path=docProps/app.xml><?xml version="1.0" encoding="utf-8"?>
<Properties xmlns="http://schemas.openxmlformats.org/officeDocument/2006/extended-properties" xmlns:vt="http://schemas.openxmlformats.org/officeDocument/2006/docPropsVTypes">
  <TotalTime>3721</TotalTime>
  <Words>3256</Words>
  <Application>Microsoft Macintosh PowerPoint</Application>
  <PresentationFormat>On-screen Show (16:9)</PresentationFormat>
  <Paragraphs>268</Paragraphs>
  <Slides>18</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 Narrow</vt:lpstr>
      <vt:lpstr>Arial</vt:lpstr>
      <vt:lpstr>Times New Roman</vt:lpstr>
      <vt:lpstr>Luxe</vt:lpstr>
      <vt:lpstr>Web Application Development II</vt:lpstr>
      <vt:lpstr>Agenda</vt:lpstr>
      <vt:lpstr>Different Types of Tests</vt:lpstr>
      <vt:lpstr>Tools</vt:lpstr>
      <vt:lpstr>Playwright</vt:lpstr>
      <vt:lpstr>(Demo) Ex 3: E2E Testing on a Simple Web App</vt:lpstr>
      <vt:lpstr>Setting Up for Ex 3 (1)</vt:lpstr>
      <vt:lpstr>Setting Up for Ex 3 (2)</vt:lpstr>
      <vt:lpstr>Setting Up for Ex 3 (3)</vt:lpstr>
      <vt:lpstr>Setting Up for Ex 3 (4)</vt:lpstr>
      <vt:lpstr>(Demo) Ex3: E2E Testing On a Simple Web App</vt:lpstr>
      <vt:lpstr>Ex3 (2)</vt:lpstr>
      <vt:lpstr>Ex3 (3)</vt:lpstr>
      <vt:lpstr>Ex3 (4)</vt:lpstr>
      <vt:lpstr>Ex3 (5)</vt:lpstr>
      <vt:lpstr>Ex3 (6)</vt:lpstr>
      <vt:lpstr>Ex3a: E2E Testing for a Vue App</vt:lpstr>
      <vt:lpstr>TakeAways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Application Development II</dc:title>
  <cp:lastModifiedBy>SHAR Lwin Khin</cp:lastModifiedBy>
  <cp:revision>106</cp:revision>
  <dcterms:modified xsi:type="dcterms:W3CDTF">2026-10-19T02:48:24Z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e756f9c-e3e7-4810-90da-ea6bfb97c434_Enabled">
    <vt:lpwstr>true</vt:lpwstr>
  </property>
  <property fmtid="{D5CDD505-2E9C-101B-9397-08002B2CF9AE}" pid="3" name="MSIP_Label_1e756f9c-e3e7-4810-90da-ea6bfb97c434_SetDate">
    <vt:lpwstr>2022-06-08T19:02:47Z</vt:lpwstr>
  </property>
  <property fmtid="{D5CDD505-2E9C-101B-9397-08002B2CF9AE}" pid="4" name="MSIP_Label_1e756f9c-e3e7-4810-90da-ea6bfb97c434_Method">
    <vt:lpwstr>Privileged</vt:lpwstr>
  </property>
  <property fmtid="{D5CDD505-2E9C-101B-9397-08002B2CF9AE}" pid="5" name="MSIP_Label_1e756f9c-e3e7-4810-90da-ea6bfb97c434_Name">
    <vt:lpwstr>1e756f9c-e3e7-4810-90da-ea6bfb97c434</vt:lpwstr>
  </property>
  <property fmtid="{D5CDD505-2E9C-101B-9397-08002B2CF9AE}" pid="6" name="MSIP_Label_1e756f9c-e3e7-4810-90da-ea6bfb97c434_SiteId">
    <vt:lpwstr>c98a79ca-5a9a-4791-a243-f06afd67464d</vt:lpwstr>
  </property>
  <property fmtid="{D5CDD505-2E9C-101B-9397-08002B2CF9AE}" pid="7" name="MSIP_Label_1e756f9c-e3e7-4810-90da-ea6bfb97c434_ActionId">
    <vt:lpwstr>8da855f0-8740-4300-86c2-d44805c7265f</vt:lpwstr>
  </property>
  <property fmtid="{D5CDD505-2E9C-101B-9397-08002B2CF9AE}" pid="8" name="MSIP_Label_1e756f9c-e3e7-4810-90da-ea6bfb97c434_ContentBits">
    <vt:lpwstr>0</vt:lpwstr>
  </property>
</Properties>
</file>