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7" r:id="rId36"/>
    <p:sldId id="298" r:id="rId37"/>
    <p:sldId id="301" r:id="rId38"/>
    <p:sldId id="299" r:id="rId39"/>
    <p:sldId id="275" r:id="rId40"/>
    <p:sldId id="302" r:id="rId41"/>
    <p:sldId id="292" r:id="rId42"/>
    <p:sldId id="293" r:id="rId43"/>
    <p:sldId id="304" r:id="rId44"/>
    <p:sldId id="305" r:id="rId45"/>
    <p:sldId id="306" r:id="rId46"/>
    <p:sldId id="307" r:id="rId47"/>
  </p:sldIdLst>
  <p:sldSz cx="12192000" cy="6858000"/>
  <p:notesSz cx="6797675" cy="9926638"/>
  <p:embeddedFontLst>
    <p:embeddedFont>
      <p:font typeface="Consolas" panose="020B0609020204030204" pitchFamily="49" charset="0"/>
      <p:regular r:id="rId49"/>
      <p:bold r:id="rId50"/>
      <p:italic r:id="rId51"/>
      <p:boldItalic r:id="rId52"/>
    </p:embeddedFont>
    <p:embeddedFont>
      <p:font typeface="Roboto Mono" pitchFamily="49"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jffCSzLPGw1OUVXfFjB8ipNpstk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FB2CDA-6665-FE42-4FB8-4BD22A873E77}" name="THIANG Lay Foo" initials="LT" userId="S::lfthiang@smu.edu.sg::f66ddd3b-8fd8-4b00-a4df-dc833c3567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79"/>
    <p:restoredTop sz="94626"/>
  </p:normalViewPr>
  <p:slideViewPr>
    <p:cSldViewPr snapToGrid="0">
      <p:cViewPr varScale="1">
        <p:scale>
          <a:sx n="111" d="100"/>
          <a:sy n="111" d="100"/>
        </p:scale>
        <p:origin x="192" y="1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 THULASIDAS" userId="d95e47b6-62ec-43de-81ef-a7c2618fa2c1" providerId="ADAL" clId="{AD284103-20F8-5477-B65E-8E004EFEAAA6}"/>
    <pc:docChg chg="mod modSld modMainMaster">
      <pc:chgData name="Manoj THULASIDAS" userId="d95e47b6-62ec-43de-81ef-a7c2618fa2c1" providerId="ADAL" clId="{AD284103-20F8-5477-B65E-8E004EFEAAA6}" dt="2026-03-01T21:50:21.621" v="81" actId="20577"/>
      <pc:docMkLst>
        <pc:docMk/>
      </pc:docMkLst>
      <pc:sldChg chg="modSp mod">
        <pc:chgData name="Manoj THULASIDAS" userId="d95e47b6-62ec-43de-81ef-a7c2618fa2c1" providerId="ADAL" clId="{AD284103-20F8-5477-B65E-8E004EFEAAA6}" dt="2026-03-01T21:50:21.621" v="81" actId="20577"/>
        <pc:sldMkLst>
          <pc:docMk/>
          <pc:sldMk cId="0" sldId="256"/>
        </pc:sldMkLst>
      </pc:sldChg>
      <pc:sldChg chg="modSp mod">
        <pc:chgData name="Manoj THULASIDAS" userId="d95e47b6-62ec-43de-81ef-a7c2618fa2c1" providerId="ADAL" clId="{AD284103-20F8-5477-B65E-8E004EFEAAA6}" dt="2026-02-26T10:31:07.293" v="75" actId="113"/>
        <pc:sldMkLst>
          <pc:docMk/>
          <pc:sldMk cId="0" sldId="259"/>
        </pc:sldMkLst>
      </pc:sldChg>
      <pc:sldChg chg="modSp mod">
        <pc:chgData name="Manoj THULASIDAS" userId="d95e47b6-62ec-43de-81ef-a7c2618fa2c1" providerId="ADAL" clId="{AD284103-20F8-5477-B65E-8E004EFEAAA6}" dt="2026-02-26T10:26:53.076" v="52" actId="113"/>
        <pc:sldMkLst>
          <pc:docMk/>
          <pc:sldMk cId="0" sldId="260"/>
        </pc:sldMkLst>
      </pc:sldChg>
      <pc:sldChg chg="modSp mod">
        <pc:chgData name="Manoj THULASIDAS" userId="d95e47b6-62ec-43de-81ef-a7c2618fa2c1" providerId="ADAL" clId="{AD284103-20F8-5477-B65E-8E004EFEAAA6}" dt="2026-02-27T01:51:18.451" v="77" actId="20577"/>
        <pc:sldMkLst>
          <pc:docMk/>
          <pc:sldMk cId="0" sldId="262"/>
        </pc:sldMkLst>
      </pc:sldChg>
      <pc:sldChg chg="modSp mod">
        <pc:chgData name="Manoj THULASIDAS" userId="d95e47b6-62ec-43de-81ef-a7c2618fa2c1" providerId="ADAL" clId="{AD284103-20F8-5477-B65E-8E004EFEAAA6}" dt="2026-02-26T10:29:00.528" v="63" actId="20577"/>
        <pc:sldMkLst>
          <pc:docMk/>
          <pc:sldMk cId="0" sldId="263"/>
        </pc:sldMkLst>
      </pc:sldChg>
      <pc:sldChg chg="modSp mod">
        <pc:chgData name="Manoj THULASIDAS" userId="d95e47b6-62ec-43de-81ef-a7c2618fa2c1" providerId="ADAL" clId="{AD284103-20F8-5477-B65E-8E004EFEAAA6}" dt="2026-02-26T10:29:18.159" v="64" actId="113"/>
        <pc:sldMkLst>
          <pc:docMk/>
          <pc:sldMk cId="0" sldId="264"/>
        </pc:sldMkLst>
      </pc:sldChg>
      <pc:sldChg chg="modSp mod">
        <pc:chgData name="Manoj THULASIDAS" userId="d95e47b6-62ec-43de-81ef-a7c2618fa2c1" providerId="ADAL" clId="{AD284103-20F8-5477-B65E-8E004EFEAAA6}" dt="2026-02-26T10:25:30.345" v="34" actId="113"/>
        <pc:sldMkLst>
          <pc:docMk/>
          <pc:sldMk cId="0" sldId="266"/>
        </pc:sldMkLst>
      </pc:sldChg>
      <pc:sldChg chg="modSp mod">
        <pc:chgData name="Manoj THULASIDAS" userId="d95e47b6-62ec-43de-81ef-a7c2618fa2c1" providerId="ADAL" clId="{AD284103-20F8-5477-B65E-8E004EFEAAA6}" dt="2026-02-26T10:30:25.445" v="70" actId="113"/>
        <pc:sldMkLst>
          <pc:docMk/>
          <pc:sldMk cId="0" sldId="267"/>
        </pc:sldMkLst>
      </pc:sldChg>
      <pc:sldChg chg="modSp mod">
        <pc:chgData name="Manoj THULASIDAS" userId="d95e47b6-62ec-43de-81ef-a7c2618fa2c1" providerId="ADAL" clId="{AD284103-20F8-5477-B65E-8E004EFEAAA6}" dt="2026-02-26T10:26:04.777" v="44" actId="20577"/>
        <pc:sldMkLst>
          <pc:docMk/>
          <pc:sldMk cId="0" sldId="268"/>
        </pc:sldMkLst>
      </pc:sldChg>
      <pc:sldChg chg="modSp mod">
        <pc:chgData name="Manoj THULASIDAS" userId="d95e47b6-62ec-43de-81ef-a7c2618fa2c1" providerId="ADAL" clId="{AD284103-20F8-5477-B65E-8E004EFEAAA6}" dt="2026-02-26T10:30:39.053" v="71" actId="113"/>
        <pc:sldMkLst>
          <pc:docMk/>
          <pc:sldMk cId="0" sldId="269"/>
        </pc:sldMkLst>
      </pc:sldChg>
      <pc:sldChg chg="modSp mod">
        <pc:chgData name="Manoj THULASIDAS" userId="d95e47b6-62ec-43de-81ef-a7c2618fa2c1" providerId="ADAL" clId="{AD284103-20F8-5477-B65E-8E004EFEAAA6}" dt="2026-02-26T10:26:20.784" v="46"/>
        <pc:sldMkLst>
          <pc:docMk/>
          <pc:sldMk cId="0" sldId="270"/>
        </pc:sldMkLst>
      </pc:sldChg>
      <pc:sldChg chg="modSp mod">
        <pc:chgData name="Manoj THULASIDAS" userId="d95e47b6-62ec-43de-81ef-a7c2618fa2c1" providerId="ADAL" clId="{AD284103-20F8-5477-B65E-8E004EFEAAA6}" dt="2026-02-26T10:30:48.610" v="72" actId="113"/>
        <pc:sldMkLst>
          <pc:docMk/>
          <pc:sldMk cId="0" sldId="271"/>
        </pc:sldMkLst>
      </pc:sldChg>
      <pc:sldChg chg="modSp mod">
        <pc:chgData name="Manoj THULASIDAS" userId="d95e47b6-62ec-43de-81ef-a7c2618fa2c1" providerId="ADAL" clId="{AD284103-20F8-5477-B65E-8E004EFEAAA6}" dt="2026-02-26T10:26:45.032" v="49" actId="113"/>
        <pc:sldMkLst>
          <pc:docMk/>
          <pc:sldMk cId="0" sldId="272"/>
        </pc:sldMkLst>
      </pc:sldChg>
      <pc:sldMasterChg chg="addSp mod">
        <pc:chgData name="Manoj THULASIDAS" userId="d95e47b6-62ec-43de-81ef-a7c2618fa2c1" providerId="ADAL" clId="{AD284103-20F8-5477-B65E-8E004EFEAAA6}" dt="2026-02-26T10:20:07.855" v="4" actId="33475"/>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68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68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6a222053df_0_2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Many parts of this slides are taken from MongoDB,  read more about MongoDB in the link below.</a:t>
            </a:r>
            <a:br>
              <a:rPr lang="en-US"/>
            </a:br>
            <a:r>
              <a:rPr lang="en-US" sz="1200" b="0"/>
              <a:t>https://www.mongodb.com/resources/basics/databases/document-databases</a:t>
            </a:r>
            <a:endParaRPr b="0"/>
          </a:p>
        </p:txBody>
      </p:sp>
      <p:sp>
        <p:nvSpPr>
          <p:cNvPr id="74" name="Google Shape;74;g36a222053df_0_2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Many parts of this slides are taken from MongoDB,  read more about MongoDB in the link below.</a:t>
            </a:r>
            <a:br>
              <a:rPr lang="en-US"/>
            </a:br>
            <a:r>
              <a:rPr lang="en-US" sz="1200" b="0"/>
              <a:t>https://www.mongodb.com/resources/basics/databases/document-databases</a:t>
            </a:r>
            <a:endParaRPr b="0"/>
          </a:p>
        </p:txBody>
      </p:sp>
      <p:sp>
        <p:nvSpPr>
          <p:cNvPr id="83" name="Google Shape;83;p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6a222053df_0_3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g36a222053df_0_3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e7437085d_0_1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g36e7437085d_0_1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e7437085d_0_1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g36e7437085d_0_1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 MongoDB Atlas Cluster * -- https://www.mongodb.com/resources/products/fundamentals/clusters</a:t>
            </a:r>
            <a:endParaRPr/>
          </a:p>
        </p:txBody>
      </p:sp>
      <p:sp>
        <p:nvSpPr>
          <p:cNvPr id="136" name="Google Shape;136;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e7437085d_0_3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36e7437085d_0_3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6e7437085d_0_4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6e7437085d_0_4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6e7437085d_0_5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36e7437085d_0_5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6e7437085d_0_6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6e7437085d_0_6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6e7437085d_0_6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36e7437085d_0_6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e7437085d_0_7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g36e7437085d_0_7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6e7437085d_0_8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g36e7437085d_0_8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6e7437085d_0_9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6e7437085d_0_9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6e7437085d_0_10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36e7437085d_0_10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6e7437085d_0_11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6e7437085d_0_11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6e7437085d_0_12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6e7437085d_0_12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6e7437085d_0_14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g36e7437085d_0_14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Ref -Mongoose Schema : https://</a:t>
            </a:r>
            <a:r>
              <a:rPr lang="en-US" dirty="0" err="1"/>
              <a:t>mongoosejs.com</a:t>
            </a:r>
            <a:r>
              <a:rPr lang="en-US" dirty="0"/>
              <a:t>/docs/</a:t>
            </a:r>
            <a:r>
              <a:rPr lang="en-US" dirty="0" err="1"/>
              <a:t>guide.html</a:t>
            </a:r>
            <a:endParaRPr dirty="0"/>
          </a:p>
        </p:txBody>
      </p:sp>
      <p:sp>
        <p:nvSpPr>
          <p:cNvPr id="86" name="Google Shape;86;p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Ref -Mongoose Schema : https://</a:t>
            </a:r>
            <a:r>
              <a:rPr lang="en-US" dirty="0" err="1"/>
              <a:t>mongoosejs.com</a:t>
            </a:r>
            <a:r>
              <a:rPr lang="en-US" dirty="0"/>
              <a:t>/docs/</a:t>
            </a:r>
            <a:r>
              <a:rPr lang="en-US" dirty="0" err="1"/>
              <a:t>guide.html</a:t>
            </a:r>
            <a:endParaRPr dirty="0"/>
          </a:p>
        </p:txBody>
      </p:sp>
      <p:sp>
        <p:nvSpPr>
          <p:cNvPr id="94" name="Google Shape;94;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6e7437085d_0_14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6e7437085d_0_14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6e7437085d_0_16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36e7437085d_0_16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6e7437085d_0_17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g36e7437085d_0_17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e7437085d_0_19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36e7437085d_0_19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e7437085d_0_19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36e7437085d_0_19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6e7437085d_0_20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6e7437085d_0_20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e7958bfd6_0_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36e7958bfd6_0_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e7958bfd6_0_3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36e7958bfd6_0_3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e7437085d_0_21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6e7437085d_0_21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2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EFF0761C-36FE-0FB5-22E1-640276A9EAF6}"/>
            </a:ext>
          </a:extLst>
        </p:cNvPr>
        <p:cNvGrpSpPr/>
        <p:nvPr/>
      </p:nvGrpSpPr>
      <p:grpSpPr>
        <a:xfrm>
          <a:off x="0" y="0"/>
          <a:ext cx="0" cy="0"/>
          <a:chOff x="0" y="0"/>
          <a:chExt cx="0" cy="0"/>
        </a:xfrm>
      </p:grpSpPr>
      <p:sp>
        <p:nvSpPr>
          <p:cNvPr id="304" name="Google Shape;304;p23:notes">
            <a:extLst>
              <a:ext uri="{FF2B5EF4-FFF2-40B4-BE49-F238E27FC236}">
                <a16:creationId xmlns:a16="http://schemas.microsoft.com/office/drawing/2014/main" id="{805DBCD6-33BD-AD77-A726-CF15E45C0ED2}"/>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3:notes">
            <a:extLst>
              <a:ext uri="{FF2B5EF4-FFF2-40B4-BE49-F238E27FC236}">
                <a16:creationId xmlns:a16="http://schemas.microsoft.com/office/drawing/2014/main" id="{E585374B-DEBA-D91A-C5E3-76F7F6C48331}"/>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25426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e7958bfd6_0_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6e7958bfd6_0_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01822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2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60927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5669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19008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2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07064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3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13003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pic>
        <p:nvPicPr>
          <p:cNvPr id="18" name="Google Shape;18;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19" name="Google Shape;19;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3" name="Google Shape;2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9"/>
          <p:cNvCxnSpPr/>
          <p:nvPr/>
        </p:nvCxnSpPr>
        <p:spPr>
          <a:xfrm>
            <a:off x="0" y="1250297"/>
            <a:ext cx="12192000" cy="0"/>
          </a:xfrm>
          <a:prstGeom prst="straightConnector1">
            <a:avLst/>
          </a:prstGeom>
          <a:noFill/>
          <a:ln w="9525" cap="flat" cmpd="sng">
            <a:solidFill>
              <a:srgbClr val="D5A10F"/>
            </a:solidFill>
            <a:prstDash val="solid"/>
            <a:miter lim="800000"/>
            <a:headEnd type="none" w="sm" len="sm"/>
            <a:tailEnd type="none" w="sm" len="sm"/>
          </a:ln>
        </p:spPr>
      </p:cxnSp>
      <p:pic>
        <p:nvPicPr>
          <p:cNvPr id="27" name="Google Shape;27;p9"/>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extLst>
    <p:ext uri="{DCECCB84-F9BA-43D5-87BE-67443E8EF086}">
      <p15:sldGuideLst xmlns:p15="http://schemas.microsoft.com/office/powerpoint/2012/main">
        <p15:guide id="1" pos="211">
          <p15:clr>
            <a:srgbClr val="5ACBF0"/>
          </p15:clr>
        </p15:guide>
        <p15:guide id="2" orient="horz" pos="686">
          <p15:clr>
            <a:srgbClr val="5ACBF0"/>
          </p15:clr>
        </p15:guide>
        <p15:guide id="3" orient="horz" pos="1049">
          <p15:clr>
            <a:srgbClr val="5ACBF0"/>
          </p15:clr>
        </p15:guide>
        <p15:guide id="4" orient="horz" pos="132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5"/>
          <p:cNvSpPr>
            <a:spLocks noGrp="1"/>
          </p:cNvSpPr>
          <p:nvPr>
            <p:ph type="pic" idx="2"/>
          </p:nvPr>
        </p:nvSpPr>
        <p:spPr>
          <a:xfrm>
            <a:off x="5183188" y="987425"/>
            <a:ext cx="6172200" cy="4873625"/>
          </a:xfrm>
          <a:prstGeom prst="rect">
            <a:avLst/>
          </a:prstGeom>
          <a:noFill/>
          <a:ln>
            <a:noFill/>
          </a:ln>
        </p:spPr>
      </p:sp>
      <p:sp>
        <p:nvSpPr>
          <p:cNvPr id="56" name="Google Shape;5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Calibri"/>
                <a:ea typeface="Calibri"/>
                <a:cs typeface="Calibri"/>
                <a:sym typeface="Calibri"/>
              </a:rPr>
              <a:t>SMU Classification: Restricted</a:t>
            </a:r>
            <a:endParaRPr sz="1400" b="0" i="0" u="none" strike="noStrike" cap="none">
              <a:solidFill>
                <a:srgbClr val="000000"/>
              </a:solidFill>
              <a:latin typeface="Arial"/>
              <a:ea typeface="Arial"/>
              <a:cs typeface="Arial"/>
              <a:sym typeface="Arial"/>
            </a:endParaRPr>
          </a:p>
        </p:txBody>
      </p:sp>
      <p:sp>
        <p:nvSpPr>
          <p:cNvPr id="16" name="Google Shape;16;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Calibri"/>
                <a:ea typeface="Calibri"/>
                <a:cs typeface="Calibri"/>
                <a:sym typeface="Calibri"/>
              </a:rPr>
              <a:t>SMU Classification: Restricted</a:t>
            </a:r>
            <a:endParaRPr/>
          </a:p>
        </p:txBody>
      </p:sp>
      <p:sp>
        <p:nvSpPr>
          <p:cNvPr id="3" name="TextBox 2">
            <a:extLst>
              <a:ext uri="{FF2B5EF4-FFF2-40B4-BE49-F238E27FC236}">
                <a16:creationId xmlns:a16="http://schemas.microsoft.com/office/drawing/2014/main" id="{1A2D8DFC-92C5-6418-60AD-062D196B8F43}"/>
              </a:ext>
            </a:extLst>
          </p:cNvPr>
          <p:cNvSpPr txBox="1"/>
          <p:nvPr userDrawn="1">
            <p:extLst>
              <p:ext uri="{1162E1C5-73C7-4A58-AE30-91384D911F3F}">
                <p184:classification xmlns:p184="http://schemas.microsoft.com/office/powerpoint/2018/4/main" val="hdr"/>
              </p:ext>
            </p:extLst>
          </p:nvPr>
        </p:nvSpPr>
        <p:spPr>
          <a:xfrm>
            <a:off x="5428425" y="63500"/>
            <a:ext cx="135572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mongodb.com/json-and-bs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mongodb.com/products/platform/atlas-database"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localhost:8000/book-list"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mongoosejs.com/docs/api/model.html#Model.find(),"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p:nvPr/>
        </p:nvSpPr>
        <p:spPr>
          <a:xfrm>
            <a:off x="319075" y="2259075"/>
            <a:ext cx="11516700" cy="1253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dirty="0">
                <a:solidFill>
                  <a:srgbClr val="11175E"/>
                </a:solidFill>
                <a:latin typeface="Arial"/>
                <a:ea typeface="Arial"/>
                <a:cs typeface="Arial"/>
                <a:sym typeface="Arial"/>
              </a:rPr>
              <a:t>Database Interactions: MongoDB using Atlas database</a:t>
            </a:r>
          </a:p>
        </p:txBody>
      </p:sp>
      <p:sp>
        <p:nvSpPr>
          <p:cNvPr id="71" name="Google Shape;71;p1"/>
          <p:cNvSpPr txBox="1"/>
          <p:nvPr/>
        </p:nvSpPr>
        <p:spPr>
          <a:xfrm>
            <a:off x="369450" y="4119775"/>
            <a:ext cx="11453100" cy="171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endParaRPr lang="en-SG" sz="2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dirty="0">
                <a:solidFill>
                  <a:srgbClr val="000000"/>
                </a:solidFill>
                <a:latin typeface="Arial"/>
                <a:ea typeface="Arial"/>
                <a:cs typeface="Arial"/>
                <a:sym typeface="Arial"/>
              </a:rPr>
              <a:t>Material from IS113 Web Application Development</a:t>
            </a:r>
            <a:endParaRPr sz="22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g36a222053df_0_29"/>
          <p:cNvSpPr/>
          <p:nvPr/>
        </p:nvSpPr>
        <p:spPr>
          <a:xfrm>
            <a:off x="24188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Introduction to MongoDB</a:t>
            </a:r>
            <a:endParaRPr sz="2400" b="1" i="0" u="none" strike="noStrike" cap="none">
              <a:solidFill>
                <a:srgbClr val="11175E"/>
              </a:solidFill>
              <a:latin typeface="Arial"/>
              <a:ea typeface="Arial"/>
              <a:cs typeface="Arial"/>
              <a:sym typeface="Arial"/>
            </a:endParaRPr>
          </a:p>
        </p:txBody>
      </p:sp>
      <p:pic>
        <p:nvPicPr>
          <p:cNvPr id="77" name="Google Shape;77;g36a222053df_0_29"/>
          <p:cNvPicPr preferRelativeResize="0"/>
          <p:nvPr/>
        </p:nvPicPr>
        <p:blipFill rotWithShape="1">
          <a:blip r:embed="rId3">
            <a:alphaModFix/>
          </a:blip>
          <a:srcRect/>
          <a:stretch/>
        </p:blipFill>
        <p:spPr>
          <a:xfrm>
            <a:off x="342802" y="4948079"/>
            <a:ext cx="4376155" cy="1396074"/>
          </a:xfrm>
          <a:prstGeom prst="rect">
            <a:avLst/>
          </a:prstGeom>
          <a:noFill/>
          <a:ln>
            <a:noFill/>
          </a:ln>
        </p:spPr>
      </p:pic>
      <p:sp>
        <p:nvSpPr>
          <p:cNvPr id="78" name="Google Shape;78;g36a222053df_0_29"/>
          <p:cNvSpPr txBox="1"/>
          <p:nvPr/>
        </p:nvSpPr>
        <p:spPr>
          <a:xfrm>
            <a:off x="5268256" y="5384505"/>
            <a:ext cx="2879151"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E.g. of a JSON document storing the information about a particular book.</a:t>
            </a:r>
            <a:endParaRPr sz="1400" b="0" i="0" u="none" strike="noStrike" cap="none">
              <a:solidFill>
                <a:srgbClr val="000000"/>
              </a:solidFill>
              <a:latin typeface="Arial"/>
              <a:ea typeface="Arial"/>
              <a:cs typeface="Arial"/>
              <a:sym typeface="Arial"/>
            </a:endParaRPr>
          </a:p>
        </p:txBody>
      </p:sp>
      <p:sp>
        <p:nvSpPr>
          <p:cNvPr id="79" name="Google Shape;79;g36a222053df_0_29"/>
          <p:cNvSpPr/>
          <p:nvPr/>
        </p:nvSpPr>
        <p:spPr>
          <a:xfrm rot="10800000">
            <a:off x="4739427" y="5470766"/>
            <a:ext cx="390418" cy="35070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0" name="Google Shape;80;g36a222053df_0_29"/>
          <p:cNvSpPr txBox="1"/>
          <p:nvPr/>
        </p:nvSpPr>
        <p:spPr>
          <a:xfrm>
            <a:off x="250086" y="1304030"/>
            <a:ext cx="11454234" cy="349249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300" b="1" i="0" u="none" strike="noStrike" cap="none">
                <a:solidFill>
                  <a:srgbClr val="000000"/>
                </a:solidFill>
                <a:latin typeface="Arial"/>
                <a:ea typeface="Arial"/>
                <a:cs typeface="Arial"/>
                <a:sym typeface="Arial"/>
              </a:rPr>
              <a:t>What is it?</a:t>
            </a:r>
            <a:endParaRPr/>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MongoDB is </a:t>
            </a:r>
            <a:r>
              <a:rPr lang="en-US" sz="1400" b="1" i="0" u="none" strike="noStrike" cap="none">
                <a:solidFill>
                  <a:srgbClr val="000000"/>
                </a:solidFill>
                <a:latin typeface="Arial"/>
                <a:ea typeface="Arial"/>
                <a:cs typeface="Arial"/>
                <a:sym typeface="Arial"/>
              </a:rPr>
              <a:t>a document database </a:t>
            </a:r>
            <a:r>
              <a:rPr lang="en-US" sz="1400" b="0" i="0" u="none" strike="noStrike" cap="none">
                <a:solidFill>
                  <a:srgbClr val="000000"/>
                </a:solidFill>
                <a:latin typeface="Arial"/>
                <a:ea typeface="Arial"/>
                <a:cs typeface="Arial"/>
                <a:sym typeface="Arial"/>
              </a:rPr>
              <a:t>(also known as a document-oriented database or a document store) is a database that stores information in documents.</a:t>
            </a:r>
            <a:endParaRPr/>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Document databases are considered to be non-relational (or NoSQL) databases. Instead of storing data in fixed rows and columns, document databases use flexible documents. Document databases are the most popular alternative to tabular, relational databases.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1" u="none" strike="noStrike" cap="none">
                <a:solidFill>
                  <a:srgbClr val="000000"/>
                </a:solidFill>
                <a:latin typeface="Arial"/>
                <a:ea typeface="Arial"/>
                <a:cs typeface="Arial"/>
                <a:sym typeface="Arial"/>
              </a:rPr>
              <a:t>What is a document?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 document is a</a:t>
            </a:r>
            <a:r>
              <a:rPr lang="en-US" sz="1400" b="1" i="0" u="none" strike="noStrike" cap="none">
                <a:solidFill>
                  <a:srgbClr val="000000"/>
                </a:solidFill>
                <a:latin typeface="Arial"/>
                <a:ea typeface="Arial"/>
                <a:cs typeface="Arial"/>
                <a:sym typeface="Arial"/>
              </a:rPr>
              <a:t> record </a:t>
            </a:r>
            <a:r>
              <a:rPr lang="en-US" sz="1400" b="0" i="0" u="none" strike="noStrike" cap="none">
                <a:solidFill>
                  <a:srgbClr val="000000"/>
                </a:solidFill>
                <a:latin typeface="Arial"/>
                <a:ea typeface="Arial"/>
                <a:cs typeface="Arial"/>
                <a:sym typeface="Arial"/>
              </a:rPr>
              <a:t>in a document database. A document typically stores information about one object and any of its related metadata. Documents store data in field-value pairs. The values can be a variety of types and structures, including strings, numbers, dates, arrays, or objects. Documents can be stored in formats like JSON, </a:t>
            </a:r>
            <a:r>
              <a:rPr lang="en-US" sz="14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BSON</a:t>
            </a:r>
            <a:r>
              <a:rPr lang="en-US" sz="1400" b="0" i="0" u="none" strike="noStrike" cap="none">
                <a:solidFill>
                  <a:srgbClr val="000000"/>
                </a:solidFill>
                <a:latin typeface="Arial"/>
                <a:ea typeface="Arial"/>
                <a:cs typeface="Arial"/>
                <a:sym typeface="Arial"/>
              </a:rPr>
              <a:t>, and XML.</a:t>
            </a:r>
            <a:endParaRPr/>
          </a:p>
          <a:p>
            <a:pPr marL="0" marR="0" lvl="0" indent="0" algn="l" rtl="0">
              <a:lnSpc>
                <a:spcPct val="115000"/>
              </a:lnSpc>
              <a:spcBef>
                <a:spcPts val="120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
          <p:cNvSpPr/>
          <p:nvPr/>
        </p:nvSpPr>
        <p:spPr>
          <a:xfrm>
            <a:off x="24188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Introduction to MongoDB</a:t>
            </a:r>
            <a:endParaRPr sz="2400" b="1" i="0" u="none" strike="noStrike" cap="none">
              <a:solidFill>
                <a:srgbClr val="11175E"/>
              </a:solidFill>
              <a:latin typeface="Arial"/>
              <a:ea typeface="Arial"/>
              <a:cs typeface="Arial"/>
              <a:sym typeface="Arial"/>
            </a:endParaRPr>
          </a:p>
        </p:txBody>
      </p:sp>
      <p:pic>
        <p:nvPicPr>
          <p:cNvPr id="86" name="Google Shape;86;p2"/>
          <p:cNvPicPr preferRelativeResize="0"/>
          <p:nvPr/>
        </p:nvPicPr>
        <p:blipFill rotWithShape="1">
          <a:blip r:embed="rId3">
            <a:alphaModFix/>
          </a:blip>
          <a:srcRect/>
          <a:stretch/>
        </p:blipFill>
        <p:spPr>
          <a:xfrm>
            <a:off x="400081" y="3429000"/>
            <a:ext cx="4376155" cy="1396074"/>
          </a:xfrm>
          <a:prstGeom prst="rect">
            <a:avLst/>
          </a:prstGeom>
          <a:noFill/>
          <a:ln>
            <a:noFill/>
          </a:ln>
        </p:spPr>
      </p:pic>
      <p:sp>
        <p:nvSpPr>
          <p:cNvPr id="87" name="Google Shape;87;p2"/>
          <p:cNvSpPr txBox="1"/>
          <p:nvPr/>
        </p:nvSpPr>
        <p:spPr>
          <a:xfrm>
            <a:off x="5298267" y="3681912"/>
            <a:ext cx="406856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This document can be a in a collection call books where it can store many other documents of books.</a:t>
            </a:r>
            <a:endParaRPr sz="1400" b="0" i="0" u="none" strike="noStrike" cap="none">
              <a:solidFill>
                <a:srgbClr val="000000"/>
              </a:solidFill>
              <a:latin typeface="Arial"/>
              <a:ea typeface="Arial"/>
              <a:cs typeface="Arial"/>
              <a:sym typeface="Arial"/>
            </a:endParaRPr>
          </a:p>
        </p:txBody>
      </p:sp>
      <p:pic>
        <p:nvPicPr>
          <p:cNvPr id="88" name="Google Shape;88;p2"/>
          <p:cNvPicPr preferRelativeResize="0"/>
          <p:nvPr/>
        </p:nvPicPr>
        <p:blipFill rotWithShape="1">
          <a:blip r:embed="rId4">
            <a:alphaModFix/>
          </a:blip>
          <a:srcRect/>
          <a:stretch/>
        </p:blipFill>
        <p:spPr>
          <a:xfrm>
            <a:off x="2007256" y="4673488"/>
            <a:ext cx="5578900" cy="1239756"/>
          </a:xfrm>
          <a:prstGeom prst="rect">
            <a:avLst/>
          </a:prstGeom>
          <a:noFill/>
          <a:ln>
            <a:noFill/>
          </a:ln>
        </p:spPr>
      </p:pic>
      <p:sp>
        <p:nvSpPr>
          <p:cNvPr id="89" name="Google Shape;89;p2"/>
          <p:cNvSpPr/>
          <p:nvPr/>
        </p:nvSpPr>
        <p:spPr>
          <a:xfrm>
            <a:off x="728536" y="6161485"/>
            <a:ext cx="1859622" cy="63139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A Collection of Books</a:t>
            </a:r>
            <a:endParaRPr sz="1400" b="0" i="0" u="none" strike="noStrike" cap="none">
              <a:solidFill>
                <a:schemeClr val="lt1"/>
              </a:solidFill>
              <a:latin typeface="Arial"/>
              <a:ea typeface="Arial"/>
              <a:cs typeface="Arial"/>
              <a:sym typeface="Arial"/>
            </a:endParaRPr>
          </a:p>
        </p:txBody>
      </p:sp>
      <p:cxnSp>
        <p:nvCxnSpPr>
          <p:cNvPr id="90" name="Google Shape;90;p2"/>
          <p:cNvCxnSpPr>
            <a:stCxn id="89" idx="0"/>
          </p:cNvCxnSpPr>
          <p:nvPr/>
        </p:nvCxnSpPr>
        <p:spPr>
          <a:xfrm rot="10800000">
            <a:off x="1294447" y="4921285"/>
            <a:ext cx="363900" cy="1240200"/>
          </a:xfrm>
          <a:prstGeom prst="straightConnector1">
            <a:avLst/>
          </a:prstGeom>
          <a:noFill/>
          <a:ln w="19050" cap="flat" cmpd="sng">
            <a:solidFill>
              <a:srgbClr val="EB792A"/>
            </a:solidFill>
            <a:prstDash val="solid"/>
            <a:round/>
            <a:headEnd type="none" w="sm" len="sm"/>
            <a:tailEnd type="triangle" w="med" len="med"/>
          </a:ln>
        </p:spPr>
      </p:cxnSp>
      <p:cxnSp>
        <p:nvCxnSpPr>
          <p:cNvPr id="91" name="Google Shape;91;p2"/>
          <p:cNvCxnSpPr>
            <a:stCxn id="89" idx="3"/>
          </p:cNvCxnSpPr>
          <p:nvPr/>
        </p:nvCxnSpPr>
        <p:spPr>
          <a:xfrm rot="10800000" flipH="1">
            <a:off x="2588158" y="5983682"/>
            <a:ext cx="566100" cy="493500"/>
          </a:xfrm>
          <a:prstGeom prst="straightConnector1">
            <a:avLst/>
          </a:prstGeom>
          <a:noFill/>
          <a:ln w="19050" cap="flat" cmpd="sng">
            <a:solidFill>
              <a:srgbClr val="EB792A"/>
            </a:solidFill>
            <a:prstDash val="solid"/>
            <a:round/>
            <a:headEnd type="none" w="sm" len="sm"/>
            <a:tailEnd type="triangle" w="med" len="med"/>
          </a:ln>
        </p:spPr>
      </p:cxnSp>
      <p:sp>
        <p:nvSpPr>
          <p:cNvPr id="92" name="Google Shape;92;p2"/>
          <p:cNvSpPr/>
          <p:nvPr/>
        </p:nvSpPr>
        <p:spPr>
          <a:xfrm rot="10800000">
            <a:off x="4842043" y="3875894"/>
            <a:ext cx="390418" cy="35070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3" name="Google Shape;93;p2"/>
          <p:cNvSpPr txBox="1"/>
          <p:nvPr/>
        </p:nvSpPr>
        <p:spPr>
          <a:xfrm>
            <a:off x="8803758" y="2970028"/>
            <a:ext cx="9144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94" name="Google Shape;94;p2"/>
          <p:cNvSpPr txBox="1"/>
          <p:nvPr/>
        </p:nvSpPr>
        <p:spPr>
          <a:xfrm>
            <a:off x="251633" y="1309198"/>
            <a:ext cx="11662351" cy="179818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300" b="1" i="0" u="none" strike="noStrike" cap="none">
                <a:solidFill>
                  <a:srgbClr val="000000"/>
                </a:solidFill>
                <a:latin typeface="Arial"/>
                <a:ea typeface="Arial"/>
                <a:cs typeface="Arial"/>
                <a:sym typeface="Arial"/>
              </a:rPr>
              <a:t>What is it?</a:t>
            </a:r>
            <a:endParaRPr/>
          </a:p>
          <a:p>
            <a:pPr marL="0" marR="0" lvl="0" indent="0" algn="l" rtl="0">
              <a:lnSpc>
                <a:spcPct val="115000"/>
              </a:lnSpc>
              <a:spcBef>
                <a:spcPts val="1200"/>
              </a:spcBef>
              <a:spcAft>
                <a:spcPts val="0"/>
              </a:spcAft>
              <a:buNone/>
            </a:pPr>
            <a:r>
              <a:rPr lang="en-US" sz="1600" b="1" i="1" u="none" strike="noStrike" cap="none">
                <a:solidFill>
                  <a:srgbClr val="000000"/>
                </a:solidFill>
                <a:latin typeface="Arial"/>
                <a:ea typeface="Arial"/>
                <a:cs typeface="Arial"/>
                <a:sym typeface="Arial"/>
              </a:rPr>
              <a:t>What is a collection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 collection is a </a:t>
            </a:r>
            <a:r>
              <a:rPr lang="en-US" sz="1400" b="1" i="0" u="none" strike="noStrike" cap="none">
                <a:solidFill>
                  <a:srgbClr val="000000"/>
                </a:solidFill>
                <a:latin typeface="Arial"/>
                <a:ea typeface="Arial"/>
                <a:cs typeface="Arial"/>
                <a:sym typeface="Arial"/>
              </a:rPr>
              <a:t>group</a:t>
            </a:r>
            <a:r>
              <a:rPr lang="en-US" sz="1400" b="0" i="0" u="none" strike="noStrike" cap="none">
                <a:solidFill>
                  <a:srgbClr val="000000"/>
                </a:solidFill>
                <a:latin typeface="Arial"/>
                <a:ea typeface="Arial"/>
                <a:cs typeface="Arial"/>
                <a:sym typeface="Arial"/>
              </a:rPr>
              <a:t> of documents. Collections typically store documents that have </a:t>
            </a:r>
            <a:r>
              <a:rPr lang="en-US" sz="1400" b="1" i="0" u="none" strike="noStrike" cap="none">
                <a:solidFill>
                  <a:srgbClr val="000000"/>
                </a:solidFill>
                <a:latin typeface="Arial"/>
                <a:ea typeface="Arial"/>
                <a:cs typeface="Arial"/>
                <a:sym typeface="Arial"/>
              </a:rPr>
              <a:t>similar contents</a:t>
            </a:r>
            <a:r>
              <a:rPr lang="en-US"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Not all documents in a collection are required to have the same fields, because document databases have flexible schemas. Note that some document databases provide schema validation, so the schema can optionally be locked down when needed.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6a222053df_0_3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pic>
        <p:nvPicPr>
          <p:cNvPr id="100" name="Google Shape;100;g36a222053df_0_34"/>
          <p:cNvPicPr preferRelativeResize="0"/>
          <p:nvPr/>
        </p:nvPicPr>
        <p:blipFill rotWithShape="1">
          <a:blip r:embed="rId3">
            <a:alphaModFix/>
          </a:blip>
          <a:srcRect/>
          <a:stretch/>
        </p:blipFill>
        <p:spPr>
          <a:xfrm>
            <a:off x="324601" y="2383667"/>
            <a:ext cx="7317149" cy="3993801"/>
          </a:xfrm>
          <a:prstGeom prst="rect">
            <a:avLst/>
          </a:prstGeom>
          <a:noFill/>
          <a:ln>
            <a:noFill/>
          </a:ln>
        </p:spPr>
      </p:pic>
      <p:sp>
        <p:nvSpPr>
          <p:cNvPr id="101" name="Google Shape;101;g36a222053df_0_34"/>
          <p:cNvSpPr txBox="1"/>
          <p:nvPr/>
        </p:nvSpPr>
        <p:spPr>
          <a:xfrm>
            <a:off x="7891979" y="2219634"/>
            <a:ext cx="3975419" cy="4454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We will be using the cloud version of MongoDB. Go to the link provided. </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on </a:t>
            </a:r>
            <a:r>
              <a:rPr lang="en-US" sz="1800" b="1" i="0" u="none" strike="noStrike" cap="none" dirty="0">
                <a:solidFill>
                  <a:schemeClr val="dk1"/>
                </a:solidFill>
                <a:latin typeface="Arial"/>
                <a:ea typeface="Arial"/>
                <a:cs typeface="Arial"/>
                <a:sym typeface="Arial"/>
              </a:rPr>
              <a:t>Get Started</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p:txBody>
      </p:sp>
      <p:grpSp>
        <p:nvGrpSpPr>
          <p:cNvPr id="102" name="Google Shape;102;g36a222053df_0_34"/>
          <p:cNvGrpSpPr/>
          <p:nvPr/>
        </p:nvGrpSpPr>
        <p:grpSpPr>
          <a:xfrm>
            <a:off x="8005875" y="1536192"/>
            <a:ext cx="3897950" cy="5146200"/>
            <a:chOff x="8005875" y="1536192"/>
            <a:chExt cx="3897950" cy="5146200"/>
          </a:xfrm>
        </p:grpSpPr>
        <p:sp>
          <p:nvSpPr>
            <p:cNvPr id="103" name="Google Shape;103;g36a222053df_0_34"/>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4" name="Google Shape;104;g36a222053df_0_34"/>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5" name="Google Shape;105;g36a222053df_0_34"/>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06" name="Google Shape;106;g36a222053df_0_34"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07" name="Google Shape;107;g36a222053df_0_34"/>
          <p:cNvSpPr txBox="1"/>
          <p:nvPr/>
        </p:nvSpPr>
        <p:spPr>
          <a:xfrm>
            <a:off x="251633" y="1356904"/>
            <a:ext cx="11662351" cy="9079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Sign UP</a:t>
            </a:r>
            <a:br>
              <a:rPr lang="en-US" sz="2000" b="1" i="0" u="none" strike="noStrike" cap="none">
                <a:solidFill>
                  <a:srgbClr val="000000"/>
                </a:solidFill>
                <a:latin typeface="Arial"/>
                <a:ea typeface="Arial"/>
                <a:cs typeface="Arial"/>
                <a:sym typeface="Arial"/>
              </a:rPr>
            </a:br>
            <a:r>
              <a:rPr lang="en-US" sz="1600" b="0" i="0" u="sng" strike="noStrike" cap="none">
                <a:solidFill>
                  <a:schemeClr val="hlink"/>
                </a:solidFill>
                <a:latin typeface="Arial"/>
                <a:ea typeface="Arial"/>
                <a:cs typeface="Arial"/>
                <a:sym typeface="Arial"/>
                <a:hlinkClick r:id="rId5"/>
              </a:rPr>
              <a:t>https://www.mongodb.com/products/platform/atlas-database</a:t>
            </a:r>
            <a:endParaRPr sz="16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6e7437085d_0_1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13" name="Google Shape;113;g36e7437085d_0_10"/>
          <p:cNvSpPr txBox="1"/>
          <p:nvPr/>
        </p:nvSpPr>
        <p:spPr>
          <a:xfrm>
            <a:off x="7896147" y="2222926"/>
            <a:ext cx="3943820" cy="4454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Create your own Altas Account or you can use your SMU google account.</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Check accept Privacy Policy and click </a:t>
            </a:r>
            <a:r>
              <a:rPr lang="en-US" sz="1800" b="1" i="0" u="none" strike="noStrike" cap="none" dirty="0">
                <a:solidFill>
                  <a:schemeClr val="dk1"/>
                </a:solidFill>
                <a:latin typeface="Arial"/>
                <a:ea typeface="Arial"/>
                <a:cs typeface="Arial"/>
                <a:sym typeface="Arial"/>
              </a:rPr>
              <a:t>Submit</a:t>
            </a:r>
            <a:endParaRPr sz="1800" b="1" i="0" u="none" strike="noStrike" cap="none" dirty="0">
              <a:solidFill>
                <a:schemeClr val="dk1"/>
              </a:solidFill>
              <a:latin typeface="Arial"/>
              <a:ea typeface="Arial"/>
              <a:cs typeface="Arial"/>
              <a:sym typeface="Arial"/>
            </a:endParaRPr>
          </a:p>
        </p:txBody>
      </p:sp>
      <p:pic>
        <p:nvPicPr>
          <p:cNvPr id="114" name="Google Shape;114;g36e7437085d_0_10"/>
          <p:cNvPicPr preferRelativeResize="0"/>
          <p:nvPr/>
        </p:nvPicPr>
        <p:blipFill rotWithShape="1">
          <a:blip r:embed="rId3">
            <a:alphaModFix/>
          </a:blip>
          <a:srcRect/>
          <a:stretch/>
        </p:blipFill>
        <p:spPr>
          <a:xfrm>
            <a:off x="397125" y="2634283"/>
            <a:ext cx="6703526" cy="2750150"/>
          </a:xfrm>
          <a:prstGeom prst="rect">
            <a:avLst/>
          </a:prstGeom>
          <a:noFill/>
          <a:ln>
            <a:noFill/>
          </a:ln>
        </p:spPr>
      </p:pic>
      <p:grpSp>
        <p:nvGrpSpPr>
          <p:cNvPr id="115" name="Google Shape;115;g36e7437085d_0_10"/>
          <p:cNvGrpSpPr/>
          <p:nvPr/>
        </p:nvGrpSpPr>
        <p:grpSpPr>
          <a:xfrm>
            <a:off x="8005875" y="1536192"/>
            <a:ext cx="3897950" cy="5146200"/>
            <a:chOff x="8005875" y="1536192"/>
            <a:chExt cx="3897950" cy="5146200"/>
          </a:xfrm>
        </p:grpSpPr>
        <p:sp>
          <p:nvSpPr>
            <p:cNvPr id="116" name="Google Shape;116;g36e7437085d_0_10"/>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7" name="Google Shape;117;g36e7437085d_0_10"/>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8" name="Google Shape;118;g36e7437085d_0_10"/>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19" name="Google Shape;119;g36e7437085d_0_10"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20" name="Google Shape;120;g36e7437085d_0_10"/>
          <p:cNvSpPr txBox="1"/>
          <p:nvPr/>
        </p:nvSpPr>
        <p:spPr>
          <a:xfrm>
            <a:off x="256371" y="1328956"/>
            <a:ext cx="4152884"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Accept Privacy Policy</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6e7437085d_0_1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26" name="Google Shape;126;g36e7437085d_0_18"/>
          <p:cNvSpPr txBox="1"/>
          <p:nvPr/>
        </p:nvSpPr>
        <p:spPr>
          <a:xfrm>
            <a:off x="7896147" y="2204638"/>
            <a:ext cx="3943115" cy="4454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Fill in your goals and preferences.</a:t>
            </a:r>
            <a:endParaRPr sz="1800" b="0" i="0" u="none" strike="noStrike" cap="none">
              <a:solidFill>
                <a:schemeClr val="dk1"/>
              </a:solidFill>
              <a:latin typeface="Arial"/>
              <a:ea typeface="Arial"/>
              <a:cs typeface="Arial"/>
              <a:sym typeface="Arial"/>
            </a:endParaRPr>
          </a:p>
        </p:txBody>
      </p:sp>
      <p:pic>
        <p:nvPicPr>
          <p:cNvPr id="127" name="Google Shape;127;g36e7437085d_0_18"/>
          <p:cNvPicPr preferRelativeResize="0"/>
          <p:nvPr/>
        </p:nvPicPr>
        <p:blipFill rotWithShape="1">
          <a:blip r:embed="rId3">
            <a:alphaModFix/>
          </a:blip>
          <a:srcRect/>
          <a:stretch/>
        </p:blipFill>
        <p:spPr>
          <a:xfrm>
            <a:off x="361882" y="2054716"/>
            <a:ext cx="5816974" cy="4249601"/>
          </a:xfrm>
          <a:prstGeom prst="rect">
            <a:avLst/>
          </a:prstGeom>
          <a:noFill/>
          <a:ln>
            <a:noFill/>
          </a:ln>
        </p:spPr>
      </p:pic>
      <p:grpSp>
        <p:nvGrpSpPr>
          <p:cNvPr id="128" name="Google Shape;128;g36e7437085d_0_18"/>
          <p:cNvGrpSpPr/>
          <p:nvPr/>
        </p:nvGrpSpPr>
        <p:grpSpPr>
          <a:xfrm>
            <a:off x="8005875" y="1536192"/>
            <a:ext cx="3897950" cy="5146200"/>
            <a:chOff x="8005875" y="1536192"/>
            <a:chExt cx="3897950" cy="5146200"/>
          </a:xfrm>
        </p:grpSpPr>
        <p:sp>
          <p:nvSpPr>
            <p:cNvPr id="129" name="Google Shape;129;g36e7437085d_0_18"/>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0" name="Google Shape;130;g36e7437085d_0_18"/>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1" name="Google Shape;131;g36e7437085d_0_18"/>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32" name="Google Shape;132;g36e7437085d_0_18"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33" name="Google Shape;133;g36e7437085d_0_18"/>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Fill in your goals and preferences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39" name="Google Shape;139;p3"/>
          <p:cNvSpPr txBox="1"/>
          <p:nvPr/>
        </p:nvSpPr>
        <p:spPr>
          <a:xfrm>
            <a:off x="7894633" y="2223078"/>
            <a:ext cx="3917901"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on the </a:t>
            </a:r>
            <a:r>
              <a:rPr lang="en-US" sz="1800" b="1" i="0" u="none" strike="noStrike" cap="none" dirty="0">
                <a:solidFill>
                  <a:schemeClr val="dk1"/>
                </a:solidFill>
                <a:latin typeface="Arial"/>
                <a:ea typeface="Arial"/>
                <a:cs typeface="Arial"/>
                <a:sym typeface="Arial"/>
              </a:rPr>
              <a:t>Free</a:t>
            </a:r>
            <a:r>
              <a:rPr lang="en-US" sz="1800" b="0" i="0" u="none" strike="noStrike" cap="none" dirty="0">
                <a:solidFill>
                  <a:schemeClr val="dk1"/>
                </a:solidFill>
                <a:latin typeface="Arial"/>
                <a:ea typeface="Arial"/>
                <a:cs typeface="Arial"/>
                <a:sym typeface="Arial"/>
              </a:rPr>
              <a:t> Box and </a:t>
            </a:r>
            <a:r>
              <a:rPr lang="en-US" sz="1800" b="1" i="0" u="none" strike="noStrike" cap="none" dirty="0">
                <a:solidFill>
                  <a:schemeClr val="dk1"/>
                </a:solidFill>
                <a:latin typeface="Arial"/>
                <a:ea typeface="Arial"/>
                <a:cs typeface="Arial"/>
                <a:sym typeface="Arial"/>
              </a:rPr>
              <a:t>Name</a:t>
            </a:r>
            <a:r>
              <a:rPr lang="en-US" sz="1800" b="0" i="0" u="none" strike="noStrike" cap="none" dirty="0">
                <a:solidFill>
                  <a:schemeClr val="dk1"/>
                </a:solidFill>
                <a:latin typeface="Arial"/>
                <a:ea typeface="Arial"/>
                <a:cs typeface="Arial"/>
                <a:sym typeface="Arial"/>
              </a:rPr>
              <a:t> your cluster.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You will </a:t>
            </a:r>
            <a:r>
              <a:rPr lang="en-US" sz="1800" b="1" i="0" u="none" strike="noStrike" cap="none" dirty="0">
                <a:solidFill>
                  <a:schemeClr val="dk1"/>
                </a:solidFill>
                <a:latin typeface="Arial"/>
                <a:ea typeface="Arial"/>
                <a:cs typeface="Arial"/>
                <a:sym typeface="Arial"/>
              </a:rPr>
              <a:t>not </a:t>
            </a:r>
            <a:r>
              <a:rPr lang="en-US" sz="1800" b="0" i="0" u="none" strike="noStrike" cap="none" dirty="0">
                <a:solidFill>
                  <a:schemeClr val="dk1"/>
                </a:solidFill>
                <a:latin typeface="Arial"/>
                <a:ea typeface="Arial"/>
                <a:cs typeface="Arial"/>
                <a:sym typeface="Arial"/>
              </a:rPr>
              <a:t>be able to change the name of the cluster later. </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Do use a meaningful name.</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Choose </a:t>
            </a:r>
            <a:r>
              <a:rPr lang="en-US" sz="1800" b="1" i="0" u="none" strike="noStrike" cap="none" dirty="0">
                <a:solidFill>
                  <a:schemeClr val="dk1"/>
                </a:solidFill>
                <a:latin typeface="Arial"/>
                <a:ea typeface="Arial"/>
                <a:cs typeface="Arial"/>
                <a:sym typeface="Arial"/>
              </a:rPr>
              <a:t>AWS</a:t>
            </a:r>
            <a:r>
              <a:rPr lang="en-US" sz="1800" b="0" i="0" u="none" strike="noStrike" cap="none" dirty="0">
                <a:solidFill>
                  <a:schemeClr val="dk1"/>
                </a:solidFill>
                <a:latin typeface="Arial"/>
                <a:ea typeface="Arial"/>
                <a:cs typeface="Arial"/>
                <a:sym typeface="Arial"/>
              </a:rPr>
              <a:t> as default</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1" i="0" u="none" strike="noStrike" cap="none" dirty="0">
                <a:solidFill>
                  <a:srgbClr val="FF0000"/>
                </a:solidFill>
                <a:latin typeface="Arial"/>
                <a:ea typeface="Arial"/>
                <a:cs typeface="Arial"/>
                <a:sym typeface="Arial"/>
              </a:rPr>
              <a:t>Uncheck preload sample dataset</a:t>
            </a:r>
            <a:endParaRPr sz="1800" b="1" i="0" u="none" strike="noStrike" cap="none" dirty="0">
              <a:solidFill>
                <a:srgbClr val="FF0000"/>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Click </a:t>
            </a:r>
            <a:r>
              <a:rPr lang="en-US" sz="1800" b="1" dirty="0">
                <a:solidFill>
                  <a:schemeClr val="dk1"/>
                </a:solidFill>
              </a:rPr>
              <a:t>C</a:t>
            </a:r>
            <a:r>
              <a:rPr lang="en-US" sz="1800" b="1" i="0" u="none" strike="noStrike" cap="none">
                <a:solidFill>
                  <a:schemeClr val="dk1"/>
                </a:solidFill>
                <a:latin typeface="Arial"/>
                <a:ea typeface="Arial"/>
                <a:cs typeface="Arial"/>
                <a:sym typeface="Arial"/>
              </a:rPr>
              <a:t>reate </a:t>
            </a:r>
            <a:r>
              <a:rPr lang="en-US" sz="1800" b="1" dirty="0">
                <a:solidFill>
                  <a:schemeClr val="dk1"/>
                </a:solidFill>
              </a:rPr>
              <a:t>D</a:t>
            </a:r>
            <a:r>
              <a:rPr lang="en-US" sz="1800" b="1" i="0" u="none" strike="noStrike" cap="none" dirty="0">
                <a:solidFill>
                  <a:schemeClr val="dk1"/>
                </a:solidFill>
                <a:latin typeface="Arial"/>
                <a:ea typeface="Arial"/>
                <a:cs typeface="Arial"/>
                <a:sym typeface="Arial"/>
              </a:rPr>
              <a:t>eployment</a:t>
            </a:r>
            <a:endParaRPr b="1"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It might take some time to create.</a:t>
            </a:r>
            <a:endParaRPr sz="1800" b="0" i="0" u="none" strike="noStrike" cap="none" dirty="0">
              <a:solidFill>
                <a:schemeClr val="dk1"/>
              </a:solidFill>
              <a:latin typeface="Arial"/>
              <a:ea typeface="Arial"/>
              <a:cs typeface="Arial"/>
              <a:sym typeface="Arial"/>
            </a:endParaRPr>
          </a:p>
        </p:txBody>
      </p:sp>
      <p:pic>
        <p:nvPicPr>
          <p:cNvPr id="140" name="Google Shape;140;p3"/>
          <p:cNvPicPr preferRelativeResize="0"/>
          <p:nvPr/>
        </p:nvPicPr>
        <p:blipFill rotWithShape="1">
          <a:blip r:embed="rId3">
            <a:alphaModFix/>
          </a:blip>
          <a:srcRect/>
          <a:stretch/>
        </p:blipFill>
        <p:spPr>
          <a:xfrm>
            <a:off x="376418" y="2907792"/>
            <a:ext cx="6160543" cy="3899332"/>
          </a:xfrm>
          <a:prstGeom prst="rect">
            <a:avLst/>
          </a:prstGeom>
          <a:noFill/>
          <a:ln>
            <a:noFill/>
          </a:ln>
        </p:spPr>
      </p:pic>
      <p:grpSp>
        <p:nvGrpSpPr>
          <p:cNvPr id="141" name="Google Shape;141;p3"/>
          <p:cNvGrpSpPr/>
          <p:nvPr/>
        </p:nvGrpSpPr>
        <p:grpSpPr>
          <a:xfrm>
            <a:off x="8005875" y="1536192"/>
            <a:ext cx="3897950" cy="5146200"/>
            <a:chOff x="8005875" y="1536192"/>
            <a:chExt cx="3897950" cy="5146200"/>
          </a:xfrm>
        </p:grpSpPr>
        <p:sp>
          <p:nvSpPr>
            <p:cNvPr id="142" name="Google Shape;142;p3"/>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3" name="Google Shape;143;p3"/>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4" name="Google Shape;144;p3"/>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45" name="Google Shape;145;p3"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46" name="Google Shape;146;p3"/>
          <p:cNvSpPr txBox="1"/>
          <p:nvPr/>
        </p:nvSpPr>
        <p:spPr>
          <a:xfrm>
            <a:off x="246375" y="1850799"/>
            <a:ext cx="7648258"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MongoDB Atlas Cluster* </a:t>
            </a:r>
            <a:r>
              <a:rPr lang="en-US" sz="1600" b="0" i="0" u="none" strike="noStrike" cap="none">
                <a:solidFill>
                  <a:srgbClr val="000000"/>
                </a:solidFill>
                <a:latin typeface="Arial"/>
                <a:ea typeface="Arial"/>
                <a:cs typeface="Arial"/>
                <a:sym typeface="Arial"/>
              </a:rPr>
              <a:t>is a </a:t>
            </a:r>
            <a:r>
              <a:rPr lang="en-US" sz="1600" b="1" i="0" u="none" strike="noStrike" cap="none">
                <a:solidFill>
                  <a:srgbClr val="000000"/>
                </a:solidFill>
                <a:latin typeface="Arial"/>
                <a:ea typeface="Arial"/>
                <a:cs typeface="Arial"/>
                <a:sym typeface="Arial"/>
              </a:rPr>
              <a:t>Document Database-as-a-Service </a:t>
            </a:r>
            <a:r>
              <a:rPr lang="en-US" sz="1600" b="0" i="0" u="none" strike="noStrike" cap="none">
                <a:solidFill>
                  <a:srgbClr val="000000"/>
                </a:solidFill>
                <a:latin typeface="Arial"/>
                <a:ea typeface="Arial"/>
                <a:cs typeface="Arial"/>
                <a:sym typeface="Arial"/>
              </a:rPr>
              <a:t>offering in the public cloud (available in Microsoft Azure, Google Cloud Platform, Amazon Web Services). This is a managed MongoDB service, where with just a few clicks, you can set up a working MongoDB cluster, accessible from your favorite web browser.</a:t>
            </a:r>
            <a:endParaRPr/>
          </a:p>
        </p:txBody>
      </p:sp>
      <p:sp>
        <p:nvSpPr>
          <p:cNvPr id="147" name="Google Shape;147;p3"/>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Create your cluster</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6e7437085d_0_3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53" name="Google Shape;153;g36e7437085d_0_35"/>
          <p:cNvSpPr txBox="1"/>
          <p:nvPr/>
        </p:nvSpPr>
        <p:spPr>
          <a:xfrm>
            <a:off x="7896147" y="2210449"/>
            <a:ext cx="3934676"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Create your admin user and create a password.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Please note down your IP, username and password in a digital text file to prevent issues later.</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Create Database User</a:t>
            </a:r>
            <a:endParaRPr sz="1800" b="1" i="0" u="none" strike="noStrike" cap="none" dirty="0">
              <a:solidFill>
                <a:schemeClr val="dk1"/>
              </a:solidFill>
              <a:latin typeface="Arial"/>
              <a:ea typeface="Arial"/>
              <a:cs typeface="Arial"/>
              <a:sym typeface="Arial"/>
            </a:endParaRPr>
          </a:p>
        </p:txBody>
      </p:sp>
      <p:pic>
        <p:nvPicPr>
          <p:cNvPr id="154" name="Google Shape;154;g36e7437085d_0_35"/>
          <p:cNvPicPr preferRelativeResize="0"/>
          <p:nvPr/>
        </p:nvPicPr>
        <p:blipFill rotWithShape="1">
          <a:blip r:embed="rId3">
            <a:alphaModFix/>
          </a:blip>
          <a:srcRect/>
          <a:stretch/>
        </p:blipFill>
        <p:spPr>
          <a:xfrm>
            <a:off x="360235" y="1983953"/>
            <a:ext cx="5475229" cy="4696551"/>
          </a:xfrm>
          <a:prstGeom prst="rect">
            <a:avLst/>
          </a:prstGeom>
          <a:noFill/>
          <a:ln>
            <a:noFill/>
          </a:ln>
        </p:spPr>
      </p:pic>
      <p:grpSp>
        <p:nvGrpSpPr>
          <p:cNvPr id="155" name="Google Shape;155;g36e7437085d_0_35"/>
          <p:cNvGrpSpPr/>
          <p:nvPr/>
        </p:nvGrpSpPr>
        <p:grpSpPr>
          <a:xfrm>
            <a:off x="8005875" y="1536192"/>
            <a:ext cx="3897950" cy="5146200"/>
            <a:chOff x="8005875" y="1536192"/>
            <a:chExt cx="3897950" cy="5146200"/>
          </a:xfrm>
        </p:grpSpPr>
        <p:sp>
          <p:nvSpPr>
            <p:cNvPr id="156" name="Google Shape;156;g36e7437085d_0_35"/>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57" name="Google Shape;157;g36e7437085d_0_35"/>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8" name="Google Shape;158;g36e7437085d_0_35"/>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59" name="Google Shape;159;g36e7437085d_0_35"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60" name="Google Shape;160;g36e7437085d_0_35"/>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Create user / connection</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6e7437085d_0_4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66" name="Google Shape;166;g36e7437085d_0_43"/>
          <p:cNvSpPr txBox="1"/>
          <p:nvPr/>
        </p:nvSpPr>
        <p:spPr>
          <a:xfrm>
            <a:off x="7895089" y="2210554"/>
            <a:ext cx="3954021"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Choose a connection method</a:t>
            </a:r>
            <a:endParaRPr sz="1800" b="1" i="0" u="none" strike="noStrike" cap="none" dirty="0">
              <a:solidFill>
                <a:schemeClr val="dk1"/>
              </a:solidFill>
              <a:latin typeface="Arial"/>
              <a:ea typeface="Arial"/>
              <a:cs typeface="Arial"/>
              <a:sym typeface="Arial"/>
            </a:endParaRPr>
          </a:p>
        </p:txBody>
      </p:sp>
      <p:pic>
        <p:nvPicPr>
          <p:cNvPr id="167" name="Google Shape;167;g36e7437085d_0_43"/>
          <p:cNvPicPr preferRelativeResize="0"/>
          <p:nvPr/>
        </p:nvPicPr>
        <p:blipFill rotWithShape="1">
          <a:blip r:embed="rId3">
            <a:alphaModFix/>
          </a:blip>
          <a:srcRect/>
          <a:stretch/>
        </p:blipFill>
        <p:spPr>
          <a:xfrm>
            <a:off x="359891" y="1913153"/>
            <a:ext cx="7310774" cy="4696325"/>
          </a:xfrm>
          <a:prstGeom prst="rect">
            <a:avLst/>
          </a:prstGeom>
          <a:noFill/>
          <a:ln>
            <a:noFill/>
          </a:ln>
        </p:spPr>
      </p:pic>
      <p:grpSp>
        <p:nvGrpSpPr>
          <p:cNvPr id="168" name="Google Shape;168;g36e7437085d_0_43"/>
          <p:cNvGrpSpPr/>
          <p:nvPr/>
        </p:nvGrpSpPr>
        <p:grpSpPr>
          <a:xfrm>
            <a:off x="8005875" y="1536192"/>
            <a:ext cx="3897950" cy="5146200"/>
            <a:chOff x="8005875" y="1536192"/>
            <a:chExt cx="3897950" cy="5146200"/>
          </a:xfrm>
        </p:grpSpPr>
        <p:sp>
          <p:nvSpPr>
            <p:cNvPr id="169" name="Google Shape;169;g36e7437085d_0_43"/>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0" name="Google Shape;170;g36e7437085d_0_43"/>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1" name="Google Shape;171;g36e7437085d_0_43"/>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72" name="Google Shape;172;g36e7437085d_0_43"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73" name="Google Shape;173;g36e7437085d_0_43"/>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Create user / connection</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6e7437085d_0_5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79" name="Google Shape;179;g36e7437085d_0_51"/>
          <p:cNvSpPr txBox="1"/>
          <p:nvPr/>
        </p:nvSpPr>
        <p:spPr>
          <a:xfrm>
            <a:off x="7895090" y="2210554"/>
            <a:ext cx="3958010"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Choose Compass ( MongoDB GUI)</a:t>
            </a:r>
            <a:endParaRPr sz="1800" b="0" i="0" u="none" strike="noStrike" cap="none">
              <a:solidFill>
                <a:schemeClr val="dk1"/>
              </a:solidFill>
              <a:latin typeface="Arial"/>
              <a:ea typeface="Arial"/>
              <a:cs typeface="Arial"/>
              <a:sym typeface="Arial"/>
            </a:endParaRPr>
          </a:p>
        </p:txBody>
      </p:sp>
      <p:pic>
        <p:nvPicPr>
          <p:cNvPr id="180" name="Google Shape;180;g36e7437085d_0_51"/>
          <p:cNvPicPr preferRelativeResize="0"/>
          <p:nvPr/>
        </p:nvPicPr>
        <p:blipFill rotWithShape="1">
          <a:blip r:embed="rId3">
            <a:alphaModFix/>
          </a:blip>
          <a:srcRect/>
          <a:stretch/>
        </p:blipFill>
        <p:spPr>
          <a:xfrm>
            <a:off x="338900" y="2089175"/>
            <a:ext cx="4692251" cy="4686775"/>
          </a:xfrm>
          <a:prstGeom prst="rect">
            <a:avLst/>
          </a:prstGeom>
          <a:noFill/>
          <a:ln>
            <a:noFill/>
          </a:ln>
        </p:spPr>
      </p:pic>
      <p:grpSp>
        <p:nvGrpSpPr>
          <p:cNvPr id="181" name="Google Shape;181;g36e7437085d_0_51"/>
          <p:cNvGrpSpPr/>
          <p:nvPr/>
        </p:nvGrpSpPr>
        <p:grpSpPr>
          <a:xfrm>
            <a:off x="8005875" y="1536192"/>
            <a:ext cx="3897950" cy="5146200"/>
            <a:chOff x="8005875" y="1536192"/>
            <a:chExt cx="3897950" cy="5146200"/>
          </a:xfrm>
        </p:grpSpPr>
        <p:sp>
          <p:nvSpPr>
            <p:cNvPr id="182" name="Google Shape;182;g36e7437085d_0_51"/>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83" name="Google Shape;183;g36e7437085d_0_51"/>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4" name="Google Shape;184;g36e7437085d_0_51"/>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85" name="Google Shape;185;g36e7437085d_0_51"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86" name="Google Shape;186;g36e7437085d_0_51"/>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Select Compass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6e7437085d_0_6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92" name="Google Shape;192;g36e7437085d_0_60"/>
          <p:cNvSpPr txBox="1"/>
          <p:nvPr/>
        </p:nvSpPr>
        <p:spPr>
          <a:xfrm>
            <a:off x="7894633" y="2223068"/>
            <a:ext cx="3917901"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Choose </a:t>
            </a:r>
            <a:r>
              <a:rPr lang="en-US" sz="1800" b="1" i="0" u="none" strike="noStrike" cap="none" dirty="0">
                <a:solidFill>
                  <a:schemeClr val="dk1"/>
                </a:solidFill>
                <a:latin typeface="Arial"/>
                <a:ea typeface="Arial"/>
                <a:cs typeface="Arial"/>
                <a:sym typeface="Arial"/>
              </a:rPr>
              <a:t>I don’t have MongoDB Compass</a:t>
            </a:r>
            <a:r>
              <a:rPr lang="en-US" sz="1800" b="0" i="0" u="none" strike="noStrike" cap="none" dirty="0">
                <a:solidFill>
                  <a:schemeClr val="dk1"/>
                </a:solidFill>
                <a:latin typeface="Arial"/>
                <a:ea typeface="Arial"/>
                <a:cs typeface="Arial"/>
                <a:sym typeface="Arial"/>
              </a:rPr>
              <a:t> installed.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Select your OS system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Copy your </a:t>
            </a:r>
            <a:r>
              <a:rPr lang="en-US" sz="1800" b="1" i="0" u="none" strike="noStrike" cap="none" dirty="0">
                <a:solidFill>
                  <a:srgbClr val="FF0000"/>
                </a:solidFill>
                <a:latin typeface="Arial"/>
                <a:ea typeface="Arial"/>
                <a:cs typeface="Arial"/>
                <a:sym typeface="Arial"/>
              </a:rPr>
              <a:t>USERNAME</a:t>
            </a:r>
            <a:r>
              <a:rPr lang="en-US" sz="1800" b="0" i="0" u="none" strike="noStrike" cap="none" dirty="0">
                <a:solidFill>
                  <a:schemeClr val="dk1"/>
                </a:solidFill>
                <a:latin typeface="Arial"/>
                <a:ea typeface="Arial"/>
                <a:cs typeface="Arial"/>
                <a:sym typeface="Arial"/>
              </a:rPr>
              <a:t>, </a:t>
            </a:r>
            <a:r>
              <a:rPr lang="en-US" sz="1800" b="1" i="0" u="none" strike="noStrike" cap="none" dirty="0">
                <a:solidFill>
                  <a:srgbClr val="FF0000"/>
                </a:solidFill>
                <a:latin typeface="Arial"/>
                <a:ea typeface="Arial"/>
                <a:cs typeface="Arial"/>
                <a:sym typeface="Arial"/>
              </a:rPr>
              <a:t>PASSWORD </a:t>
            </a:r>
            <a:r>
              <a:rPr lang="en-US" sz="1800" b="0" i="0" u="none" strike="noStrike" cap="none" dirty="0">
                <a:solidFill>
                  <a:schemeClr val="dk1"/>
                </a:solidFill>
                <a:latin typeface="Arial"/>
                <a:ea typeface="Arial"/>
                <a:cs typeface="Arial"/>
                <a:sym typeface="Arial"/>
              </a:rPr>
              <a:t>and </a:t>
            </a:r>
            <a:r>
              <a:rPr lang="en-US" sz="1800" b="1" i="0" u="none" strike="noStrike" cap="none" dirty="0">
                <a:solidFill>
                  <a:srgbClr val="FF0000"/>
                </a:solidFill>
                <a:latin typeface="Arial"/>
                <a:ea typeface="Arial"/>
                <a:cs typeface="Arial"/>
                <a:sym typeface="Arial"/>
              </a:rPr>
              <a:t>CLUSTERADDRESS </a:t>
            </a:r>
            <a:r>
              <a:rPr lang="en-US" sz="1800" b="0" i="0" u="none" strike="noStrike" cap="none" dirty="0">
                <a:solidFill>
                  <a:schemeClr val="dk1"/>
                </a:solidFill>
                <a:latin typeface="Arial"/>
                <a:ea typeface="Arial"/>
                <a:cs typeface="Arial"/>
                <a:sym typeface="Arial"/>
              </a:rPr>
              <a:t>and paste it in a text file where you are able to retrieve it.</a:t>
            </a:r>
            <a:endParaRPr sz="1800" b="0" i="0" u="none" strike="noStrike" cap="none" dirty="0">
              <a:solidFill>
                <a:schemeClr val="dk1"/>
              </a:solidFill>
              <a:latin typeface="Arial"/>
              <a:ea typeface="Arial"/>
              <a:cs typeface="Arial"/>
              <a:sym typeface="Arial"/>
            </a:endParaRPr>
          </a:p>
          <a:p>
            <a:pPr marL="457200" marR="0" lvl="0" indent="-342900" algn="l" rtl="0">
              <a:lnSpc>
                <a:spcPct val="100000"/>
              </a:lnSpc>
              <a:spcBef>
                <a:spcPts val="0"/>
              </a:spcBef>
              <a:spcAft>
                <a:spcPts val="0"/>
              </a:spcAft>
              <a:buClr>
                <a:schemeClr val="dk1"/>
              </a:buClr>
              <a:buSzPts val="1800"/>
              <a:buChar char="•"/>
            </a:pPr>
            <a:r>
              <a:rPr lang="en-US" sz="1800" dirty="0">
                <a:solidFill>
                  <a:schemeClr val="dk1"/>
                </a:solidFill>
              </a:rPr>
              <a:t>Ensure that username and password does not contain any special characters.</a:t>
            </a:r>
            <a:endParaRPr sz="1800" dirty="0">
              <a:solidFill>
                <a:schemeClr val="dk1"/>
              </a:solidFil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Download Compass</a:t>
            </a:r>
            <a:r>
              <a:rPr lang="en-US" sz="1800" b="0" i="0" u="none" strike="noStrike" cap="none" dirty="0">
                <a:solidFill>
                  <a:schemeClr val="dk1"/>
                </a:solidFill>
                <a:latin typeface="Arial"/>
                <a:ea typeface="Arial"/>
                <a:cs typeface="Arial"/>
                <a:sym typeface="Arial"/>
              </a:rPr>
              <a:t> and </a:t>
            </a:r>
            <a:r>
              <a:rPr lang="en-US" sz="1800" b="1" i="0" u="none" strike="noStrike" cap="none" dirty="0">
                <a:solidFill>
                  <a:schemeClr val="dk1"/>
                </a:solidFill>
                <a:latin typeface="Arial"/>
                <a:ea typeface="Arial"/>
                <a:cs typeface="Arial"/>
                <a:sym typeface="Arial"/>
              </a:rPr>
              <a:t>Done</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Retrieve and extract the download file. </a:t>
            </a:r>
            <a:endParaRPr sz="1800" b="0" i="0" u="none" strike="noStrike" cap="none" dirty="0">
              <a:solidFill>
                <a:schemeClr val="dk1"/>
              </a:solidFill>
              <a:latin typeface="Arial"/>
              <a:ea typeface="Arial"/>
              <a:cs typeface="Arial"/>
              <a:sym typeface="Arial"/>
            </a:endParaRPr>
          </a:p>
        </p:txBody>
      </p:sp>
      <p:pic>
        <p:nvPicPr>
          <p:cNvPr id="193" name="Google Shape;193;g36e7437085d_0_60"/>
          <p:cNvPicPr preferRelativeResize="0"/>
          <p:nvPr/>
        </p:nvPicPr>
        <p:blipFill rotWithShape="1">
          <a:blip r:embed="rId3">
            <a:alphaModFix/>
          </a:blip>
          <a:srcRect/>
          <a:stretch/>
        </p:blipFill>
        <p:spPr>
          <a:xfrm>
            <a:off x="262414" y="1536192"/>
            <a:ext cx="4787000" cy="4483324"/>
          </a:xfrm>
          <a:prstGeom prst="rect">
            <a:avLst/>
          </a:prstGeom>
          <a:noFill/>
          <a:ln>
            <a:noFill/>
          </a:ln>
        </p:spPr>
      </p:pic>
      <p:grpSp>
        <p:nvGrpSpPr>
          <p:cNvPr id="194" name="Google Shape;194;g36e7437085d_0_60"/>
          <p:cNvGrpSpPr/>
          <p:nvPr/>
        </p:nvGrpSpPr>
        <p:grpSpPr>
          <a:xfrm>
            <a:off x="8005875" y="1536192"/>
            <a:ext cx="3897950" cy="5146200"/>
            <a:chOff x="8005875" y="1536192"/>
            <a:chExt cx="3897950" cy="5146200"/>
          </a:xfrm>
        </p:grpSpPr>
        <p:sp>
          <p:nvSpPr>
            <p:cNvPr id="195" name="Google Shape;195;g36e7437085d_0_60"/>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96" name="Google Shape;196;g36e7437085d_0_60"/>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7" name="Google Shape;197;g36e7437085d_0_60"/>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98" name="Google Shape;198;g36e7437085d_0_60"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99" name="Google Shape;199;g36e7437085d_0_60"/>
          <p:cNvSpPr txBox="1"/>
          <p:nvPr/>
        </p:nvSpPr>
        <p:spPr>
          <a:xfrm>
            <a:off x="324601" y="5360458"/>
            <a:ext cx="7474152" cy="1028150"/>
          </a:xfrm>
          <a:prstGeom prst="rect">
            <a:avLst/>
          </a:prstGeom>
          <a:solidFill>
            <a:srgbClr val="D5DBE5"/>
          </a:solidFill>
          <a:ln w="254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Your connection string looks something like this. </a:t>
            </a: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Roboto Mono"/>
                <a:ea typeface="Roboto Mono"/>
                <a:cs typeface="Roboto Mono"/>
                <a:sym typeface="Roboto Mono"/>
              </a:rPr>
              <a:t>mongodb+srv://</a:t>
            </a:r>
            <a:r>
              <a:rPr lang="en-US" sz="1400" b="0" i="0" u="none" strike="noStrike" cap="none">
                <a:solidFill>
                  <a:srgbClr val="FF0000"/>
                </a:solidFill>
                <a:latin typeface="Roboto Mono"/>
                <a:ea typeface="Roboto Mono"/>
                <a:cs typeface="Roboto Mono"/>
                <a:sym typeface="Roboto Mono"/>
              </a:rPr>
              <a:t>&lt;USERNAME&gt;:&lt;PASSWORD</a:t>
            </a:r>
            <a:r>
              <a:rPr lang="en-US" sz="1400" b="0" i="0" u="none" strike="noStrike" cap="none">
                <a:solidFill>
                  <a:schemeClr val="dk1"/>
                </a:solidFill>
                <a:latin typeface="Roboto Mono"/>
                <a:ea typeface="Roboto Mono"/>
                <a:cs typeface="Roboto Mono"/>
                <a:sym typeface="Roboto Mono"/>
              </a:rPr>
              <a:t>&gt;@</a:t>
            </a:r>
            <a:r>
              <a:rPr lang="en-US" sz="1400" b="0" i="0" u="none" strike="noStrike" cap="none">
                <a:solidFill>
                  <a:srgbClr val="FF0000"/>
                </a:solidFill>
                <a:latin typeface="Roboto Mono"/>
                <a:ea typeface="Roboto Mono"/>
                <a:cs typeface="Roboto Mono"/>
                <a:sym typeface="Roboto Mono"/>
              </a:rPr>
              <a:t>&lt;CLUSTERADDRESS&gt;</a:t>
            </a:r>
            <a:r>
              <a:rPr lang="en-US" sz="1400" b="0" i="0" u="none" strike="noStrike" cap="none">
                <a:solidFill>
                  <a:schemeClr val="dk1"/>
                </a:solidFill>
                <a:latin typeface="Roboto Mono"/>
                <a:ea typeface="Roboto Mono"/>
                <a:cs typeface="Roboto Mono"/>
                <a:sym typeface="Roboto Mono"/>
              </a:rPr>
              <a:t>/</a:t>
            </a:r>
            <a:br>
              <a:rPr lang="en-US" sz="1400" b="0" i="0" u="none" strike="noStrike" cap="none">
                <a:solidFill>
                  <a:schemeClr val="dk1"/>
                </a:solidFill>
                <a:latin typeface="Arial"/>
                <a:ea typeface="Arial"/>
                <a:cs typeface="Arial"/>
                <a:sym typeface="Arial"/>
              </a:rPr>
            </a:b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Those words highlighted in </a:t>
            </a:r>
            <a:r>
              <a:rPr lang="en-US" sz="1400" b="1" i="0" u="none" strike="noStrike" cap="none">
                <a:solidFill>
                  <a:schemeClr val="dk1"/>
                </a:solidFill>
                <a:latin typeface="Arial"/>
                <a:ea typeface="Arial"/>
                <a:cs typeface="Arial"/>
                <a:sym typeface="Arial"/>
              </a:rPr>
              <a:t>red</a:t>
            </a:r>
            <a:r>
              <a:rPr lang="en-US" sz="1400" b="0" i="0" u="none" strike="noStrike" cap="none">
                <a:solidFill>
                  <a:schemeClr val="dk1"/>
                </a:solidFill>
                <a:latin typeface="Arial"/>
                <a:ea typeface="Arial"/>
                <a:cs typeface="Arial"/>
                <a:sym typeface="Arial"/>
              </a:rPr>
              <a:t> will change according to each user.</a:t>
            </a:r>
            <a:endParaRPr sz="1400" b="0" i="0" u="none" strike="noStrike" cap="none">
              <a:solidFill>
                <a:schemeClr val="dk1"/>
              </a:solidFill>
              <a:latin typeface="Arial"/>
              <a:ea typeface="Arial"/>
              <a:cs typeface="Arial"/>
              <a:sym typeface="Arial"/>
            </a:endParaRPr>
          </a:p>
        </p:txBody>
      </p:sp>
      <p:sp>
        <p:nvSpPr>
          <p:cNvPr id="200" name="Google Shape;200;g36e7437085d_0_60"/>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Connect</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6e7437085d_0_6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Create a Database using Altas</a:t>
            </a:r>
            <a:endParaRPr sz="2400" b="1" i="0" u="none" strike="noStrike" cap="none">
              <a:solidFill>
                <a:srgbClr val="11175E"/>
              </a:solidFill>
              <a:latin typeface="Arial"/>
              <a:ea typeface="Arial"/>
              <a:cs typeface="Arial"/>
              <a:sym typeface="Arial"/>
            </a:endParaRPr>
          </a:p>
        </p:txBody>
      </p:sp>
      <p:sp>
        <p:nvSpPr>
          <p:cNvPr id="206" name="Google Shape;206;g36e7437085d_0_68"/>
          <p:cNvSpPr txBox="1"/>
          <p:nvPr/>
        </p:nvSpPr>
        <p:spPr>
          <a:xfrm>
            <a:off x="7900169" y="2217666"/>
            <a:ext cx="3967229"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If you are not in </a:t>
            </a:r>
            <a:r>
              <a:rPr lang="en-US" sz="1800" b="1" i="0" u="none" strike="noStrike" cap="none" dirty="0">
                <a:solidFill>
                  <a:schemeClr val="dk1"/>
                </a:solidFill>
                <a:latin typeface="Arial"/>
                <a:ea typeface="Arial"/>
                <a:cs typeface="Arial"/>
                <a:sym typeface="Arial"/>
              </a:rPr>
              <a:t>overview</a:t>
            </a:r>
            <a:r>
              <a:rPr lang="en-US" sz="1800" b="0" i="0" u="none" strike="noStrike" cap="none" dirty="0">
                <a:solidFill>
                  <a:schemeClr val="dk1"/>
                </a:solidFill>
                <a:latin typeface="Arial"/>
                <a:ea typeface="Arial"/>
                <a:cs typeface="Arial"/>
                <a:sym typeface="Arial"/>
              </a:rPr>
              <a:t>, Click on </a:t>
            </a:r>
            <a:r>
              <a:rPr lang="en-US" sz="1800" b="1" i="0" u="none" strike="noStrike" cap="none" dirty="0">
                <a:solidFill>
                  <a:schemeClr val="dk1"/>
                </a:solidFill>
                <a:latin typeface="Arial"/>
                <a:ea typeface="Arial"/>
                <a:cs typeface="Arial"/>
                <a:sym typeface="Arial"/>
              </a:rPr>
              <a:t>Overview</a:t>
            </a:r>
            <a:r>
              <a:rPr lang="en-US" sz="1800" b="0" i="0" u="none" strike="noStrike" cap="none" dirty="0">
                <a:solidFill>
                  <a:schemeClr val="dk1"/>
                </a:solidFill>
                <a:latin typeface="Arial"/>
                <a:ea typeface="Arial"/>
                <a:cs typeface="Arial"/>
                <a:sym typeface="Arial"/>
              </a:rPr>
              <a:t> on the left sidebar</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You will only see </a:t>
            </a:r>
            <a:r>
              <a:rPr lang="en-US" sz="1800" b="1" i="0" u="none" strike="noStrike" cap="none" dirty="0">
                <a:solidFill>
                  <a:schemeClr val="dk1"/>
                </a:solidFill>
                <a:latin typeface="Arial"/>
                <a:ea typeface="Arial"/>
                <a:cs typeface="Arial"/>
                <a:sym typeface="Arial"/>
              </a:rPr>
              <a:t>Figure 1 </a:t>
            </a:r>
            <a:r>
              <a:rPr lang="en-US" sz="1800" b="0" i="0" u="none" strike="noStrike" cap="none" dirty="0">
                <a:solidFill>
                  <a:schemeClr val="dk1"/>
                </a:solidFill>
                <a:latin typeface="Arial"/>
                <a:ea typeface="Arial"/>
                <a:cs typeface="Arial"/>
                <a:sym typeface="Arial"/>
              </a:rPr>
              <a:t>if you uncheck the preload sample data. Click </a:t>
            </a:r>
            <a:r>
              <a:rPr lang="en-US" sz="1800" b="1" i="0" u="none" strike="noStrike" cap="none" dirty="0">
                <a:solidFill>
                  <a:schemeClr val="dk1"/>
                </a:solidFill>
                <a:latin typeface="Arial"/>
                <a:ea typeface="Arial"/>
                <a:cs typeface="Arial"/>
                <a:sym typeface="Arial"/>
              </a:rPr>
              <a:t>Add Data</a:t>
            </a:r>
            <a:r>
              <a:rPr lang="en-US" sz="1800" b="0" i="0" u="none" strike="noStrike" cap="none" dirty="0">
                <a:solidFill>
                  <a:schemeClr val="dk1"/>
                </a:solidFill>
                <a:latin typeface="Arial"/>
                <a:ea typeface="Arial"/>
                <a:cs typeface="Arial"/>
                <a:sym typeface="Arial"/>
              </a:rPr>
              <a:t>.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If you see </a:t>
            </a:r>
            <a:r>
              <a:rPr lang="en-US" sz="1800" b="1" i="0" u="none" strike="noStrike" cap="none" dirty="0">
                <a:solidFill>
                  <a:schemeClr val="dk1"/>
                </a:solidFill>
                <a:latin typeface="Arial"/>
                <a:ea typeface="Arial"/>
                <a:cs typeface="Arial"/>
                <a:sym typeface="Arial"/>
              </a:rPr>
              <a:t>Figure 2</a:t>
            </a:r>
            <a:r>
              <a:rPr lang="en-US" sz="1800" b="0" i="0" u="none" strike="noStrike" cap="none" dirty="0">
                <a:solidFill>
                  <a:schemeClr val="dk1"/>
                </a:solidFill>
                <a:latin typeface="Arial"/>
                <a:ea typeface="Arial"/>
                <a:cs typeface="Arial"/>
                <a:sym typeface="Arial"/>
              </a:rPr>
              <a:t>, click on  </a:t>
            </a:r>
            <a:r>
              <a:rPr lang="en-US" sz="1800" b="1" i="0" u="none" strike="noStrike" cap="none" dirty="0">
                <a:solidFill>
                  <a:schemeClr val="dk1"/>
                </a:solidFill>
                <a:latin typeface="Arial"/>
                <a:ea typeface="Arial"/>
                <a:cs typeface="Arial"/>
                <a:sym typeface="Arial"/>
              </a:rPr>
              <a:t>Browse collections </a:t>
            </a:r>
            <a:r>
              <a:rPr lang="en-US" sz="1800" b="0" i="0" u="none" strike="noStrike" cap="none" dirty="0">
                <a:solidFill>
                  <a:schemeClr val="dk1"/>
                </a:solidFill>
                <a:latin typeface="Arial"/>
                <a:ea typeface="Arial"/>
                <a:cs typeface="Arial"/>
                <a:sym typeface="Arial"/>
              </a:rPr>
              <a:t>instead.</a:t>
            </a:r>
            <a:endParaRPr sz="1800" b="0" i="0" u="none" strike="noStrike" cap="none" dirty="0">
              <a:solidFill>
                <a:schemeClr val="dk1"/>
              </a:solidFill>
              <a:latin typeface="Arial"/>
              <a:ea typeface="Arial"/>
              <a:cs typeface="Arial"/>
              <a:sym typeface="Arial"/>
            </a:endParaRPr>
          </a:p>
        </p:txBody>
      </p:sp>
      <p:grpSp>
        <p:nvGrpSpPr>
          <p:cNvPr id="207" name="Google Shape;207;g36e7437085d_0_68"/>
          <p:cNvGrpSpPr/>
          <p:nvPr/>
        </p:nvGrpSpPr>
        <p:grpSpPr>
          <a:xfrm>
            <a:off x="8005875" y="1536192"/>
            <a:ext cx="3897950" cy="5146200"/>
            <a:chOff x="8005875" y="1536192"/>
            <a:chExt cx="3897950" cy="5146200"/>
          </a:xfrm>
        </p:grpSpPr>
        <p:sp>
          <p:nvSpPr>
            <p:cNvPr id="208" name="Google Shape;208;g36e7437085d_0_68"/>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09" name="Google Shape;209;g36e7437085d_0_68"/>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0" name="Google Shape;210;g36e7437085d_0_68"/>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11" name="Google Shape;211;g36e7437085d_0_68"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pic>
        <p:nvPicPr>
          <p:cNvPr id="212" name="Google Shape;212;g36e7437085d_0_68"/>
          <p:cNvPicPr preferRelativeResize="0"/>
          <p:nvPr/>
        </p:nvPicPr>
        <p:blipFill rotWithShape="1">
          <a:blip r:embed="rId4">
            <a:alphaModFix/>
          </a:blip>
          <a:srcRect/>
          <a:stretch/>
        </p:blipFill>
        <p:spPr>
          <a:xfrm>
            <a:off x="368102" y="1784627"/>
            <a:ext cx="4764540" cy="2518976"/>
          </a:xfrm>
          <a:prstGeom prst="rect">
            <a:avLst/>
          </a:prstGeom>
          <a:noFill/>
          <a:ln w="15875" cap="flat" cmpd="sng">
            <a:solidFill>
              <a:schemeClr val="accent1"/>
            </a:solidFill>
            <a:prstDash val="solid"/>
            <a:round/>
            <a:headEnd type="none" w="sm" len="sm"/>
            <a:tailEnd type="none" w="sm" len="sm"/>
          </a:ln>
        </p:spPr>
      </p:pic>
      <p:pic>
        <p:nvPicPr>
          <p:cNvPr id="213" name="Google Shape;213;g36e7437085d_0_68"/>
          <p:cNvPicPr preferRelativeResize="0"/>
          <p:nvPr/>
        </p:nvPicPr>
        <p:blipFill rotWithShape="1">
          <a:blip r:embed="rId5">
            <a:alphaModFix/>
          </a:blip>
          <a:srcRect/>
          <a:stretch/>
        </p:blipFill>
        <p:spPr>
          <a:xfrm>
            <a:off x="347543" y="4506066"/>
            <a:ext cx="4977469" cy="1896619"/>
          </a:xfrm>
          <a:prstGeom prst="rect">
            <a:avLst/>
          </a:prstGeom>
          <a:noFill/>
          <a:ln w="15875" cap="flat" cmpd="sng">
            <a:solidFill>
              <a:schemeClr val="accent1"/>
            </a:solidFill>
            <a:prstDash val="solid"/>
            <a:round/>
            <a:headEnd type="none" w="sm" len="sm"/>
            <a:tailEnd type="none" w="sm" len="sm"/>
          </a:ln>
        </p:spPr>
      </p:pic>
      <p:sp>
        <p:nvSpPr>
          <p:cNvPr id="214" name="Google Shape;214;g36e7437085d_0_68"/>
          <p:cNvSpPr txBox="1"/>
          <p:nvPr/>
        </p:nvSpPr>
        <p:spPr>
          <a:xfrm>
            <a:off x="5021820" y="2981370"/>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1</a:t>
            </a:r>
            <a:endParaRPr sz="1400" b="0" i="0" u="none" strike="noStrike" cap="none" dirty="0">
              <a:solidFill>
                <a:srgbClr val="000000"/>
              </a:solidFill>
              <a:latin typeface="Arial"/>
              <a:ea typeface="Arial"/>
              <a:cs typeface="Arial"/>
              <a:sym typeface="Arial"/>
            </a:endParaRPr>
          </a:p>
        </p:txBody>
      </p:sp>
      <p:sp>
        <p:nvSpPr>
          <p:cNvPr id="215" name="Google Shape;215;g36e7437085d_0_68"/>
          <p:cNvSpPr txBox="1"/>
          <p:nvPr/>
        </p:nvSpPr>
        <p:spPr>
          <a:xfrm>
            <a:off x="5021820" y="5569095"/>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2</a:t>
            </a:r>
            <a:endParaRPr sz="1400" b="0" i="0" u="none" strike="noStrike" cap="none" dirty="0">
              <a:solidFill>
                <a:srgbClr val="000000"/>
              </a:solidFill>
              <a:latin typeface="Arial"/>
              <a:ea typeface="Arial"/>
              <a:cs typeface="Arial"/>
              <a:sym typeface="Arial"/>
            </a:endParaRPr>
          </a:p>
        </p:txBody>
      </p:sp>
      <p:sp>
        <p:nvSpPr>
          <p:cNvPr id="216" name="Google Shape;216;g36e7437085d_0_68"/>
          <p:cNvSpPr txBox="1"/>
          <p:nvPr/>
        </p:nvSpPr>
        <p:spPr>
          <a:xfrm>
            <a:off x="256370" y="1328956"/>
            <a:ext cx="7248586"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Let’s try to create a database in our cluster</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6e7437085d_0_7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22" name="Google Shape;222;g36e7437085d_0_76"/>
          <p:cNvSpPr txBox="1"/>
          <p:nvPr/>
        </p:nvSpPr>
        <p:spPr>
          <a:xfrm>
            <a:off x="7893099" y="2222565"/>
            <a:ext cx="3974300"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There are several different screens for you to add data. </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1" i="0" u="none" strike="noStrike" cap="none" dirty="0">
                <a:solidFill>
                  <a:schemeClr val="dk1"/>
                </a:solidFill>
                <a:latin typeface="Arial"/>
                <a:ea typeface="Arial"/>
                <a:cs typeface="Arial"/>
                <a:sym typeface="Arial"/>
              </a:rPr>
              <a:t>Figures 1</a:t>
            </a:r>
            <a:r>
              <a:rPr lang="en-US" sz="1800" b="0" i="0" u="none" strike="noStrike" cap="none" dirty="0">
                <a:solidFill>
                  <a:schemeClr val="dk1"/>
                </a:solidFill>
                <a:latin typeface="Arial"/>
                <a:ea typeface="Arial"/>
                <a:cs typeface="Arial"/>
                <a:sym typeface="Arial"/>
              </a:rPr>
              <a:t> and </a:t>
            </a:r>
            <a:r>
              <a:rPr lang="en-US" sz="1800" b="1" i="0" u="none" strike="noStrike" cap="none" dirty="0">
                <a:solidFill>
                  <a:schemeClr val="dk1"/>
                </a:solidFill>
                <a:latin typeface="Arial"/>
                <a:ea typeface="Arial"/>
                <a:cs typeface="Arial"/>
                <a:sym typeface="Arial"/>
              </a:rPr>
              <a:t>2</a:t>
            </a:r>
            <a:r>
              <a:rPr lang="en-US" sz="1800" b="0" i="0" u="none" strike="noStrike" cap="none" dirty="0">
                <a:solidFill>
                  <a:schemeClr val="dk1"/>
                </a:solidFill>
                <a:latin typeface="Arial"/>
                <a:ea typeface="Arial"/>
                <a:cs typeface="Arial"/>
                <a:sym typeface="Arial"/>
              </a:rPr>
              <a:t> are two different screens that you may see, depending on your previous selection and if you choose to check or uncheck the preload sample data option.</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Should you see any sample collection created by MongoDB, you can drop all of them.</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If you see </a:t>
            </a:r>
            <a:r>
              <a:rPr lang="en-US" sz="1800" b="1" i="0" u="none" strike="noStrike" cap="none" dirty="0">
                <a:solidFill>
                  <a:schemeClr val="dk1"/>
                </a:solidFill>
                <a:latin typeface="Arial"/>
                <a:ea typeface="Arial"/>
                <a:cs typeface="Arial"/>
                <a:sym typeface="Arial"/>
              </a:rPr>
              <a:t>Figure 3</a:t>
            </a:r>
            <a:r>
              <a:rPr lang="en-US" sz="1800" b="0" i="0" u="none" strike="noStrike" cap="none" dirty="0">
                <a:solidFill>
                  <a:schemeClr val="dk1"/>
                </a:solidFill>
                <a:latin typeface="Arial"/>
                <a:ea typeface="Arial"/>
                <a:cs typeface="Arial"/>
                <a:sym typeface="Arial"/>
              </a:rPr>
              <a:t>, Click on </a:t>
            </a:r>
            <a:r>
              <a:rPr lang="en-US" sz="1800" b="1" i="0" u="none" strike="noStrike" cap="none" dirty="0">
                <a:solidFill>
                  <a:schemeClr val="dk1"/>
                </a:solidFill>
                <a:latin typeface="Arial"/>
                <a:ea typeface="Arial"/>
                <a:cs typeface="Arial"/>
                <a:sym typeface="Arial"/>
              </a:rPr>
              <a:t>START</a:t>
            </a:r>
            <a:r>
              <a:rPr lang="en-US" sz="1800" b="0" i="0" u="none" strike="noStrike" cap="none" dirty="0">
                <a:solidFill>
                  <a:schemeClr val="dk1"/>
                </a:solidFill>
                <a:latin typeface="Arial"/>
                <a:ea typeface="Arial"/>
                <a:cs typeface="Arial"/>
                <a:sym typeface="Arial"/>
              </a:rPr>
              <a:t> and if you see </a:t>
            </a:r>
            <a:r>
              <a:rPr lang="en-US" sz="1800" b="1" i="0" u="none" strike="noStrike" cap="none" dirty="0">
                <a:solidFill>
                  <a:schemeClr val="dk1"/>
                </a:solidFill>
                <a:latin typeface="Arial"/>
                <a:ea typeface="Arial"/>
                <a:cs typeface="Arial"/>
                <a:sym typeface="Arial"/>
              </a:rPr>
              <a:t>Figure 4</a:t>
            </a:r>
            <a:r>
              <a:rPr lang="en-US" sz="1800" b="0" i="0" u="none" strike="noStrike" cap="none" dirty="0">
                <a:solidFill>
                  <a:schemeClr val="dk1"/>
                </a:solidFill>
                <a:latin typeface="Arial"/>
                <a:ea typeface="Arial"/>
                <a:cs typeface="Arial"/>
                <a:sym typeface="Arial"/>
              </a:rPr>
              <a:t>, click </a:t>
            </a:r>
            <a:r>
              <a:rPr lang="en-US" sz="1800" b="1" i="0" u="none" strike="noStrike" cap="none" dirty="0">
                <a:solidFill>
                  <a:schemeClr val="dk1"/>
                </a:solidFill>
                <a:latin typeface="Arial"/>
                <a:ea typeface="Arial"/>
                <a:cs typeface="Arial"/>
                <a:sym typeface="Arial"/>
              </a:rPr>
              <a:t>Add My Own Data</a:t>
            </a:r>
            <a:r>
              <a:rPr lang="en-US" sz="1800" dirty="0">
                <a:solidFill>
                  <a:schemeClr val="dk1"/>
                </a:solidFill>
              </a:rPr>
              <a:t>.</a:t>
            </a:r>
            <a:endParaRPr sz="1800" b="0" i="0" u="none" strike="noStrike" cap="none" dirty="0">
              <a:solidFill>
                <a:schemeClr val="dk1"/>
              </a:solidFill>
              <a:latin typeface="Arial"/>
              <a:ea typeface="Arial"/>
              <a:cs typeface="Arial"/>
              <a:sym typeface="Arial"/>
            </a:endParaRPr>
          </a:p>
        </p:txBody>
      </p:sp>
      <p:grpSp>
        <p:nvGrpSpPr>
          <p:cNvPr id="223" name="Google Shape;223;g36e7437085d_0_76"/>
          <p:cNvGrpSpPr/>
          <p:nvPr/>
        </p:nvGrpSpPr>
        <p:grpSpPr>
          <a:xfrm>
            <a:off x="8005875" y="1536192"/>
            <a:ext cx="3897950" cy="5146200"/>
            <a:chOff x="8005875" y="1536192"/>
            <a:chExt cx="3897950" cy="5146200"/>
          </a:xfrm>
        </p:grpSpPr>
        <p:sp>
          <p:nvSpPr>
            <p:cNvPr id="224" name="Google Shape;224;g36e7437085d_0_76"/>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25" name="Google Shape;225;g36e7437085d_0_76"/>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6" name="Google Shape;226;g36e7437085d_0_76"/>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27" name="Google Shape;227;g36e7437085d_0_76"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pic>
        <p:nvPicPr>
          <p:cNvPr id="228" name="Google Shape;228;g36e7437085d_0_76"/>
          <p:cNvPicPr preferRelativeResize="0"/>
          <p:nvPr/>
        </p:nvPicPr>
        <p:blipFill rotWithShape="1">
          <a:blip r:embed="rId4">
            <a:alphaModFix/>
          </a:blip>
          <a:srcRect/>
          <a:stretch/>
        </p:blipFill>
        <p:spPr>
          <a:xfrm>
            <a:off x="3977990" y="2611906"/>
            <a:ext cx="3915109" cy="3289146"/>
          </a:xfrm>
          <a:prstGeom prst="rect">
            <a:avLst/>
          </a:prstGeom>
          <a:noFill/>
          <a:ln w="15875" cap="flat" cmpd="sng">
            <a:solidFill>
              <a:schemeClr val="accent1"/>
            </a:solidFill>
            <a:prstDash val="solid"/>
            <a:round/>
            <a:headEnd type="none" w="sm" len="sm"/>
            <a:tailEnd type="none" w="sm" len="sm"/>
          </a:ln>
        </p:spPr>
      </p:pic>
      <p:pic>
        <p:nvPicPr>
          <p:cNvPr id="229" name="Google Shape;229;g36e7437085d_0_76"/>
          <p:cNvPicPr preferRelativeResize="0"/>
          <p:nvPr/>
        </p:nvPicPr>
        <p:blipFill rotWithShape="1">
          <a:blip r:embed="rId5">
            <a:alphaModFix/>
          </a:blip>
          <a:srcRect/>
          <a:stretch/>
        </p:blipFill>
        <p:spPr>
          <a:xfrm>
            <a:off x="336720" y="1952244"/>
            <a:ext cx="3630903" cy="4314096"/>
          </a:xfrm>
          <a:prstGeom prst="rect">
            <a:avLst/>
          </a:prstGeom>
          <a:noFill/>
          <a:ln w="15875" cap="flat" cmpd="sng">
            <a:solidFill>
              <a:schemeClr val="accent1"/>
            </a:solidFill>
            <a:prstDash val="solid"/>
            <a:round/>
            <a:headEnd type="none" w="sm" len="sm"/>
            <a:tailEnd type="none" w="sm" len="sm"/>
          </a:ln>
        </p:spPr>
      </p:pic>
      <p:sp>
        <p:nvSpPr>
          <p:cNvPr id="230" name="Google Shape;230;g36e7437085d_0_76"/>
          <p:cNvSpPr txBox="1"/>
          <p:nvPr/>
        </p:nvSpPr>
        <p:spPr>
          <a:xfrm>
            <a:off x="1060704" y="6266340"/>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3</a:t>
            </a:r>
            <a:endParaRPr sz="1400" b="0" i="0" u="none" strike="noStrike" cap="none" dirty="0">
              <a:solidFill>
                <a:srgbClr val="000000"/>
              </a:solidFill>
              <a:latin typeface="Arial"/>
              <a:ea typeface="Arial"/>
              <a:cs typeface="Arial"/>
              <a:sym typeface="Arial"/>
            </a:endParaRPr>
          </a:p>
        </p:txBody>
      </p:sp>
      <p:sp>
        <p:nvSpPr>
          <p:cNvPr id="231" name="Google Shape;231;g36e7437085d_0_76"/>
          <p:cNvSpPr txBox="1"/>
          <p:nvPr/>
        </p:nvSpPr>
        <p:spPr>
          <a:xfrm>
            <a:off x="5154168" y="6290393"/>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4</a:t>
            </a:r>
            <a:endParaRPr sz="1400" b="0" i="0" u="none" strike="noStrike" cap="none" dirty="0">
              <a:solidFill>
                <a:srgbClr val="000000"/>
              </a:solidFill>
              <a:latin typeface="Arial"/>
              <a:ea typeface="Arial"/>
              <a:cs typeface="Arial"/>
              <a:sym typeface="Arial"/>
            </a:endParaRPr>
          </a:p>
        </p:txBody>
      </p:sp>
      <p:sp>
        <p:nvSpPr>
          <p:cNvPr id="232" name="Google Shape;232;g36e7437085d_0_76"/>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Data</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6e7437085d_0_8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38" name="Google Shape;238;g36e7437085d_0_84"/>
          <p:cNvSpPr txBox="1"/>
          <p:nvPr/>
        </p:nvSpPr>
        <p:spPr>
          <a:xfrm>
            <a:off x="250163" y="956948"/>
            <a:ext cx="11672100" cy="1329052"/>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0"/>
              </a:spcAft>
              <a:buClr>
                <a:srgbClr val="000000"/>
              </a:buClr>
              <a:buSzPts val="2300"/>
              <a:buFont typeface="Arial"/>
              <a:buNone/>
            </a:pPr>
            <a:r>
              <a:rPr lang="en-US" sz="2300" b="1" i="0" u="none" strike="noStrike" cap="none">
                <a:solidFill>
                  <a:srgbClr val="000000"/>
                </a:solidFill>
                <a:latin typeface="Arial"/>
                <a:ea typeface="Arial"/>
                <a:cs typeface="Arial"/>
                <a:sym typeface="Arial"/>
              </a:rPr>
              <a:t>Add Data </a:t>
            </a:r>
            <a:endParaRPr sz="2800" b="1" i="0" u="none" strike="noStrike" cap="none">
              <a:solidFill>
                <a:srgbClr val="000000"/>
              </a:solidFill>
              <a:latin typeface="Arial"/>
              <a:ea typeface="Arial"/>
              <a:cs typeface="Arial"/>
              <a:sym typeface="Arial"/>
            </a:endParaRPr>
          </a:p>
          <a:p>
            <a:pPr marL="0" marR="0" lvl="0" indent="0" algn="just" rtl="0">
              <a:lnSpc>
                <a:spcPct val="100000"/>
              </a:lnSpc>
              <a:spcBef>
                <a:spcPts val="60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39" name="Google Shape;239;g36e7437085d_0_84"/>
          <p:cNvSpPr txBox="1"/>
          <p:nvPr/>
        </p:nvSpPr>
        <p:spPr>
          <a:xfrm>
            <a:off x="7914435" y="2226568"/>
            <a:ext cx="3861524" cy="4576800"/>
          </a:xfrm>
          <a:prstGeom prst="rect">
            <a:avLst/>
          </a:prstGeom>
          <a:noFill/>
          <a:ln>
            <a:noFill/>
          </a:ln>
        </p:spPr>
        <p:txBody>
          <a:bodyPr spcFirstLastPara="1" wrap="square" lIns="91425" tIns="91425" rIns="91425" bIns="91425" anchor="t" anchorCtr="0">
            <a:noAutofit/>
          </a:bodyPr>
          <a:lstStyle/>
          <a:p>
            <a:pPr marL="558800" marR="0" lvl="0" indent="-4572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Either screen, </a:t>
            </a:r>
            <a:r>
              <a:rPr lang="en-US" sz="1800" b="1" i="0" u="none" strike="noStrike" cap="none" dirty="0">
                <a:solidFill>
                  <a:schemeClr val="dk1"/>
                </a:solidFill>
                <a:latin typeface="Arial"/>
                <a:ea typeface="Arial"/>
                <a:cs typeface="Arial"/>
                <a:sym typeface="Arial"/>
              </a:rPr>
              <a:t>Figures 5</a:t>
            </a:r>
            <a:r>
              <a:rPr lang="en-US" sz="1800" b="0" i="0" u="none" strike="noStrike" cap="none" dirty="0">
                <a:solidFill>
                  <a:schemeClr val="dk1"/>
                </a:solidFill>
                <a:latin typeface="Arial"/>
                <a:ea typeface="Arial"/>
                <a:cs typeface="Arial"/>
                <a:sym typeface="Arial"/>
              </a:rPr>
              <a:t> or </a:t>
            </a:r>
            <a:r>
              <a:rPr lang="en-US" sz="1800" b="1" i="0" u="none" strike="noStrike" cap="none" dirty="0">
                <a:solidFill>
                  <a:schemeClr val="dk1"/>
                </a:solidFill>
                <a:latin typeface="Arial"/>
                <a:ea typeface="Arial"/>
                <a:cs typeface="Arial"/>
                <a:sym typeface="Arial"/>
              </a:rPr>
              <a:t>6</a:t>
            </a:r>
            <a:r>
              <a:rPr lang="en-US" sz="1800" b="0" i="0" u="none" strike="noStrike" cap="none" dirty="0">
                <a:solidFill>
                  <a:schemeClr val="dk1"/>
                </a:solidFill>
                <a:latin typeface="Arial"/>
                <a:ea typeface="Arial"/>
                <a:cs typeface="Arial"/>
                <a:sym typeface="Arial"/>
              </a:rPr>
              <a:t> will show up depending on the choices you made before.</a:t>
            </a:r>
            <a:endParaRPr dirty="0"/>
          </a:p>
          <a:p>
            <a:pPr marL="558800" marR="0" lvl="0" indent="-4572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Enter Database name: </a:t>
            </a:r>
            <a:br>
              <a:rPr lang="en-US" sz="1800" b="0" i="0" u="none" strike="noStrike" cap="none" dirty="0">
                <a:solidFill>
                  <a:schemeClr val="dk1"/>
                </a:solidFill>
                <a:latin typeface="Arial"/>
                <a:ea typeface="Arial"/>
                <a:cs typeface="Arial"/>
                <a:sym typeface="Arial"/>
              </a:rPr>
            </a:br>
            <a:r>
              <a:rPr lang="en-US" sz="1800" b="1" i="0" u="none" strike="noStrike" cap="none" dirty="0" err="1">
                <a:solidFill>
                  <a:schemeClr val="dk1"/>
                </a:solidFill>
                <a:latin typeface="Arial"/>
                <a:ea typeface="Arial"/>
                <a:cs typeface="Arial"/>
                <a:sym typeface="Arial"/>
              </a:rPr>
              <a:t>pawpal</a:t>
            </a:r>
            <a:r>
              <a:rPr lang="en-US" sz="1800" b="1" i="0" u="none" strike="noStrike" cap="none" dirty="0">
                <a:solidFill>
                  <a:schemeClr val="dk1"/>
                </a:solidFill>
                <a:latin typeface="Arial"/>
                <a:ea typeface="Arial"/>
                <a:cs typeface="Arial"/>
                <a:sym typeface="Arial"/>
              </a:rPr>
              <a:t>-test</a:t>
            </a:r>
            <a:endParaRPr sz="1800" b="1" i="0" u="none" strike="noStrike" cap="none" dirty="0">
              <a:solidFill>
                <a:schemeClr val="dk1"/>
              </a:solidFill>
              <a:latin typeface="Arial"/>
              <a:ea typeface="Arial"/>
              <a:cs typeface="Arial"/>
              <a:sym typeface="Arial"/>
            </a:endParaRPr>
          </a:p>
          <a:p>
            <a:pPr marL="0" marR="0" lvl="2" indent="0" algn="l" rtl="0">
              <a:lnSpc>
                <a:spcPct val="100000"/>
              </a:lnSpc>
              <a:spcBef>
                <a:spcPts val="0"/>
              </a:spcBef>
              <a:spcAft>
                <a:spcPts val="0"/>
              </a:spcAft>
              <a:buNone/>
            </a:pPr>
            <a:r>
              <a:rPr lang="en-US" sz="1800" b="0" i="0" u="none" strike="noStrike" cap="none" dirty="0">
                <a:solidFill>
                  <a:schemeClr val="dk1"/>
                </a:solidFill>
                <a:latin typeface="Arial"/>
                <a:ea typeface="Arial"/>
                <a:cs typeface="Arial"/>
                <a:sym typeface="Arial"/>
              </a:rPr>
              <a:t>         Collection name : </a:t>
            </a:r>
            <a:r>
              <a:rPr lang="en-US" sz="1800" b="1" i="0" u="none" strike="noStrike" cap="none" dirty="0">
                <a:solidFill>
                  <a:schemeClr val="dk1"/>
                </a:solidFill>
                <a:latin typeface="Arial"/>
                <a:ea typeface="Arial"/>
                <a:cs typeface="Arial"/>
                <a:sym typeface="Arial"/>
              </a:rPr>
              <a:t>services</a:t>
            </a:r>
            <a:endParaRPr sz="1800" b="1" i="0" u="none" strike="noStrike" cap="none" dirty="0">
              <a:solidFill>
                <a:schemeClr val="dk1"/>
              </a:solidFill>
              <a:latin typeface="Arial"/>
              <a:ea typeface="Arial"/>
              <a:cs typeface="Arial"/>
              <a:sym typeface="Arial"/>
            </a:endParaRPr>
          </a:p>
          <a:p>
            <a:pPr marL="558800" marR="0" lvl="0" indent="-4572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Create</a:t>
            </a:r>
            <a:r>
              <a:rPr lang="en-US" sz="1800" b="0" i="0" u="none" strike="noStrike" cap="none" dirty="0">
                <a:solidFill>
                  <a:schemeClr val="dk1"/>
                </a:solidFill>
                <a:latin typeface="Arial"/>
                <a:ea typeface="Arial"/>
                <a:cs typeface="Arial"/>
                <a:sym typeface="Arial"/>
              </a:rPr>
              <a:t>. You might have to scroll down in </a:t>
            </a:r>
            <a:r>
              <a:rPr lang="en-US" sz="1800" b="1" i="0" u="none" strike="noStrike" cap="none" dirty="0">
                <a:solidFill>
                  <a:schemeClr val="dk1"/>
                </a:solidFill>
                <a:latin typeface="Arial"/>
                <a:ea typeface="Arial"/>
                <a:cs typeface="Arial"/>
                <a:sym typeface="Arial"/>
              </a:rPr>
              <a:t>Figure 5</a:t>
            </a:r>
            <a:r>
              <a:rPr lang="en-US" sz="1800" b="0" i="0" u="none" strike="noStrike" cap="none" dirty="0">
                <a:solidFill>
                  <a:schemeClr val="dk1"/>
                </a:solidFill>
                <a:latin typeface="Arial"/>
                <a:ea typeface="Arial"/>
                <a:cs typeface="Arial"/>
                <a:sym typeface="Arial"/>
              </a:rPr>
              <a:t> to see the create button.</a:t>
            </a:r>
            <a:endParaRPr sz="1800" b="0" i="0" u="none" strike="noStrike" cap="none" dirty="0">
              <a:solidFill>
                <a:schemeClr val="dk1"/>
              </a:solidFill>
              <a:latin typeface="Arial"/>
              <a:ea typeface="Arial"/>
              <a:cs typeface="Arial"/>
              <a:sym typeface="Arial"/>
            </a:endParaRPr>
          </a:p>
        </p:txBody>
      </p:sp>
      <p:grpSp>
        <p:nvGrpSpPr>
          <p:cNvPr id="240" name="Google Shape;240;g36e7437085d_0_84"/>
          <p:cNvGrpSpPr/>
          <p:nvPr/>
        </p:nvGrpSpPr>
        <p:grpSpPr>
          <a:xfrm>
            <a:off x="8005875" y="1536192"/>
            <a:ext cx="3897950" cy="5146200"/>
            <a:chOff x="8005875" y="1536192"/>
            <a:chExt cx="3897950" cy="5146200"/>
          </a:xfrm>
        </p:grpSpPr>
        <p:sp>
          <p:nvSpPr>
            <p:cNvPr id="241" name="Google Shape;241;g36e7437085d_0_84"/>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42" name="Google Shape;242;g36e7437085d_0_84"/>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3" name="Google Shape;243;g36e7437085d_0_84"/>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44" name="Google Shape;244;g36e7437085d_0_84"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pic>
        <p:nvPicPr>
          <p:cNvPr id="245" name="Google Shape;245;g36e7437085d_0_84"/>
          <p:cNvPicPr preferRelativeResize="0"/>
          <p:nvPr/>
        </p:nvPicPr>
        <p:blipFill rotWithShape="1">
          <a:blip r:embed="rId4">
            <a:alphaModFix/>
          </a:blip>
          <a:srcRect/>
          <a:stretch/>
        </p:blipFill>
        <p:spPr>
          <a:xfrm>
            <a:off x="324601" y="4336462"/>
            <a:ext cx="3582855" cy="2385937"/>
          </a:xfrm>
          <a:prstGeom prst="rect">
            <a:avLst/>
          </a:prstGeom>
          <a:noFill/>
          <a:ln w="9525" cap="flat" cmpd="sng">
            <a:solidFill>
              <a:schemeClr val="accent1"/>
            </a:solidFill>
            <a:prstDash val="solid"/>
            <a:round/>
            <a:headEnd type="none" w="sm" len="sm"/>
            <a:tailEnd type="none" w="sm" len="sm"/>
          </a:ln>
        </p:spPr>
      </p:pic>
      <p:pic>
        <p:nvPicPr>
          <p:cNvPr id="246" name="Google Shape;246;g36e7437085d_0_84"/>
          <p:cNvPicPr preferRelativeResize="0"/>
          <p:nvPr/>
        </p:nvPicPr>
        <p:blipFill rotWithShape="1">
          <a:blip r:embed="rId5">
            <a:alphaModFix/>
          </a:blip>
          <a:srcRect/>
          <a:stretch/>
        </p:blipFill>
        <p:spPr>
          <a:xfrm>
            <a:off x="296755" y="1776740"/>
            <a:ext cx="4927516" cy="2332552"/>
          </a:xfrm>
          <a:prstGeom prst="rect">
            <a:avLst/>
          </a:prstGeom>
          <a:noFill/>
          <a:ln w="9525" cap="flat" cmpd="sng">
            <a:solidFill>
              <a:schemeClr val="accent1"/>
            </a:solidFill>
            <a:prstDash val="solid"/>
            <a:round/>
            <a:headEnd type="none" w="sm" len="sm"/>
            <a:tailEnd type="none" w="sm" len="sm"/>
          </a:ln>
        </p:spPr>
      </p:pic>
      <p:sp>
        <p:nvSpPr>
          <p:cNvPr id="247" name="Google Shape;247;g36e7437085d_0_84"/>
          <p:cNvSpPr txBox="1"/>
          <p:nvPr/>
        </p:nvSpPr>
        <p:spPr>
          <a:xfrm>
            <a:off x="5252117" y="2813446"/>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5</a:t>
            </a:r>
            <a:endParaRPr sz="1400" b="0" i="0" u="none" strike="noStrike" cap="none" dirty="0">
              <a:solidFill>
                <a:srgbClr val="000000"/>
              </a:solidFill>
              <a:latin typeface="Arial"/>
              <a:ea typeface="Arial"/>
              <a:cs typeface="Arial"/>
              <a:sym typeface="Arial"/>
            </a:endParaRPr>
          </a:p>
        </p:txBody>
      </p:sp>
      <p:sp>
        <p:nvSpPr>
          <p:cNvPr id="248" name="Google Shape;248;g36e7437085d_0_84"/>
          <p:cNvSpPr txBox="1"/>
          <p:nvPr/>
        </p:nvSpPr>
        <p:spPr>
          <a:xfrm>
            <a:off x="5252117" y="4883132"/>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6e7437085d_0_9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54" name="Google Shape;254;g36e7437085d_0_92"/>
          <p:cNvSpPr txBox="1"/>
          <p:nvPr/>
        </p:nvSpPr>
        <p:spPr>
          <a:xfrm>
            <a:off x="7893099" y="2215866"/>
            <a:ext cx="3983444" cy="1033389"/>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INSERT DOCUMENT</a:t>
            </a:r>
            <a:endParaRPr sz="1800" b="1" i="0" u="none" strike="noStrike" cap="none" dirty="0">
              <a:solidFill>
                <a:schemeClr val="dk1"/>
              </a:solidFill>
              <a:latin typeface="Arial"/>
              <a:ea typeface="Arial"/>
              <a:cs typeface="Arial"/>
              <a:sym typeface="Arial"/>
            </a:endParaRPr>
          </a:p>
        </p:txBody>
      </p:sp>
      <p:grpSp>
        <p:nvGrpSpPr>
          <p:cNvPr id="256" name="Google Shape;256;g36e7437085d_0_92"/>
          <p:cNvGrpSpPr/>
          <p:nvPr/>
        </p:nvGrpSpPr>
        <p:grpSpPr>
          <a:xfrm>
            <a:off x="8005875" y="1536192"/>
            <a:ext cx="3897950" cy="5146200"/>
            <a:chOff x="8005875" y="1536192"/>
            <a:chExt cx="3897950" cy="5146200"/>
          </a:xfrm>
        </p:grpSpPr>
        <p:sp>
          <p:nvSpPr>
            <p:cNvPr id="257" name="Google Shape;257;g36e7437085d_0_92"/>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58" name="Google Shape;258;g36e7437085d_0_92"/>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9" name="Google Shape;259;g36e7437085d_0_92"/>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60" name="Google Shape;260;g36e7437085d_0_92"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sp>
        <p:nvSpPr>
          <p:cNvPr id="262" name="Google Shape;262;g36e7437085d_0_92"/>
          <p:cNvSpPr txBox="1"/>
          <p:nvPr/>
        </p:nvSpPr>
        <p:spPr>
          <a:xfrm>
            <a:off x="269737" y="1849133"/>
            <a:ext cx="746749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Now that we have created the database and collection, let us create a new document.</a:t>
            </a:r>
            <a:endParaRPr sz="1600" b="0" i="0" u="none" strike="noStrike" cap="none">
              <a:solidFill>
                <a:srgbClr val="000000"/>
              </a:solidFill>
              <a:latin typeface="Arial"/>
              <a:ea typeface="Arial"/>
              <a:cs typeface="Arial"/>
              <a:sym typeface="Arial"/>
            </a:endParaRPr>
          </a:p>
        </p:txBody>
      </p:sp>
      <p:sp>
        <p:nvSpPr>
          <p:cNvPr id="263" name="Google Shape;263;g36e7437085d_0_92"/>
          <p:cNvSpPr txBox="1"/>
          <p:nvPr/>
        </p:nvSpPr>
        <p:spPr>
          <a:xfrm>
            <a:off x="256370" y="1328956"/>
            <a:ext cx="702702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76F0A3E6-6D81-F667-C907-20FFC5F81EC0}"/>
              </a:ext>
            </a:extLst>
          </p:cNvPr>
          <p:cNvPicPr>
            <a:picLocks noChangeAspect="1"/>
          </p:cNvPicPr>
          <p:nvPr/>
        </p:nvPicPr>
        <p:blipFill>
          <a:blip r:embed="rId4"/>
          <a:stretch>
            <a:fillRect/>
          </a:stretch>
        </p:blipFill>
        <p:spPr>
          <a:xfrm>
            <a:off x="256370" y="2433908"/>
            <a:ext cx="6921670" cy="4119845"/>
          </a:xfrm>
          <a:prstGeom prst="rect">
            <a:avLst/>
          </a:prstGeom>
        </p:spPr>
      </p:pic>
      <p:sp>
        <p:nvSpPr>
          <p:cNvPr id="261" name="Google Shape;261;g36e7437085d_0_92"/>
          <p:cNvSpPr/>
          <p:nvPr/>
        </p:nvSpPr>
        <p:spPr>
          <a:xfrm>
            <a:off x="4263826" y="5597039"/>
            <a:ext cx="2447869" cy="245977"/>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6e7437085d_0_10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82" name="Google Shape;282;g36e7437085d_0_108"/>
          <p:cNvSpPr txBox="1"/>
          <p:nvPr/>
        </p:nvSpPr>
        <p:spPr>
          <a:xfrm>
            <a:off x="6858001" y="2226258"/>
            <a:ext cx="4953780" cy="4502939"/>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Copy and paste the following JSON text</a:t>
            </a:r>
          </a:p>
          <a:p>
            <a:r>
              <a:rPr lang="en-SG" sz="1600" dirty="0">
                <a:latin typeface="Consolas" panose="020B0609020204030204" pitchFamily="49" charset="0"/>
              </a:rPr>
              <a:t>{</a:t>
            </a:r>
          </a:p>
          <a:p>
            <a:r>
              <a:rPr lang="en-SG" sz="1600" dirty="0">
                <a:latin typeface="Consolas" panose="020B0609020204030204" pitchFamily="49" charset="0"/>
              </a:rPr>
              <a:t>   "title": "Swimming Physio with Humans",</a:t>
            </a:r>
          </a:p>
          <a:p>
            <a:r>
              <a:rPr lang="en-SG" sz="1600" dirty="0">
                <a:latin typeface="Consolas" panose="020B0609020204030204" pitchFamily="49" charset="0"/>
              </a:rPr>
              <a:t>   "</a:t>
            </a:r>
            <a:r>
              <a:rPr lang="en-SG" sz="1600" dirty="0" err="1">
                <a:latin typeface="Consolas" panose="020B0609020204030204" pitchFamily="49" charset="0"/>
              </a:rPr>
              <a:t>animalType</a:t>
            </a:r>
            <a:r>
              <a:rPr lang="en-SG" sz="1600" dirty="0">
                <a:latin typeface="Consolas" panose="020B0609020204030204" pitchFamily="49" charset="0"/>
              </a:rPr>
              <a:t>": "Dogs and Cats",</a:t>
            </a:r>
          </a:p>
          <a:p>
            <a:r>
              <a:rPr lang="en-SG" sz="1600" dirty="0">
                <a:latin typeface="Consolas" panose="020B0609020204030204" pitchFamily="49" charset="0"/>
              </a:rPr>
              <a:t>   "</a:t>
            </a:r>
            <a:r>
              <a:rPr lang="en-SG" sz="1600" dirty="0" err="1">
                <a:latin typeface="Consolas" panose="020B0609020204030204" pitchFamily="49" charset="0"/>
              </a:rPr>
              <a:t>durationMinutes</a:t>
            </a:r>
            <a:r>
              <a:rPr lang="en-SG" sz="1600" dirty="0">
                <a:latin typeface="Consolas" panose="020B0609020204030204" pitchFamily="49" charset="0"/>
              </a:rPr>
              <a:t>": "60",</a:t>
            </a:r>
          </a:p>
          <a:p>
            <a:r>
              <a:rPr lang="en-SG" sz="1600" dirty="0">
                <a:latin typeface="Consolas" panose="020B0609020204030204" pitchFamily="49" charset="0"/>
              </a:rPr>
              <a:t>   "provider": "Supreme Physio",</a:t>
            </a:r>
          </a:p>
          <a:p>
            <a:r>
              <a:rPr lang="en-SG" sz="1600" dirty="0">
                <a:latin typeface="Consolas" panose="020B0609020204030204" pitchFamily="49" charset="0"/>
              </a:rPr>
              <a:t>   "location": "Singapore"</a:t>
            </a:r>
          </a:p>
          <a:p>
            <a:r>
              <a:rPr lang="en-SG" sz="1600" dirty="0">
                <a:latin typeface="Consolas" panose="020B0609020204030204" pitchFamily="49" charset="0"/>
              </a:rPr>
              <a:t>}</a:t>
            </a:r>
          </a:p>
          <a:p>
            <a:pPr marL="101600" marR="0" lvl="0" algn="l" rtl="0">
              <a:lnSpc>
                <a:spcPct val="100000"/>
              </a:lnSpc>
              <a:spcBef>
                <a:spcPts val="0"/>
              </a:spcBef>
              <a:spcAft>
                <a:spcPts val="0"/>
              </a:spcAft>
              <a:buClr>
                <a:schemeClr val="dk1"/>
              </a:buClr>
              <a:buSzPts val="2000"/>
            </a:pPr>
            <a:endParaRPr lang="en-US" sz="1800" dirty="0">
              <a:solidFill>
                <a:schemeClr val="dk1"/>
              </a:solidFill>
            </a:endParaRPr>
          </a:p>
          <a:p>
            <a:pPr marL="101600" marR="0" lvl="0" algn="l" rtl="0">
              <a:lnSpc>
                <a:spcPct val="100000"/>
              </a:lnSpc>
              <a:spcBef>
                <a:spcPts val="0"/>
              </a:spcBef>
              <a:spcAft>
                <a:spcPts val="0"/>
              </a:spcAft>
              <a:buClr>
                <a:schemeClr val="dk1"/>
              </a:buClr>
              <a:buSzPts val="2000"/>
            </a:pP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Insert</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p:txBody>
      </p:sp>
      <p:grpSp>
        <p:nvGrpSpPr>
          <p:cNvPr id="284" name="Google Shape;284;g36e7437085d_0_108"/>
          <p:cNvGrpSpPr/>
          <p:nvPr/>
        </p:nvGrpSpPr>
        <p:grpSpPr>
          <a:xfrm>
            <a:off x="6858001" y="1536192"/>
            <a:ext cx="5045824" cy="5146200"/>
            <a:chOff x="8005875" y="1536192"/>
            <a:chExt cx="3897950" cy="5146200"/>
          </a:xfrm>
        </p:grpSpPr>
        <p:sp>
          <p:nvSpPr>
            <p:cNvPr id="285" name="Google Shape;285;g36e7437085d_0_108"/>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86" name="Google Shape;286;g36e7437085d_0_108"/>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7" name="Google Shape;287;g36e7437085d_0_108"/>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88" name="Google Shape;288;g36e7437085d_0_108"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sp>
        <p:nvSpPr>
          <p:cNvPr id="289" name="Google Shape;289;g36e7437085d_0_108"/>
          <p:cNvSpPr txBox="1"/>
          <p:nvPr/>
        </p:nvSpPr>
        <p:spPr>
          <a:xfrm>
            <a:off x="256370" y="1328956"/>
            <a:ext cx="702702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2A19012-120D-E763-33D6-F2F4A76E09BE}"/>
              </a:ext>
            </a:extLst>
          </p:cNvPr>
          <p:cNvPicPr>
            <a:picLocks noChangeAspect="1"/>
          </p:cNvPicPr>
          <p:nvPr/>
        </p:nvPicPr>
        <p:blipFill>
          <a:blip r:embed="rId4"/>
          <a:stretch>
            <a:fillRect/>
          </a:stretch>
        </p:blipFill>
        <p:spPr>
          <a:xfrm>
            <a:off x="256370" y="1973232"/>
            <a:ext cx="5625171" cy="4709160"/>
          </a:xfrm>
          <a:prstGeom prst="rect">
            <a:avLst/>
          </a:prstGeom>
        </p:spPr>
      </p:pic>
      <p:sp>
        <p:nvSpPr>
          <p:cNvPr id="4" name="Arrow: Down 3">
            <a:extLst>
              <a:ext uri="{FF2B5EF4-FFF2-40B4-BE49-F238E27FC236}">
                <a16:creationId xmlns:a16="http://schemas.microsoft.com/office/drawing/2014/main" id="{4DF4204C-593B-8F49-454A-A84163E2CFD4}"/>
              </a:ext>
            </a:extLst>
          </p:cNvPr>
          <p:cNvSpPr/>
          <p:nvPr/>
        </p:nvSpPr>
        <p:spPr>
          <a:xfrm>
            <a:off x="4718304" y="2514600"/>
            <a:ext cx="265176" cy="347472"/>
          </a:xfrm>
          <a:prstGeom prst="down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6e7437085d_0_11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95" name="Google Shape;295;g36e7437085d_0_116"/>
          <p:cNvSpPr txBox="1"/>
          <p:nvPr/>
        </p:nvSpPr>
        <p:spPr>
          <a:xfrm>
            <a:off x="7897047" y="2217710"/>
            <a:ext cx="3932689" cy="4455537"/>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You will see the newly inserted document.</a:t>
            </a:r>
            <a:endParaRPr sz="1800" b="0" i="0" u="none" strike="noStrike" cap="none">
              <a:solidFill>
                <a:schemeClr val="dk1"/>
              </a:solidFill>
              <a:latin typeface="Arial"/>
              <a:ea typeface="Arial"/>
              <a:cs typeface="Arial"/>
              <a:sym typeface="Arial"/>
            </a:endParaRPr>
          </a:p>
        </p:txBody>
      </p:sp>
      <p:pic>
        <p:nvPicPr>
          <p:cNvPr id="296" name="Google Shape;296;g36e7437085d_0_116"/>
          <p:cNvPicPr preferRelativeResize="0"/>
          <p:nvPr/>
        </p:nvPicPr>
        <p:blipFill rotWithShape="1">
          <a:blip r:embed="rId3">
            <a:alphaModFix/>
          </a:blip>
          <a:srcRect/>
          <a:stretch/>
        </p:blipFill>
        <p:spPr>
          <a:xfrm>
            <a:off x="343976" y="2051963"/>
            <a:ext cx="7496175" cy="4581525"/>
          </a:xfrm>
          <a:prstGeom prst="rect">
            <a:avLst/>
          </a:prstGeom>
          <a:noFill/>
          <a:ln w="9525" cap="flat" cmpd="sng">
            <a:solidFill>
              <a:schemeClr val="accent1"/>
            </a:solidFill>
            <a:prstDash val="solid"/>
            <a:round/>
            <a:headEnd type="none" w="sm" len="sm"/>
            <a:tailEnd type="none" w="sm" len="sm"/>
          </a:ln>
        </p:spPr>
      </p:pic>
      <p:grpSp>
        <p:nvGrpSpPr>
          <p:cNvPr id="297" name="Google Shape;297;g36e7437085d_0_116"/>
          <p:cNvGrpSpPr/>
          <p:nvPr/>
        </p:nvGrpSpPr>
        <p:grpSpPr>
          <a:xfrm>
            <a:off x="8005875" y="1536192"/>
            <a:ext cx="3897950" cy="5146200"/>
            <a:chOff x="8005875" y="1536192"/>
            <a:chExt cx="3897950" cy="5146200"/>
          </a:xfrm>
        </p:grpSpPr>
        <p:sp>
          <p:nvSpPr>
            <p:cNvPr id="298" name="Google Shape;298;g36e7437085d_0_116"/>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99" name="Google Shape;299;g36e7437085d_0_116"/>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0" name="Google Shape;300;g36e7437085d_0_116"/>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301" name="Google Shape;301;g36e7437085d_0_116"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302" name="Google Shape;302;g36e7437085d_0_116"/>
          <p:cNvSpPr txBox="1"/>
          <p:nvPr/>
        </p:nvSpPr>
        <p:spPr>
          <a:xfrm>
            <a:off x="256370" y="1328956"/>
            <a:ext cx="6756680"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6e7437085d_0_12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What have we learned</a:t>
            </a:r>
            <a:endParaRPr sz="2400" b="1" i="0" u="none" strike="noStrike" cap="none">
              <a:solidFill>
                <a:srgbClr val="11175E"/>
              </a:solidFill>
              <a:latin typeface="Arial"/>
              <a:ea typeface="Arial"/>
              <a:cs typeface="Arial"/>
              <a:sym typeface="Arial"/>
            </a:endParaRPr>
          </a:p>
        </p:txBody>
      </p:sp>
      <p:sp>
        <p:nvSpPr>
          <p:cNvPr id="308" name="Google Shape;308;g36e7437085d_0_124"/>
          <p:cNvSpPr txBox="1"/>
          <p:nvPr/>
        </p:nvSpPr>
        <p:spPr>
          <a:xfrm>
            <a:off x="334963" y="1415332"/>
            <a:ext cx="11568862" cy="273966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a:solidFill>
                  <a:schemeClr val="dk1"/>
                </a:solidFill>
                <a:latin typeface="Arial"/>
                <a:ea typeface="Arial"/>
                <a:cs typeface="Arial"/>
                <a:sym typeface="Arial"/>
              </a:rPr>
              <a:t>In this section, you took your first step toward using a real cloud database by setting up </a:t>
            </a:r>
            <a:r>
              <a:rPr lang="en-US" sz="1600" b="1" i="0" u="none" strike="noStrike" cap="none">
                <a:solidFill>
                  <a:schemeClr val="dk1"/>
                </a:solidFill>
                <a:latin typeface="Arial"/>
                <a:ea typeface="Arial"/>
                <a:cs typeface="Arial"/>
                <a:sym typeface="Arial"/>
              </a:rPr>
              <a:t>MongoDB Atlas</a:t>
            </a:r>
            <a:r>
              <a:rPr lang="en-US" sz="1600" b="0" i="0" u="none" strike="noStrike" cap="none">
                <a:solidFill>
                  <a:schemeClr val="dk1"/>
                </a:solidFill>
                <a:latin typeface="Arial"/>
                <a:ea typeface="Arial"/>
                <a:cs typeface="Arial"/>
                <a:sym typeface="Arial"/>
              </a:rPr>
              <a:t>.</a:t>
            </a:r>
            <a:endParaRPr/>
          </a:p>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You learned how to:</a:t>
            </a:r>
            <a:endParaRPr/>
          </a:p>
          <a:p>
            <a:pPr marL="457200" marR="0" lvl="0" indent="-330200" algn="l" rtl="0">
              <a:lnSpc>
                <a:spcPct val="115000"/>
              </a:lnSpc>
              <a:spcBef>
                <a:spcPts val="12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Create a MongoDB Atlas </a:t>
            </a:r>
            <a:r>
              <a:rPr lang="en-US" sz="1400" b="1" i="0" u="none" strike="noStrike" cap="none">
                <a:solidFill>
                  <a:schemeClr val="dk1"/>
                </a:solidFill>
                <a:latin typeface="Arial"/>
                <a:ea typeface="Arial"/>
                <a:cs typeface="Arial"/>
                <a:sym typeface="Arial"/>
              </a:rPr>
              <a:t>cluster</a:t>
            </a:r>
            <a:r>
              <a:rPr lang="en-US" sz="1400" b="0" i="0" u="none" strike="noStrike" cap="none">
                <a:solidFill>
                  <a:schemeClr val="dk1"/>
                </a:solidFill>
                <a:latin typeface="Arial"/>
                <a:ea typeface="Arial"/>
                <a:cs typeface="Arial"/>
                <a:sym typeface="Arial"/>
              </a:rPr>
              <a:t> in the cloud</a:t>
            </a:r>
            <a:endParaRPr/>
          </a:p>
          <a:p>
            <a:pPr marL="457200" marR="0" lvl="0" indent="-330200" algn="l" rtl="0">
              <a:lnSpc>
                <a:spcPct val="115000"/>
              </a:lnSpc>
              <a:spcBef>
                <a:spcPts val="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Set up a </a:t>
            </a:r>
            <a:r>
              <a:rPr lang="en-US" sz="1400" b="1" i="0" u="none" strike="noStrike" cap="none">
                <a:solidFill>
                  <a:schemeClr val="dk1"/>
                </a:solidFill>
                <a:latin typeface="Arial"/>
                <a:ea typeface="Arial"/>
                <a:cs typeface="Arial"/>
                <a:sym typeface="Arial"/>
              </a:rPr>
              <a:t>database</a:t>
            </a:r>
            <a:r>
              <a:rPr lang="en-US" sz="1400" b="0" i="0" u="none" strike="noStrike" cap="none">
                <a:solidFill>
                  <a:schemeClr val="dk1"/>
                </a:solidFill>
                <a:latin typeface="Arial"/>
                <a:ea typeface="Arial"/>
                <a:cs typeface="Arial"/>
                <a:sym typeface="Arial"/>
              </a:rPr>
              <a:t> and a </a:t>
            </a:r>
            <a:r>
              <a:rPr lang="en-US" sz="1400" b="1" i="0" u="none" strike="noStrike" cap="none">
                <a:solidFill>
                  <a:schemeClr val="dk1"/>
                </a:solidFill>
                <a:latin typeface="Arial"/>
                <a:ea typeface="Arial"/>
                <a:cs typeface="Arial"/>
                <a:sym typeface="Arial"/>
              </a:rPr>
              <a:t>collection</a:t>
            </a:r>
            <a:endParaRPr/>
          </a:p>
          <a:p>
            <a:pPr marL="457200" marR="0" lvl="0" indent="-330200" algn="l" rtl="0">
              <a:lnSpc>
                <a:spcPct val="115000"/>
              </a:lnSpc>
              <a:spcBef>
                <a:spcPts val="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Insert a document directly through the Atlas UI</a:t>
            </a:r>
            <a:endParaRPr/>
          </a:p>
          <a:p>
            <a:pPr marL="0" marR="0" lvl="0" indent="0" algn="l" rtl="0">
              <a:lnSpc>
                <a:spcPct val="115000"/>
              </a:lnSpc>
              <a:spcBef>
                <a:spcPts val="1200"/>
              </a:spcBef>
              <a:spcAft>
                <a:spcPts val="0"/>
              </a:spcAft>
              <a:buNone/>
            </a:pPr>
            <a:r>
              <a:rPr lang="en-US" sz="1400" b="0" i="0" u="none" strike="noStrike" cap="none">
                <a:solidFill>
                  <a:schemeClr val="dk1"/>
                </a:solidFill>
                <a:latin typeface="Arial"/>
                <a:ea typeface="Arial"/>
                <a:cs typeface="Arial"/>
                <a:sym typeface="Arial"/>
              </a:rPr>
              <a:t>This hands-on experience gave you a solid understanding of how MongoDB stores and organizes data in a flexible, document-based structure.</a:t>
            </a:r>
            <a:endParaRPr/>
          </a:p>
          <a:p>
            <a:pPr marL="0" marR="0" lvl="0" indent="0" algn="l" rtl="0">
              <a:lnSpc>
                <a:spcPct val="115000"/>
              </a:lnSpc>
              <a:spcBef>
                <a:spcPts val="1200"/>
              </a:spcBef>
              <a:spcAft>
                <a:spcPts val="0"/>
              </a:spcAft>
              <a:buNone/>
            </a:pPr>
            <a:r>
              <a:rPr lang="en-US" sz="1400" b="0" i="0" u="none" strike="noStrike" cap="none">
                <a:solidFill>
                  <a:schemeClr val="dk1"/>
                </a:solidFill>
                <a:latin typeface="Arial"/>
                <a:ea typeface="Arial"/>
                <a:cs typeface="Arial"/>
                <a:sym typeface="Arial"/>
              </a:rPr>
              <a:t>In the next part, we’ll create a new database and connect it to our Express app using </a:t>
            </a:r>
            <a:r>
              <a:rPr lang="en-US" sz="1400" b="1" i="0" u="none" strike="noStrike" cap="none">
                <a:solidFill>
                  <a:schemeClr val="dk1"/>
                </a:solidFill>
                <a:latin typeface="Arial"/>
                <a:ea typeface="Arial"/>
                <a:cs typeface="Arial"/>
                <a:sym typeface="Arial"/>
              </a:rPr>
              <a:t>Mongoose</a:t>
            </a:r>
            <a:r>
              <a:rPr lang="en-US" sz="1400" b="0" i="0" u="none" strike="noStrike" cap="none">
                <a:solidFill>
                  <a:schemeClr val="dk1"/>
                </a:solidFill>
                <a:latin typeface="Arial"/>
                <a:ea typeface="Arial"/>
                <a:cs typeface="Arial"/>
                <a:sym typeface="Arial"/>
              </a:rPr>
              <a:t>, and it interact with our data programmatically and build a fully dynamic, cloud-powered backend for our application.</a:t>
            </a:r>
            <a:endParaRPr sz="1400" b="1"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36e7437085d_0_14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What is Mongoose?</a:t>
            </a:r>
            <a:endParaRPr sz="2400" b="1" i="0" u="none" strike="noStrike" cap="none" dirty="0">
              <a:solidFill>
                <a:srgbClr val="11175E"/>
              </a:solidFill>
              <a:latin typeface="Arial"/>
              <a:ea typeface="Arial"/>
              <a:cs typeface="Arial"/>
              <a:sym typeface="Arial"/>
            </a:endParaRPr>
          </a:p>
        </p:txBody>
      </p:sp>
      <p:sp>
        <p:nvSpPr>
          <p:cNvPr id="83" name="Google Shape;83;g36e7437085d_0_140"/>
          <p:cNvSpPr txBox="1"/>
          <p:nvPr/>
        </p:nvSpPr>
        <p:spPr>
          <a:xfrm>
            <a:off x="255577" y="1378145"/>
            <a:ext cx="11672099" cy="35071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What it is</a:t>
            </a:r>
            <a:r>
              <a:rPr lang="en-US" sz="1800" b="0" i="0" u="none" strike="noStrike" cap="none" dirty="0">
                <a:solidFill>
                  <a:schemeClr val="dk1"/>
                </a:solidFill>
                <a:latin typeface="Arial"/>
                <a:ea typeface="Arial"/>
                <a:cs typeface="Arial"/>
                <a:sym typeface="Arial"/>
              </a:rPr>
              <a:t>:</a:t>
            </a:r>
            <a:endParaRPr dirty="0"/>
          </a:p>
          <a:p>
            <a:pPr marL="0" marR="0" lvl="0" indent="0" algn="l" rtl="0">
              <a:lnSpc>
                <a:spcPct val="115000"/>
              </a:lnSpc>
              <a:spcBef>
                <a:spcPts val="1200"/>
              </a:spcBef>
              <a:spcAft>
                <a:spcPts val="0"/>
              </a:spcAft>
              <a:buNone/>
            </a:pPr>
            <a:r>
              <a:rPr lang="en-US" sz="1600" b="0" i="0" u="none" strike="noStrike" cap="none" dirty="0">
                <a:solidFill>
                  <a:schemeClr val="dk1"/>
                </a:solidFill>
                <a:latin typeface="Arial"/>
                <a:ea typeface="Arial"/>
                <a:cs typeface="Arial"/>
                <a:sym typeface="Arial"/>
              </a:rPr>
              <a:t>A library that helps you interact with </a:t>
            </a:r>
            <a:r>
              <a:rPr lang="en-US" sz="1600" b="1" i="0" u="none" strike="noStrike" cap="none" dirty="0">
                <a:solidFill>
                  <a:schemeClr val="dk1"/>
                </a:solidFill>
                <a:latin typeface="Arial"/>
                <a:ea typeface="Arial"/>
                <a:cs typeface="Arial"/>
                <a:sym typeface="Arial"/>
              </a:rPr>
              <a:t>MongoDB</a:t>
            </a:r>
            <a:r>
              <a:rPr lang="en-US" sz="1600" b="0" i="0" u="none" strike="noStrike" cap="none" dirty="0">
                <a:solidFill>
                  <a:schemeClr val="dk1"/>
                </a:solidFill>
                <a:latin typeface="Arial"/>
                <a:ea typeface="Arial"/>
                <a:cs typeface="Arial"/>
                <a:sym typeface="Arial"/>
              </a:rPr>
              <a:t> from your </a:t>
            </a:r>
            <a:r>
              <a:rPr lang="en-US" sz="1600" b="1" i="0" u="none" strike="noStrike" cap="none" dirty="0">
                <a:solidFill>
                  <a:schemeClr val="dk1"/>
                </a:solidFill>
                <a:latin typeface="Arial"/>
                <a:ea typeface="Arial"/>
                <a:cs typeface="Arial"/>
                <a:sym typeface="Arial"/>
              </a:rPr>
              <a:t>Node.js</a:t>
            </a:r>
            <a:r>
              <a:rPr lang="en-US" sz="1600" b="0" i="0" u="none" strike="noStrike" cap="none" dirty="0">
                <a:solidFill>
                  <a:schemeClr val="dk1"/>
                </a:solidFill>
                <a:latin typeface="Arial"/>
                <a:ea typeface="Arial"/>
                <a:cs typeface="Arial"/>
                <a:sym typeface="Arial"/>
              </a:rPr>
              <a:t> app. Mongoose makes it easier and provides a structured  way to work with MongoDB in Node.js.</a:t>
            </a:r>
            <a:endParaRPr dirty="0"/>
          </a:p>
          <a:p>
            <a:pPr marL="0" marR="0" lvl="0" indent="0" algn="l" rtl="0">
              <a:lnSpc>
                <a:spcPct val="115000"/>
              </a:lnSpc>
              <a:spcBef>
                <a:spcPts val="1200"/>
              </a:spcBef>
              <a:spcAft>
                <a:spcPts val="0"/>
              </a:spcAft>
              <a:buNone/>
            </a:pPr>
            <a:r>
              <a:rPr lang="en-US" sz="1600" b="1" i="0" u="none" strike="noStrike" cap="none" dirty="0">
                <a:solidFill>
                  <a:schemeClr val="dk1"/>
                </a:solidFill>
                <a:latin typeface="Arial"/>
                <a:ea typeface="Arial"/>
                <a:cs typeface="Arial"/>
                <a:sym typeface="Arial"/>
              </a:rPr>
              <a:t>Why we use it:</a:t>
            </a:r>
            <a:endParaRPr dirty="0"/>
          </a:p>
          <a:p>
            <a:pPr marL="0" marR="0" lvl="0" indent="0" algn="l" rtl="0">
              <a:lnSpc>
                <a:spcPct val="115000"/>
              </a:lnSpc>
              <a:spcBef>
                <a:spcPts val="1200"/>
              </a:spcBef>
              <a:spcAft>
                <a:spcPts val="0"/>
              </a:spcAft>
              <a:buNone/>
            </a:pPr>
            <a:r>
              <a:rPr lang="en-US" sz="1600" b="0" i="0" u="none" strike="noStrike" cap="none" dirty="0">
                <a:solidFill>
                  <a:schemeClr val="dk1"/>
                </a:solidFill>
                <a:latin typeface="Arial"/>
                <a:ea typeface="Arial"/>
                <a:cs typeface="Arial"/>
                <a:sym typeface="Arial"/>
              </a:rPr>
              <a:t>Instead of writing raw database queries, Mongoose lets you:</a:t>
            </a:r>
            <a:endParaRPr dirty="0"/>
          </a:p>
          <a:p>
            <a:pPr marL="457200" marR="0" lvl="0" indent="-330200" algn="l" rtl="0">
              <a:lnSpc>
                <a:spcPct val="115000"/>
              </a:lnSpc>
              <a:spcBef>
                <a:spcPts val="120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Define </a:t>
            </a:r>
            <a:r>
              <a:rPr lang="en-US" sz="1600" b="1" i="0" u="none" strike="noStrike" cap="none" dirty="0">
                <a:solidFill>
                  <a:schemeClr val="dk1"/>
                </a:solidFill>
                <a:latin typeface="Arial"/>
                <a:ea typeface="Arial"/>
                <a:cs typeface="Arial"/>
                <a:sym typeface="Arial"/>
              </a:rPr>
              <a:t>schemas</a:t>
            </a:r>
            <a:r>
              <a:rPr lang="en-US" sz="1600" b="0" i="0" u="none" strike="noStrike" cap="none" dirty="0">
                <a:solidFill>
                  <a:schemeClr val="dk1"/>
                </a:solidFill>
                <a:latin typeface="Arial"/>
                <a:ea typeface="Arial"/>
                <a:cs typeface="Arial"/>
                <a:sym typeface="Arial"/>
              </a:rPr>
              <a:t> (data structure rules)</a:t>
            </a:r>
            <a:endParaRPr dirty="0"/>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Create </a:t>
            </a:r>
            <a:r>
              <a:rPr lang="en-US" sz="1600" b="1" i="0" u="none" strike="noStrike" cap="none" dirty="0">
                <a:solidFill>
                  <a:schemeClr val="dk1"/>
                </a:solidFill>
                <a:latin typeface="Arial"/>
                <a:ea typeface="Arial"/>
                <a:cs typeface="Arial"/>
                <a:sym typeface="Arial"/>
              </a:rPr>
              <a:t>models</a:t>
            </a:r>
            <a:r>
              <a:rPr lang="en-US" sz="1600" b="0" i="0" u="none" strike="noStrike" cap="none" dirty="0">
                <a:solidFill>
                  <a:schemeClr val="dk1"/>
                </a:solidFill>
                <a:latin typeface="Arial"/>
                <a:ea typeface="Arial"/>
                <a:cs typeface="Arial"/>
                <a:sym typeface="Arial"/>
              </a:rPr>
              <a:t> (representing collections like </a:t>
            </a:r>
            <a:r>
              <a:rPr lang="en-US" sz="1600" b="1" dirty="0">
                <a:solidFill>
                  <a:schemeClr val="dk1"/>
                </a:solidFill>
                <a:sym typeface="Roboto Mono"/>
              </a:rPr>
              <a:t>Books</a:t>
            </a:r>
            <a:r>
              <a:rPr lang="en-US" sz="1600" dirty="0">
                <a:solidFill>
                  <a:schemeClr val="dk1"/>
                </a:solidFill>
                <a:sym typeface="Roboto Mono"/>
              </a:rPr>
              <a:t> and </a:t>
            </a:r>
            <a:r>
              <a:rPr lang="en-US" sz="1600" b="1" dirty="0">
                <a:solidFill>
                  <a:schemeClr val="dk1"/>
                </a:solidFill>
                <a:sym typeface="Roboto Mono"/>
              </a:rPr>
              <a:t>Users</a:t>
            </a:r>
            <a:r>
              <a:rPr lang="en-US" sz="1600" b="0" i="0" u="none" strike="noStrike" cap="none" dirty="0">
                <a:solidFill>
                  <a:schemeClr val="dk1"/>
                </a:solidFill>
                <a:latin typeface="Arial"/>
                <a:ea typeface="Arial"/>
                <a:cs typeface="Arial"/>
                <a:sym typeface="Arial"/>
              </a:rPr>
              <a:t>)</a:t>
            </a:r>
            <a:endParaRPr dirty="0"/>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Easily </a:t>
            </a:r>
            <a:r>
              <a:rPr lang="en-US" sz="1600" b="1" i="0" u="none" strike="noStrike" cap="none" dirty="0">
                <a:solidFill>
                  <a:schemeClr val="dk1"/>
                </a:solidFill>
                <a:latin typeface="Arial"/>
                <a:ea typeface="Arial"/>
                <a:cs typeface="Arial"/>
                <a:sym typeface="Arial"/>
              </a:rPr>
              <a:t>read/write/update/delete</a:t>
            </a:r>
            <a:r>
              <a:rPr lang="en-US" sz="1600" b="0" i="0" u="none" strike="noStrike" cap="none" dirty="0">
                <a:solidFill>
                  <a:schemeClr val="dk1"/>
                </a:solidFill>
                <a:latin typeface="Arial"/>
                <a:ea typeface="Arial"/>
                <a:cs typeface="Arial"/>
                <a:sym typeface="Arial"/>
              </a:rPr>
              <a:t> data</a:t>
            </a:r>
            <a:endParaRPr dirty="0"/>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Use built-in validation and middleware</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What is a Schema?</a:t>
            </a:r>
            <a:endParaRPr sz="2400" b="1" i="0" u="none" strike="noStrike" cap="none" dirty="0">
              <a:solidFill>
                <a:srgbClr val="11175E"/>
              </a:solidFill>
              <a:latin typeface="Arial"/>
              <a:ea typeface="Arial"/>
              <a:cs typeface="Arial"/>
              <a:sym typeface="Arial"/>
            </a:endParaRPr>
          </a:p>
        </p:txBody>
      </p:sp>
      <p:sp>
        <p:nvSpPr>
          <p:cNvPr id="89" name="Google Shape;89;p2"/>
          <p:cNvSpPr txBox="1"/>
          <p:nvPr/>
        </p:nvSpPr>
        <p:spPr>
          <a:xfrm>
            <a:off x="268451" y="3988174"/>
            <a:ext cx="6200454" cy="23698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Structure Definition:</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It outlines the expected fields within a document and their corresponding Mongoose </a:t>
            </a:r>
            <a:r>
              <a:rPr lang="en-US" sz="1400" b="0" i="0" u="none" strike="noStrike" cap="none" dirty="0" err="1">
                <a:solidFill>
                  <a:schemeClr val="dk1"/>
                </a:solidFill>
                <a:latin typeface="Arial"/>
                <a:ea typeface="Arial"/>
                <a:cs typeface="Arial"/>
                <a:sym typeface="Arial"/>
              </a:rPr>
              <a:t>SchemaTypes</a:t>
            </a:r>
            <a:r>
              <a:rPr lang="en-US" sz="1400" b="0" i="0" u="none" strike="noStrike" cap="none" dirty="0">
                <a:solidFill>
                  <a:schemeClr val="dk1"/>
                </a:solidFill>
                <a:latin typeface="Arial"/>
                <a:ea typeface="Arial"/>
                <a:cs typeface="Arial"/>
                <a:sym typeface="Arial"/>
              </a:rPr>
              <a:t> (e.g., String, Number, Boolean, Date, </a:t>
            </a:r>
            <a:r>
              <a:rPr lang="en-US" sz="1400" b="0" i="0" u="none" strike="noStrike" cap="none" dirty="0" err="1">
                <a:solidFill>
                  <a:schemeClr val="dk1"/>
                </a:solidFill>
                <a:latin typeface="Arial"/>
                <a:ea typeface="Arial"/>
                <a:cs typeface="Arial"/>
                <a:sym typeface="Arial"/>
              </a:rPr>
              <a:t>ObjectId</a:t>
            </a:r>
            <a:r>
              <a:rPr lang="en-US" sz="1400" b="0" i="0" u="none" strike="noStrike" cap="none" dirty="0">
                <a:solidFill>
                  <a:schemeClr val="dk1"/>
                </a:solidFill>
                <a:latin typeface="Arial"/>
                <a:ea typeface="Arial"/>
                <a:cs typeface="Arial"/>
                <a:sym typeface="Arial"/>
              </a:rPr>
              <a:t>, Array, Mixed).</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Validation:</a:t>
            </a:r>
            <a:endParaRPr sz="1600" b="0" i="1"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Schemas allow for defining validation rules for individual fields, ensuring data integrity before saving documents to the database. This includes built-in validators (like required, min, max, </a:t>
            </a:r>
            <a:r>
              <a:rPr lang="en-US" sz="1400" b="0" i="0" u="none" strike="noStrike" cap="none" dirty="0" err="1">
                <a:solidFill>
                  <a:schemeClr val="dk1"/>
                </a:solidFill>
                <a:latin typeface="Arial"/>
                <a:ea typeface="Arial"/>
                <a:cs typeface="Arial"/>
                <a:sym typeface="Arial"/>
              </a:rPr>
              <a:t>enum</a:t>
            </a:r>
            <a:r>
              <a:rPr lang="en-US" sz="1400" b="0" i="0" u="none" strike="noStrike" cap="none" dirty="0">
                <a:solidFill>
                  <a:schemeClr val="dk1"/>
                </a:solidFill>
                <a:latin typeface="Arial"/>
                <a:ea typeface="Arial"/>
                <a:cs typeface="Arial"/>
                <a:sym typeface="Arial"/>
              </a:rPr>
              <a:t>) and custom validation functions.</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sp>
        <p:nvSpPr>
          <p:cNvPr id="90" name="Google Shape;90;p2"/>
          <p:cNvSpPr txBox="1"/>
          <p:nvPr/>
        </p:nvSpPr>
        <p:spPr>
          <a:xfrm>
            <a:off x="6618209" y="4019978"/>
            <a:ext cx="5165624" cy="1566263"/>
          </a:xfrm>
          <a:prstGeom prst="rect">
            <a:avLst/>
          </a:prstGeom>
          <a:noFill/>
          <a:ln>
            <a:noFill/>
          </a:ln>
        </p:spPr>
        <p:txBody>
          <a:bodyPr spcFirstLastPara="1" wrap="square" lIns="91425" tIns="45700" rIns="91425" bIns="45700" anchor="t" anchorCtr="0">
            <a:spAutoFit/>
          </a:bodyPr>
          <a:lstStyle/>
          <a:p>
            <a:pPr marL="0" marR="0" lvl="0" indent="0" algn="l" rtl="0">
              <a:lnSpc>
                <a:spcPct val="103125"/>
              </a:lnSpc>
              <a:spcBef>
                <a:spcPts val="0"/>
              </a:spcBef>
              <a:spcAft>
                <a:spcPts val="0"/>
              </a:spcAft>
              <a:buNone/>
            </a:pPr>
            <a:r>
              <a:rPr lang="en-US" sz="1600" b="1" i="1" u="none" strike="noStrike" cap="none">
                <a:solidFill>
                  <a:schemeClr val="dk1"/>
                </a:solidFill>
                <a:latin typeface="Arial"/>
                <a:ea typeface="Arial"/>
                <a:cs typeface="Arial"/>
                <a:sym typeface="Arial"/>
              </a:rPr>
              <a:t>Default Values:</a:t>
            </a:r>
            <a:br>
              <a:rPr lang="en-US" sz="1600" b="1"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You can specify default values for fields, which will be automatically assigned if a value is not provided during document creation.</a:t>
            </a:r>
            <a:endParaRPr/>
          </a:p>
          <a:p>
            <a:pPr marL="0" marR="0" lvl="0" indent="0" algn="l" rtl="0">
              <a:lnSpc>
                <a:spcPct val="117857"/>
              </a:lnSpc>
              <a:spcBef>
                <a:spcPts val="1350"/>
              </a:spcBef>
              <a:spcAft>
                <a:spcPts val="0"/>
              </a:spcAft>
              <a:buNone/>
            </a:pPr>
            <a:r>
              <a:rPr lang="en-US" sz="1400" b="0" i="0" u="none" strike="noStrike" cap="none">
                <a:solidFill>
                  <a:schemeClr val="dk1"/>
                </a:solidFill>
                <a:latin typeface="Arial"/>
                <a:ea typeface="Arial"/>
                <a:cs typeface="Arial"/>
                <a:sym typeface="Arial"/>
              </a:rPr>
              <a:t>And other aspects such as Indexes, Methods &amp; statics, vituals and middleware.</a:t>
            </a:r>
            <a:endParaRPr/>
          </a:p>
        </p:txBody>
      </p:sp>
      <p:sp>
        <p:nvSpPr>
          <p:cNvPr id="91" name="Google Shape;91;p2"/>
          <p:cNvSpPr txBox="1"/>
          <p:nvPr/>
        </p:nvSpPr>
        <p:spPr>
          <a:xfrm>
            <a:off x="252549" y="1421524"/>
            <a:ext cx="11856900" cy="25119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a:solidFill>
                  <a:schemeClr val="dk1"/>
                </a:solidFill>
                <a:latin typeface="Arial"/>
                <a:ea typeface="Arial"/>
                <a:cs typeface="Arial"/>
                <a:sym typeface="Arial"/>
              </a:rPr>
              <a:t>What it is</a:t>
            </a:r>
            <a:r>
              <a:rPr lang="en-US" sz="1600" b="0" i="0" u="none" strike="noStrike" cap="none">
                <a:solidFill>
                  <a:schemeClr val="dk1"/>
                </a:solidFill>
                <a:latin typeface="Arial"/>
                <a:ea typeface="Arial"/>
                <a:cs typeface="Arial"/>
                <a:sym typeface="Arial"/>
              </a:rPr>
              <a:t>:</a:t>
            </a:r>
            <a:endParaRPr sz="1600"/>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In the context of NoSQL databases, "schema" refers to the </a:t>
            </a:r>
            <a:r>
              <a:rPr lang="en-US" sz="1400" b="1" i="0" u="none" strike="noStrike" cap="none">
                <a:solidFill>
                  <a:srgbClr val="000000"/>
                </a:solidFill>
                <a:latin typeface="Arial"/>
                <a:ea typeface="Arial"/>
                <a:cs typeface="Arial"/>
                <a:sym typeface="Arial"/>
              </a:rPr>
              <a:t>structure and organization of data</a:t>
            </a:r>
            <a:r>
              <a:rPr lang="en-US" sz="1400" b="0" i="0" u="none" strike="noStrike" cap="none">
                <a:solidFill>
                  <a:srgbClr val="000000"/>
                </a:solidFill>
                <a:latin typeface="Arial"/>
                <a:ea typeface="Arial"/>
                <a:cs typeface="Arial"/>
                <a:sym typeface="Arial"/>
              </a:rPr>
              <a:t>, although it differs significantly from the rigid, predefined schemas found in relational databases.</a:t>
            </a:r>
            <a:endParaRPr/>
          </a:p>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Mongoose Schema:</a:t>
            </a:r>
            <a:endParaRPr/>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A Mongoose Schema defines the structure of documents within a MongoDB collection when using Mongoose, an Object Data Modeling (ODM) library for Node.js. It acts as a blueprint, specifying the fields, their data types, default values, validation rules, and other properties.</a:t>
            </a:r>
            <a:endParaRPr/>
          </a:p>
          <a:p>
            <a:pPr marL="0" marR="0" lvl="0" indent="0" algn="l" rtl="0">
              <a:lnSpc>
                <a:spcPct val="115000"/>
              </a:lnSpc>
              <a:spcBef>
                <a:spcPts val="1200"/>
              </a:spcBef>
              <a:spcAft>
                <a:spcPts val="0"/>
              </a:spcAft>
              <a:buNone/>
            </a:pPr>
            <a:r>
              <a:rPr lang="en-US" sz="1600" b="1" i="1" u="none" strike="noStrike" cap="none">
                <a:solidFill>
                  <a:srgbClr val="000000"/>
                </a:solidFill>
                <a:latin typeface="Arial"/>
                <a:ea typeface="Arial"/>
                <a:cs typeface="Arial"/>
                <a:sym typeface="Arial"/>
              </a:rPr>
              <a:t>Key Aspect of a Mongoose Schema: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What is a Model?</a:t>
            </a:r>
            <a:endParaRPr sz="2400" b="1" i="0" u="none" strike="noStrike" cap="none" dirty="0">
              <a:solidFill>
                <a:srgbClr val="11175E"/>
              </a:solidFill>
              <a:latin typeface="Arial"/>
              <a:ea typeface="Arial"/>
              <a:cs typeface="Arial"/>
              <a:sym typeface="Arial"/>
            </a:endParaRPr>
          </a:p>
        </p:txBody>
      </p:sp>
      <p:sp>
        <p:nvSpPr>
          <p:cNvPr id="97" name="Google Shape;97;p3"/>
          <p:cNvSpPr txBox="1"/>
          <p:nvPr/>
        </p:nvSpPr>
        <p:spPr>
          <a:xfrm>
            <a:off x="255578" y="1428054"/>
            <a:ext cx="2914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What it is:</a:t>
            </a:r>
            <a:endParaRPr sz="1600" b="1" i="0" u="none" strike="noStrike" cap="none">
              <a:solidFill>
                <a:srgbClr val="000000"/>
              </a:solidFill>
              <a:latin typeface="Arial"/>
              <a:ea typeface="Arial"/>
              <a:cs typeface="Arial"/>
              <a:sym typeface="Arial"/>
            </a:endParaRPr>
          </a:p>
        </p:txBody>
      </p:sp>
      <p:sp>
        <p:nvSpPr>
          <p:cNvPr id="98" name="Google Shape;98;p3"/>
          <p:cNvSpPr txBox="1"/>
          <p:nvPr/>
        </p:nvSpPr>
        <p:spPr>
          <a:xfrm>
            <a:off x="234568" y="1852654"/>
            <a:ext cx="11581074" cy="137879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rgbClr val="000000"/>
                </a:solidFill>
                <a:latin typeface="Arial"/>
                <a:ea typeface="Arial"/>
                <a:cs typeface="Arial"/>
                <a:sym typeface="Arial"/>
              </a:rPr>
              <a:t>In Mongoose, a "Model" serves as a </a:t>
            </a:r>
            <a:r>
              <a:rPr lang="en-US" sz="1600" b="1" i="0" u="none" strike="noStrike" cap="none" dirty="0">
                <a:solidFill>
                  <a:srgbClr val="000000"/>
                </a:solidFill>
                <a:latin typeface="Arial"/>
                <a:ea typeface="Arial"/>
                <a:cs typeface="Arial"/>
                <a:sym typeface="Arial"/>
              </a:rPr>
              <a:t>structured representation of a MongoDB collection</a:t>
            </a:r>
            <a:r>
              <a:rPr lang="en-US" sz="1600" b="0" i="0" u="none" strike="noStrike" cap="none" dirty="0">
                <a:solidFill>
                  <a:srgbClr val="000000"/>
                </a:solidFill>
                <a:latin typeface="Arial"/>
                <a:ea typeface="Arial"/>
                <a:cs typeface="Arial"/>
                <a:sym typeface="Arial"/>
              </a:rPr>
              <a:t>, providing an interface for interacting with the data. It is a fundamental component in Mongoose's Object Data Modeling (ODM) approach, bridging the gap between your Node.js application and the MongoDB database.</a:t>
            </a:r>
            <a:endParaRPr dirty="0"/>
          </a:p>
          <a:p>
            <a:pPr marL="0" marR="0" lvl="0" indent="0" algn="l" rtl="0">
              <a:lnSpc>
                <a:spcPct val="115000"/>
              </a:lnSpc>
              <a:spcBef>
                <a:spcPts val="1200"/>
              </a:spcBef>
              <a:spcAft>
                <a:spcPts val="0"/>
              </a:spcAft>
              <a:buNone/>
            </a:pPr>
            <a:r>
              <a:rPr lang="en-US" sz="1600" b="0" i="0" u="none" strike="noStrike" cap="none" dirty="0">
                <a:solidFill>
                  <a:srgbClr val="000000"/>
                </a:solidFill>
                <a:latin typeface="Arial"/>
                <a:ea typeface="Arial"/>
                <a:cs typeface="Arial"/>
                <a:sym typeface="Arial"/>
              </a:rPr>
              <a:t>Basically, a </a:t>
            </a:r>
            <a:r>
              <a:rPr lang="en-US" sz="1600" b="1" i="0" u="none" strike="noStrike" cap="none" dirty="0">
                <a:solidFill>
                  <a:srgbClr val="000000"/>
                </a:solidFill>
                <a:latin typeface="Arial"/>
                <a:ea typeface="Arial"/>
                <a:cs typeface="Arial"/>
                <a:sym typeface="Arial"/>
              </a:rPr>
              <a:t>Model</a:t>
            </a:r>
            <a:r>
              <a:rPr lang="en-US" sz="1600" b="0" i="0" u="none" strike="noStrike" cap="none" dirty="0">
                <a:solidFill>
                  <a:srgbClr val="000000"/>
                </a:solidFill>
                <a:latin typeface="Arial"/>
                <a:ea typeface="Arial"/>
                <a:cs typeface="Arial"/>
                <a:sym typeface="Arial"/>
              </a:rPr>
              <a:t> is a </a:t>
            </a:r>
            <a:r>
              <a:rPr lang="en-US" sz="1600" b="1" i="0" u="none" strike="noStrike" cap="none" dirty="0">
                <a:solidFill>
                  <a:srgbClr val="000000"/>
                </a:solidFill>
                <a:latin typeface="Arial"/>
                <a:ea typeface="Arial"/>
                <a:cs typeface="Arial"/>
                <a:sym typeface="Arial"/>
              </a:rPr>
              <a:t>Class</a:t>
            </a:r>
            <a:r>
              <a:rPr lang="en-US" sz="1600" b="0" i="0" u="none" strike="noStrike" cap="none" dirty="0">
                <a:solidFill>
                  <a:srgbClr val="000000"/>
                </a:solidFill>
                <a:latin typeface="Arial"/>
                <a:ea typeface="Arial"/>
                <a:cs typeface="Arial"/>
                <a:sym typeface="Arial"/>
              </a:rPr>
              <a:t>, and an</a:t>
            </a:r>
            <a:r>
              <a:rPr lang="en-US" sz="1600" b="1" i="0" u="none" strike="noStrike" cap="none" dirty="0">
                <a:solidFill>
                  <a:srgbClr val="000000"/>
                </a:solidFill>
                <a:latin typeface="Arial"/>
                <a:ea typeface="Arial"/>
                <a:cs typeface="Arial"/>
                <a:sym typeface="Arial"/>
              </a:rPr>
              <a:t> instance </a:t>
            </a:r>
            <a:r>
              <a:rPr lang="en-US" sz="1600" b="0" i="0" u="none" strike="noStrike" cap="none" dirty="0">
                <a:solidFill>
                  <a:srgbClr val="000000"/>
                </a:solidFill>
                <a:latin typeface="Arial"/>
                <a:ea typeface="Arial"/>
                <a:cs typeface="Arial"/>
                <a:sym typeface="Arial"/>
              </a:rPr>
              <a:t>of a </a:t>
            </a:r>
            <a:r>
              <a:rPr lang="en-US" sz="1600" b="1" i="0" u="none" strike="noStrike" cap="none" dirty="0">
                <a:solidFill>
                  <a:srgbClr val="000000"/>
                </a:solidFill>
                <a:latin typeface="Arial"/>
                <a:ea typeface="Arial"/>
                <a:cs typeface="Arial"/>
                <a:sym typeface="Arial"/>
              </a:rPr>
              <a:t>Model</a:t>
            </a:r>
            <a:r>
              <a:rPr lang="en-US" sz="1600" b="0" i="0" u="none" strike="noStrike" cap="none" dirty="0">
                <a:solidFill>
                  <a:srgbClr val="000000"/>
                </a:solidFill>
                <a:latin typeface="Arial"/>
                <a:ea typeface="Arial"/>
                <a:cs typeface="Arial"/>
                <a:sym typeface="Arial"/>
              </a:rPr>
              <a:t> is called a </a:t>
            </a:r>
            <a:r>
              <a:rPr lang="en-US" sz="1600" b="1" i="0" u="none" strike="noStrike" cap="none" dirty="0">
                <a:solidFill>
                  <a:schemeClr val="dk1"/>
                </a:solidFill>
                <a:latin typeface="Arial"/>
                <a:ea typeface="Arial"/>
                <a:cs typeface="Arial"/>
                <a:sym typeface="Arial"/>
              </a:rPr>
              <a:t>document</a:t>
            </a:r>
            <a:r>
              <a:rPr lang="en-US" sz="1600" b="0" i="0" u="none" strike="noStrike" cap="none" dirty="0">
                <a:solidFill>
                  <a:schemeClr val="dk1"/>
                </a:solidFill>
                <a:latin typeface="Arial"/>
                <a:ea typeface="Arial"/>
                <a:cs typeface="Arial"/>
                <a:sym typeface="Arial"/>
              </a:rPr>
              <a:t> which is an </a:t>
            </a:r>
            <a:r>
              <a:rPr lang="en-US" sz="1600" b="1" i="0" u="none" strike="noStrike" cap="none" dirty="0">
                <a:solidFill>
                  <a:schemeClr val="dk1"/>
                </a:solidFill>
                <a:latin typeface="Arial"/>
                <a:ea typeface="Arial"/>
                <a:cs typeface="Arial"/>
                <a:sym typeface="Arial"/>
              </a:rPr>
              <a:t>object</a:t>
            </a:r>
            <a:r>
              <a:rPr lang="en-US" sz="1600" b="0" i="0" u="none" strike="noStrike" cap="none" dirty="0">
                <a:solidFill>
                  <a:schemeClr val="dk1"/>
                </a:solidFill>
                <a:latin typeface="Arial"/>
                <a:ea typeface="Arial"/>
                <a:cs typeface="Arial"/>
                <a:sym typeface="Arial"/>
              </a:rPr>
              <a:t>. </a:t>
            </a:r>
            <a:endParaRPr sz="1600" b="0" i="0" u="none" strike="noStrike" cap="none" dirty="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Objectives</a:t>
            </a:r>
            <a:endParaRPr sz="2400" b="1" i="0" u="none" strike="noStrike" cap="none" dirty="0">
              <a:solidFill>
                <a:srgbClr val="11175E"/>
              </a:solidFill>
              <a:latin typeface="Arial"/>
              <a:ea typeface="Arial"/>
              <a:cs typeface="Arial"/>
              <a:sym typeface="Arial"/>
            </a:endParaRPr>
          </a:p>
        </p:txBody>
      </p:sp>
      <p:sp>
        <p:nvSpPr>
          <p:cNvPr id="104" name="Google Shape;104;p4"/>
          <p:cNvSpPr txBox="1"/>
          <p:nvPr/>
        </p:nvSpPr>
        <p:spPr>
          <a:xfrm>
            <a:off x="253796" y="1381205"/>
            <a:ext cx="11672100" cy="4047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chemeClr val="dk1"/>
              </a:buClr>
              <a:buSzPts val="1100"/>
              <a:buFont typeface="Arial"/>
              <a:buNone/>
            </a:pPr>
            <a:r>
              <a:rPr lang="en-US" sz="1800" b="1" i="0" u="none" strike="noStrike" cap="none" dirty="0">
                <a:solidFill>
                  <a:schemeClr val="dk1"/>
                </a:solidFill>
                <a:latin typeface="Arial"/>
                <a:ea typeface="Arial"/>
                <a:cs typeface="Arial"/>
                <a:sym typeface="Arial"/>
              </a:rPr>
              <a:t>What we are building:</a:t>
            </a:r>
            <a:endParaRPr sz="1800" b="0" i="0" u="none" strike="noStrike" cap="none" dirty="0">
              <a:solidFill>
                <a:schemeClr val="dk1"/>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Create a new database in Altas for our practice</a:t>
            </a:r>
            <a:endParaRPr sz="1600" dirty="0"/>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Get the values in our connection string and use in our </a:t>
            </a:r>
            <a:r>
              <a:rPr lang="en-US" sz="1600" b="1" dirty="0" err="1">
                <a:solidFill>
                  <a:schemeClr val="dk1"/>
                </a:solidFill>
                <a:latin typeface="Consolas" panose="020B0609020204030204" pitchFamily="49" charset="0"/>
                <a:cs typeface="Consolas" panose="020B0609020204030204" pitchFamily="49" charset="0"/>
              </a:rPr>
              <a:t>config.env</a:t>
            </a:r>
            <a:r>
              <a:rPr lang="en-US" sz="1600" b="0" i="0" u="none" strike="noStrike" cap="none" dirty="0">
                <a:solidFill>
                  <a:srgbClr val="000000"/>
                </a:solidFill>
                <a:latin typeface="Arial"/>
                <a:ea typeface="Arial"/>
                <a:cs typeface="Arial"/>
                <a:sym typeface="Arial"/>
              </a:rPr>
              <a:t> file to connect to our database in cloud MongoDB.</a:t>
            </a:r>
            <a:endParaRPr sz="1600" dirty="0"/>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Install </a:t>
            </a:r>
            <a:r>
              <a:rPr lang="en-US" sz="1600" b="1" i="0" u="none" strike="noStrike" cap="none" dirty="0">
                <a:solidFill>
                  <a:srgbClr val="000000"/>
                </a:solidFill>
                <a:latin typeface="Consolas" panose="020B0609020204030204" pitchFamily="49" charset="0"/>
                <a:cs typeface="Consolas" panose="020B0609020204030204" pitchFamily="49" charset="0"/>
                <a:sym typeface="Arial"/>
              </a:rPr>
              <a:t>mongoose</a:t>
            </a:r>
            <a:r>
              <a:rPr lang="en-US" sz="1600" b="0" i="0" u="none" strike="noStrike" cap="none" dirty="0">
                <a:solidFill>
                  <a:srgbClr val="000000"/>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rgbClr val="000000"/>
                </a:solidFill>
                <a:latin typeface="Arial"/>
                <a:ea typeface="Arial"/>
                <a:cs typeface="Arial"/>
                <a:sym typeface="Arial"/>
              </a:rPr>
              <a:t> dependencies.</a:t>
            </a:r>
            <a:endParaRPr sz="1600" b="0" i="0" u="none" strike="noStrike" cap="none" dirty="0">
              <a:solidFill>
                <a:srgbClr val="000000"/>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Connect to our database using script in </a:t>
            </a:r>
            <a:r>
              <a:rPr lang="en-US" sz="1600" b="1" dirty="0" err="1">
                <a:solidFill>
                  <a:schemeClr val="dk1"/>
                </a:solidFill>
                <a:latin typeface="Consolas" panose="020B0609020204030204" pitchFamily="49" charset="0"/>
                <a:cs typeface="Consolas" panose="020B0609020204030204" pitchFamily="49" charset="0"/>
              </a:rPr>
              <a:t>server.js</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Create a database schema using script in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model.js</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Connect our database using </a:t>
            </a:r>
            <a:r>
              <a:rPr lang="en-US" sz="1600" b="1" i="0" u="none" strike="noStrike" cap="none" dirty="0">
                <a:solidFill>
                  <a:srgbClr val="000000"/>
                </a:solidFill>
                <a:latin typeface="Arial"/>
                <a:ea typeface="Arial"/>
                <a:cs typeface="Arial"/>
                <a:sym typeface="Arial"/>
              </a:rPr>
              <a:t>Compass</a:t>
            </a:r>
            <a:endParaRPr sz="1600" b="1" dirty="0"/>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Learn how bulk import/delete JSON data using </a:t>
            </a:r>
            <a:r>
              <a:rPr lang="en-US" sz="1600" b="1" i="0" u="none" strike="noStrike" cap="none" dirty="0">
                <a:solidFill>
                  <a:srgbClr val="000000"/>
                </a:solidFill>
                <a:latin typeface="Arial"/>
                <a:ea typeface="Arial"/>
                <a:cs typeface="Arial"/>
                <a:sym typeface="Arial"/>
              </a:rPr>
              <a:t>Compass</a:t>
            </a:r>
            <a:endParaRPr sz="1600" b="1" dirty="0"/>
          </a:p>
          <a:p>
            <a:pPr marL="285750" marR="0" lvl="0" indent="-215900" algn="l" rtl="0">
              <a:lnSpc>
                <a:spcPct val="115000"/>
              </a:lnSpc>
              <a:spcBef>
                <a:spcPts val="1200"/>
              </a:spcBef>
              <a:spcAft>
                <a:spcPts val="0"/>
              </a:spcAft>
              <a:buClr>
                <a:schemeClr val="dk1"/>
              </a:buClr>
              <a:buSzPts val="1100"/>
              <a:buFont typeface="Arial"/>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36e7437085d_0_14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pic>
        <p:nvPicPr>
          <p:cNvPr id="110" name="Google Shape;110;g36e7437085d_0_145"/>
          <p:cNvPicPr preferRelativeResize="0"/>
          <p:nvPr/>
        </p:nvPicPr>
        <p:blipFill rotWithShape="1">
          <a:blip r:embed="rId3">
            <a:alphaModFix/>
          </a:blip>
          <a:srcRect l="20519" t="13571" r="14639" b="6748"/>
          <a:stretch/>
        </p:blipFill>
        <p:spPr>
          <a:xfrm>
            <a:off x="7559899" y="1397246"/>
            <a:ext cx="3163825" cy="2388703"/>
          </a:xfrm>
          <a:prstGeom prst="rect">
            <a:avLst/>
          </a:prstGeom>
          <a:noFill/>
          <a:ln w="9525" cap="flat" cmpd="sng">
            <a:solidFill>
              <a:schemeClr val="accent1"/>
            </a:solidFill>
            <a:prstDash val="solid"/>
            <a:round/>
            <a:headEnd type="none" w="sm" len="sm"/>
            <a:tailEnd type="none" w="sm" len="sm"/>
          </a:ln>
        </p:spPr>
      </p:pic>
      <p:sp>
        <p:nvSpPr>
          <p:cNvPr id="111" name="Google Shape;111;g36e7437085d_0_145"/>
          <p:cNvSpPr txBox="1"/>
          <p:nvPr/>
        </p:nvSpPr>
        <p:spPr>
          <a:xfrm>
            <a:off x="112382" y="3679371"/>
            <a:ext cx="7236367" cy="1960673"/>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p:txBody>
      </p:sp>
      <p:sp>
        <p:nvSpPr>
          <p:cNvPr id="112" name="Google Shape;112;g36e7437085d_0_145"/>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Create a new </a:t>
            </a:r>
            <a:r>
              <a:rPr lang="en-US" sz="1800" b="1" i="0" u="none" strike="noStrike" cap="none" dirty="0">
                <a:solidFill>
                  <a:srgbClr val="000000"/>
                </a:solidFill>
                <a:latin typeface="Consolas" panose="020B0609020204030204" pitchFamily="49" charset="0"/>
                <a:cs typeface="Consolas" panose="020B0609020204030204" pitchFamily="49" charset="0"/>
                <a:sym typeface="Arial"/>
              </a:rPr>
              <a:t>week10</a:t>
            </a:r>
            <a:r>
              <a:rPr lang="en-US" sz="1800" b="1" i="0" u="none" strike="noStrike" cap="none" dirty="0">
                <a:solidFill>
                  <a:srgbClr val="000000"/>
                </a:solidFill>
                <a:latin typeface="Arial"/>
                <a:ea typeface="Arial"/>
                <a:cs typeface="Arial"/>
                <a:sym typeface="Arial"/>
              </a:rPr>
              <a:t> database in Atlas</a:t>
            </a:r>
            <a:endParaRPr sz="1800" b="1" i="0" u="none" strike="noStrike" cap="none" dirty="0">
              <a:solidFill>
                <a:srgbClr val="000000"/>
              </a:solidFill>
              <a:latin typeface="Arial"/>
              <a:ea typeface="Arial"/>
              <a:cs typeface="Arial"/>
              <a:sym typeface="Arial"/>
            </a:endParaRPr>
          </a:p>
        </p:txBody>
      </p:sp>
      <p:sp>
        <p:nvSpPr>
          <p:cNvPr id="113" name="Google Shape;113;g36e7437085d_0_145"/>
          <p:cNvSpPr txBox="1"/>
          <p:nvPr/>
        </p:nvSpPr>
        <p:spPr>
          <a:xfrm>
            <a:off x="252569" y="1859644"/>
            <a:ext cx="5843400" cy="22775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We will be creating a new database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called </a:t>
            </a:r>
            <a:r>
              <a:rPr lang="en-US" sz="1600" b="1" i="0" u="none" strike="noStrike" cap="none" dirty="0">
                <a:solidFill>
                  <a:schemeClr val="dk1"/>
                </a:solidFill>
                <a:latin typeface="Consolas" panose="020B0609020204030204" pitchFamily="49" charset="0"/>
                <a:cs typeface="Consolas" panose="020B0609020204030204" pitchFamily="49" charset="0"/>
              </a:rPr>
              <a:t>week10</a:t>
            </a:r>
            <a:r>
              <a:rPr lang="en-US" sz="1600" b="0" i="0" u="none" strike="noStrike" cap="none" dirty="0">
                <a:solidFill>
                  <a:schemeClr val="dk1"/>
                </a:solidFill>
                <a:latin typeface="Arial"/>
                <a:ea typeface="Arial"/>
                <a:cs typeface="Arial"/>
                <a:sym typeface="Arial"/>
              </a:rPr>
              <a:t> for all our practices and exercises. You can go ahead and </a:t>
            </a:r>
            <a:r>
              <a:rPr lang="en-US" sz="1600" b="1" i="0" u="none" strike="noStrike" cap="none" dirty="0">
                <a:solidFill>
                  <a:schemeClr val="dk1"/>
                </a:solidFill>
                <a:latin typeface="Arial"/>
                <a:ea typeface="Arial"/>
                <a:cs typeface="Arial"/>
                <a:sym typeface="Arial"/>
              </a:rPr>
              <a:t>drop</a:t>
            </a:r>
            <a:r>
              <a:rPr lang="en-US" sz="1600" b="0" i="0" u="none" strike="noStrike" cap="none" dirty="0">
                <a:solidFill>
                  <a:schemeClr val="dk1"/>
                </a:solidFill>
                <a:latin typeface="Arial"/>
                <a:ea typeface="Arial"/>
                <a:cs typeface="Arial"/>
                <a:sym typeface="Arial"/>
              </a:rPr>
              <a:t>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pawpal</a:t>
            </a:r>
            <a:r>
              <a:rPr lang="en-US" sz="1600" b="1" i="0" u="none" strike="noStrike" cap="none" dirty="0">
                <a:solidFill>
                  <a:schemeClr val="dk1"/>
                </a:solidFill>
                <a:latin typeface="Consolas" panose="020B0609020204030204" pitchFamily="49" charset="0"/>
                <a:cs typeface="Consolas" panose="020B0609020204030204" pitchFamily="49" charset="0"/>
                <a:sym typeface="Arial"/>
              </a:rPr>
              <a:t>-test</a:t>
            </a:r>
            <a:r>
              <a:rPr lang="en-US" sz="1600" b="0" i="0" u="none" strike="noStrike" cap="none" dirty="0">
                <a:solidFill>
                  <a:schemeClr val="dk1"/>
                </a:solidFill>
                <a:latin typeface="Arial"/>
                <a:ea typeface="Arial"/>
                <a:cs typeface="Arial"/>
                <a:sym typeface="Arial"/>
              </a:rPr>
              <a:t> database that we use previously.</a:t>
            </a:r>
          </a:p>
          <a:p>
            <a:pPr marL="0" marR="0" lvl="0" indent="0" algn="l" rtl="0">
              <a:lnSpc>
                <a:spcPct val="100000"/>
              </a:lnSpc>
              <a:spcBef>
                <a:spcPts val="0"/>
              </a:spcBef>
              <a:spcAft>
                <a:spcPts val="0"/>
              </a:spcAft>
              <a:buNone/>
            </a:pPr>
            <a:endParaRPr lang="en-US" sz="1600" dirty="0">
              <a:solidFill>
                <a:schemeClr val="dk1"/>
              </a:solidFill>
            </a:endParaRPr>
          </a:p>
          <a:p>
            <a:pPr marL="457200" lvl="0" indent="-330200">
              <a:buClr>
                <a:schemeClr val="dk1"/>
              </a:buClr>
              <a:buSzPts val="1600"/>
              <a:buFont typeface="Arial"/>
              <a:buChar char="●"/>
            </a:pPr>
            <a:r>
              <a:rPr lang="en-US" sz="1600" dirty="0">
                <a:solidFill>
                  <a:schemeClr val="dk1"/>
                </a:solidFill>
              </a:rPr>
              <a:t>In </a:t>
            </a:r>
            <a:r>
              <a:rPr lang="en-US" sz="1600" b="1" dirty="0">
                <a:solidFill>
                  <a:schemeClr val="dk1"/>
                </a:solidFill>
              </a:rPr>
              <a:t>Atlas</a:t>
            </a:r>
            <a:r>
              <a:rPr lang="en-US" sz="1600" dirty="0">
                <a:solidFill>
                  <a:schemeClr val="dk1"/>
                </a:solidFill>
              </a:rPr>
              <a:t>, click create database or add my Own Data.</a:t>
            </a:r>
            <a:endParaRPr lang="en-US" sz="1600" dirty="0"/>
          </a:p>
          <a:p>
            <a:pPr marL="457200" lvl="0" indent="-330200">
              <a:buClr>
                <a:schemeClr val="dk1"/>
              </a:buClr>
              <a:buSzPts val="1600"/>
              <a:buFont typeface="Arial"/>
              <a:buChar char="●"/>
            </a:pPr>
            <a:r>
              <a:rPr lang="en-US" sz="1600" dirty="0">
                <a:solidFill>
                  <a:schemeClr val="dk1"/>
                </a:solidFill>
              </a:rPr>
              <a:t>Key in the database and collection name.</a:t>
            </a:r>
            <a:endParaRPr lang="en-US" sz="1600" dirty="0"/>
          </a:p>
          <a:p>
            <a:pPr marL="457200" lvl="0" indent="-330200">
              <a:buClr>
                <a:schemeClr val="dk1"/>
              </a:buClr>
              <a:buSzPts val="1600"/>
              <a:buFont typeface="Arial"/>
              <a:buChar char="●"/>
            </a:pPr>
            <a:r>
              <a:rPr lang="en-US" sz="1600" dirty="0">
                <a:solidFill>
                  <a:schemeClr val="dk1"/>
                </a:solidFill>
              </a:rPr>
              <a:t>Click create.</a:t>
            </a:r>
            <a:endParaRPr lang="en-US" sz="1600" dirty="0"/>
          </a:p>
          <a:p>
            <a:pPr marL="0" marR="0" lvl="0" indent="0" algn="l" rtl="0">
              <a:lnSpc>
                <a:spcPct val="100000"/>
              </a:lnSpc>
              <a:spcBef>
                <a:spcPts val="0"/>
              </a:spcBef>
              <a:spcAft>
                <a:spcPts val="0"/>
              </a:spcAft>
              <a:buNone/>
            </a:pPr>
            <a:endParaRPr sz="1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14" name="Google Shape;114;g36e7437085d_0_145"/>
          <p:cNvPicPr preferRelativeResize="0"/>
          <p:nvPr/>
        </p:nvPicPr>
        <p:blipFill rotWithShape="1">
          <a:blip r:embed="rId4">
            <a:alphaModFix/>
          </a:blip>
          <a:srcRect/>
          <a:stretch/>
        </p:blipFill>
        <p:spPr>
          <a:xfrm>
            <a:off x="7559899" y="4211378"/>
            <a:ext cx="3694606" cy="236222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g36e7437085d_0_166"/>
          <p:cNvPicPr preferRelativeResize="0"/>
          <p:nvPr/>
        </p:nvPicPr>
        <p:blipFill rotWithShape="1">
          <a:blip r:embed="rId3">
            <a:alphaModFix/>
          </a:blip>
          <a:srcRect/>
          <a:stretch/>
        </p:blipFill>
        <p:spPr>
          <a:xfrm>
            <a:off x="356616" y="1958823"/>
            <a:ext cx="11412543" cy="4001058"/>
          </a:xfrm>
          <a:prstGeom prst="rect">
            <a:avLst/>
          </a:prstGeom>
          <a:noFill/>
          <a:ln w="9525" cap="flat" cmpd="sng">
            <a:solidFill>
              <a:schemeClr val="accent1"/>
            </a:solidFill>
            <a:prstDash val="solid"/>
            <a:round/>
            <a:headEnd type="none" w="sm" len="sm"/>
            <a:tailEnd type="none" w="sm" len="sm"/>
          </a:ln>
        </p:spPr>
      </p:pic>
      <p:sp>
        <p:nvSpPr>
          <p:cNvPr id="120" name="Google Shape;120;g36e7437085d_0_16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sp>
        <p:nvSpPr>
          <p:cNvPr id="121" name="Google Shape;121;g36e7437085d_0_166"/>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Books Collection is created</a:t>
            </a:r>
            <a:endParaRPr sz="1800" b="1"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6e7437085d_0_174"/>
          <p:cNvSpPr txBox="1"/>
          <p:nvPr/>
        </p:nvSpPr>
        <p:spPr>
          <a:xfrm>
            <a:off x="104575" y="2628954"/>
            <a:ext cx="5843432" cy="3751154"/>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Overview</a:t>
            </a:r>
            <a:r>
              <a:rPr lang="en-US" sz="1600" b="0" i="0" u="none" strike="noStrike" cap="none" dirty="0">
                <a:solidFill>
                  <a:schemeClr val="dk1"/>
                </a:solidFill>
                <a:latin typeface="Arial"/>
                <a:ea typeface="Arial"/>
                <a:cs typeface="Arial"/>
                <a:sym typeface="Arial"/>
              </a:rPr>
              <a:t> on the left sidebar and click connect on the Cluster</a:t>
            </a:r>
            <a:endParaRPr dirty="0"/>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Drivers</a:t>
            </a:r>
            <a:endParaRPr b="1" dirty="0"/>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p:txBody>
      </p:sp>
      <p:pic>
        <p:nvPicPr>
          <p:cNvPr id="127" name="Google Shape;127;g36e7437085d_0_174"/>
          <p:cNvPicPr preferRelativeResize="0"/>
          <p:nvPr/>
        </p:nvPicPr>
        <p:blipFill rotWithShape="1">
          <a:blip r:embed="rId3">
            <a:alphaModFix/>
          </a:blip>
          <a:srcRect/>
          <a:stretch/>
        </p:blipFill>
        <p:spPr>
          <a:xfrm>
            <a:off x="6484660" y="1426757"/>
            <a:ext cx="5454771" cy="2078491"/>
          </a:xfrm>
          <a:prstGeom prst="rect">
            <a:avLst/>
          </a:prstGeom>
          <a:noFill/>
          <a:ln w="9525" cap="flat" cmpd="sng">
            <a:solidFill>
              <a:schemeClr val="accent1"/>
            </a:solidFill>
            <a:prstDash val="solid"/>
            <a:round/>
            <a:headEnd type="none" w="sm" len="sm"/>
            <a:tailEnd type="none" w="sm" len="sm"/>
          </a:ln>
        </p:spPr>
      </p:pic>
      <p:sp>
        <p:nvSpPr>
          <p:cNvPr id="128" name="Google Shape;128;g36e7437085d_0_17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sp>
        <p:nvSpPr>
          <p:cNvPr id="129" name="Google Shape;129;g36e7437085d_0_174"/>
          <p:cNvSpPr txBox="1"/>
          <p:nvPr/>
        </p:nvSpPr>
        <p:spPr>
          <a:xfrm>
            <a:off x="247451" y="1433822"/>
            <a:ext cx="64866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Connect and setup connection security</a:t>
            </a:r>
            <a:endParaRPr sz="1800" b="1" i="0" u="none" strike="noStrike" cap="none" dirty="0">
              <a:solidFill>
                <a:srgbClr val="000000"/>
              </a:solidFill>
              <a:latin typeface="Arial"/>
              <a:ea typeface="Arial"/>
              <a:cs typeface="Arial"/>
              <a:sym typeface="Arial"/>
            </a:endParaRPr>
          </a:p>
        </p:txBody>
      </p:sp>
      <p:sp>
        <p:nvSpPr>
          <p:cNvPr id="130" name="Google Shape;130;g36e7437085d_0_174"/>
          <p:cNvSpPr txBox="1"/>
          <p:nvPr/>
        </p:nvSpPr>
        <p:spPr>
          <a:xfrm>
            <a:off x="252569" y="1859644"/>
            <a:ext cx="5843432" cy="87408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chemeClr val="dk1"/>
                </a:solidFill>
                <a:latin typeface="Arial"/>
                <a:ea typeface="Arial"/>
                <a:cs typeface="Arial"/>
                <a:sym typeface="Arial"/>
              </a:rPr>
              <a:t>Now that we create our database, we need to create a link for our application to connect to it.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31" name="Google Shape;131;g36e7437085d_0_174"/>
          <p:cNvPicPr preferRelativeResize="0"/>
          <p:nvPr/>
        </p:nvPicPr>
        <p:blipFill rotWithShape="1">
          <a:blip r:embed="rId4">
            <a:alphaModFix/>
          </a:blip>
          <a:srcRect/>
          <a:stretch/>
        </p:blipFill>
        <p:spPr>
          <a:xfrm>
            <a:off x="6484660" y="3677881"/>
            <a:ext cx="3092156" cy="308486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6e7437085d_0_190"/>
          <p:cNvSpPr txBox="1"/>
          <p:nvPr/>
        </p:nvSpPr>
        <p:spPr>
          <a:xfrm>
            <a:off x="117930" y="1804678"/>
            <a:ext cx="5941493" cy="24276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Select </a:t>
            </a:r>
            <a:r>
              <a:rPr lang="en-US" sz="1600" b="1" dirty="0">
                <a:solidFill>
                  <a:schemeClr val="tx1"/>
                </a:solidFill>
              </a:rPr>
              <a:t>N</a:t>
            </a:r>
            <a:r>
              <a:rPr lang="en-US" sz="1600" b="1" i="0" u="none" strike="noStrike" cap="none" dirty="0">
                <a:solidFill>
                  <a:schemeClr val="tx1"/>
                </a:solidFill>
                <a:latin typeface="Arial"/>
                <a:ea typeface="Arial"/>
                <a:cs typeface="Arial"/>
                <a:sym typeface="Arial"/>
              </a:rPr>
              <a:t>ode.js</a:t>
            </a:r>
            <a:r>
              <a:rPr lang="en-US" sz="1600" b="0"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as the Driver and copy the </a:t>
            </a:r>
            <a:r>
              <a:rPr lang="en-US" sz="1600" b="1" i="0" u="none" strike="noStrike" cap="none" dirty="0">
                <a:solidFill>
                  <a:srgbClr val="FF0000"/>
                </a:solidFill>
                <a:latin typeface="Arial"/>
                <a:ea typeface="Arial"/>
                <a:cs typeface="Arial"/>
                <a:sym typeface="Arial"/>
              </a:rPr>
              <a:t>USERNAME</a:t>
            </a:r>
            <a:r>
              <a:rPr lang="en-US" sz="1600" b="0" i="0" u="none" strike="noStrike" cap="none" dirty="0">
                <a:solidFill>
                  <a:schemeClr val="dk1"/>
                </a:solidFill>
                <a:latin typeface="Arial"/>
                <a:ea typeface="Arial"/>
                <a:cs typeface="Arial"/>
                <a:sym typeface="Arial"/>
              </a:rPr>
              <a:t>, </a:t>
            </a:r>
            <a:r>
              <a:rPr lang="en-US" sz="1600" b="1" i="0" u="none" strike="noStrike" cap="none" dirty="0">
                <a:solidFill>
                  <a:srgbClr val="FF0000"/>
                </a:solidFill>
                <a:latin typeface="Arial"/>
                <a:ea typeface="Arial"/>
                <a:cs typeface="Arial"/>
                <a:sym typeface="Arial"/>
              </a:rPr>
              <a:t>PASSWORD</a:t>
            </a:r>
            <a:r>
              <a:rPr lang="en-US" sz="1600" b="0" i="0" u="none" strike="noStrike" cap="none" dirty="0">
                <a:solidFill>
                  <a:schemeClr val="dk1"/>
                </a:solidFill>
                <a:latin typeface="Arial"/>
                <a:ea typeface="Arial"/>
                <a:cs typeface="Arial"/>
                <a:sym typeface="Arial"/>
              </a:rPr>
              <a:t>  and </a:t>
            </a:r>
            <a:r>
              <a:rPr lang="en-US" sz="1600" b="1" i="0" u="none" strike="noStrike" cap="none" dirty="0">
                <a:solidFill>
                  <a:srgbClr val="FF0000"/>
                </a:solidFill>
                <a:latin typeface="Arial"/>
                <a:ea typeface="Arial"/>
                <a:cs typeface="Arial"/>
                <a:sym typeface="Arial"/>
              </a:rPr>
              <a:t>CLUSTERADDRESS</a:t>
            </a:r>
            <a:r>
              <a:rPr lang="en-US" sz="1600" b="0" i="0" u="none" strike="noStrike" cap="none" dirty="0">
                <a:solidFill>
                  <a:schemeClr val="dk1"/>
                </a:solidFill>
                <a:latin typeface="Arial"/>
                <a:ea typeface="Arial"/>
                <a:cs typeface="Arial"/>
                <a:sym typeface="Arial"/>
              </a:rPr>
              <a:t> to a digital text file. </a:t>
            </a:r>
            <a:endParaRPr sz="1600" b="0" i="0" u="none" strike="noStrike" cap="none" dirty="0">
              <a:solidFill>
                <a:schemeClr val="dk1"/>
              </a:solidFill>
              <a:latin typeface="Arial"/>
              <a:ea typeface="Arial"/>
              <a:cs typeface="Arial"/>
              <a:sym typeface="Arial"/>
            </a:endParaRPr>
          </a:p>
          <a:p>
            <a:pPr marL="457200" lvl="0" indent="-330200" algn="l" rtl="0">
              <a:spcBef>
                <a:spcPts val="0"/>
              </a:spcBef>
              <a:spcAft>
                <a:spcPts val="0"/>
              </a:spcAft>
              <a:buClr>
                <a:schemeClr val="dk1"/>
              </a:buClr>
              <a:buSzPts val="1600"/>
              <a:buChar char="●"/>
            </a:pPr>
            <a:r>
              <a:rPr lang="en-US" sz="1600" dirty="0">
                <a:solidFill>
                  <a:schemeClr val="dk1"/>
                </a:solidFill>
              </a:rPr>
              <a:t>Ensure that username and password does not contain any special characters</a:t>
            </a:r>
            <a:endParaRPr sz="1600" dirty="0">
              <a:solidFill>
                <a:schemeClr val="dk1"/>
              </a:solidFil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Also copy the </a:t>
            </a:r>
            <a:r>
              <a:rPr lang="en-US" sz="1600" b="1" i="0" u="none" strike="noStrike" cap="none" dirty="0">
                <a:solidFill>
                  <a:schemeClr val="tx1"/>
                </a:solidFill>
                <a:latin typeface="Arial"/>
                <a:ea typeface="Arial"/>
                <a:cs typeface="Arial"/>
                <a:sym typeface="Arial"/>
              </a:rPr>
              <a:t>entire string </a:t>
            </a:r>
            <a:r>
              <a:rPr lang="en-US" sz="1600" b="0" i="0" u="none" strike="noStrike" cap="none" dirty="0">
                <a:solidFill>
                  <a:schemeClr val="dk1"/>
                </a:solidFill>
                <a:latin typeface="Arial"/>
                <a:ea typeface="Arial"/>
                <a:cs typeface="Arial"/>
                <a:sym typeface="Arial"/>
              </a:rPr>
              <a:t>for connecting to </a:t>
            </a:r>
            <a:r>
              <a:rPr lang="en-US" sz="1600" b="1" i="0" u="none" strike="noStrike" cap="none" dirty="0">
                <a:solidFill>
                  <a:schemeClr val="dk1"/>
                </a:solidFill>
                <a:latin typeface="Arial"/>
                <a:ea typeface="Arial"/>
                <a:cs typeface="Arial"/>
                <a:sym typeface="Arial"/>
              </a:rPr>
              <a:t>Compass</a:t>
            </a:r>
            <a:r>
              <a:rPr lang="en-US" sz="1600" b="0" i="0" u="none" strike="noStrike" cap="none" dirty="0">
                <a:solidFill>
                  <a:schemeClr val="dk1"/>
                </a:solidFill>
                <a:latin typeface="Arial"/>
                <a:ea typeface="Arial"/>
                <a:cs typeface="Arial"/>
                <a:sym typeface="Arial"/>
              </a:rPr>
              <a:t> App later.</a:t>
            </a:r>
            <a:endParaRPr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a:t>
            </a:r>
            <a:r>
              <a:rPr lang="en-US" sz="1600" b="1" i="0" u="none" strike="noStrike" cap="none" dirty="0">
                <a:solidFill>
                  <a:schemeClr val="dk1"/>
                </a:solidFill>
                <a:latin typeface="Arial"/>
                <a:ea typeface="Arial"/>
                <a:cs typeface="Arial"/>
                <a:sym typeface="Arial"/>
              </a:rPr>
              <a:t>Done</a:t>
            </a:r>
            <a:r>
              <a:rPr lang="en-US" sz="1600" b="0" i="0" u="none" strike="noStrike" cap="none" dirty="0">
                <a:solidFill>
                  <a:schemeClr val="dk1"/>
                </a:solidFill>
                <a:latin typeface="Arial"/>
                <a:ea typeface="Arial"/>
                <a:cs typeface="Arial"/>
                <a:sym typeface="Arial"/>
              </a:rPr>
              <a:t>.</a:t>
            </a:r>
            <a:endParaRPr sz="1600" b="0" i="0" u="none" strike="noStrike" cap="none" dirty="0">
              <a:solidFill>
                <a:schemeClr val="dk1"/>
              </a:solidFill>
              <a:latin typeface="Arial"/>
              <a:ea typeface="Arial"/>
              <a:cs typeface="Arial"/>
              <a:sym typeface="Arial"/>
            </a:endParaRPr>
          </a:p>
        </p:txBody>
      </p:sp>
      <p:pic>
        <p:nvPicPr>
          <p:cNvPr id="137" name="Google Shape;137;g36e7437085d_0_190"/>
          <p:cNvPicPr preferRelativeResize="0"/>
          <p:nvPr/>
        </p:nvPicPr>
        <p:blipFill rotWithShape="1">
          <a:blip r:embed="rId3">
            <a:alphaModFix/>
          </a:blip>
          <a:srcRect/>
          <a:stretch/>
        </p:blipFill>
        <p:spPr>
          <a:xfrm>
            <a:off x="6491699" y="1397246"/>
            <a:ext cx="5452850" cy="4883922"/>
          </a:xfrm>
          <a:prstGeom prst="rect">
            <a:avLst/>
          </a:prstGeom>
          <a:noFill/>
          <a:ln w="9525" cap="flat" cmpd="sng">
            <a:solidFill>
              <a:schemeClr val="accent1"/>
            </a:solidFill>
            <a:prstDash val="solid"/>
            <a:round/>
            <a:headEnd type="none" w="sm" len="sm"/>
            <a:tailEnd type="none" w="sm" len="sm"/>
          </a:ln>
        </p:spPr>
      </p:pic>
      <p:sp>
        <p:nvSpPr>
          <p:cNvPr id="138" name="Google Shape;138;g36e7437085d_0_190"/>
          <p:cNvSpPr txBox="1"/>
          <p:nvPr/>
        </p:nvSpPr>
        <p:spPr>
          <a:xfrm>
            <a:off x="231725" y="4707843"/>
            <a:ext cx="6156736" cy="1201625"/>
          </a:xfrm>
          <a:prstGeom prst="rect">
            <a:avLst/>
          </a:prstGeom>
          <a:solidFill>
            <a:srgbClr val="D5DBE5"/>
          </a:solidFill>
          <a:ln w="254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b="1" i="0" u="none" strike="noStrike" cap="none" dirty="0">
                <a:solidFill>
                  <a:schemeClr val="dk1"/>
                </a:solidFill>
                <a:latin typeface="Arial"/>
                <a:ea typeface="Arial"/>
                <a:cs typeface="Arial"/>
                <a:sym typeface="Arial"/>
              </a:rPr>
              <a:t>Your connection string looks something like this. </a:t>
            </a:r>
            <a:br>
              <a:rPr lang="en-US" sz="1400" b="0" i="0" u="none" strike="noStrike" cap="none" dirty="0">
                <a:solidFill>
                  <a:schemeClr val="dk1"/>
                </a:solidFill>
                <a:latin typeface="Arial"/>
                <a:ea typeface="Arial"/>
                <a:cs typeface="Arial"/>
                <a:sym typeface="Arial"/>
              </a:rPr>
            </a:br>
            <a:r>
              <a:rPr lang="en-US" sz="14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mongodb+srv</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4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&lt;USERNAME&gt;:&lt;PASSWORD</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&gt;@</a:t>
            </a:r>
            <a:r>
              <a:rPr lang="en-US" sz="14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&lt;CLUSTERADDRESS&gt;</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retryWrites</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true&amp;w</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=majority</a:t>
            </a:r>
            <a:br>
              <a:rPr lang="en-US" sz="1400" b="0" i="0" u="none" strike="noStrike" cap="none" dirty="0">
                <a:solidFill>
                  <a:schemeClr val="dk1"/>
                </a:solidFill>
                <a:latin typeface="Arial"/>
                <a:ea typeface="Arial"/>
                <a:cs typeface="Arial"/>
                <a:sym typeface="Arial"/>
              </a:rPr>
            </a:br>
            <a:br>
              <a:rPr lang="en-US" sz="1400" b="0" i="0" u="none" strike="noStrike" cap="none" dirty="0">
                <a:solidFill>
                  <a:schemeClr val="dk1"/>
                </a:solidFill>
                <a:latin typeface="Arial"/>
                <a:ea typeface="Arial"/>
                <a:cs typeface="Arial"/>
                <a:sym typeface="Arial"/>
              </a:rPr>
            </a:br>
            <a:r>
              <a:rPr lang="en-US" sz="1400" b="0" i="0" u="none" strike="noStrike" cap="none" dirty="0">
                <a:solidFill>
                  <a:schemeClr val="dk1"/>
                </a:solidFill>
                <a:latin typeface="Arial"/>
                <a:ea typeface="Arial"/>
                <a:cs typeface="Arial"/>
                <a:sym typeface="Arial"/>
              </a:rPr>
              <a:t>The words highlighted in </a:t>
            </a:r>
            <a:r>
              <a:rPr lang="en-US" sz="1400" b="1" i="0" u="none" strike="noStrike" cap="none" dirty="0">
                <a:solidFill>
                  <a:schemeClr val="dk1"/>
                </a:solidFill>
                <a:latin typeface="Arial"/>
                <a:ea typeface="Arial"/>
                <a:cs typeface="Arial"/>
                <a:sym typeface="Arial"/>
              </a:rPr>
              <a:t>red</a:t>
            </a:r>
            <a:r>
              <a:rPr lang="en-US" sz="1400" b="0" i="0" u="none" strike="noStrike" cap="none" dirty="0">
                <a:solidFill>
                  <a:schemeClr val="dk1"/>
                </a:solidFill>
                <a:latin typeface="Arial"/>
                <a:ea typeface="Arial"/>
                <a:cs typeface="Arial"/>
                <a:sym typeface="Arial"/>
              </a:rPr>
              <a:t> will change according to each user.</a:t>
            </a:r>
            <a:endParaRPr sz="1400" b="0" i="0" u="none" strike="noStrike" cap="none" dirty="0">
              <a:solidFill>
                <a:schemeClr val="dk1"/>
              </a:solidFill>
              <a:latin typeface="Arial"/>
              <a:ea typeface="Arial"/>
              <a:cs typeface="Arial"/>
              <a:sym typeface="Arial"/>
            </a:endParaRPr>
          </a:p>
        </p:txBody>
      </p:sp>
      <p:sp>
        <p:nvSpPr>
          <p:cNvPr id="139" name="Google Shape;139;g36e7437085d_0_19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sp>
        <p:nvSpPr>
          <p:cNvPr id="140" name="Google Shape;140;g36e7437085d_0_190"/>
          <p:cNvSpPr txBox="1"/>
          <p:nvPr/>
        </p:nvSpPr>
        <p:spPr>
          <a:xfrm>
            <a:off x="247451" y="1415534"/>
            <a:ext cx="648646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Choose a connection method</a:t>
            </a: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6e7437085d_0_19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Connecting to MongoDB on Atlas</a:t>
            </a:r>
            <a:endParaRPr sz="2400" b="1" i="0" u="none" strike="noStrike" cap="none" dirty="0">
              <a:solidFill>
                <a:srgbClr val="11175E"/>
              </a:solidFill>
              <a:latin typeface="Arial"/>
              <a:ea typeface="Arial"/>
              <a:cs typeface="Arial"/>
              <a:sym typeface="Arial"/>
            </a:endParaRPr>
          </a:p>
        </p:txBody>
      </p:sp>
      <p:sp>
        <p:nvSpPr>
          <p:cNvPr id="147" name="Google Shape;147;g36e7437085d_0_198"/>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Create </a:t>
            </a:r>
            <a:r>
              <a:rPr lang="en-US" sz="1800" b="1" i="0" u="none" strike="noStrike" cap="none" dirty="0" err="1">
                <a:solidFill>
                  <a:srgbClr val="000000"/>
                </a:solidFill>
                <a:latin typeface="Consolas" panose="020B0609020204030204" pitchFamily="49" charset="0"/>
                <a:cs typeface="Consolas" panose="020B0609020204030204" pitchFamily="49" charset="0"/>
                <a:sym typeface="Arial"/>
              </a:rPr>
              <a:t>config.env</a:t>
            </a:r>
            <a:r>
              <a:rPr lang="en-US" sz="1800" b="1" i="0" u="none" strike="noStrike" cap="none" dirty="0">
                <a:solidFill>
                  <a:srgbClr val="000000"/>
                </a:solidFill>
                <a:latin typeface="Arial"/>
                <a:ea typeface="Arial"/>
                <a:cs typeface="Arial"/>
                <a:sym typeface="Arial"/>
              </a:rPr>
              <a:t> in VSC example1 folder</a:t>
            </a:r>
            <a:endParaRPr sz="1800" b="1" i="0" u="none" strike="noStrike" cap="none" dirty="0">
              <a:solidFill>
                <a:srgbClr val="000000"/>
              </a:solidFill>
              <a:latin typeface="Arial"/>
              <a:ea typeface="Arial"/>
              <a:cs typeface="Arial"/>
              <a:sym typeface="Arial"/>
            </a:endParaRPr>
          </a:p>
        </p:txBody>
      </p:sp>
      <p:sp>
        <p:nvSpPr>
          <p:cNvPr id="148" name="Google Shape;148;g36e7437085d_0_198"/>
          <p:cNvSpPr txBox="1"/>
          <p:nvPr/>
        </p:nvSpPr>
        <p:spPr>
          <a:xfrm>
            <a:off x="252568" y="1859644"/>
            <a:ext cx="6921186" cy="228981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chemeClr val="dk1"/>
                </a:solidFill>
                <a:latin typeface="Arial"/>
                <a:ea typeface="Arial"/>
                <a:cs typeface="Arial"/>
                <a:sym typeface="Arial"/>
              </a:rPr>
              <a:t>Now that we have created the database and collection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a:t>
            </a: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we create a file in VSC to connect it to the week 10 database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We will be using the resource folder </a:t>
            </a:r>
            <a:r>
              <a:rPr lang="en-US" sz="1600" b="1" i="0" u="none" strike="noStrike" cap="none" dirty="0">
                <a:solidFill>
                  <a:schemeClr val="tx1"/>
                </a:solidFill>
                <a:latin typeface="Consolas" panose="020B0609020204030204" pitchFamily="49" charset="0"/>
                <a:cs typeface="Consolas" panose="020B0609020204030204" pitchFamily="49" charset="0"/>
                <a:sym typeface="Arial"/>
              </a:rPr>
              <a:t>example1</a:t>
            </a:r>
          </a:p>
          <a:p>
            <a:pPr marL="0" marR="0" lvl="0" indent="0" algn="l" rtl="0">
              <a:lnSpc>
                <a:spcPct val="115000"/>
              </a:lnSpc>
              <a:spcBef>
                <a:spcPts val="0"/>
              </a:spcBef>
              <a:spcAft>
                <a:spcPts val="0"/>
              </a:spcAft>
              <a:buNone/>
            </a:pPr>
            <a:endParaRPr lang="en-US" sz="1600" b="1" i="0" u="none" strike="noStrike" cap="none" dirty="0">
              <a:solidFill>
                <a:schemeClr val="tx1"/>
              </a:solidFill>
              <a:latin typeface="Arial"/>
              <a:ea typeface="Arial"/>
              <a:cs typeface="Arial"/>
              <a:sym typeface="Arial"/>
            </a:endParaRPr>
          </a:p>
          <a:p>
            <a:pPr marL="285750" indent="-285750">
              <a:lnSpc>
                <a:spcPct val="115000"/>
              </a:lnSpc>
              <a:buFont typeface="Arial" panose="020B0604020202020204" pitchFamily="34" charset="0"/>
              <a:buChar char="•"/>
            </a:pPr>
            <a:r>
              <a:rPr lang="en-US" sz="1600" dirty="0">
                <a:solidFill>
                  <a:schemeClr val="tx1"/>
                </a:solidFill>
              </a:rPr>
              <a:t>Navigate to the </a:t>
            </a:r>
            <a:r>
              <a:rPr lang="en-US" sz="1600" b="1" dirty="0">
                <a:solidFill>
                  <a:schemeClr val="tx1"/>
                </a:solidFill>
                <a:latin typeface="Consolas" panose="020B0609020204030204" pitchFamily="49" charset="0"/>
                <a:cs typeface="Consolas" panose="020B0609020204030204" pitchFamily="49" charset="0"/>
              </a:rPr>
              <a:t>example1</a:t>
            </a:r>
            <a:r>
              <a:rPr lang="en-US" sz="1600" dirty="0">
                <a:solidFill>
                  <a:schemeClr val="tx1"/>
                </a:solidFill>
              </a:rPr>
              <a:t> folder in VSC, create a file named </a:t>
            </a:r>
            <a:r>
              <a:rPr lang="en-US" sz="1600" b="1" dirty="0" err="1">
                <a:solidFill>
                  <a:schemeClr val="tx1"/>
                </a:solidFill>
                <a:latin typeface="Consolas" panose="020B0609020204030204" pitchFamily="49" charset="0"/>
                <a:ea typeface="Roboto Mono"/>
                <a:cs typeface="Consolas" panose="020B0609020204030204" pitchFamily="49" charset="0"/>
                <a:sym typeface="Roboto Mono"/>
              </a:rPr>
              <a:t>config.env</a:t>
            </a:r>
            <a:r>
              <a:rPr lang="en-US" sz="1600" dirty="0">
                <a:solidFill>
                  <a:schemeClr val="tx1"/>
                </a:solidFill>
                <a:latin typeface="Consolas" panose="020B0609020204030204" pitchFamily="49" charset="0"/>
                <a:ea typeface="Roboto Mono"/>
                <a:cs typeface="Consolas" panose="020B0609020204030204" pitchFamily="49" charset="0"/>
                <a:sym typeface="Roboto Mono"/>
              </a:rPr>
              <a:t>.</a:t>
            </a:r>
          </a:p>
          <a:p>
            <a:pPr marL="0" marR="0" lvl="0" indent="0" algn="l" rtl="0">
              <a:lnSpc>
                <a:spcPct val="115000"/>
              </a:lnSpc>
              <a:spcBef>
                <a:spcPts val="0"/>
              </a:spcBef>
              <a:spcAft>
                <a:spcPts val="0"/>
              </a:spcAft>
              <a:buNone/>
            </a:pPr>
            <a:endParaRPr sz="1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49" name="Google Shape;149;g36e7437085d_0_198"/>
          <p:cNvPicPr preferRelativeResize="0"/>
          <p:nvPr/>
        </p:nvPicPr>
        <p:blipFill rotWithShape="1">
          <a:blip r:embed="rId3">
            <a:alphaModFix/>
          </a:blip>
          <a:srcRect/>
          <a:stretch/>
        </p:blipFill>
        <p:spPr>
          <a:xfrm>
            <a:off x="7534988" y="1665288"/>
            <a:ext cx="3118663" cy="3584934"/>
          </a:xfrm>
          <a:prstGeom prst="rect">
            <a:avLst/>
          </a:prstGeom>
          <a:noFill/>
          <a:ln>
            <a:noFill/>
          </a:ln>
        </p:spPr>
      </p:pic>
      <p:sp>
        <p:nvSpPr>
          <p:cNvPr id="150" name="Google Shape;150;g36e7437085d_0_198"/>
          <p:cNvSpPr/>
          <p:nvPr/>
        </p:nvSpPr>
        <p:spPr>
          <a:xfrm rot="10800000">
            <a:off x="9394243" y="3772387"/>
            <a:ext cx="395021" cy="365760"/>
          </a:xfrm>
          <a:prstGeom prst="rightArrow">
            <a:avLst>
              <a:gd name="adj1" fmla="val 50000"/>
              <a:gd name="adj2" fmla="val 50000"/>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a:t>
            </a:r>
            <a:r>
              <a:rPr lang="en-US" sz="2400" b="1" dirty="0" err="1">
                <a:solidFill>
                  <a:schemeClr val="dk1"/>
                </a:solidFill>
                <a:latin typeface="Consolas" panose="020B0609020204030204" pitchFamily="49" charset="0"/>
                <a:cs typeface="Consolas" panose="020B0609020204030204" pitchFamily="49" charset="0"/>
              </a:rPr>
              <a:t>config.env</a:t>
            </a:r>
            <a:r>
              <a:rPr lang="en-US" sz="2400" b="1" dirty="0">
                <a:solidFill>
                  <a:schemeClr val="dk1"/>
                </a:solidFill>
                <a:latin typeface="Consolas" panose="020B0609020204030204" pitchFamily="49" charset="0"/>
                <a:cs typeface="Consolas" panose="020B0609020204030204" pitchFamily="49" charset="0"/>
              </a:rPr>
              <a:t> </a:t>
            </a:r>
            <a:r>
              <a:rPr lang="en-US" sz="2400" b="1" i="0" u="none" strike="noStrike" cap="none" dirty="0">
                <a:solidFill>
                  <a:srgbClr val="11175E"/>
                </a:solidFill>
                <a:latin typeface="Arial"/>
                <a:ea typeface="Arial"/>
                <a:cs typeface="Arial"/>
                <a:sym typeface="Arial"/>
              </a:rPr>
              <a:t>in VSC</a:t>
            </a:r>
            <a:endParaRPr sz="2400" b="1" i="0" u="none" strike="noStrike" cap="none" dirty="0">
              <a:solidFill>
                <a:srgbClr val="11175E"/>
              </a:solidFill>
              <a:latin typeface="Arial"/>
              <a:ea typeface="Arial"/>
              <a:cs typeface="Arial"/>
              <a:sym typeface="Arial"/>
            </a:endParaRPr>
          </a:p>
        </p:txBody>
      </p:sp>
      <p:sp>
        <p:nvSpPr>
          <p:cNvPr id="156" name="Google Shape;156;p5"/>
          <p:cNvSpPr txBox="1"/>
          <p:nvPr/>
        </p:nvSpPr>
        <p:spPr>
          <a:xfrm>
            <a:off x="334729" y="2754116"/>
            <a:ext cx="11522541" cy="3278244"/>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Copy these lines</a:t>
            </a:r>
            <a:endParaRPr sz="1600" dirty="0"/>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Replace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USERNAME</a:t>
            </a:r>
            <a:r>
              <a:rPr lang="en-US" sz="1800" b="0" i="0" u="none" strike="noStrike" cap="none" dirty="0">
                <a:solidFill>
                  <a:schemeClr val="dk1"/>
                </a:solidFill>
                <a:latin typeface="Arial"/>
                <a:ea typeface="Arial"/>
                <a:cs typeface="Arial"/>
                <a:sym typeface="Arial"/>
              </a:rPr>
              <a:t>&gt; with your </a:t>
            </a:r>
            <a:r>
              <a:rPr lang="en-US" sz="1800" b="0" i="0" u="none" strike="noStrike" cap="none" dirty="0" err="1">
                <a:solidFill>
                  <a:schemeClr val="dk1"/>
                </a:solidFill>
                <a:latin typeface="Arial"/>
                <a:ea typeface="Arial"/>
                <a:cs typeface="Arial"/>
                <a:sym typeface="Arial"/>
              </a:rPr>
              <a:t>mogodb</a:t>
            </a:r>
            <a:r>
              <a:rPr lang="en-US" sz="1800" b="0" i="0" u="none" strike="noStrike" cap="none" dirty="0">
                <a:solidFill>
                  <a:schemeClr val="dk1"/>
                </a:solidFill>
                <a:latin typeface="Arial"/>
                <a:ea typeface="Arial"/>
                <a:cs typeface="Arial"/>
                <a:sym typeface="Arial"/>
              </a:rPr>
              <a:t> username and the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PASSWORD</a:t>
            </a:r>
            <a:r>
              <a:rPr lang="en-US" sz="1800" b="0" i="0" u="none" strike="noStrike" cap="none" dirty="0">
                <a:solidFill>
                  <a:schemeClr val="dk1"/>
                </a:solidFill>
                <a:latin typeface="Arial"/>
                <a:ea typeface="Arial"/>
                <a:cs typeface="Arial"/>
                <a:sym typeface="Arial"/>
              </a:rPr>
              <a:t>&gt; to your actual password.</a:t>
            </a:r>
            <a:endParaRPr sz="18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Replace the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CLUSTERADDRESS</a:t>
            </a:r>
            <a:r>
              <a:rPr lang="en-US" sz="1800" b="0" i="0" u="none" strike="noStrike" cap="none" dirty="0">
                <a:solidFill>
                  <a:schemeClr val="dk1"/>
                </a:solidFill>
                <a:latin typeface="Arial"/>
                <a:ea typeface="Arial"/>
                <a:cs typeface="Arial"/>
                <a:sym typeface="Arial"/>
              </a:rPr>
              <a:t>&gt; with your own from the connection string</a:t>
            </a:r>
            <a:endParaRPr sz="1600" dirty="0"/>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Replace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DBNAME</a:t>
            </a:r>
            <a:r>
              <a:rPr lang="en-US" sz="1800" b="0" i="0" u="none" strike="noStrike" cap="none" dirty="0">
                <a:solidFill>
                  <a:schemeClr val="dk1"/>
                </a:solidFill>
                <a:latin typeface="Arial"/>
                <a:ea typeface="Arial"/>
                <a:cs typeface="Arial"/>
                <a:sym typeface="Arial"/>
              </a:rPr>
              <a:t>&gt; as </a:t>
            </a:r>
            <a:r>
              <a:rPr lang="en-US" sz="1800" b="1" i="0" u="none" strike="noStrike" cap="none" dirty="0">
                <a:solidFill>
                  <a:schemeClr val="tx1"/>
                </a:solidFill>
                <a:latin typeface="Consolas" panose="020B0609020204030204" pitchFamily="49" charset="0"/>
                <a:cs typeface="Consolas" panose="020B0609020204030204" pitchFamily="49" charset="0"/>
                <a:sym typeface="Arial"/>
              </a:rPr>
              <a:t>week10</a:t>
            </a:r>
            <a:endParaRPr sz="1800" b="1" i="0" u="none" strike="noStrike" cap="none" dirty="0">
              <a:solidFill>
                <a:schemeClr val="tx1"/>
              </a:solidFill>
              <a:latin typeface="Consolas" panose="020B0609020204030204" pitchFamily="49" charset="0"/>
              <a:cs typeface="Consolas" panose="020B0609020204030204" pitchFamily="49" charset="0"/>
              <a:sym typeface="Arial"/>
            </a:endParaRPr>
          </a:p>
          <a:p>
            <a:pPr marL="457200" marR="0" lvl="0" indent="0" algn="l" rtl="0">
              <a:lnSpc>
                <a:spcPct val="100000"/>
              </a:lnSpc>
              <a:spcBef>
                <a:spcPts val="0"/>
              </a:spcBef>
              <a:spcAft>
                <a:spcPts val="0"/>
              </a:spcAft>
              <a:buClr>
                <a:srgbClr val="000000"/>
              </a:buClr>
              <a:buSzPts val="1600"/>
              <a:buFont typeface="Arial"/>
              <a:buNone/>
            </a:pPr>
            <a:endParaRPr sz="1800" b="0" i="0" u="none" strike="noStrike" cap="none" dirty="0">
              <a:solidFill>
                <a:schemeClr val="dk1"/>
              </a:solidFill>
              <a:latin typeface="Arial"/>
              <a:ea typeface="Arial"/>
              <a:cs typeface="Arial"/>
              <a:sym typeface="Arial"/>
            </a:endParaRPr>
          </a:p>
        </p:txBody>
      </p:sp>
      <p:sp>
        <p:nvSpPr>
          <p:cNvPr id="157" name="Google Shape;157;p5"/>
          <p:cNvSpPr txBox="1"/>
          <p:nvPr/>
        </p:nvSpPr>
        <p:spPr>
          <a:xfrm>
            <a:off x="349791" y="1834644"/>
            <a:ext cx="11554034" cy="851406"/>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DB=</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mongodb+srv</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://&lt;USERNAME&gt;:&lt;PASSWORD&gt;@&lt;CLUSTERADDRESS&gt;/&lt;DBNAME&gt;?</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retryWrites</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true&amp;w</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=majority</a:t>
            </a:r>
            <a:endParaRPr sz="2800" b="0" i="0" u="none" strike="noStrike" cap="none" dirty="0">
              <a:solidFill>
                <a:srgbClr val="FF0000"/>
              </a:solidFill>
              <a:latin typeface="Arial"/>
              <a:ea typeface="Arial"/>
              <a:cs typeface="Arial"/>
              <a:sym typeface="Arial"/>
            </a:endParaRPr>
          </a:p>
        </p:txBody>
      </p:sp>
      <p:sp>
        <p:nvSpPr>
          <p:cNvPr id="158" name="Google Shape;158;p5"/>
          <p:cNvSpPr txBox="1"/>
          <p:nvPr/>
        </p:nvSpPr>
        <p:spPr>
          <a:xfrm>
            <a:off x="349791" y="4333464"/>
            <a:ext cx="11507479" cy="856374"/>
          </a:xfrm>
          <a:prstGeom prst="rect">
            <a:avLst/>
          </a:prstGeom>
          <a:solidFill>
            <a:srgbClr val="D5DBE5"/>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Example</a:t>
            </a:r>
            <a:endParaRPr sz="16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DB=</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mongodb+srv</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johntan:12345</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waddev.rlo3gjq.mongodb.net</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dirty="0">
                <a:solidFill>
                  <a:srgbClr val="FF0000"/>
                </a:solidFill>
                <a:latin typeface="Consolas" panose="020B0609020204030204" pitchFamily="49" charset="0"/>
                <a:ea typeface="Roboto Mono"/>
                <a:cs typeface="Consolas" panose="020B0609020204030204" pitchFamily="49" charset="0"/>
                <a:sym typeface="Roboto Mono"/>
              </a:rPr>
              <a:t>week10</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?retryWrites=</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true&amp;w</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=majority</a:t>
            </a:r>
            <a:endParaRPr dirty="0"/>
          </a:p>
          <a:p>
            <a:pPr marL="0" marR="0" lvl="0" indent="0" algn="l" rtl="0">
              <a:lnSpc>
                <a:spcPct val="100000"/>
              </a:lnSpc>
              <a:spcBef>
                <a:spcPts val="0"/>
              </a:spcBef>
              <a:spcAft>
                <a:spcPts val="0"/>
              </a:spcAft>
              <a:buClr>
                <a:schemeClr val="dk1"/>
              </a:buClr>
              <a:buSzPts val="1100"/>
              <a:buFont typeface="Arial"/>
              <a:buNone/>
            </a:pPr>
            <a:endParaRPr sz="16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159" name="Google Shape;159;p5"/>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Copy these line into </a:t>
            </a:r>
            <a:r>
              <a:rPr lang="en-US" sz="1800" b="1" dirty="0" err="1">
                <a:solidFill>
                  <a:schemeClr val="dk1"/>
                </a:solidFill>
                <a:latin typeface="Consolas" panose="020B0609020204030204" pitchFamily="49" charset="0"/>
                <a:cs typeface="Consolas" panose="020B0609020204030204" pitchFamily="49" charset="0"/>
              </a:rPr>
              <a:t>config</a:t>
            </a:r>
            <a:r>
              <a:rPr lang="en-US" sz="1800" b="1" i="0" u="none" strike="noStrike" cap="none" dirty="0" err="1">
                <a:solidFill>
                  <a:srgbClr val="000000"/>
                </a:solidFill>
                <a:latin typeface="Arial"/>
                <a:ea typeface="Arial"/>
                <a:cs typeface="Arial"/>
                <a:sym typeface="Arial"/>
              </a:rPr>
              <a:t>.</a:t>
            </a:r>
            <a:r>
              <a:rPr lang="en-US" sz="1800" b="1" dirty="0" err="1">
                <a:solidFill>
                  <a:schemeClr val="dk1"/>
                </a:solidFill>
                <a:latin typeface="Consolas" panose="020B0609020204030204" pitchFamily="49" charset="0"/>
                <a:cs typeface="Consolas" panose="020B0609020204030204" pitchFamily="49" charset="0"/>
              </a:rPr>
              <a:t>env</a:t>
            </a:r>
            <a:endParaRPr sz="1800" b="1" dirty="0">
              <a:solidFill>
                <a:schemeClr val="dk1"/>
              </a:solidFill>
              <a:latin typeface="Consolas" panose="020B0609020204030204" pitchFamily="49" charset="0"/>
              <a:cs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Database connection string</a:t>
            </a:r>
            <a:endParaRPr sz="2400" b="1" i="0" u="none" strike="noStrike" cap="none" dirty="0">
              <a:solidFill>
                <a:srgbClr val="11175E"/>
              </a:solidFill>
              <a:latin typeface="Arial"/>
              <a:ea typeface="Arial"/>
              <a:cs typeface="Arial"/>
              <a:sym typeface="Arial"/>
            </a:endParaRPr>
          </a:p>
        </p:txBody>
      </p:sp>
      <p:sp>
        <p:nvSpPr>
          <p:cNvPr id="165" name="Google Shape;165;p18"/>
          <p:cNvSpPr txBox="1"/>
          <p:nvPr/>
        </p:nvSpPr>
        <p:spPr>
          <a:xfrm>
            <a:off x="231725" y="1510792"/>
            <a:ext cx="11672100" cy="4398087"/>
          </a:xfrm>
          <a:prstGeom prst="rect">
            <a:avLst/>
          </a:prstGeom>
          <a:noFill/>
          <a:ln>
            <a:noFill/>
          </a:ln>
        </p:spPr>
        <p:txBody>
          <a:bodyPr spcFirstLastPara="1" wrap="square" lIns="91425" tIns="45700" rIns="91425" bIns="45700" anchor="t" anchorCtr="0">
            <a:spAutoFit/>
          </a:bodyPr>
          <a:lstStyle/>
          <a:p>
            <a:pPr>
              <a:lnSpc>
                <a:spcPct val="115000"/>
              </a:lnSpc>
              <a:buSzPts val="2300"/>
            </a:pPr>
            <a:r>
              <a:rPr lang="en-US" sz="1800" b="1" dirty="0">
                <a:solidFill>
                  <a:schemeClr val="dk1"/>
                </a:solidFill>
              </a:rPr>
              <a:t>What are the parameters after database name?</a:t>
            </a:r>
          </a:p>
          <a:p>
            <a:pPr>
              <a:lnSpc>
                <a:spcPct val="115000"/>
              </a:lnSpc>
              <a:buSzPts val="2300"/>
            </a:pPr>
            <a:endParaRPr lang="en-US" sz="1600" dirty="0"/>
          </a:p>
          <a:p>
            <a:pPr marL="285750" marR="0" lvl="0" indent="-285750" algn="l" rtl="0">
              <a:lnSpc>
                <a:spcPct val="115000"/>
              </a:lnSpc>
              <a:spcBef>
                <a:spcPts val="0"/>
              </a:spcBef>
              <a:spcAft>
                <a:spcPts val="0"/>
              </a:spcAft>
              <a:buClr>
                <a:srgbClr val="000000"/>
              </a:buClr>
              <a:buSzPts val="2300"/>
              <a:buFont typeface="Arial"/>
              <a:buChar char="•"/>
            </a:pPr>
            <a:r>
              <a:rPr lang="en-US" sz="1800" b="1" dirty="0" err="1">
                <a:solidFill>
                  <a:schemeClr val="dk1"/>
                </a:solidFill>
                <a:latin typeface="Consolas" panose="020B0609020204030204" pitchFamily="49" charset="0"/>
                <a:cs typeface="Consolas" panose="020B0609020204030204" pitchFamily="49" charset="0"/>
              </a:rPr>
              <a:t>retryWrites</a:t>
            </a:r>
            <a:r>
              <a:rPr lang="en-US" sz="1800" b="1" dirty="0">
                <a:solidFill>
                  <a:schemeClr val="dk1"/>
                </a:solidFill>
                <a:latin typeface="Consolas" panose="020B0609020204030204" pitchFamily="49" charset="0"/>
                <a:cs typeface="Consolas" panose="020B0609020204030204" pitchFamily="49" charset="0"/>
              </a:rPr>
              <a:t>=true</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Purpose</a:t>
            </a:r>
            <a:r>
              <a:rPr lang="en-US" sz="1600" b="0" i="0" u="none" strike="noStrike" cap="none" dirty="0">
                <a:solidFill>
                  <a:schemeClr val="dk1"/>
                </a:solidFill>
                <a:latin typeface="Arial"/>
                <a:ea typeface="Arial"/>
                <a:cs typeface="Arial"/>
                <a:sym typeface="Arial"/>
              </a:rPr>
              <a:t>: Enables </a:t>
            </a:r>
            <a:r>
              <a:rPr lang="en-US" sz="1600" b="1" i="0" u="none" strike="noStrike" cap="none" dirty="0" err="1">
                <a:solidFill>
                  <a:schemeClr val="dk1"/>
                </a:solidFill>
                <a:latin typeface="Arial"/>
                <a:ea typeface="Arial"/>
                <a:cs typeface="Arial"/>
                <a:sym typeface="Arial"/>
              </a:rPr>
              <a:t>retryable</a:t>
            </a:r>
            <a:r>
              <a:rPr lang="en-US" sz="1600" b="1" i="0" u="none" strike="noStrike" cap="none" dirty="0">
                <a:solidFill>
                  <a:schemeClr val="dk1"/>
                </a:solidFill>
                <a:latin typeface="Arial"/>
                <a:ea typeface="Arial"/>
                <a:cs typeface="Arial"/>
                <a:sym typeface="Arial"/>
              </a:rPr>
              <a:t> writes</a:t>
            </a:r>
            <a:r>
              <a:rPr lang="en-US" sz="1600" b="0" i="0" u="none" strike="noStrike" cap="none" dirty="0">
                <a:solidFill>
                  <a:schemeClr val="dk1"/>
                </a:solidFill>
                <a:latin typeface="Arial"/>
                <a:ea typeface="Arial"/>
                <a:cs typeface="Arial"/>
                <a:sym typeface="Arial"/>
              </a:rPr>
              <a:t>.</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What it does</a:t>
            </a:r>
            <a:r>
              <a:rPr lang="en-US" sz="1600" b="0" i="0" u="none" strike="noStrike" cap="none" dirty="0">
                <a:solidFill>
                  <a:schemeClr val="dk1"/>
                </a:solidFill>
                <a:latin typeface="Arial"/>
                <a:ea typeface="Arial"/>
                <a:cs typeface="Arial"/>
                <a:sym typeface="Arial"/>
              </a:rPr>
              <a:t>: If a network error or transient issue occurs during a write operation (like </a:t>
            </a:r>
            <a:r>
              <a:rPr lang="en-US" sz="1600" b="1" dirty="0">
                <a:solidFill>
                  <a:schemeClr val="dk1"/>
                </a:solidFill>
                <a:latin typeface="Consolas" panose="020B0609020204030204" pitchFamily="49" charset="0"/>
                <a:cs typeface="Consolas" panose="020B0609020204030204" pitchFamily="49" charset="0"/>
              </a:rPr>
              <a:t>insert</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update</a:t>
            </a:r>
            <a:r>
              <a:rPr lang="en-US" sz="1600" b="0" i="0" u="none" strike="noStrike" cap="none" dirty="0">
                <a:solidFill>
                  <a:schemeClr val="dk1"/>
                </a:solidFill>
                <a:latin typeface="Arial"/>
                <a:ea typeface="Arial"/>
                <a:cs typeface="Arial"/>
                <a:sym typeface="Arial"/>
              </a:rPr>
              <a:t>, or </a:t>
            </a:r>
            <a:r>
              <a:rPr lang="en-US" sz="1600" b="1" dirty="0">
                <a:solidFill>
                  <a:schemeClr val="dk1"/>
                </a:solidFill>
                <a:latin typeface="Consolas" panose="020B0609020204030204" pitchFamily="49" charset="0"/>
                <a:cs typeface="Consolas" panose="020B0609020204030204" pitchFamily="49" charset="0"/>
              </a:rPr>
              <a:t>delete</a:t>
            </a:r>
            <a:r>
              <a:rPr lang="en-US" sz="1600" b="0" i="0" u="none" strike="noStrike" cap="none" dirty="0">
                <a:solidFill>
                  <a:schemeClr val="dk1"/>
                </a:solidFill>
                <a:latin typeface="Arial"/>
                <a:ea typeface="Arial"/>
                <a:cs typeface="Arial"/>
                <a:sym typeface="Arial"/>
              </a:rPr>
              <a:t>), MongoDB will </a:t>
            </a:r>
            <a:r>
              <a:rPr lang="en-US" sz="1600" b="1" i="0" u="none" strike="noStrike" cap="none" dirty="0">
                <a:solidFill>
                  <a:schemeClr val="dk1"/>
                </a:solidFill>
                <a:latin typeface="Arial"/>
                <a:ea typeface="Arial"/>
                <a:cs typeface="Arial"/>
                <a:sym typeface="Arial"/>
              </a:rPr>
              <a:t>automatically retry </a:t>
            </a:r>
            <a:r>
              <a:rPr lang="en-US" sz="1600" b="0" i="0" u="none" strike="noStrike" cap="none" dirty="0">
                <a:solidFill>
                  <a:schemeClr val="dk1"/>
                </a:solidFill>
                <a:latin typeface="Arial"/>
                <a:ea typeface="Arial"/>
                <a:cs typeface="Arial"/>
                <a:sym typeface="Arial"/>
              </a:rPr>
              <a:t>the operation once.</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Default: </a:t>
            </a:r>
            <a:r>
              <a:rPr lang="en-US" sz="1600" b="1" dirty="0">
                <a:solidFill>
                  <a:schemeClr val="dk1"/>
                </a:solidFill>
                <a:latin typeface="Consolas" panose="020B0609020204030204" pitchFamily="49" charset="0"/>
                <a:cs typeface="Consolas" panose="020B0609020204030204" pitchFamily="49" charset="0"/>
              </a:rPr>
              <a:t>true</a:t>
            </a:r>
            <a:r>
              <a:rPr lang="en-US" sz="1600" b="0" i="0" u="none" strike="noStrike" cap="none" dirty="0">
                <a:solidFill>
                  <a:schemeClr val="dk1"/>
                </a:solidFill>
                <a:latin typeface="Arial"/>
                <a:ea typeface="Arial"/>
                <a:cs typeface="Arial"/>
                <a:sym typeface="Arial"/>
              </a:rPr>
              <a:t> is usually safe and recommended for most applications.</a:t>
            </a:r>
            <a:endParaRPr sz="1600" dirty="0"/>
          </a:p>
          <a:p>
            <a:pPr marL="285750" marR="0" lvl="0" indent="-285750" algn="l" rtl="0">
              <a:lnSpc>
                <a:spcPct val="115000"/>
              </a:lnSpc>
              <a:spcBef>
                <a:spcPts val="2400"/>
              </a:spcBef>
              <a:spcAft>
                <a:spcPts val="0"/>
              </a:spcAft>
              <a:buClr>
                <a:srgbClr val="000000"/>
              </a:buClr>
              <a:buSzPts val="2300"/>
              <a:buFont typeface="Arial"/>
              <a:buChar char="•"/>
            </a:pPr>
            <a:r>
              <a:rPr lang="en-US" sz="1800" b="1" dirty="0">
                <a:solidFill>
                  <a:schemeClr val="dk1"/>
                </a:solidFill>
                <a:latin typeface="Consolas" panose="020B0609020204030204" pitchFamily="49" charset="0"/>
                <a:cs typeface="Consolas" panose="020B0609020204030204" pitchFamily="49" charset="0"/>
              </a:rPr>
              <a:t>w=majority</a:t>
            </a:r>
            <a:br>
              <a:rPr lang="en-US" sz="1600" b="0" i="0" u="none" strike="noStrike" cap="none" dirty="0">
                <a:solidFill>
                  <a:srgbClr val="C00000"/>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Purpose: </a:t>
            </a:r>
            <a:r>
              <a:rPr lang="en-US" sz="1600" b="0" i="0" u="none" strike="noStrike" cap="none" dirty="0">
                <a:solidFill>
                  <a:schemeClr val="dk1"/>
                </a:solidFill>
                <a:latin typeface="Arial"/>
                <a:ea typeface="Arial"/>
                <a:cs typeface="Arial"/>
                <a:sym typeface="Arial"/>
              </a:rPr>
              <a:t>Sets the </a:t>
            </a:r>
            <a:r>
              <a:rPr lang="en-US" sz="1600" b="1" i="0" u="none" strike="noStrike" cap="none" dirty="0">
                <a:solidFill>
                  <a:schemeClr val="dk1"/>
                </a:solidFill>
                <a:latin typeface="Arial"/>
                <a:ea typeface="Arial"/>
                <a:cs typeface="Arial"/>
                <a:sym typeface="Arial"/>
              </a:rPr>
              <a:t>write concern level</a:t>
            </a:r>
            <a:r>
              <a:rPr lang="en-US" sz="1600" b="0" i="0" u="none" strike="noStrike" cap="none" dirty="0">
                <a:solidFill>
                  <a:schemeClr val="dk1"/>
                </a:solidFill>
                <a:latin typeface="Arial"/>
                <a:ea typeface="Arial"/>
                <a:cs typeface="Arial"/>
                <a:sym typeface="Arial"/>
              </a:rPr>
              <a:t>.</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What it means</a:t>
            </a:r>
            <a:r>
              <a:rPr lang="en-US" sz="1600" b="0" i="0" u="none" strike="noStrike" cap="none" dirty="0">
                <a:solidFill>
                  <a:schemeClr val="dk1"/>
                </a:solidFill>
                <a:latin typeface="Arial"/>
                <a:ea typeface="Arial"/>
                <a:cs typeface="Arial"/>
                <a:sym typeface="Arial"/>
              </a:rPr>
              <a:t>: The write must be </a:t>
            </a:r>
            <a:r>
              <a:rPr lang="en-US" sz="1600" b="1" i="0" u="none" strike="noStrike" cap="none" dirty="0">
                <a:solidFill>
                  <a:schemeClr val="dk1"/>
                </a:solidFill>
                <a:latin typeface="Arial"/>
                <a:ea typeface="Arial"/>
                <a:cs typeface="Arial"/>
                <a:sym typeface="Arial"/>
              </a:rPr>
              <a:t>acknowledged by the majority of replica set members</a:t>
            </a:r>
            <a:r>
              <a:rPr lang="en-US" sz="1600" b="0" i="0" u="none" strike="noStrike" cap="none" dirty="0">
                <a:solidFill>
                  <a:schemeClr val="dk1"/>
                </a:solidFill>
                <a:latin typeface="Arial"/>
                <a:ea typeface="Arial"/>
                <a:cs typeface="Arial"/>
                <a:sym typeface="Arial"/>
              </a:rPr>
              <a:t> before it's considered successful.</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Why it's used</a:t>
            </a:r>
            <a:r>
              <a:rPr lang="en-US" sz="1600" b="0" i="0" u="none" strike="noStrike" cap="none" dirty="0">
                <a:solidFill>
                  <a:schemeClr val="dk1"/>
                </a:solidFill>
                <a:latin typeface="Arial"/>
                <a:ea typeface="Arial"/>
                <a:cs typeface="Arial"/>
                <a:sym typeface="Arial"/>
              </a:rPr>
              <a:t>: Ensures strong data consistency and durability.</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Example</a:t>
            </a:r>
            <a:r>
              <a:rPr lang="en-US" sz="1600" b="0" i="0" u="none" strike="noStrike" cap="none" dirty="0">
                <a:solidFill>
                  <a:schemeClr val="dk1"/>
                </a:solidFill>
                <a:latin typeface="Arial"/>
                <a:ea typeface="Arial"/>
                <a:cs typeface="Arial"/>
                <a:sym typeface="Arial"/>
              </a:rPr>
              <a:t>: If your replica set has 3 members, at least 2 must confirm the write.</a:t>
            </a:r>
            <a:endParaRPr sz="1600"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6e7437085d_0_20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ENV?</a:t>
            </a:r>
            <a:endParaRPr sz="2400" b="1" i="0" u="none" strike="noStrike" cap="none">
              <a:solidFill>
                <a:srgbClr val="11175E"/>
              </a:solidFill>
              <a:latin typeface="Arial"/>
              <a:ea typeface="Arial"/>
              <a:cs typeface="Arial"/>
              <a:sym typeface="Arial"/>
            </a:endParaRPr>
          </a:p>
        </p:txBody>
      </p:sp>
      <p:sp>
        <p:nvSpPr>
          <p:cNvPr id="172" name="Google Shape;172;g36e7437085d_0_209"/>
          <p:cNvSpPr txBox="1"/>
          <p:nvPr/>
        </p:nvSpPr>
        <p:spPr>
          <a:xfrm>
            <a:off x="250163" y="1368428"/>
            <a:ext cx="11672100" cy="5146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2800"/>
              <a:buFont typeface="Arial"/>
              <a:buNone/>
            </a:pPr>
            <a:r>
              <a:rPr lang="en-US" sz="1600" b="1" i="0" u="none" strike="noStrike" cap="none" dirty="0">
                <a:solidFill>
                  <a:schemeClr val="dk1"/>
                </a:solidFill>
                <a:latin typeface="Arial"/>
                <a:ea typeface="Arial"/>
                <a:cs typeface="Arial"/>
                <a:sym typeface="Arial"/>
              </a:rPr>
              <a:t>ENV</a:t>
            </a:r>
            <a:r>
              <a:rPr lang="en-US" sz="1600" b="0" i="0" u="none" strike="noStrike" cap="none" dirty="0">
                <a:solidFill>
                  <a:schemeClr val="dk1"/>
                </a:solidFill>
                <a:latin typeface="Arial"/>
                <a:ea typeface="Arial"/>
                <a:cs typeface="Arial"/>
                <a:sym typeface="Arial"/>
              </a:rPr>
              <a:t> refers to </a:t>
            </a:r>
            <a:r>
              <a:rPr lang="en-US" sz="1600" b="1" i="0" u="none" strike="noStrike" cap="none" dirty="0">
                <a:solidFill>
                  <a:schemeClr val="dk1"/>
                </a:solidFill>
                <a:latin typeface="Arial"/>
                <a:ea typeface="Arial"/>
                <a:cs typeface="Arial"/>
                <a:sym typeface="Arial"/>
              </a:rPr>
              <a:t>environment variables</a:t>
            </a:r>
            <a:r>
              <a:rPr lang="en-US" sz="1600" b="0" i="0" u="none" strike="noStrike" cap="none" dirty="0">
                <a:solidFill>
                  <a:schemeClr val="dk1"/>
                </a:solidFill>
                <a:latin typeface="Arial"/>
                <a:ea typeface="Arial"/>
                <a:cs typeface="Arial"/>
                <a:sym typeface="Arial"/>
              </a:rPr>
              <a:t>. These are dynamic named values that can affect the behavior of running processes and programs. They are typically set outside of the application's code and are used to store configuration settings, sensitive information, or environment-specific values.</a:t>
            </a:r>
            <a:endParaRPr dirty="0"/>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Here's why environment variables are crucial in Node.js development:</a:t>
            </a:r>
            <a:endParaRPr dirty="0"/>
          </a:p>
          <a:p>
            <a:pPr marL="0" marR="0" lvl="0" indent="0" algn="l" rtl="0">
              <a:lnSpc>
                <a:spcPct val="115000"/>
              </a:lnSpc>
              <a:spcBef>
                <a:spcPts val="1200"/>
              </a:spcBef>
              <a:spcAft>
                <a:spcPts val="0"/>
              </a:spcAft>
              <a:buClr>
                <a:srgbClr val="000000"/>
              </a:buClr>
              <a:buSzPts val="2800"/>
              <a:buFont typeface="Arial"/>
              <a:buNone/>
            </a:pPr>
            <a:r>
              <a:rPr lang="en-US" sz="1600" b="1" i="1" u="none" strike="noStrike" cap="none" dirty="0">
                <a:solidFill>
                  <a:schemeClr val="dk1"/>
                </a:solidFill>
                <a:latin typeface="Arial"/>
                <a:ea typeface="Arial"/>
                <a:cs typeface="Arial"/>
                <a:sym typeface="Arial"/>
              </a:rPr>
              <a:t>Configuration Management:</a:t>
            </a:r>
            <a:endParaRPr dirty="0"/>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They allow for easy configuration of your application across different environments (development, testing, staging, production) without modifying the codebase. For example, database connection strings, API keys, or port numbers can differ between environments.</a:t>
            </a:r>
            <a:endParaRPr dirty="0"/>
          </a:p>
          <a:p>
            <a:pPr marL="0" marR="0" lvl="0" indent="0" algn="l" rtl="0">
              <a:lnSpc>
                <a:spcPct val="115000"/>
              </a:lnSpc>
              <a:spcBef>
                <a:spcPts val="1200"/>
              </a:spcBef>
              <a:spcAft>
                <a:spcPts val="0"/>
              </a:spcAft>
              <a:buClr>
                <a:srgbClr val="000000"/>
              </a:buClr>
              <a:buSzPts val="2800"/>
              <a:buFont typeface="Arial"/>
              <a:buNone/>
            </a:pPr>
            <a:r>
              <a:rPr lang="en-US" sz="1600" b="1" i="1" u="none" strike="noStrike" cap="none" dirty="0">
                <a:solidFill>
                  <a:schemeClr val="dk1"/>
                </a:solidFill>
                <a:latin typeface="Arial"/>
                <a:ea typeface="Arial"/>
                <a:cs typeface="Arial"/>
                <a:sym typeface="Arial"/>
              </a:rPr>
              <a:t>Security:</a:t>
            </a:r>
            <a:endParaRPr dirty="0"/>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Sensitive data like API keys, database credentials, or secret keys should never be hardcoded into your application's source code. Environment variables provide a secure way to store and access this information, keeping it separate from your version control system.</a:t>
            </a:r>
            <a:endParaRPr dirty="0"/>
          </a:p>
          <a:p>
            <a:pPr marL="0" marR="0" lvl="0" indent="0" algn="just" rtl="0">
              <a:lnSpc>
                <a:spcPct val="100000"/>
              </a:lnSpc>
              <a:spcBef>
                <a:spcPts val="1200"/>
              </a:spcBef>
              <a:spcAft>
                <a:spcPts val="0"/>
              </a:spcAft>
              <a:buClr>
                <a:srgbClr val="000000"/>
              </a:buClr>
              <a:buSzPts val="1600"/>
              <a:buFont typeface="Arial"/>
              <a:buNone/>
            </a:pPr>
            <a:endParaRPr sz="1600" b="1" i="0" u="none" strike="noStrike" cap="none" dirty="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6e7958bfd6_0_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ENV</a:t>
            </a:r>
            <a:endParaRPr sz="2400" b="1" i="0" u="none" strike="noStrike" cap="none">
              <a:solidFill>
                <a:srgbClr val="11175E"/>
              </a:solidFill>
              <a:latin typeface="Arial"/>
              <a:ea typeface="Arial"/>
              <a:cs typeface="Arial"/>
              <a:sym typeface="Arial"/>
            </a:endParaRPr>
          </a:p>
        </p:txBody>
      </p:sp>
      <p:sp>
        <p:nvSpPr>
          <p:cNvPr id="178" name="Google Shape;178;g36e7958bfd6_0_1"/>
          <p:cNvSpPr txBox="1"/>
          <p:nvPr/>
        </p:nvSpPr>
        <p:spPr>
          <a:xfrm>
            <a:off x="259157" y="1380236"/>
            <a:ext cx="11424600" cy="2908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Flexibility and Portability:</a:t>
            </a:r>
            <a:endParaRPr/>
          </a:p>
          <a:p>
            <a:pPr marL="0" marR="0" lvl="0" indent="0" algn="l" rtl="0">
              <a:lnSpc>
                <a:spcPct val="115000"/>
              </a:lnSpc>
              <a:spcBef>
                <a:spcPts val="1200"/>
              </a:spcBef>
              <a:spcAft>
                <a:spcPts val="0"/>
              </a:spcAft>
              <a:buNone/>
            </a:pPr>
            <a:r>
              <a:rPr lang="en-US" sz="1600" b="0" i="0" u="none" strike="noStrike" cap="none">
                <a:solidFill>
                  <a:schemeClr val="dk1"/>
                </a:solidFill>
                <a:latin typeface="Arial"/>
                <a:ea typeface="Arial"/>
                <a:cs typeface="Arial"/>
                <a:sym typeface="Arial"/>
              </a:rPr>
              <a:t>Using environment variables makes your application more flexible and portable. You can deploy the same codebase to various environments with different configurations simply by changing the environment variables.</a:t>
            </a:r>
            <a:endParaRPr/>
          </a:p>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How to access environment variables in Node.js:</a:t>
            </a:r>
            <a:endParaRPr/>
          </a:p>
          <a:p>
            <a:pPr marL="0" marR="0" lvl="0" indent="0" algn="l" rtl="0">
              <a:lnSpc>
                <a:spcPct val="115000"/>
              </a:lnSpc>
              <a:spcBef>
                <a:spcPts val="1200"/>
              </a:spcBef>
              <a:spcAft>
                <a:spcPts val="0"/>
              </a:spcAft>
              <a:buNone/>
            </a:pPr>
            <a:r>
              <a:rPr lang="en-US" sz="1600" b="0" i="0" u="none" strike="noStrike" cap="none">
                <a:solidFill>
                  <a:schemeClr val="dk1"/>
                </a:solidFill>
                <a:latin typeface="Arial"/>
                <a:ea typeface="Arial"/>
                <a:cs typeface="Arial"/>
                <a:sym typeface="Arial"/>
              </a:rPr>
              <a:t>Node.js provides the process.env object, which is a global object that contains all the environment variables available to the current Node.js process. You can access individual environment variables as properties of this object.</a:t>
            </a:r>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Understanding the </a:t>
            </a:r>
            <a:r>
              <a:rPr lang="en-US" sz="2400" b="1" i="0" u="none" strike="noStrike" cap="none" dirty="0">
                <a:solidFill>
                  <a:schemeClr val="dk1"/>
                </a:solidFill>
                <a:latin typeface="Arial"/>
                <a:ea typeface="Arial"/>
                <a:cs typeface="Arial"/>
                <a:sym typeface="Arial"/>
              </a:rPr>
              <a:t>server.js </a:t>
            </a:r>
            <a:r>
              <a:rPr lang="en-US" sz="2400" b="1" i="0" u="none" strike="noStrike" cap="none" dirty="0">
                <a:solidFill>
                  <a:srgbClr val="11175E"/>
                </a:solidFill>
                <a:latin typeface="Arial"/>
                <a:ea typeface="Arial"/>
                <a:cs typeface="Arial"/>
                <a:sym typeface="Arial"/>
              </a:rPr>
              <a:t>file PART 1</a:t>
            </a:r>
            <a:endParaRPr sz="2400" b="1" i="0" u="none" strike="noStrike" cap="none" dirty="0">
              <a:solidFill>
                <a:srgbClr val="11175E"/>
              </a:solidFill>
              <a:latin typeface="Arial"/>
              <a:ea typeface="Arial"/>
              <a:cs typeface="Arial"/>
              <a:sym typeface="Arial"/>
            </a:endParaRPr>
          </a:p>
        </p:txBody>
      </p:sp>
      <p:sp>
        <p:nvSpPr>
          <p:cNvPr id="184" name="Google Shape;184;p19"/>
          <p:cNvSpPr txBox="1"/>
          <p:nvPr/>
        </p:nvSpPr>
        <p:spPr>
          <a:xfrm>
            <a:off x="2967997" y="2133248"/>
            <a:ext cx="6626275" cy="431835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const mongoose = require('mongoose');</a:t>
            </a:r>
            <a:endParaRPr dirty="0"/>
          </a:p>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const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dotenv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 require('</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dotenv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Specify the path to the environment variable file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config.env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chemeClr val="dk1"/>
              </a:buClr>
              <a:buSzPts val="1100"/>
              <a:buFont typeface="Arial"/>
              <a:buNone/>
            </a:pP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dotenv.config</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path: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config.env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async function to connect to DB</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async function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connectDB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try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await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mongoose.connect</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process.env.DB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console.log</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("MongoDB connected successfully");</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 catch (error)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console.error</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("MongoDB connection failed:",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error.message</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process.exit</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(1);</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b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continue on next slide</a:t>
            </a: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1600"/>
              <a:buFont typeface="Arial"/>
              <a:buNone/>
            </a:pPr>
            <a:r>
              <a:rPr lang="en-US" sz="18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sz="18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28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185" name="Google Shape;185;p19"/>
          <p:cNvSpPr txBox="1"/>
          <p:nvPr/>
        </p:nvSpPr>
        <p:spPr>
          <a:xfrm>
            <a:off x="111760" y="1363939"/>
            <a:ext cx="10202700" cy="946800"/>
          </a:xfrm>
          <a:prstGeom prst="rect">
            <a:avLst/>
          </a:prstGeom>
          <a:noFill/>
          <a:ln>
            <a:noFill/>
          </a:ln>
        </p:spPr>
        <p:txBody>
          <a:bodyPr spcFirstLastPara="1" wrap="square" lIns="91425" tIns="91425" rIns="91425" bIns="91425" anchor="t" anchorCtr="0">
            <a:noAutofit/>
          </a:bodyPr>
          <a:lstStyle/>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server.js</a:t>
            </a:r>
            <a:r>
              <a:rPr lang="en-US" sz="1600" b="1" i="0" u="none" strike="noStrike" cap="none" dirty="0">
                <a:solidFill>
                  <a:schemeClr val="dk1"/>
                </a:solidFill>
                <a:latin typeface="Consolas" panose="020B0609020204030204" pitchFamily="49" charset="0"/>
                <a:cs typeface="Consolas" panose="020B0609020204030204" pitchFamily="49" charset="0"/>
                <a:sym typeface="Arial"/>
              </a:rPr>
              <a:t> </a:t>
            </a:r>
            <a:r>
              <a:rPr lang="en-US" sz="1600" b="0" i="0" u="none" strike="noStrike" cap="none" dirty="0">
                <a:solidFill>
                  <a:schemeClr val="dk1"/>
                </a:solidFill>
                <a:latin typeface="Arial"/>
                <a:ea typeface="Arial"/>
                <a:cs typeface="Arial"/>
                <a:sym typeface="Arial"/>
              </a:rPr>
              <a:t>file is provided in the example1 folder.</a:t>
            </a:r>
            <a:endParaRPr dirty="0"/>
          </a:p>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script here shows the </a:t>
            </a:r>
            <a:r>
              <a:rPr lang="en-US" sz="1600" b="1" i="0" u="none" strike="noStrike" cap="none" dirty="0">
                <a:solidFill>
                  <a:srgbClr val="0000FF"/>
                </a:solidFill>
                <a:latin typeface="Arial"/>
                <a:ea typeface="Arial"/>
                <a:cs typeface="Arial"/>
                <a:sym typeface="Arial"/>
              </a:rPr>
              <a:t>portion</a:t>
            </a:r>
            <a:r>
              <a:rPr lang="en-US" sz="1600" b="0" i="0" u="none" strike="noStrike" cap="none" dirty="0">
                <a:solidFill>
                  <a:schemeClr val="dk1"/>
                </a:solidFill>
                <a:latin typeface="Arial"/>
                <a:ea typeface="Arial"/>
                <a:cs typeface="Arial"/>
                <a:sym typeface="Arial"/>
              </a:rPr>
              <a:t> for connecting to database. </a:t>
            </a:r>
            <a:endParaRPr dirty="0"/>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sp>
        <p:nvSpPr>
          <p:cNvPr id="186" name="Google Shape;186;p19"/>
          <p:cNvSpPr txBox="1"/>
          <p:nvPr/>
        </p:nvSpPr>
        <p:spPr>
          <a:xfrm>
            <a:off x="346472" y="2065849"/>
            <a:ext cx="2376407" cy="677078"/>
          </a:xfrm>
          <a:prstGeom prst="rect">
            <a:avLst/>
          </a:prstGeom>
          <a:solidFill>
            <a:srgbClr val="F4B081"/>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Require the mongoose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rgbClr val="000000"/>
                </a:solidFill>
                <a:latin typeface="Arial"/>
                <a:ea typeface="Arial"/>
                <a:cs typeface="Arial"/>
                <a:sym typeface="Arial"/>
              </a:rPr>
              <a:t> library</a:t>
            </a:r>
            <a:endParaRPr sz="1600" b="0" i="0" u="none" strike="noStrike" cap="none" dirty="0">
              <a:solidFill>
                <a:srgbClr val="000000"/>
              </a:solidFill>
              <a:latin typeface="Arial"/>
              <a:ea typeface="Arial"/>
              <a:cs typeface="Arial"/>
              <a:sym typeface="Arial"/>
            </a:endParaRPr>
          </a:p>
        </p:txBody>
      </p:sp>
      <p:sp>
        <p:nvSpPr>
          <p:cNvPr id="187" name="Google Shape;187;p19"/>
          <p:cNvSpPr/>
          <p:nvPr/>
        </p:nvSpPr>
        <p:spPr>
          <a:xfrm>
            <a:off x="3017692" y="2183506"/>
            <a:ext cx="3557279" cy="492363"/>
          </a:xfrm>
          <a:prstGeom prst="flowChartAlternateProcess">
            <a:avLst/>
          </a:prstGeom>
          <a:noFill/>
          <a:ln w="19050" cap="flat" cmpd="sng">
            <a:solidFill>
              <a:srgbClr val="F4B08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88" name="Google Shape;188;p19"/>
          <p:cNvCxnSpPr>
            <a:cxnSpLocks/>
            <a:stCxn id="186" idx="3"/>
            <a:endCxn id="187" idx="1"/>
          </p:cNvCxnSpPr>
          <p:nvPr/>
        </p:nvCxnSpPr>
        <p:spPr>
          <a:xfrm>
            <a:off x="2722879" y="2404388"/>
            <a:ext cx="294813" cy="25300"/>
          </a:xfrm>
          <a:prstGeom prst="straightConnector1">
            <a:avLst/>
          </a:prstGeom>
          <a:noFill/>
          <a:ln w="19050" cap="flat" cmpd="sng">
            <a:solidFill>
              <a:srgbClr val="F4B081"/>
            </a:solidFill>
            <a:prstDash val="solid"/>
            <a:round/>
            <a:headEnd type="none" w="sm" len="sm"/>
            <a:tailEnd type="triangle" w="med" len="med"/>
          </a:ln>
        </p:spPr>
      </p:cxnSp>
      <p:sp>
        <p:nvSpPr>
          <p:cNvPr id="189" name="Google Shape;189;p19"/>
          <p:cNvSpPr/>
          <p:nvPr/>
        </p:nvSpPr>
        <p:spPr>
          <a:xfrm>
            <a:off x="3017692" y="3005884"/>
            <a:ext cx="3709679" cy="275575"/>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0" name="Google Shape;190;p19"/>
          <p:cNvCxnSpPr>
            <a:cxnSpLocks/>
            <a:stCxn id="191" idx="1"/>
            <a:endCxn id="189" idx="3"/>
          </p:cNvCxnSpPr>
          <p:nvPr/>
        </p:nvCxnSpPr>
        <p:spPr>
          <a:xfrm flipH="1">
            <a:off x="6727371" y="3111872"/>
            <a:ext cx="3031286" cy="31800"/>
          </a:xfrm>
          <a:prstGeom prst="straightConnector1">
            <a:avLst/>
          </a:prstGeom>
          <a:noFill/>
          <a:ln w="19050" cap="flat" cmpd="sng">
            <a:solidFill>
              <a:srgbClr val="6AA84F"/>
            </a:solidFill>
            <a:prstDash val="solid"/>
            <a:round/>
            <a:headEnd type="none" w="sm" len="sm"/>
            <a:tailEnd type="triangle" w="med" len="med"/>
          </a:ln>
        </p:spPr>
      </p:cxnSp>
      <p:sp>
        <p:nvSpPr>
          <p:cNvPr id="191" name="Google Shape;191;p19"/>
          <p:cNvSpPr txBox="1"/>
          <p:nvPr/>
        </p:nvSpPr>
        <p:spPr>
          <a:xfrm>
            <a:off x="9758657" y="2773333"/>
            <a:ext cx="2086870"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Specify the path of the </a:t>
            </a:r>
            <a:r>
              <a:rPr lang="en-US" sz="1600" b="1" dirty="0">
                <a:solidFill>
                  <a:schemeClr val="dk1"/>
                </a:solidFill>
                <a:latin typeface="Consolas" panose="020B0609020204030204" pitchFamily="49" charset="0"/>
                <a:cs typeface="Consolas" panose="020B0609020204030204" pitchFamily="49" charset="0"/>
              </a:rPr>
              <a:t>.env</a:t>
            </a:r>
            <a:r>
              <a:rPr lang="en-US" sz="1600" b="0" i="0" u="none" strike="noStrike" cap="none" dirty="0">
                <a:solidFill>
                  <a:schemeClr val="dk1"/>
                </a:solidFill>
                <a:latin typeface="Arial"/>
                <a:ea typeface="Arial"/>
                <a:cs typeface="Arial"/>
                <a:sym typeface="Arial"/>
              </a:rPr>
              <a:t> file</a:t>
            </a:r>
            <a:endParaRPr sz="1600" b="0" i="0" u="none" strike="noStrike" cap="none" dirty="0">
              <a:solidFill>
                <a:srgbClr val="000000"/>
              </a:solidFill>
              <a:latin typeface="Arial"/>
              <a:ea typeface="Arial"/>
              <a:cs typeface="Arial"/>
              <a:sym typeface="Arial"/>
            </a:endParaRPr>
          </a:p>
        </p:txBody>
      </p:sp>
      <p:sp>
        <p:nvSpPr>
          <p:cNvPr id="192" name="Google Shape;192;p19"/>
          <p:cNvSpPr txBox="1"/>
          <p:nvPr/>
        </p:nvSpPr>
        <p:spPr>
          <a:xfrm>
            <a:off x="346472" y="3305983"/>
            <a:ext cx="2376408" cy="1661963"/>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Asyn function is written to connect to the database to ensure that the database is connected before we start the webserver.</a:t>
            </a:r>
            <a:endParaRPr sz="1600" b="0" i="0" u="none" strike="noStrike" cap="none">
              <a:solidFill>
                <a:srgbClr val="000000"/>
              </a:solidFill>
              <a:latin typeface="Arial"/>
              <a:ea typeface="Arial"/>
              <a:cs typeface="Arial"/>
              <a:sym typeface="Arial"/>
            </a:endParaRPr>
          </a:p>
        </p:txBody>
      </p:sp>
      <p:sp>
        <p:nvSpPr>
          <p:cNvPr id="193" name="Google Shape;193;p19"/>
          <p:cNvSpPr/>
          <p:nvPr/>
        </p:nvSpPr>
        <p:spPr>
          <a:xfrm>
            <a:off x="3021874" y="3822857"/>
            <a:ext cx="2981362" cy="227912"/>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4" name="Google Shape;194;p19"/>
          <p:cNvCxnSpPr>
            <a:cxnSpLocks/>
            <a:stCxn id="192" idx="3"/>
            <a:endCxn id="193" idx="1"/>
          </p:cNvCxnSpPr>
          <p:nvPr/>
        </p:nvCxnSpPr>
        <p:spPr>
          <a:xfrm flipV="1">
            <a:off x="2722880" y="3936813"/>
            <a:ext cx="298994" cy="200152"/>
          </a:xfrm>
          <a:prstGeom prst="straightConnector1">
            <a:avLst/>
          </a:prstGeom>
          <a:noFill/>
          <a:ln w="19050" cap="flat" cmpd="sng">
            <a:solidFill>
              <a:srgbClr val="FFCCFF"/>
            </a:solidFill>
            <a:prstDash val="solid"/>
            <a:round/>
            <a:headEnd type="none" w="sm" len="sm"/>
            <a:tailEnd type="triangle" w="med" len="med"/>
          </a:ln>
        </p:spPr>
      </p:cxnSp>
      <p:sp>
        <p:nvSpPr>
          <p:cNvPr id="195" name="Google Shape;195;p19"/>
          <p:cNvSpPr/>
          <p:nvPr/>
        </p:nvSpPr>
        <p:spPr>
          <a:xfrm>
            <a:off x="3362205" y="4168030"/>
            <a:ext cx="3709679" cy="27391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6" name="Google Shape;196;p19"/>
          <p:cNvCxnSpPr>
            <a:cxnSpLocks/>
            <a:stCxn id="197" idx="1"/>
            <a:endCxn id="195" idx="3"/>
          </p:cNvCxnSpPr>
          <p:nvPr/>
        </p:nvCxnSpPr>
        <p:spPr>
          <a:xfrm flipH="1" flipV="1">
            <a:off x="7071884" y="4304985"/>
            <a:ext cx="2686772" cy="215445"/>
          </a:xfrm>
          <a:prstGeom prst="straightConnector1">
            <a:avLst/>
          </a:prstGeom>
          <a:noFill/>
          <a:ln w="19050" cap="flat" cmpd="sng">
            <a:solidFill>
              <a:srgbClr val="0000FF"/>
            </a:solidFill>
            <a:prstDash val="solid"/>
            <a:round/>
            <a:headEnd type="none" w="sm" len="sm"/>
            <a:tailEnd type="triangle" w="med" len="med"/>
          </a:ln>
        </p:spPr>
      </p:cxnSp>
      <p:sp>
        <p:nvSpPr>
          <p:cNvPr id="197" name="Google Shape;197;p19"/>
          <p:cNvSpPr txBox="1"/>
          <p:nvPr/>
        </p:nvSpPr>
        <p:spPr>
          <a:xfrm>
            <a:off x="9758656" y="3566338"/>
            <a:ext cx="2086800" cy="1908184"/>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We connect to MongoDB with the const DB in the </a:t>
            </a:r>
            <a:r>
              <a:rPr lang="en-US" sz="1600" b="1" dirty="0" err="1">
                <a:solidFill>
                  <a:schemeClr val="dk1"/>
                </a:solidFill>
                <a:latin typeface="Consolas" panose="020B0609020204030204" pitchFamily="49" charset="0"/>
                <a:cs typeface="Consolas" panose="020B0609020204030204" pitchFamily="49" charset="0"/>
              </a:rPr>
              <a:t>config.env</a:t>
            </a:r>
            <a:r>
              <a:rPr lang="en-US" sz="1600" b="0" i="0" u="none" strike="noStrike" cap="none" dirty="0">
                <a:solidFill>
                  <a:schemeClr val="dk1"/>
                </a:solidFill>
                <a:latin typeface="Arial"/>
                <a:ea typeface="Arial"/>
                <a:cs typeface="Arial"/>
                <a:sym typeface="Arial"/>
              </a:rPr>
              <a:t> file. DB contains your </a:t>
            </a:r>
            <a:r>
              <a:rPr lang="en-US" sz="1600" b="1" dirty="0">
                <a:solidFill>
                  <a:schemeClr val="dk1"/>
                </a:solidFill>
                <a:latin typeface="Consolas" panose="020B0609020204030204" pitchFamily="49" charset="0"/>
                <a:cs typeface="Consolas" panose="020B0609020204030204" pitchFamily="49" charset="0"/>
              </a:rPr>
              <a:t>username</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password</a:t>
            </a:r>
            <a:r>
              <a:rPr lang="en-US" sz="1600" b="0" i="0" u="none" strike="noStrike" cap="none" dirty="0">
                <a:solidFill>
                  <a:schemeClr val="dk1"/>
                </a:solidFill>
                <a:latin typeface="Arial"/>
                <a:ea typeface="Arial"/>
                <a:cs typeface="Arial"/>
                <a:sym typeface="Arial"/>
              </a:rPr>
              <a:t> and cluster address </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6e7958bfd6_0_3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Understanding the </a:t>
            </a:r>
            <a:r>
              <a:rPr lang="en-US" sz="2400" b="1" i="0" u="none" strike="noStrike" cap="none" dirty="0">
                <a:solidFill>
                  <a:schemeClr val="dk1"/>
                </a:solidFill>
                <a:latin typeface="Arial"/>
                <a:ea typeface="Arial"/>
                <a:cs typeface="Arial"/>
                <a:sym typeface="Arial"/>
              </a:rPr>
              <a:t>server.js </a:t>
            </a:r>
            <a:r>
              <a:rPr lang="en-US" sz="2400" b="1" i="0" u="none" strike="noStrike" cap="none" dirty="0">
                <a:solidFill>
                  <a:srgbClr val="11175E"/>
                </a:solidFill>
                <a:latin typeface="Arial"/>
                <a:ea typeface="Arial"/>
                <a:cs typeface="Arial"/>
                <a:sym typeface="Arial"/>
              </a:rPr>
              <a:t>file PART 2</a:t>
            </a:r>
            <a:endParaRPr sz="2400" b="1" i="0" u="none" strike="noStrike" cap="none" dirty="0">
              <a:solidFill>
                <a:srgbClr val="11175E"/>
              </a:solidFill>
              <a:latin typeface="Arial"/>
              <a:ea typeface="Arial"/>
              <a:cs typeface="Arial"/>
              <a:sym typeface="Arial"/>
            </a:endParaRPr>
          </a:p>
        </p:txBody>
      </p:sp>
      <p:sp>
        <p:nvSpPr>
          <p:cNvPr id="203" name="Google Shape;203;g36e7958bfd6_0_33"/>
          <p:cNvSpPr txBox="1"/>
          <p:nvPr/>
        </p:nvSpPr>
        <p:spPr>
          <a:xfrm>
            <a:off x="2967997" y="2364739"/>
            <a:ext cx="6626275" cy="3423414"/>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b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function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startServer</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const hostname = "localhost"; // Define server hostname</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const port = 8000;// Define port number</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 Start the server and listen on the specified hostname and port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server.listen</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(port, hostname, () =&gt;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console.log</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(`Server running at http://${hostname}:${port}/`);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b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call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connectDB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first and when connection is ready, we start the web server</a:t>
            </a:r>
            <a:endParaRPr dirty="0"/>
          </a:p>
          <a:p>
            <a:pPr marL="0" marR="0" lvl="0" indent="0" algn="l" rtl="0">
              <a:lnSpc>
                <a:spcPct val="100000"/>
              </a:lnSpc>
              <a:spcBef>
                <a:spcPts val="0"/>
              </a:spcBef>
              <a:spcAft>
                <a:spcPts val="0"/>
              </a:spcAft>
              <a:buNone/>
            </a:pP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connectDB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().then(</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startServer</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28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204" name="Google Shape;204;g36e7958bfd6_0_33"/>
          <p:cNvSpPr txBox="1"/>
          <p:nvPr/>
        </p:nvSpPr>
        <p:spPr>
          <a:xfrm>
            <a:off x="111760" y="1363939"/>
            <a:ext cx="10202700" cy="946800"/>
          </a:xfrm>
          <a:prstGeom prst="rect">
            <a:avLst/>
          </a:prstGeom>
          <a:noFill/>
          <a:ln>
            <a:noFill/>
          </a:ln>
        </p:spPr>
        <p:txBody>
          <a:bodyPr spcFirstLastPara="1" wrap="square" lIns="91425" tIns="91425" rIns="91425" bIns="91425" anchor="t" anchorCtr="0">
            <a:noAutofit/>
          </a:bodyPr>
          <a:lstStyle/>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server.js</a:t>
            </a:r>
            <a:r>
              <a:rPr lang="en-US" sz="1600" b="0" i="0" u="none" strike="noStrike" cap="none" dirty="0">
                <a:solidFill>
                  <a:schemeClr val="dk1"/>
                </a:solidFill>
                <a:latin typeface="Arial"/>
                <a:ea typeface="Arial"/>
                <a:cs typeface="Arial"/>
                <a:sym typeface="Arial"/>
              </a:rPr>
              <a:t> file is provided in the example1 folder.</a:t>
            </a:r>
            <a:endParaRPr dirty="0"/>
          </a:p>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script here shows the </a:t>
            </a:r>
            <a:r>
              <a:rPr lang="en-US" sz="1600" b="1" i="0" u="none" strike="noStrike" cap="none" dirty="0">
                <a:solidFill>
                  <a:srgbClr val="0000FF"/>
                </a:solidFill>
                <a:latin typeface="Arial"/>
                <a:ea typeface="Arial"/>
                <a:cs typeface="Arial"/>
                <a:sym typeface="Arial"/>
              </a:rPr>
              <a:t>portion</a:t>
            </a:r>
            <a:r>
              <a:rPr lang="en-US" sz="1600" b="0" i="0" u="none" strike="noStrike" cap="none" dirty="0">
                <a:solidFill>
                  <a:schemeClr val="dk1"/>
                </a:solidFill>
                <a:latin typeface="Arial"/>
                <a:ea typeface="Arial"/>
                <a:cs typeface="Arial"/>
                <a:sym typeface="Arial"/>
              </a:rPr>
              <a:t> for starting the web server. </a:t>
            </a:r>
            <a:endParaRPr dirty="0"/>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sp>
        <p:nvSpPr>
          <p:cNvPr id="205" name="Google Shape;205;g36e7958bfd6_0_33"/>
          <p:cNvSpPr txBox="1"/>
          <p:nvPr/>
        </p:nvSpPr>
        <p:spPr>
          <a:xfrm>
            <a:off x="318312" y="4657383"/>
            <a:ext cx="2376408" cy="1415742"/>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We call the </a:t>
            </a:r>
            <a:r>
              <a:rPr lang="en-US" sz="1600" b="1" i="0" u="none" strike="noStrike" cap="none" dirty="0" err="1">
                <a:solidFill>
                  <a:srgbClr val="000000"/>
                </a:solidFill>
                <a:latin typeface="Consolas" panose="020B0609020204030204" pitchFamily="49" charset="0"/>
                <a:cs typeface="Consolas" panose="020B0609020204030204" pitchFamily="49" charset="0"/>
                <a:sym typeface="Arial"/>
              </a:rPr>
              <a:t>connectDB</a:t>
            </a:r>
            <a:r>
              <a:rPr lang="en-US" sz="1600" b="0" i="0" u="none" strike="noStrike" cap="none" dirty="0">
                <a:solidFill>
                  <a:srgbClr val="000000"/>
                </a:solidFill>
                <a:latin typeface="Arial"/>
                <a:ea typeface="Arial"/>
                <a:cs typeface="Arial"/>
                <a:sym typeface="Arial"/>
              </a:rPr>
              <a:t> function first to ensure that the database is connected before we start the web server.</a:t>
            </a:r>
            <a:endParaRPr sz="1600" b="0" i="0" u="none" strike="noStrike" cap="none" dirty="0">
              <a:solidFill>
                <a:srgbClr val="000000"/>
              </a:solidFill>
              <a:latin typeface="Arial"/>
              <a:ea typeface="Arial"/>
              <a:cs typeface="Arial"/>
              <a:sym typeface="Arial"/>
            </a:endParaRPr>
          </a:p>
        </p:txBody>
      </p:sp>
      <p:sp>
        <p:nvSpPr>
          <p:cNvPr id="206" name="Google Shape;206;g36e7958bfd6_0_33"/>
          <p:cNvSpPr/>
          <p:nvPr/>
        </p:nvSpPr>
        <p:spPr>
          <a:xfrm>
            <a:off x="2967997" y="5221793"/>
            <a:ext cx="1096003" cy="286922"/>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7" name="Google Shape;207;g36e7958bfd6_0_33"/>
          <p:cNvCxnSpPr>
            <a:cxnSpLocks/>
            <a:stCxn id="205" idx="3"/>
            <a:endCxn id="206" idx="1"/>
          </p:cNvCxnSpPr>
          <p:nvPr/>
        </p:nvCxnSpPr>
        <p:spPr>
          <a:xfrm>
            <a:off x="2694720" y="5365254"/>
            <a:ext cx="273277" cy="0"/>
          </a:xfrm>
          <a:prstGeom prst="straightConnector1">
            <a:avLst/>
          </a:prstGeom>
          <a:noFill/>
          <a:ln w="19050" cap="flat" cmpd="sng">
            <a:solidFill>
              <a:srgbClr val="FFCCFF"/>
            </a:solidFill>
            <a:prstDash val="solid"/>
            <a:round/>
            <a:headEnd type="none" w="sm" len="sm"/>
            <a:tailEnd type="triangle" w="med" len="med"/>
          </a:ln>
        </p:spPr>
      </p:cxnSp>
      <p:sp>
        <p:nvSpPr>
          <p:cNvPr id="208" name="Google Shape;208;g36e7958bfd6_0_33"/>
          <p:cNvSpPr/>
          <p:nvPr/>
        </p:nvSpPr>
        <p:spPr>
          <a:xfrm>
            <a:off x="4482730" y="5199065"/>
            <a:ext cx="1199613" cy="2869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9" name="Google Shape;209;g36e7958bfd6_0_33"/>
          <p:cNvCxnSpPr>
            <a:cxnSpLocks/>
            <a:stCxn id="210" idx="1"/>
            <a:endCxn id="208" idx="3"/>
          </p:cNvCxnSpPr>
          <p:nvPr/>
        </p:nvCxnSpPr>
        <p:spPr>
          <a:xfrm flipH="1">
            <a:off x="5682343" y="5342525"/>
            <a:ext cx="4046538" cy="1"/>
          </a:xfrm>
          <a:prstGeom prst="straightConnector1">
            <a:avLst/>
          </a:prstGeom>
          <a:noFill/>
          <a:ln w="19050" cap="flat" cmpd="sng">
            <a:solidFill>
              <a:srgbClr val="0000FF"/>
            </a:solidFill>
            <a:prstDash val="solid"/>
            <a:round/>
            <a:headEnd type="none" w="sm" len="sm"/>
            <a:tailEnd type="triangle" w="med" len="med"/>
          </a:ln>
        </p:spPr>
      </p:cxnSp>
      <p:sp>
        <p:nvSpPr>
          <p:cNvPr id="210" name="Google Shape;210;g36e7958bfd6_0_33"/>
          <p:cNvSpPr txBox="1"/>
          <p:nvPr/>
        </p:nvSpPr>
        <p:spPr>
          <a:xfrm>
            <a:off x="9728881" y="4511543"/>
            <a:ext cx="1945800"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Call </a:t>
            </a:r>
            <a:r>
              <a:rPr lang="en-US" sz="1600" b="1" dirty="0" err="1">
                <a:solidFill>
                  <a:schemeClr val="dk1"/>
                </a:solidFill>
                <a:latin typeface="Consolas" panose="020B0609020204030204" pitchFamily="49" charset="0"/>
                <a:cs typeface="Consolas" panose="020B0609020204030204" pitchFamily="49" charset="0"/>
              </a:rPr>
              <a:t>startServer</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function when database connection has been established.</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6e7437085d_0_21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Install Mongoose and </a:t>
            </a:r>
            <a:r>
              <a:rPr lang="en-US" sz="2400" b="1" i="0" u="none" strike="noStrike" cap="none" dirty="0" err="1">
                <a:solidFill>
                  <a:srgbClr val="11175E"/>
                </a:solidFill>
                <a:latin typeface="Arial"/>
                <a:ea typeface="Arial"/>
                <a:cs typeface="Arial"/>
                <a:sym typeface="Arial"/>
              </a:rPr>
              <a:t>dotenv</a:t>
            </a:r>
            <a:r>
              <a:rPr lang="en-US" sz="2400" b="1" i="0" u="none" strike="noStrike" cap="none" dirty="0">
                <a:solidFill>
                  <a:srgbClr val="11175E"/>
                </a:solidFill>
                <a:latin typeface="Arial"/>
                <a:ea typeface="Arial"/>
                <a:cs typeface="Arial"/>
                <a:sym typeface="Arial"/>
              </a:rPr>
              <a:t> </a:t>
            </a:r>
            <a:endParaRPr sz="2400" b="1" i="0" u="none" strike="noStrike" cap="none" dirty="0">
              <a:solidFill>
                <a:srgbClr val="11175E"/>
              </a:solidFill>
              <a:latin typeface="Arial"/>
              <a:ea typeface="Arial"/>
              <a:cs typeface="Arial"/>
              <a:sym typeface="Arial"/>
            </a:endParaRPr>
          </a:p>
        </p:txBody>
      </p:sp>
      <p:sp>
        <p:nvSpPr>
          <p:cNvPr id="217" name="Google Shape;217;g36e7437085d_0_217"/>
          <p:cNvSpPr txBox="1"/>
          <p:nvPr/>
        </p:nvSpPr>
        <p:spPr>
          <a:xfrm>
            <a:off x="252666" y="1415936"/>
            <a:ext cx="7246800"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Install dependencies and connecting to database</a:t>
            </a:r>
            <a:endParaRPr sz="1600" dirty="0"/>
          </a:p>
        </p:txBody>
      </p:sp>
      <p:sp>
        <p:nvSpPr>
          <p:cNvPr id="218" name="Google Shape;218;g36e7437085d_0_217"/>
          <p:cNvSpPr txBox="1"/>
          <p:nvPr/>
        </p:nvSpPr>
        <p:spPr>
          <a:xfrm>
            <a:off x="240869" y="1858289"/>
            <a:ext cx="942433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Now we need to install </a:t>
            </a:r>
            <a:r>
              <a:rPr lang="en-US" sz="1600" b="1" i="0" u="none" strike="noStrike" cap="none" dirty="0">
                <a:solidFill>
                  <a:schemeClr val="dk1"/>
                </a:solidFill>
                <a:latin typeface="Arial"/>
                <a:ea typeface="Arial"/>
                <a:cs typeface="Arial"/>
                <a:sym typeface="Arial"/>
              </a:rPr>
              <a:t>Mongoose</a:t>
            </a:r>
            <a:r>
              <a:rPr lang="en-US" sz="1600" b="0" i="0" u="none" strike="noStrike" cap="none" dirty="0">
                <a:solidFill>
                  <a:schemeClr val="dk1"/>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chemeClr val="dk1"/>
                </a:solidFill>
                <a:latin typeface="Arial"/>
                <a:ea typeface="Arial"/>
                <a:cs typeface="Arial"/>
                <a:sym typeface="Arial"/>
              </a:rPr>
              <a:t> to our application (project) so we can use it. </a:t>
            </a:r>
            <a:endParaRPr sz="1600" b="0" i="0" u="none" strike="noStrike" cap="none" dirty="0">
              <a:solidFill>
                <a:srgbClr val="000000"/>
              </a:solidFill>
              <a:latin typeface="Arial"/>
              <a:ea typeface="Arial"/>
              <a:cs typeface="Arial"/>
              <a:sym typeface="Arial"/>
            </a:endParaRPr>
          </a:p>
        </p:txBody>
      </p:sp>
      <p:sp>
        <p:nvSpPr>
          <p:cNvPr id="219" name="Google Shape;219;g36e7437085d_0_217"/>
          <p:cNvSpPr txBox="1"/>
          <p:nvPr/>
        </p:nvSpPr>
        <p:spPr>
          <a:xfrm>
            <a:off x="121221" y="2456082"/>
            <a:ext cx="5541264" cy="3231614"/>
          </a:xfrm>
          <a:prstGeom prst="rect">
            <a:avLst/>
          </a:prstGeom>
          <a:noFill/>
          <a:ln>
            <a:noFill/>
          </a:ln>
        </p:spPr>
        <p:txBody>
          <a:bodyPr spcFirstLastPara="1" wrap="square" lIns="91425" tIns="45700" rIns="91425" bIns="45700" anchor="t" anchorCtr="0">
            <a:sp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Navigate to your directory where </a:t>
            </a:r>
            <a:r>
              <a:rPr lang="en-US" sz="1600" b="1" dirty="0">
                <a:solidFill>
                  <a:schemeClr val="dk1"/>
                </a:solidFill>
                <a:latin typeface="Consolas" panose="020B0609020204030204" pitchFamily="49" charset="0"/>
                <a:cs typeface="Consolas" panose="020B0609020204030204" pitchFamily="49" charset="0"/>
              </a:rPr>
              <a:t>example1</a:t>
            </a:r>
            <a:r>
              <a:rPr lang="en-US" sz="1600" b="0" i="0" u="none" strike="noStrike" cap="none" dirty="0">
                <a:solidFill>
                  <a:schemeClr val="dk1"/>
                </a:solidFill>
                <a:latin typeface="Arial"/>
                <a:ea typeface="Arial"/>
                <a:cs typeface="Arial"/>
                <a:sym typeface="Arial"/>
              </a:rPr>
              <a:t> folder is located.</a:t>
            </a:r>
            <a:endParaRPr dirty="0"/>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Please </a:t>
            </a:r>
            <a:r>
              <a:rPr lang="en-US" sz="1600" b="1" i="0" u="none" strike="noStrike" cap="none" dirty="0">
                <a:solidFill>
                  <a:schemeClr val="dk1"/>
                </a:solidFill>
                <a:latin typeface="Arial"/>
                <a:ea typeface="Arial"/>
                <a:cs typeface="Arial"/>
                <a:sym typeface="Arial"/>
              </a:rPr>
              <a:t>ensure</a:t>
            </a:r>
            <a:r>
              <a:rPr lang="en-US" sz="1600" b="0" i="0" u="none" strike="noStrike" cap="none" dirty="0">
                <a:solidFill>
                  <a:schemeClr val="dk1"/>
                </a:solidFill>
                <a:latin typeface="Arial"/>
                <a:ea typeface="Arial"/>
                <a:cs typeface="Arial"/>
                <a:sym typeface="Arial"/>
              </a:rPr>
              <a:t> that </a:t>
            </a:r>
            <a:r>
              <a:rPr lang="en-US" sz="1600" b="1" dirty="0">
                <a:solidFill>
                  <a:schemeClr val="dk1"/>
                </a:solidFill>
                <a:latin typeface="Consolas" panose="020B0609020204030204" pitchFamily="49" charset="0"/>
                <a:cs typeface="Consolas" panose="020B0609020204030204" pitchFamily="49" charset="0"/>
              </a:rPr>
              <a:t>express</a:t>
            </a:r>
            <a:r>
              <a:rPr lang="en-US" sz="1600" b="0" i="0" u="none" strike="noStrike" cap="none" dirty="0">
                <a:solidFill>
                  <a:schemeClr val="dk1"/>
                </a:solidFill>
                <a:latin typeface="Arial"/>
                <a:ea typeface="Arial"/>
                <a:cs typeface="Arial"/>
                <a:sym typeface="Arial"/>
              </a:rPr>
              <a:t>, </a:t>
            </a:r>
            <a:r>
              <a:rPr lang="en-US" sz="1600" b="1" dirty="0" err="1">
                <a:solidFill>
                  <a:schemeClr val="dk1"/>
                </a:solidFill>
                <a:latin typeface="Consolas" panose="020B0609020204030204" pitchFamily="49" charset="0"/>
                <a:cs typeface="Consolas" panose="020B0609020204030204" pitchFamily="49" charset="0"/>
              </a:rPr>
              <a:t>ejs</a:t>
            </a:r>
            <a:r>
              <a:rPr lang="en-US" sz="1600" b="0" i="0" u="none" strike="noStrike" cap="none" dirty="0">
                <a:solidFill>
                  <a:schemeClr val="dk1"/>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nodemon</a:t>
            </a:r>
            <a:r>
              <a:rPr lang="en-US" sz="1600" b="0" i="0" u="none" strike="noStrike" cap="none" dirty="0">
                <a:solidFill>
                  <a:schemeClr val="dk1"/>
                </a:solidFill>
                <a:latin typeface="Arial"/>
                <a:ea typeface="Arial"/>
                <a:cs typeface="Arial"/>
                <a:sym typeface="Arial"/>
              </a:rPr>
              <a:t> are installed in this directory</a:t>
            </a:r>
            <a:endParaRPr dirty="0"/>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a:t>
            </a:r>
            <a:r>
              <a:rPr lang="en-US" sz="1600" b="1" dirty="0">
                <a:solidFill>
                  <a:schemeClr val="dk1"/>
                </a:solidFill>
                <a:latin typeface="Consolas" panose="020B0609020204030204" pitchFamily="49" charset="0"/>
                <a:cs typeface="Consolas" panose="020B0609020204030204" pitchFamily="49" charset="0"/>
              </a:rPr>
              <a:t>terminal</a:t>
            </a:r>
            <a:r>
              <a:rPr lang="en-US" sz="1600" b="1" i="0" u="none" strike="noStrike" cap="none" dirty="0">
                <a:solidFill>
                  <a:srgbClr val="0000FF"/>
                </a:solidFill>
                <a:latin typeface="Arial"/>
                <a:ea typeface="Arial"/>
                <a:cs typeface="Arial"/>
                <a:sym typeface="Arial"/>
              </a:rPr>
              <a:t> </a:t>
            </a:r>
            <a:endParaRPr dirty="0"/>
          </a:p>
          <a:p>
            <a:pPr marL="733425" marR="0" lvl="8"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latin typeface="Arial"/>
                <a:ea typeface="Arial"/>
                <a:cs typeface="Arial"/>
                <a:sym typeface="Arial"/>
              </a:rPr>
              <a:t>type : </a:t>
            </a:r>
            <a:r>
              <a:rPr lang="en-US" sz="1600" b="1" dirty="0" err="1">
                <a:solidFill>
                  <a:schemeClr val="dk1"/>
                </a:solidFill>
                <a:latin typeface="Consolas" panose="020B0609020204030204" pitchFamily="49" charset="0"/>
                <a:cs typeface="Consolas" panose="020B0609020204030204" pitchFamily="49" charset="0"/>
              </a:rPr>
              <a:t>npm</a:t>
            </a:r>
            <a:r>
              <a:rPr lang="en-US" sz="1600" b="1" dirty="0">
                <a:solidFill>
                  <a:schemeClr val="dk1"/>
                </a:solidFill>
                <a:latin typeface="Consolas" panose="020B0609020204030204" pitchFamily="49" charset="0"/>
                <a:cs typeface="Consolas" panose="020B0609020204030204" pitchFamily="49" charset="0"/>
              </a:rPr>
              <a:t> install mongoose</a:t>
            </a:r>
            <a:endParaRPr sz="1600" b="1" dirty="0">
              <a:solidFill>
                <a:schemeClr val="dk1"/>
              </a:solidFill>
              <a:latin typeface="Consolas" panose="020B0609020204030204" pitchFamily="49" charset="0"/>
              <a:cs typeface="Consolas" panose="020B0609020204030204" pitchFamily="49" charset="0"/>
            </a:endParaRPr>
          </a:p>
          <a:p>
            <a:pPr marL="733425" marR="0" lvl="7"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latin typeface="Arial"/>
                <a:ea typeface="Arial"/>
                <a:cs typeface="Arial"/>
                <a:sym typeface="Arial"/>
              </a:rPr>
              <a:t>type : </a:t>
            </a:r>
            <a:r>
              <a:rPr lang="en-US" sz="1600" b="1" dirty="0" err="1">
                <a:solidFill>
                  <a:schemeClr val="dk1"/>
                </a:solidFill>
                <a:latin typeface="Consolas" panose="020B0609020204030204" pitchFamily="49" charset="0"/>
                <a:cs typeface="Consolas" panose="020B0609020204030204" pitchFamily="49" charset="0"/>
              </a:rPr>
              <a:t>npm</a:t>
            </a:r>
            <a:r>
              <a:rPr lang="en-US" sz="1600" b="1" dirty="0">
                <a:solidFill>
                  <a:schemeClr val="dk1"/>
                </a:solidFill>
                <a:latin typeface="Consolas" panose="020B0609020204030204" pitchFamily="49" charset="0"/>
                <a:cs typeface="Consolas" panose="020B0609020204030204" pitchFamily="49" charset="0"/>
              </a:rPr>
              <a:t> install </a:t>
            </a:r>
            <a:r>
              <a:rPr lang="en-US" sz="1600" b="1" dirty="0" err="1">
                <a:solidFill>
                  <a:schemeClr val="dk1"/>
                </a:solidFill>
                <a:latin typeface="Consolas" panose="020B0609020204030204" pitchFamily="49" charset="0"/>
                <a:cs typeface="Consolas" panose="020B0609020204030204" pitchFamily="49" charset="0"/>
              </a:rPr>
              <a:t>dotenv</a:t>
            </a:r>
            <a:endParaRPr sz="1600" b="1" dirty="0">
              <a:solidFill>
                <a:schemeClr val="dk1"/>
              </a:solidFill>
              <a:latin typeface="Consolas" panose="020B0609020204030204" pitchFamily="49" charset="0"/>
              <a:cs typeface="Consolas" panose="020B0609020204030204" pitchFamily="49" charset="0"/>
            </a:endParaRPr>
          </a:p>
          <a:p>
            <a:pPr marL="733425" marR="0" lvl="7"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latin typeface="Arial"/>
                <a:ea typeface="Arial"/>
                <a:cs typeface="Arial"/>
                <a:sym typeface="Arial"/>
              </a:rPr>
              <a:t>type : </a:t>
            </a:r>
            <a:r>
              <a:rPr lang="en-US" sz="1600" b="1" dirty="0" err="1">
                <a:solidFill>
                  <a:schemeClr val="dk1"/>
                </a:solidFill>
                <a:latin typeface="Consolas" panose="020B0609020204030204" pitchFamily="49" charset="0"/>
                <a:cs typeface="Consolas" panose="020B0609020204030204" pitchFamily="49" charset="0"/>
              </a:rPr>
              <a:t>npm</a:t>
            </a:r>
            <a:r>
              <a:rPr lang="en-US" sz="1600" b="1" dirty="0">
                <a:solidFill>
                  <a:schemeClr val="dk1"/>
                </a:solidFill>
                <a:latin typeface="Consolas" panose="020B0609020204030204" pitchFamily="49" charset="0"/>
                <a:cs typeface="Consolas" panose="020B0609020204030204" pitchFamily="49" charset="0"/>
              </a:rPr>
              <a:t> start</a:t>
            </a:r>
            <a:endParaRPr sz="1600" b="1" dirty="0">
              <a:solidFill>
                <a:schemeClr val="dk1"/>
              </a:solidFill>
              <a:latin typeface="Consolas" panose="020B0609020204030204" pitchFamily="49" charset="0"/>
              <a:cs typeface="Consolas" panose="020B0609020204030204" pitchFamily="49" charset="0"/>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You should see that </a:t>
            </a:r>
            <a:r>
              <a:rPr lang="en-US" sz="1600" b="1" i="0" u="none" strike="noStrike" cap="none" dirty="0">
                <a:solidFill>
                  <a:schemeClr val="dk1"/>
                </a:solidFill>
                <a:latin typeface="Arial"/>
                <a:ea typeface="Arial"/>
                <a:cs typeface="Arial"/>
                <a:sym typeface="Arial"/>
              </a:rPr>
              <a:t>MongoDB</a:t>
            </a:r>
            <a:r>
              <a:rPr lang="en-US" sz="1600" b="0" i="0" u="none" strike="noStrike" cap="none" dirty="0">
                <a:solidFill>
                  <a:schemeClr val="dk1"/>
                </a:solidFill>
                <a:latin typeface="Arial"/>
                <a:ea typeface="Arial"/>
                <a:cs typeface="Arial"/>
                <a:sym typeface="Arial"/>
              </a:rPr>
              <a:t> is connected before the server runs.”</a:t>
            </a:r>
            <a:br>
              <a:rPr lang="en-US" sz="1600" b="0" i="0" u="none" strike="noStrike" cap="none" dirty="0">
                <a:solidFill>
                  <a:schemeClr val="dk1"/>
                </a:solidFill>
                <a:latin typeface="Arial"/>
                <a:ea typeface="Arial"/>
                <a:cs typeface="Arial"/>
                <a:sym typeface="Arial"/>
              </a:rPr>
            </a:br>
            <a:endParaRPr lang="en-US"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dirty="0"/>
              <a:t>You may also open the link in browser.</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93BD0AA-5359-A369-E85F-4D68076B4957}"/>
              </a:ext>
            </a:extLst>
          </p:cNvPr>
          <p:cNvPicPr>
            <a:picLocks noChangeAspect="1"/>
          </p:cNvPicPr>
          <p:nvPr/>
        </p:nvPicPr>
        <p:blipFill>
          <a:blip r:embed="rId3"/>
          <a:stretch>
            <a:fillRect/>
          </a:stretch>
        </p:blipFill>
        <p:spPr>
          <a:xfrm>
            <a:off x="6096000" y="2196843"/>
            <a:ext cx="5710703" cy="2362488"/>
          </a:xfrm>
          <a:prstGeom prst="rect">
            <a:avLst/>
          </a:prstGeom>
        </p:spPr>
      </p:pic>
      <p:pic>
        <p:nvPicPr>
          <p:cNvPr id="5" name="Picture 4">
            <a:extLst>
              <a:ext uri="{FF2B5EF4-FFF2-40B4-BE49-F238E27FC236}">
                <a16:creationId xmlns:a16="http://schemas.microsoft.com/office/drawing/2014/main" id="{D7DEBBDA-8DA2-09D5-9EC4-D3D2F3F9DE14}"/>
              </a:ext>
            </a:extLst>
          </p:cNvPr>
          <p:cNvPicPr>
            <a:picLocks noChangeAspect="1"/>
          </p:cNvPicPr>
          <p:nvPr/>
        </p:nvPicPr>
        <p:blipFill>
          <a:blip r:embed="rId4"/>
          <a:stretch>
            <a:fillRect/>
          </a:stretch>
        </p:blipFill>
        <p:spPr>
          <a:xfrm>
            <a:off x="6096000" y="5226071"/>
            <a:ext cx="3096057" cy="117173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Bulk Insert</a:t>
            </a:r>
            <a:endParaRPr sz="2400" b="1" i="0" u="none" strike="noStrike" cap="none" dirty="0">
              <a:solidFill>
                <a:srgbClr val="11175E"/>
              </a:solidFill>
              <a:latin typeface="Arial"/>
              <a:ea typeface="Arial"/>
              <a:cs typeface="Arial"/>
              <a:sym typeface="Arial"/>
            </a:endParaRPr>
          </a:p>
        </p:txBody>
      </p:sp>
      <p:sp>
        <p:nvSpPr>
          <p:cNvPr id="299" name="Google Shape;299;p22"/>
          <p:cNvSpPr txBox="1"/>
          <p:nvPr/>
        </p:nvSpPr>
        <p:spPr>
          <a:xfrm>
            <a:off x="123624" y="1808823"/>
            <a:ext cx="6096201" cy="905802"/>
          </a:xfrm>
          <a:prstGeom prst="rect">
            <a:avLst/>
          </a:prstGeom>
          <a:noFill/>
          <a:ln>
            <a:noFill/>
          </a:ln>
        </p:spPr>
        <p:txBody>
          <a:bodyPr spcFirstLastPara="1" wrap="square" lIns="91425" tIns="91425" rIns="91425" bIns="91425" anchor="t" anchorCtr="0">
            <a:noAutofit/>
          </a:bodyPr>
          <a:lstStyle/>
          <a:p>
            <a:pPr marL="457200" lvl="0" indent="-330200">
              <a:buClr>
                <a:schemeClr val="dk1"/>
              </a:buClr>
              <a:buSzPts val="1600"/>
              <a:buFont typeface="Arial"/>
              <a:buChar char="●"/>
            </a:pPr>
            <a:r>
              <a:rPr lang="en-US" sz="1600" dirty="0">
                <a:solidFill>
                  <a:schemeClr val="dk1"/>
                </a:solidFill>
              </a:rPr>
              <a:t>Open </a:t>
            </a:r>
            <a:r>
              <a:rPr lang="en-US" sz="1600" dirty="0">
                <a:solidFill>
                  <a:schemeClr val="dk1"/>
                </a:solidFill>
                <a:latin typeface="Consolas" panose="020B0609020204030204" pitchFamily="49" charset="0"/>
              </a:rPr>
              <a:t>data/books-</a:t>
            </a:r>
            <a:r>
              <a:rPr lang="en-US" sz="1600" dirty="0" err="1">
                <a:solidFill>
                  <a:schemeClr val="dk1"/>
                </a:solidFill>
                <a:latin typeface="Consolas" panose="020B0609020204030204" pitchFamily="49" charset="0"/>
              </a:rPr>
              <a:t>data.json</a:t>
            </a:r>
            <a:r>
              <a:rPr lang="en-US" sz="1600" dirty="0">
                <a:solidFill>
                  <a:schemeClr val="dk1"/>
                </a:solidFill>
              </a:rPr>
              <a:t> in </a:t>
            </a:r>
            <a:r>
              <a:rPr lang="en-US" sz="1600" dirty="0" err="1">
                <a:solidFill>
                  <a:schemeClr val="dk1"/>
                </a:solidFill>
              </a:rPr>
              <a:t>VSCode</a:t>
            </a:r>
            <a:r>
              <a:rPr lang="en-US" sz="1600" dirty="0">
                <a:solidFill>
                  <a:schemeClr val="dk1"/>
                </a:solidFill>
              </a:rPr>
              <a:t> or any text editor.  Copy the JSON contents.</a:t>
            </a: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Insert Document as before by pasting the copied JSON.</a:t>
            </a: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sp>
        <p:nvSpPr>
          <p:cNvPr id="301" name="Google Shape;301;p22"/>
          <p:cNvSpPr txBox="1"/>
          <p:nvPr/>
        </p:nvSpPr>
        <p:spPr>
          <a:xfrm>
            <a:off x="238081" y="1402999"/>
            <a:ext cx="724693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dirty="0">
                <a:solidFill>
                  <a:schemeClr val="dk1"/>
                </a:solidFill>
                <a:latin typeface="Arial"/>
                <a:ea typeface="Arial"/>
                <a:cs typeface="Arial"/>
                <a:sym typeface="Arial"/>
              </a:rPr>
              <a:t>Import bulk data using JSON</a:t>
            </a:r>
            <a:endParaRPr dirty="0"/>
          </a:p>
        </p:txBody>
      </p:sp>
      <p:pic>
        <p:nvPicPr>
          <p:cNvPr id="3" name="Picture 2">
            <a:extLst>
              <a:ext uri="{FF2B5EF4-FFF2-40B4-BE49-F238E27FC236}">
                <a16:creationId xmlns:a16="http://schemas.microsoft.com/office/drawing/2014/main" id="{2BFA1068-A1B2-0A5B-06EA-F0139E0364C1}"/>
              </a:ext>
            </a:extLst>
          </p:cNvPr>
          <p:cNvPicPr>
            <a:picLocks noChangeAspect="1"/>
          </p:cNvPicPr>
          <p:nvPr/>
        </p:nvPicPr>
        <p:blipFill>
          <a:blip r:embed="rId3"/>
          <a:stretch>
            <a:fillRect/>
          </a:stretch>
        </p:blipFill>
        <p:spPr>
          <a:xfrm>
            <a:off x="284845" y="2817284"/>
            <a:ext cx="4887229" cy="3880126"/>
          </a:xfrm>
          <a:prstGeom prst="rect">
            <a:avLst/>
          </a:prstGeom>
          <a:ln>
            <a:solidFill>
              <a:schemeClr val="tx1"/>
            </a:solidFill>
          </a:ln>
        </p:spPr>
      </p:pic>
      <p:pic>
        <p:nvPicPr>
          <p:cNvPr id="5" name="Picture 4">
            <a:extLst>
              <a:ext uri="{FF2B5EF4-FFF2-40B4-BE49-F238E27FC236}">
                <a16:creationId xmlns:a16="http://schemas.microsoft.com/office/drawing/2014/main" id="{F9CA9DEA-3B8B-596D-9DEC-91FDB59C3736}"/>
              </a:ext>
            </a:extLst>
          </p:cNvPr>
          <p:cNvPicPr>
            <a:picLocks noChangeAspect="1"/>
          </p:cNvPicPr>
          <p:nvPr/>
        </p:nvPicPr>
        <p:blipFill>
          <a:blip r:embed="rId4"/>
          <a:stretch>
            <a:fillRect/>
          </a:stretch>
        </p:blipFill>
        <p:spPr>
          <a:xfrm>
            <a:off x="6320926" y="1402999"/>
            <a:ext cx="5632993" cy="481164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dirty="0">
                <a:solidFill>
                  <a:srgbClr val="11175E"/>
                </a:solidFill>
              </a:rPr>
              <a:t>Example 1: Bulk Insert</a:t>
            </a:r>
            <a:endParaRPr sz="2400" b="1" i="0" u="none" strike="noStrike" cap="none" dirty="0">
              <a:solidFill>
                <a:srgbClr val="11175E"/>
              </a:solidFill>
              <a:latin typeface="Arial"/>
              <a:ea typeface="Arial"/>
              <a:cs typeface="Arial"/>
              <a:sym typeface="Arial"/>
            </a:endParaRPr>
          </a:p>
        </p:txBody>
      </p:sp>
      <p:sp>
        <p:nvSpPr>
          <p:cNvPr id="308" name="Google Shape;308;p23"/>
          <p:cNvSpPr txBox="1"/>
          <p:nvPr/>
        </p:nvSpPr>
        <p:spPr>
          <a:xfrm>
            <a:off x="103709" y="1799049"/>
            <a:ext cx="5536902"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You should see </a:t>
            </a:r>
            <a:r>
              <a:rPr lang="en-US" sz="1600" dirty="0">
                <a:solidFill>
                  <a:schemeClr val="dk1"/>
                </a:solidFill>
              </a:rPr>
              <a:t>four</a:t>
            </a:r>
            <a:r>
              <a:rPr lang="en-US" sz="1600" b="0" i="0" u="none" strike="noStrike" cap="none" dirty="0">
                <a:solidFill>
                  <a:schemeClr val="dk1"/>
                </a:solidFill>
                <a:latin typeface="Arial"/>
                <a:ea typeface="Arial"/>
                <a:cs typeface="Arial"/>
                <a:sym typeface="Arial"/>
              </a:rPr>
              <a:t> documents imported successfully.</a:t>
            </a:r>
            <a:endParaRPr sz="1600" b="0" i="0" u="none" strike="noStrike" cap="none" dirty="0">
              <a:solidFill>
                <a:schemeClr val="dk1"/>
              </a:solidFill>
              <a:latin typeface="Arial"/>
              <a:ea typeface="Arial"/>
              <a:cs typeface="Arial"/>
              <a:sym typeface="Arial"/>
            </a:endParaRPr>
          </a:p>
        </p:txBody>
      </p:sp>
      <p:sp>
        <p:nvSpPr>
          <p:cNvPr id="310" name="Google Shape;310;p23"/>
          <p:cNvSpPr txBox="1"/>
          <p:nvPr/>
        </p:nvSpPr>
        <p:spPr>
          <a:xfrm>
            <a:off x="238081" y="1402999"/>
            <a:ext cx="724693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dirty="0">
                <a:solidFill>
                  <a:schemeClr val="dk1"/>
                </a:solidFill>
                <a:latin typeface="Arial"/>
                <a:ea typeface="Arial"/>
                <a:cs typeface="Arial"/>
                <a:sym typeface="Arial"/>
              </a:rPr>
              <a:t>Import bulk data using JSON</a:t>
            </a:r>
            <a:endParaRPr dirty="0"/>
          </a:p>
        </p:txBody>
      </p:sp>
      <p:pic>
        <p:nvPicPr>
          <p:cNvPr id="3" name="Picture 2">
            <a:extLst>
              <a:ext uri="{FF2B5EF4-FFF2-40B4-BE49-F238E27FC236}">
                <a16:creationId xmlns:a16="http://schemas.microsoft.com/office/drawing/2014/main" id="{9E5DBDBE-B3C6-8CE6-0ABD-2C2F9B570F81}"/>
              </a:ext>
            </a:extLst>
          </p:cNvPr>
          <p:cNvPicPr>
            <a:picLocks noChangeAspect="1"/>
          </p:cNvPicPr>
          <p:nvPr/>
        </p:nvPicPr>
        <p:blipFill>
          <a:blip r:embed="rId3"/>
          <a:stretch>
            <a:fillRect/>
          </a:stretch>
        </p:blipFill>
        <p:spPr>
          <a:xfrm>
            <a:off x="4568862" y="1402999"/>
            <a:ext cx="7334963" cy="5238481"/>
          </a:xfrm>
          <a:prstGeom prst="rect">
            <a:avLst/>
          </a:prstGeom>
          <a:ln>
            <a:solidFill>
              <a:schemeClr val="tx1"/>
            </a:solid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6">
          <a:extLst>
            <a:ext uri="{FF2B5EF4-FFF2-40B4-BE49-F238E27FC236}">
              <a16:creationId xmlns:a16="http://schemas.microsoft.com/office/drawing/2014/main" id="{089CAB85-E896-2CE9-A08A-FC7BC43274B8}"/>
            </a:ext>
          </a:extLst>
        </p:cNvPr>
        <p:cNvGrpSpPr/>
        <p:nvPr/>
      </p:nvGrpSpPr>
      <p:grpSpPr>
        <a:xfrm>
          <a:off x="0" y="0"/>
          <a:ext cx="0" cy="0"/>
          <a:chOff x="0" y="0"/>
          <a:chExt cx="0" cy="0"/>
        </a:xfrm>
      </p:grpSpPr>
      <p:sp>
        <p:nvSpPr>
          <p:cNvPr id="307" name="Google Shape;307;p23">
            <a:extLst>
              <a:ext uri="{FF2B5EF4-FFF2-40B4-BE49-F238E27FC236}">
                <a16:creationId xmlns:a16="http://schemas.microsoft.com/office/drawing/2014/main" id="{D186ACA0-F889-F04D-B4ED-168D602791D6}"/>
              </a:ext>
            </a:extLst>
          </p:cNvPr>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Display the books using Express.js</a:t>
            </a:r>
            <a:endParaRPr sz="2400" b="1" i="0" u="none" strike="noStrike" cap="none" dirty="0">
              <a:solidFill>
                <a:srgbClr val="11175E"/>
              </a:solidFill>
              <a:latin typeface="Arial"/>
              <a:ea typeface="Arial"/>
              <a:cs typeface="Arial"/>
              <a:sym typeface="Arial"/>
            </a:endParaRPr>
          </a:p>
        </p:txBody>
      </p:sp>
      <p:sp>
        <p:nvSpPr>
          <p:cNvPr id="308" name="Google Shape;308;p23">
            <a:extLst>
              <a:ext uri="{FF2B5EF4-FFF2-40B4-BE49-F238E27FC236}">
                <a16:creationId xmlns:a16="http://schemas.microsoft.com/office/drawing/2014/main" id="{152C0D95-62F1-78CB-EA03-F11DD8F7BEDC}"/>
              </a:ext>
            </a:extLst>
          </p:cNvPr>
          <p:cNvSpPr txBox="1"/>
          <p:nvPr/>
        </p:nvSpPr>
        <p:spPr>
          <a:xfrm>
            <a:off x="103710" y="1402999"/>
            <a:ext cx="5536902" cy="282153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mn-lt"/>
                <a:sym typeface="Arial"/>
              </a:rPr>
              <a:t>Start up the server</a:t>
            </a:r>
            <a:br>
              <a:rPr lang="en-US" sz="1600" b="0" i="0" u="none" strike="noStrike" cap="none" dirty="0">
                <a:solidFill>
                  <a:schemeClr val="dk1"/>
                </a:solidFill>
                <a:latin typeface="+mn-lt"/>
                <a:sym typeface="Arial"/>
              </a:rPr>
            </a:br>
            <a:r>
              <a:rPr lang="en-US" sz="1600" b="0" i="0" u="none" strike="noStrike" cap="none" dirty="0" err="1">
                <a:solidFill>
                  <a:schemeClr val="dk1"/>
                </a:solidFill>
                <a:latin typeface="Consolas" panose="020B0609020204030204" pitchFamily="49" charset="0"/>
                <a:sym typeface="Arial"/>
              </a:rPr>
              <a:t>npm</a:t>
            </a:r>
            <a:r>
              <a:rPr lang="en-US" sz="1600" b="0" i="0" u="none" strike="noStrike" cap="none" dirty="0">
                <a:solidFill>
                  <a:schemeClr val="dk1"/>
                </a:solidFill>
                <a:latin typeface="Consolas" panose="020B0609020204030204" pitchFamily="49" charset="0"/>
                <a:sym typeface="Arial"/>
              </a:rPr>
              <a:t> start</a:t>
            </a:r>
            <a:br>
              <a:rPr lang="en-US" sz="1600" b="0" i="0" u="none" strike="noStrike" cap="none" dirty="0">
                <a:solidFill>
                  <a:schemeClr val="dk1"/>
                </a:solidFill>
                <a:latin typeface="Consolas" panose="020B0609020204030204" pitchFamily="49" charset="0"/>
                <a:sym typeface="Arial"/>
              </a:rPr>
            </a:br>
            <a:endParaRPr lang="en-US" sz="1600" b="0" i="0" u="none" strike="noStrike" cap="none" dirty="0">
              <a:solidFill>
                <a:schemeClr val="dk1"/>
              </a:solidFill>
              <a:latin typeface="Consolas" panose="020B0609020204030204" pitchFamily="49" charset="0"/>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Go to </a:t>
            </a:r>
            <a:r>
              <a:rPr lang="en-US" sz="1600" b="0" i="0" u="none" strike="noStrike" cap="none" dirty="0">
                <a:solidFill>
                  <a:schemeClr val="dk1"/>
                </a:solidFill>
                <a:latin typeface="Arial"/>
                <a:ea typeface="Arial"/>
                <a:cs typeface="Arial"/>
                <a:sym typeface="Arial"/>
                <a:hlinkClick r:id="rId3"/>
              </a:rPr>
              <a:t>http://localhost:8000/book-list</a:t>
            </a:r>
            <a:r>
              <a:rPr lang="en-US" sz="1600" b="0" i="0" u="none" strike="noStrike" cap="none" dirty="0">
                <a:solidFill>
                  <a:schemeClr val="dk1"/>
                </a:solidFill>
                <a:latin typeface="Arial"/>
                <a:ea typeface="Arial"/>
                <a:cs typeface="Arial"/>
                <a:sym typeface="Arial"/>
              </a:rPr>
              <a:t> </a:t>
            </a:r>
          </a:p>
          <a:p>
            <a:pPr marL="457200" marR="0" lvl="0" indent="-330200" algn="l" rtl="0">
              <a:lnSpc>
                <a:spcPct val="100000"/>
              </a:lnSpc>
              <a:spcBef>
                <a:spcPts val="0"/>
              </a:spcBef>
              <a:spcAft>
                <a:spcPts val="0"/>
              </a:spcAft>
              <a:buClr>
                <a:schemeClr val="dk1"/>
              </a:buClr>
              <a:buSzPts val="1600"/>
              <a:buFont typeface="Arial"/>
              <a:buChar char="●"/>
            </a:pPr>
            <a:endParaRPr sz="1600" b="0" i="0" u="none" strike="noStrike" cap="none" dirty="0">
              <a:solidFill>
                <a:schemeClr val="dk1"/>
              </a:solidFill>
              <a:latin typeface="Arial"/>
              <a:ea typeface="Arial"/>
              <a:cs typeface="Arial"/>
              <a:sym typeface="Arial"/>
            </a:endParaRPr>
          </a:p>
        </p:txBody>
      </p:sp>
      <p:pic>
        <p:nvPicPr>
          <p:cNvPr id="15" name="Picture 14">
            <a:extLst>
              <a:ext uri="{FF2B5EF4-FFF2-40B4-BE49-F238E27FC236}">
                <a16:creationId xmlns:a16="http://schemas.microsoft.com/office/drawing/2014/main" id="{14E508E6-EC3C-A713-249C-9DC61607D728}"/>
              </a:ext>
            </a:extLst>
          </p:cNvPr>
          <p:cNvPicPr>
            <a:picLocks noChangeAspect="1"/>
          </p:cNvPicPr>
          <p:nvPr/>
        </p:nvPicPr>
        <p:blipFill>
          <a:blip r:embed="rId4"/>
          <a:stretch>
            <a:fillRect/>
          </a:stretch>
        </p:blipFill>
        <p:spPr>
          <a:xfrm>
            <a:off x="5924549" y="1402999"/>
            <a:ext cx="6163741" cy="4042777"/>
          </a:xfrm>
          <a:prstGeom prst="rect">
            <a:avLst/>
          </a:prstGeom>
        </p:spPr>
      </p:pic>
    </p:spTree>
    <p:extLst>
      <p:ext uri="{BB962C8B-B14F-4D97-AF65-F5344CB8AC3E}">
        <p14:creationId xmlns:p14="http://schemas.microsoft.com/office/powerpoint/2010/main" val="230849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What have we learned?</a:t>
            </a:r>
            <a:endParaRPr sz="2400" b="1" i="0" u="none" strike="noStrike" cap="none">
              <a:solidFill>
                <a:srgbClr val="11175E"/>
              </a:solidFill>
              <a:latin typeface="Arial"/>
              <a:ea typeface="Arial"/>
              <a:cs typeface="Arial"/>
              <a:sym typeface="Arial"/>
            </a:endParaRPr>
          </a:p>
        </p:txBody>
      </p:sp>
      <p:sp>
        <p:nvSpPr>
          <p:cNvPr id="316" name="Google Shape;316;p24"/>
          <p:cNvSpPr txBox="1"/>
          <p:nvPr/>
        </p:nvSpPr>
        <p:spPr>
          <a:xfrm>
            <a:off x="240868" y="1418400"/>
            <a:ext cx="10777651" cy="30469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In this part of </a:t>
            </a:r>
            <a:r>
              <a:rPr lang="en-US" sz="1600" b="1" dirty="0">
                <a:solidFill>
                  <a:schemeClr val="dk1"/>
                </a:solidFill>
                <a:latin typeface="Consolas" panose="020B0609020204030204" pitchFamily="49" charset="0"/>
                <a:cs typeface="Consolas" panose="020B0609020204030204" pitchFamily="49" charset="0"/>
              </a:rPr>
              <a:t>example1</a:t>
            </a:r>
            <a:r>
              <a:rPr lang="en-US" sz="1600" b="0" i="0" u="none" strike="noStrike" cap="none" dirty="0">
                <a:solidFill>
                  <a:schemeClr val="dk1"/>
                </a:solidFill>
                <a:latin typeface="Arial"/>
                <a:ea typeface="Arial"/>
                <a:cs typeface="Arial"/>
                <a:sym typeface="Arial"/>
              </a:rPr>
              <a:t>, we run an </a:t>
            </a:r>
            <a:r>
              <a:rPr lang="en-US" sz="1600" b="1" i="0" u="none" strike="noStrike" cap="none" dirty="0">
                <a:solidFill>
                  <a:schemeClr val="dk1"/>
                </a:solidFill>
                <a:latin typeface="Consolas" panose="020B0609020204030204" pitchFamily="49" charset="0"/>
                <a:ea typeface="Arial"/>
                <a:cs typeface="Consolas" panose="020B0609020204030204" pitchFamily="49" charset="0"/>
                <a:sym typeface="Arial"/>
              </a:rPr>
              <a:t>e</a:t>
            </a:r>
            <a:r>
              <a:rPr lang="en-US" sz="1600" b="1" dirty="0">
                <a:solidFill>
                  <a:schemeClr val="dk1"/>
                </a:solidFill>
                <a:latin typeface="Consolas" panose="020B0609020204030204" pitchFamily="49" charset="0"/>
                <a:cs typeface="Consolas" panose="020B0609020204030204" pitchFamily="49" charset="0"/>
              </a:rPr>
              <a:t>xpress.js</a:t>
            </a:r>
            <a:r>
              <a:rPr lang="en-US" sz="1600" b="0" i="0" u="none" strike="noStrike" cap="none" dirty="0">
                <a:solidFill>
                  <a:schemeClr val="dk1"/>
                </a:solidFill>
                <a:latin typeface="Arial"/>
                <a:ea typeface="Arial"/>
                <a:cs typeface="Arial"/>
                <a:sym typeface="Arial"/>
              </a:rPr>
              <a:t> web application using MongoDB and Mongoose.</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You’ve learned how to:</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Set up and connect to a MongoDB database using Mongoose</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Import bulk data.</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Along the way, you also picked up key practices like keeping sensitive info in </a:t>
            </a:r>
            <a:r>
              <a:rPr lang="en-US" sz="1600" b="1" dirty="0" err="1">
                <a:solidFill>
                  <a:schemeClr val="dk1"/>
                </a:solidFill>
                <a:latin typeface="Consolas" panose="020B0609020204030204" pitchFamily="49" charset="0"/>
                <a:cs typeface="Consolas" panose="020B0609020204030204" pitchFamily="49" charset="0"/>
              </a:rPr>
              <a:t>config.env</a:t>
            </a:r>
            <a:r>
              <a:rPr lang="en-US" sz="1600" b="0" i="0" u="none" strike="noStrike" cap="none" dirty="0">
                <a:solidFill>
                  <a:schemeClr val="dk1"/>
                </a:solidFill>
                <a:latin typeface="Arial"/>
                <a:ea typeface="Arial"/>
                <a:cs typeface="Arial"/>
                <a:sym typeface="Arial"/>
              </a:rPr>
              <a:t> files with </a:t>
            </a:r>
            <a:r>
              <a:rPr lang="en-US" sz="1600" b="1" dirty="0" err="1">
                <a:solidFill>
                  <a:schemeClr val="dk1"/>
                </a:solidFill>
                <a:latin typeface="Consolas" panose="020B0609020204030204" pitchFamily="49" charset="0"/>
                <a:cs typeface="Consolas" panose="020B0609020204030204" pitchFamily="49" charset="0"/>
              </a:rPr>
              <a:t>dotenv</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and structuring your code into manageable components for future scalability.</a:t>
            </a:r>
          </a:p>
          <a:p>
            <a:pPr marL="0" marR="0" lvl="0" indent="0" algn="l" rtl="0">
              <a:lnSpc>
                <a:spcPct val="100000"/>
              </a:lnSpc>
              <a:spcBef>
                <a:spcPts val="0"/>
              </a:spcBef>
              <a:spcAft>
                <a:spcPts val="0"/>
              </a:spcAft>
              <a:buNone/>
            </a:pPr>
            <a:endParaRPr lang="en-US" sz="1600" dirty="0">
              <a:solidFill>
                <a:schemeClr val="dk1"/>
              </a:solidFill>
            </a:endParaRPr>
          </a:p>
          <a:p>
            <a:pPr marL="0" marR="0" lvl="0" indent="0" algn="l" rtl="0">
              <a:lnSpc>
                <a:spcPct val="100000"/>
              </a:lnSpc>
              <a:spcBef>
                <a:spcPts val="0"/>
              </a:spcBef>
              <a:spcAft>
                <a:spcPts val="0"/>
              </a:spcAft>
              <a:buNone/>
            </a:pPr>
            <a:r>
              <a:rPr lang="en-US" sz="1600" dirty="0">
                <a:solidFill>
                  <a:schemeClr val="dk1"/>
                </a:solidFill>
              </a:rPr>
              <a:t>For details of the Express.js code, refer to the appendix at the end of </a:t>
            </a:r>
            <a:r>
              <a:rPr lang="en-US" sz="1600">
                <a:solidFill>
                  <a:schemeClr val="dk1"/>
                </a:solidFill>
              </a:rPr>
              <a:t>this slides.</a:t>
            </a:r>
            <a:endParaRPr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4" descr="Text&#10;&#10;Description automatically generated"/>
          <p:cNvPicPr preferRelativeResize="0"/>
          <p:nvPr/>
        </p:nvPicPr>
        <p:blipFill rotWithShape="1">
          <a:blip r:embed="rId3">
            <a:alphaModFix/>
          </a:blip>
          <a:srcRect/>
          <a:stretch/>
        </p:blipFill>
        <p:spPr>
          <a:xfrm>
            <a:off x="9144" y="1079881"/>
            <a:ext cx="12192000" cy="5540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EB90D-6DEB-848C-F3FA-CC805857C8E1}"/>
              </a:ext>
            </a:extLst>
          </p:cNvPr>
          <p:cNvSpPr>
            <a:spLocks noGrp="1"/>
          </p:cNvSpPr>
          <p:nvPr>
            <p:ph type="ctrTitle"/>
          </p:nvPr>
        </p:nvSpPr>
        <p:spPr/>
        <p:txBody>
          <a:bodyPr/>
          <a:lstStyle/>
          <a:p>
            <a:r>
              <a:rPr lang="en-US" dirty="0"/>
              <a:t>Appendix: Express.js code</a:t>
            </a:r>
            <a:endParaRPr lang="en-SG" dirty="0"/>
          </a:p>
        </p:txBody>
      </p:sp>
      <p:sp>
        <p:nvSpPr>
          <p:cNvPr id="3" name="Subtitle 2">
            <a:extLst>
              <a:ext uri="{FF2B5EF4-FFF2-40B4-BE49-F238E27FC236}">
                <a16:creationId xmlns:a16="http://schemas.microsoft.com/office/drawing/2014/main" id="{0A0B5C76-9866-0D58-1A26-470338317C90}"/>
              </a:ext>
            </a:extLst>
          </p:cNvPr>
          <p:cNvSpPr>
            <a:spLocks noGrp="1"/>
          </p:cNvSpPr>
          <p:nvPr>
            <p:ph type="subTitle" idx="1"/>
          </p:nvPr>
        </p:nvSpPr>
        <p:spPr/>
        <p:txBody>
          <a:bodyPr/>
          <a:lstStyle/>
          <a:p>
            <a:endParaRPr lang="en-SG"/>
          </a:p>
        </p:txBody>
      </p:sp>
    </p:spTree>
    <p:extLst>
      <p:ext uri="{BB962C8B-B14F-4D97-AF65-F5344CB8AC3E}">
        <p14:creationId xmlns:p14="http://schemas.microsoft.com/office/powerpoint/2010/main" val="640846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6e7958bfd6_0_4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Creating a Schema</a:t>
            </a:r>
            <a:endParaRPr sz="2400" b="1" i="0" u="none" strike="noStrike" cap="none" dirty="0">
              <a:solidFill>
                <a:srgbClr val="11175E"/>
              </a:solidFill>
              <a:latin typeface="Arial"/>
              <a:ea typeface="Arial"/>
              <a:cs typeface="Arial"/>
              <a:sym typeface="Arial"/>
            </a:endParaRPr>
          </a:p>
        </p:txBody>
      </p:sp>
      <p:sp>
        <p:nvSpPr>
          <p:cNvPr id="225" name="Google Shape;225;g36e7958bfd6_0_42"/>
          <p:cNvSpPr txBox="1"/>
          <p:nvPr/>
        </p:nvSpPr>
        <p:spPr>
          <a:xfrm>
            <a:off x="242060" y="1801244"/>
            <a:ext cx="6423916" cy="488403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For example, we would like to store information about a book. </a:t>
            </a:r>
            <a:endParaRPr sz="1600" dirty="0"/>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We can think of fields like these:</a:t>
            </a:r>
            <a:endParaRPr sz="1600" dirty="0"/>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Title</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rating</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price</a:t>
            </a:r>
            <a:r>
              <a:rPr lang="en-US" sz="1600" b="0" i="0" u="none" strike="noStrike" cap="none" dirty="0">
                <a:solidFill>
                  <a:schemeClr val="dk1"/>
                </a:solidFill>
                <a:latin typeface="Arial"/>
                <a:ea typeface="Arial"/>
                <a:cs typeface="Arial"/>
                <a:sym typeface="Arial"/>
              </a:rPr>
              <a:t>. </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Then we think about the data type of each of the fields</a:t>
            </a:r>
            <a:endParaRPr sz="1600" dirty="0"/>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Title   – string</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ISBN    – string</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Rating  – number</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Price   – number</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Then, like every record in a table, </a:t>
            </a:r>
            <a:r>
              <a:rPr lang="en-US" sz="1600" dirty="0">
                <a:solidFill>
                  <a:schemeClr val="dk1"/>
                </a:solidFill>
              </a:rPr>
              <a:t>w</a:t>
            </a:r>
            <a:r>
              <a:rPr lang="en-US" sz="1600" b="0" i="0" u="none" strike="noStrike" cap="none" dirty="0">
                <a:solidFill>
                  <a:schemeClr val="dk1"/>
                </a:solidFill>
                <a:latin typeface="Arial"/>
                <a:ea typeface="Arial"/>
                <a:cs typeface="Arial"/>
                <a:sym typeface="Arial"/>
              </a:rPr>
              <a:t>e need to have a unique identifier for each record. </a:t>
            </a:r>
            <a:r>
              <a:rPr lang="en-US" sz="1600" dirty="0">
                <a:solidFill>
                  <a:schemeClr val="dk1"/>
                </a:solidFill>
              </a:rPr>
              <a:t>S</a:t>
            </a:r>
            <a:r>
              <a:rPr lang="en-US" sz="1600" b="0" i="0" u="none" strike="noStrike" cap="none" dirty="0">
                <a:solidFill>
                  <a:schemeClr val="dk1"/>
                </a:solidFill>
                <a:latin typeface="Arial"/>
                <a:ea typeface="Arial"/>
                <a:cs typeface="Arial"/>
                <a:sym typeface="Arial"/>
              </a:rPr>
              <a:t>o in this case, it would be the </a:t>
            </a:r>
            <a:r>
              <a:rPr lang="en-US" sz="1600" b="1" i="0" u="none" strike="noStrike" cap="none" dirty="0">
                <a:solidFill>
                  <a:schemeClr val="dk1"/>
                </a:solidFill>
                <a:latin typeface="Arial"/>
                <a:ea typeface="Arial"/>
                <a:cs typeface="Arial"/>
                <a:sym typeface="Arial"/>
              </a:rPr>
              <a:t>ISBN</a:t>
            </a:r>
            <a:r>
              <a:rPr lang="en-US" sz="1600" b="0" i="0" u="none" strike="noStrike" cap="none" dirty="0">
                <a:solidFill>
                  <a:schemeClr val="dk1"/>
                </a:solidFill>
                <a:latin typeface="Arial"/>
                <a:ea typeface="Arial"/>
                <a:cs typeface="Arial"/>
                <a:sym typeface="Arial"/>
              </a:rPr>
              <a:t> number.</a:t>
            </a:r>
            <a:endParaRPr sz="1600" dirty="0"/>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Title   – string</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ISBN    – string </a:t>
            </a:r>
            <a:r>
              <a:rPr lang="en-US" sz="1600" b="0" i="0" u="none" strike="noStrike" cap="none" dirty="0">
                <a:solidFill>
                  <a:schemeClr val="dk1"/>
                </a:solidFill>
                <a:latin typeface="Arial"/>
                <a:ea typeface="Arial"/>
                <a:cs typeface="Arial"/>
                <a:sym typeface="Arial"/>
              </a:rPr>
              <a:t> (Unique Key) </a:t>
            </a:r>
            <a:endParaRPr sz="1600" dirty="0"/>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Rating  – number</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Price   – number</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Then we think about if each field is a required field to make it a logical record.  In this case, we don’t have any non-required fields.</a:t>
            </a: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grpSp>
        <p:nvGrpSpPr>
          <p:cNvPr id="226" name="Google Shape;226;g36e7958bfd6_0_42"/>
          <p:cNvGrpSpPr/>
          <p:nvPr/>
        </p:nvGrpSpPr>
        <p:grpSpPr>
          <a:xfrm>
            <a:off x="8184900" y="1709803"/>
            <a:ext cx="3031740" cy="2533461"/>
            <a:chOff x="7118100" y="1801244"/>
            <a:chExt cx="3031740" cy="1937636"/>
          </a:xfrm>
        </p:grpSpPr>
        <p:sp>
          <p:nvSpPr>
            <p:cNvPr id="227" name="Google Shape;227;g36e7958bfd6_0_42"/>
            <p:cNvSpPr/>
            <p:nvPr/>
          </p:nvSpPr>
          <p:spPr>
            <a:xfrm>
              <a:off x="7385810" y="1801244"/>
              <a:ext cx="2438910" cy="1937636"/>
            </a:xfrm>
            <a:prstGeom prst="rect">
              <a:avLst/>
            </a:prstGeom>
            <a:solidFill>
              <a:srgbClr val="DDEAF6"/>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228" name="Google Shape;228;g36e7958bfd6_0_42"/>
            <p:cNvCxnSpPr/>
            <p:nvPr/>
          </p:nvCxnSpPr>
          <p:spPr>
            <a:xfrm>
              <a:off x="7395970" y="2079877"/>
              <a:ext cx="2428750" cy="0"/>
            </a:xfrm>
            <a:prstGeom prst="straightConnector1">
              <a:avLst/>
            </a:prstGeom>
            <a:noFill/>
            <a:ln w="15875" cap="flat" cmpd="sng">
              <a:solidFill>
                <a:srgbClr val="7F7F7F"/>
              </a:solidFill>
              <a:prstDash val="solid"/>
              <a:round/>
              <a:headEnd type="none" w="sm" len="sm"/>
              <a:tailEnd type="none" w="sm" len="sm"/>
            </a:ln>
          </p:spPr>
        </p:cxnSp>
        <p:sp>
          <p:nvSpPr>
            <p:cNvPr id="229" name="Google Shape;229;g36e7958bfd6_0_42"/>
            <p:cNvSpPr txBox="1"/>
            <p:nvPr/>
          </p:nvSpPr>
          <p:spPr>
            <a:xfrm>
              <a:off x="7118100" y="1808007"/>
              <a:ext cx="3031740" cy="2735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0000"/>
                  </a:solidFill>
                  <a:latin typeface="Consolas" panose="020B0609020204030204" pitchFamily="49" charset="0"/>
                  <a:cs typeface="Consolas" panose="020B0609020204030204" pitchFamily="49" charset="0"/>
                  <a:sym typeface="Arial"/>
                </a:rPr>
                <a:t>book</a:t>
              </a:r>
              <a:endParaRPr sz="1600" b="1" i="0" u="none" strike="noStrike" cap="none" dirty="0">
                <a:solidFill>
                  <a:srgbClr val="000000"/>
                </a:solidFill>
                <a:latin typeface="Consolas" panose="020B0609020204030204" pitchFamily="49" charset="0"/>
                <a:cs typeface="Consolas" panose="020B0609020204030204" pitchFamily="49" charset="0"/>
                <a:sym typeface="Arial"/>
              </a:endParaRPr>
            </a:p>
          </p:txBody>
        </p:sp>
        <p:sp>
          <p:nvSpPr>
            <p:cNvPr id="230" name="Google Shape;230;g36e7958bfd6_0_42"/>
            <p:cNvSpPr txBox="1"/>
            <p:nvPr/>
          </p:nvSpPr>
          <p:spPr>
            <a:xfrm>
              <a:off x="7656007" y="2213233"/>
              <a:ext cx="1985400" cy="10260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Title	String</a:t>
              </a:r>
              <a:endParaRPr dirty="0">
                <a:latin typeface="Consolas" panose="020B0609020204030204" pitchFamily="49" charset="0"/>
                <a:cs typeface="Consolas" panose="020B0609020204030204" pitchFamily="49" charset="0"/>
              </a:endParaRPr>
            </a:p>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ISBN	String</a:t>
              </a:r>
              <a:endParaRPr dirty="0">
                <a:latin typeface="Consolas" panose="020B0609020204030204" pitchFamily="49" charset="0"/>
                <a:cs typeface="Consolas" panose="020B0609020204030204" pitchFamily="49" charset="0"/>
              </a:endParaRPr>
            </a:p>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Rating 	Number</a:t>
              </a:r>
              <a:endParaRPr dirty="0">
                <a:latin typeface="Consolas" panose="020B0609020204030204" pitchFamily="49" charset="0"/>
                <a:cs typeface="Consolas" panose="020B0609020204030204" pitchFamily="49" charset="0"/>
              </a:endParaRPr>
            </a:p>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Price 	Number</a:t>
              </a:r>
              <a:endParaRPr dirty="0">
                <a:latin typeface="Consolas" panose="020B0609020204030204" pitchFamily="49" charset="0"/>
                <a:cs typeface="Consolas" panose="020B0609020204030204" pitchFamily="49" charset="0"/>
              </a:endParaRPr>
            </a:p>
          </p:txBody>
        </p:sp>
        <p:pic>
          <p:nvPicPr>
            <p:cNvPr id="231" name="Google Shape;231;g36e7958bfd6_0_42" descr="Key with solid fill"/>
            <p:cNvPicPr preferRelativeResize="0"/>
            <p:nvPr/>
          </p:nvPicPr>
          <p:blipFill rotWithShape="1">
            <a:blip r:embed="rId3">
              <a:alphaModFix/>
            </a:blip>
            <a:srcRect/>
            <a:stretch/>
          </p:blipFill>
          <p:spPr>
            <a:xfrm rot="5400000">
              <a:off x="7474537" y="2516362"/>
              <a:ext cx="216846" cy="254510"/>
            </a:xfrm>
            <a:prstGeom prst="rect">
              <a:avLst/>
            </a:prstGeom>
            <a:noFill/>
            <a:ln>
              <a:noFill/>
            </a:ln>
          </p:spPr>
        </p:pic>
      </p:grpSp>
      <p:sp>
        <p:nvSpPr>
          <p:cNvPr id="232" name="Google Shape;232;g36e7958bfd6_0_42"/>
          <p:cNvSpPr txBox="1"/>
          <p:nvPr/>
        </p:nvSpPr>
        <p:spPr>
          <a:xfrm>
            <a:off x="8708140" y="3803430"/>
            <a:ext cx="208686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Data Model of a book</a:t>
            </a:r>
            <a:endParaRPr sz="1400" b="0" i="0" u="none" strike="noStrike" cap="none" dirty="0">
              <a:solidFill>
                <a:srgbClr val="000000"/>
              </a:solidFill>
              <a:latin typeface="Arial"/>
              <a:ea typeface="Arial"/>
              <a:cs typeface="Arial"/>
              <a:sym typeface="Arial"/>
            </a:endParaRPr>
          </a:p>
        </p:txBody>
      </p:sp>
      <p:sp>
        <p:nvSpPr>
          <p:cNvPr id="233" name="Google Shape;233;g36e7958bfd6_0_42"/>
          <p:cNvSpPr txBox="1"/>
          <p:nvPr/>
        </p:nvSpPr>
        <p:spPr>
          <a:xfrm>
            <a:off x="7328141" y="4243264"/>
            <a:ext cx="4621799" cy="23607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then model our needs in a data model like the one above. </a:t>
            </a:r>
            <a:endParaRPr sz="1600" dirty="0"/>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 Mongoose, each field is a key: value pair. E.g.</a:t>
            </a:r>
            <a:br>
              <a:rPr lang="en-US" sz="1600" b="0" i="0" u="none" strike="noStrike" cap="none" dirty="0">
                <a:solidFill>
                  <a:schemeClr val="dk1"/>
                </a:solidFill>
                <a:latin typeface="Arial"/>
                <a:ea typeface="Arial"/>
                <a:cs typeface="Arial"/>
                <a:sym typeface="Arial"/>
              </a:rPr>
            </a:br>
            <a:r>
              <a:rPr lang="en-US" sz="1600" b="1" dirty="0">
                <a:solidFill>
                  <a:schemeClr val="dk1"/>
                </a:solidFill>
                <a:latin typeface="Consolas" panose="020B0609020204030204" pitchFamily="49" charset="0"/>
                <a:cs typeface="Consolas" panose="020B0609020204030204" pitchFamily="49" charset="0"/>
              </a:rPr>
              <a:t>ISBN : ‘1234567’</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 the next slide we will transform our data model into a schema.</a:t>
            </a:r>
            <a:endParaRPr sz="1600" b="0" i="0" u="none" strike="noStrike" cap="none" dirty="0">
              <a:solidFill>
                <a:schemeClr val="dk1"/>
              </a:solidFill>
              <a:latin typeface="Arial"/>
              <a:ea typeface="Arial"/>
              <a:cs typeface="Arial"/>
              <a:sym typeface="Arial"/>
            </a:endParaRPr>
          </a:p>
        </p:txBody>
      </p:sp>
      <p:sp>
        <p:nvSpPr>
          <p:cNvPr id="234" name="Google Shape;234;g36e7958bfd6_0_42"/>
          <p:cNvSpPr txBox="1"/>
          <p:nvPr/>
        </p:nvSpPr>
        <p:spPr>
          <a:xfrm>
            <a:off x="252666" y="1401282"/>
            <a:ext cx="7246937"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How we go about creating a </a:t>
            </a:r>
            <a:r>
              <a:rPr lang="en-US" sz="1800" b="1" dirty="0">
                <a:solidFill>
                  <a:schemeClr val="dk1"/>
                </a:solidFill>
                <a:latin typeface="Consolas" panose="020B0609020204030204" pitchFamily="49" charset="0"/>
                <a:cs typeface="Consolas" panose="020B0609020204030204" pitchFamily="49" charset="0"/>
              </a:rPr>
              <a:t>schema</a:t>
            </a:r>
            <a:endParaRPr sz="1800" b="1" dirty="0">
              <a:solidFill>
                <a:schemeClr val="dk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124920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book schema using </a:t>
            </a:r>
            <a:r>
              <a:rPr lang="en-US" sz="2400" b="1" i="0" u="none" strike="noStrike" cap="none" dirty="0">
                <a:solidFill>
                  <a:srgbClr val="11175E"/>
                </a:solidFill>
                <a:latin typeface="Consolas" panose="020B0609020204030204" pitchFamily="49" charset="0"/>
                <a:sym typeface="Arial"/>
              </a:rPr>
              <a:t>models/</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book-model.js</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240" name="Google Shape;240;p20"/>
          <p:cNvSpPr txBox="1"/>
          <p:nvPr/>
        </p:nvSpPr>
        <p:spPr>
          <a:xfrm>
            <a:off x="2855817" y="1708788"/>
            <a:ext cx="6423916" cy="4948044"/>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create a new schema</a:t>
            </a: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bookSchema</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new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mongoose.Schema</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title: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String,</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title']</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String,</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call number’],</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unique: true</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rating: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Number,</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default: 3.0</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price: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Number,</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price']</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b="0" i="0" u="none" strike="noStrike" cap="none" dirty="0">
                <a:solidFill>
                  <a:srgbClr val="000000"/>
                </a:solidFill>
                <a:latin typeface="Arial"/>
                <a:ea typeface="Arial"/>
                <a:cs typeface="Arial"/>
                <a:sym typeface="Arial"/>
              </a:rPr>
              <a:t>const Book = </a:t>
            </a:r>
            <a:r>
              <a:rPr lang="en-US" sz="1400" b="0" i="0" u="none" strike="noStrike" cap="none" dirty="0" err="1">
                <a:solidFill>
                  <a:srgbClr val="000000"/>
                </a:solidFill>
                <a:latin typeface="Arial"/>
                <a:ea typeface="Arial"/>
                <a:cs typeface="Arial"/>
                <a:sym typeface="Arial"/>
              </a:rPr>
              <a:t>mongoose.model</a:t>
            </a:r>
            <a:r>
              <a:rPr lang="en-US" sz="1400" b="0" i="0" u="none" strike="noStrike" cap="none" dirty="0">
                <a:solidFill>
                  <a:srgbClr val="000000"/>
                </a:solidFill>
                <a:latin typeface="Arial"/>
                <a:ea typeface="Arial"/>
                <a:cs typeface="Arial"/>
                <a:sym typeface="Arial"/>
              </a:rPr>
              <a:t>('Book', </a:t>
            </a:r>
            <a:r>
              <a:rPr lang="en-US" sz="1400" b="0" i="0" u="none" strike="noStrike" cap="none" dirty="0" err="1">
                <a:solidFill>
                  <a:srgbClr val="000000"/>
                </a:solidFill>
                <a:latin typeface="Arial"/>
                <a:ea typeface="Arial"/>
                <a:cs typeface="Arial"/>
                <a:sym typeface="Arial"/>
              </a:rPr>
              <a:t>bookSchema</a:t>
            </a:r>
            <a:r>
              <a:rPr lang="en-US" sz="1400" b="0" i="0" u="none" strike="noStrike" cap="none" dirty="0">
                <a:solidFill>
                  <a:srgbClr val="000000"/>
                </a:solidFill>
                <a:latin typeface="Arial"/>
                <a:ea typeface="Arial"/>
                <a:cs typeface="Arial"/>
                <a:sym typeface="Arial"/>
              </a:rPr>
              <a:t>, 'books');</a:t>
            </a:r>
            <a:endParaRPr dirty="0"/>
          </a:p>
          <a:p>
            <a:pPr marL="0" marR="0" lvl="0" indent="0" algn="l" rtl="0">
              <a:lnSpc>
                <a:spcPct val="100000"/>
              </a:lnSpc>
              <a:spcBef>
                <a:spcPts val="0"/>
              </a:spcBef>
              <a:spcAft>
                <a:spcPts val="0"/>
              </a:spcAft>
              <a:buClr>
                <a:schemeClr val="dk1"/>
              </a:buClr>
              <a:buSzPts val="1100"/>
              <a:buFont typeface="Arial"/>
              <a:buNone/>
            </a:pPr>
            <a:endPar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r>
              <a:rPr lang="en-SG" sz="1300" dirty="0">
                <a:solidFill>
                  <a:schemeClr val="dk1"/>
                </a:solidFill>
                <a:latin typeface="Consolas" panose="020B0609020204030204" pitchFamily="49" charset="0"/>
                <a:ea typeface="Roboto Mono"/>
                <a:cs typeface="Consolas" panose="020B0609020204030204" pitchFamily="49" charset="0"/>
                <a:sym typeface="Roboto Mono"/>
              </a:rPr>
              <a:t>…</a:t>
            </a: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241" name="Google Shape;241;p20"/>
          <p:cNvSpPr/>
          <p:nvPr/>
        </p:nvSpPr>
        <p:spPr>
          <a:xfrm>
            <a:off x="4600282" y="1980952"/>
            <a:ext cx="2076290" cy="240648"/>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2" name="Google Shape;242;p20"/>
          <p:cNvCxnSpPr>
            <a:cxnSpLocks/>
            <a:stCxn id="243" idx="1"/>
            <a:endCxn id="241" idx="3"/>
          </p:cNvCxnSpPr>
          <p:nvPr/>
        </p:nvCxnSpPr>
        <p:spPr>
          <a:xfrm flipH="1" flipV="1">
            <a:off x="6676572" y="2101276"/>
            <a:ext cx="3051605" cy="10693"/>
          </a:xfrm>
          <a:prstGeom prst="straightConnector1">
            <a:avLst/>
          </a:prstGeom>
          <a:noFill/>
          <a:ln w="19050" cap="flat" cmpd="sng">
            <a:solidFill>
              <a:srgbClr val="6AA84F"/>
            </a:solidFill>
            <a:prstDash val="solid"/>
            <a:round/>
            <a:headEnd type="none" w="sm" len="sm"/>
            <a:tailEnd type="triangle" w="med" len="med"/>
          </a:ln>
        </p:spPr>
      </p:cxnSp>
      <p:sp>
        <p:nvSpPr>
          <p:cNvPr id="243" name="Google Shape;243;p20"/>
          <p:cNvSpPr txBox="1"/>
          <p:nvPr/>
        </p:nvSpPr>
        <p:spPr>
          <a:xfrm>
            <a:off x="9728177" y="1527208"/>
            <a:ext cx="1944000"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This mongoose function will create a new schema object</a:t>
            </a:r>
            <a:endParaRPr sz="1600" b="0" i="0" u="none" strike="noStrike" cap="none" dirty="0">
              <a:solidFill>
                <a:srgbClr val="000000"/>
              </a:solidFill>
              <a:latin typeface="Arial"/>
              <a:ea typeface="Arial"/>
              <a:cs typeface="Arial"/>
              <a:sym typeface="Arial"/>
            </a:endParaRPr>
          </a:p>
        </p:txBody>
      </p:sp>
      <p:sp>
        <p:nvSpPr>
          <p:cNvPr id="244" name="Google Shape;244;p20"/>
          <p:cNvSpPr/>
          <p:nvPr/>
        </p:nvSpPr>
        <p:spPr>
          <a:xfrm>
            <a:off x="3218365" y="2198641"/>
            <a:ext cx="682885" cy="240649"/>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5" name="Google Shape;245;p20"/>
          <p:cNvCxnSpPr>
            <a:cxnSpLocks/>
            <a:stCxn id="246" idx="3"/>
            <a:endCxn id="244" idx="1"/>
          </p:cNvCxnSpPr>
          <p:nvPr/>
        </p:nvCxnSpPr>
        <p:spPr>
          <a:xfrm flipV="1">
            <a:off x="2535565" y="2318966"/>
            <a:ext cx="682800" cy="603307"/>
          </a:xfrm>
          <a:prstGeom prst="straightConnector1">
            <a:avLst/>
          </a:prstGeom>
          <a:noFill/>
          <a:ln w="19050" cap="flat" cmpd="sng">
            <a:solidFill>
              <a:srgbClr val="FF9900"/>
            </a:solidFill>
            <a:prstDash val="solid"/>
            <a:round/>
            <a:headEnd type="none" w="sm" len="sm"/>
            <a:tailEnd type="triangle" w="med" len="med"/>
          </a:ln>
        </p:spPr>
      </p:cxnSp>
      <p:sp>
        <p:nvSpPr>
          <p:cNvPr id="246" name="Google Shape;246;p20"/>
          <p:cNvSpPr txBox="1"/>
          <p:nvPr/>
        </p:nvSpPr>
        <p:spPr>
          <a:xfrm>
            <a:off x="334962" y="1845070"/>
            <a:ext cx="2200603" cy="2154406"/>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Our book schema has a bunch of key: value pairs and we can define the type, default value, unique (index) and if it is a required field and others. </a:t>
            </a:r>
            <a:endParaRPr sz="1600" b="0" i="0" u="none" strike="noStrike" cap="none" dirty="0">
              <a:solidFill>
                <a:srgbClr val="000000"/>
              </a:solidFill>
              <a:latin typeface="Arial"/>
              <a:ea typeface="Arial"/>
              <a:cs typeface="Arial"/>
              <a:sym typeface="Arial"/>
            </a:endParaRPr>
          </a:p>
        </p:txBody>
      </p:sp>
      <p:sp>
        <p:nvSpPr>
          <p:cNvPr id="247" name="Google Shape;247;p20"/>
          <p:cNvSpPr/>
          <p:nvPr/>
        </p:nvSpPr>
        <p:spPr>
          <a:xfrm>
            <a:off x="3218450" y="2967432"/>
            <a:ext cx="562521" cy="267226"/>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8" name="Google Shape;248;p20"/>
          <p:cNvCxnSpPr>
            <a:cxnSpLocks/>
            <a:stCxn id="246" idx="3"/>
            <a:endCxn id="247" idx="1"/>
          </p:cNvCxnSpPr>
          <p:nvPr/>
        </p:nvCxnSpPr>
        <p:spPr>
          <a:xfrm>
            <a:off x="2535565" y="2922273"/>
            <a:ext cx="682885" cy="178772"/>
          </a:xfrm>
          <a:prstGeom prst="straightConnector1">
            <a:avLst/>
          </a:prstGeom>
          <a:noFill/>
          <a:ln w="19050" cap="flat" cmpd="sng">
            <a:solidFill>
              <a:srgbClr val="FF9900"/>
            </a:solidFill>
            <a:prstDash val="solid"/>
            <a:round/>
            <a:headEnd type="none" w="sm" len="sm"/>
            <a:tailEnd type="triangle" w="med" len="med"/>
          </a:ln>
        </p:spPr>
      </p:cxnSp>
      <p:sp>
        <p:nvSpPr>
          <p:cNvPr id="249" name="Google Shape;249;p20"/>
          <p:cNvSpPr/>
          <p:nvPr/>
        </p:nvSpPr>
        <p:spPr>
          <a:xfrm>
            <a:off x="3648877" y="4173448"/>
            <a:ext cx="1107566" cy="2207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0" name="Google Shape;250;p20"/>
          <p:cNvCxnSpPr>
            <a:cxnSpLocks/>
            <a:stCxn id="246" idx="3"/>
            <a:endCxn id="249" idx="1"/>
          </p:cNvCxnSpPr>
          <p:nvPr/>
        </p:nvCxnSpPr>
        <p:spPr>
          <a:xfrm>
            <a:off x="2535565" y="2922273"/>
            <a:ext cx="1113312" cy="1361525"/>
          </a:xfrm>
          <a:prstGeom prst="straightConnector1">
            <a:avLst/>
          </a:prstGeom>
          <a:noFill/>
          <a:ln w="19050" cap="flat" cmpd="sng">
            <a:solidFill>
              <a:srgbClr val="FF9900"/>
            </a:solidFill>
            <a:prstDash val="solid"/>
            <a:round/>
            <a:headEnd type="none" w="sm" len="sm"/>
            <a:tailEnd type="triangle" w="med" len="med"/>
          </a:ln>
        </p:spPr>
      </p:cxnSp>
      <p:sp>
        <p:nvSpPr>
          <p:cNvPr id="251" name="Google Shape;251;p20"/>
          <p:cNvSpPr/>
          <p:nvPr/>
        </p:nvSpPr>
        <p:spPr>
          <a:xfrm>
            <a:off x="3636098" y="4965626"/>
            <a:ext cx="1120345" cy="2406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2" name="Google Shape;252;p20"/>
          <p:cNvCxnSpPr>
            <a:cxnSpLocks/>
            <a:stCxn id="246" idx="3"/>
            <a:endCxn id="251" idx="1"/>
          </p:cNvCxnSpPr>
          <p:nvPr/>
        </p:nvCxnSpPr>
        <p:spPr>
          <a:xfrm>
            <a:off x="2535565" y="2922273"/>
            <a:ext cx="1100533" cy="2163653"/>
          </a:xfrm>
          <a:prstGeom prst="straightConnector1">
            <a:avLst/>
          </a:prstGeom>
          <a:noFill/>
          <a:ln w="19050" cap="flat" cmpd="sng">
            <a:solidFill>
              <a:srgbClr val="FF9900"/>
            </a:solidFill>
            <a:prstDash val="solid"/>
            <a:round/>
            <a:headEnd type="none" w="sm" len="sm"/>
            <a:tailEnd type="triangle" w="med" len="med"/>
          </a:ln>
        </p:spPr>
      </p:cxnSp>
      <p:sp>
        <p:nvSpPr>
          <p:cNvPr id="253" name="Google Shape;253;p20"/>
          <p:cNvSpPr/>
          <p:nvPr/>
        </p:nvSpPr>
        <p:spPr>
          <a:xfrm>
            <a:off x="3648878" y="3182784"/>
            <a:ext cx="1169866" cy="240648"/>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4" name="Google Shape;254;p20"/>
          <p:cNvCxnSpPr>
            <a:cxnSpLocks/>
            <a:stCxn id="255" idx="1"/>
            <a:endCxn id="253" idx="3"/>
          </p:cNvCxnSpPr>
          <p:nvPr/>
        </p:nvCxnSpPr>
        <p:spPr>
          <a:xfrm flipH="1" flipV="1">
            <a:off x="4818744" y="3303108"/>
            <a:ext cx="4906509" cy="24434"/>
          </a:xfrm>
          <a:prstGeom prst="straightConnector1">
            <a:avLst/>
          </a:prstGeom>
          <a:noFill/>
          <a:ln w="19050" cap="flat" cmpd="sng">
            <a:solidFill>
              <a:srgbClr val="0000FF"/>
            </a:solidFill>
            <a:prstDash val="solid"/>
            <a:round/>
            <a:headEnd type="none" w="sm" len="sm"/>
            <a:tailEnd type="triangle" w="med" len="med"/>
          </a:ln>
        </p:spPr>
      </p:cxnSp>
      <p:sp>
        <p:nvSpPr>
          <p:cNvPr id="255" name="Google Shape;255;p20"/>
          <p:cNvSpPr txBox="1"/>
          <p:nvPr/>
        </p:nvSpPr>
        <p:spPr>
          <a:xfrm>
            <a:off x="9725253" y="2989003"/>
            <a:ext cx="1945800" cy="677078"/>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Data type of each field</a:t>
            </a:r>
            <a:endParaRPr sz="1600" b="0" i="0" u="none" strike="noStrike" cap="none">
              <a:solidFill>
                <a:srgbClr val="000000"/>
              </a:solidFill>
              <a:latin typeface="Arial"/>
              <a:ea typeface="Arial"/>
              <a:cs typeface="Arial"/>
              <a:sym typeface="Arial"/>
            </a:endParaRPr>
          </a:p>
        </p:txBody>
      </p:sp>
      <p:sp>
        <p:nvSpPr>
          <p:cNvPr id="256" name="Google Shape;256;p20"/>
          <p:cNvSpPr/>
          <p:nvPr/>
        </p:nvSpPr>
        <p:spPr>
          <a:xfrm>
            <a:off x="3636099" y="3576474"/>
            <a:ext cx="1182646" cy="231760"/>
          </a:xfrm>
          <a:prstGeom prst="flowChartAlternateProcess">
            <a:avLst/>
          </a:prstGeom>
          <a:noFill/>
          <a:ln w="19050" cap="flat" cmpd="sng">
            <a:solidFill>
              <a:srgbClr val="FF999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7" name="Google Shape;257;p20"/>
          <p:cNvCxnSpPr>
            <a:cxnSpLocks/>
            <a:stCxn id="258" idx="1"/>
            <a:endCxn id="256" idx="3"/>
          </p:cNvCxnSpPr>
          <p:nvPr/>
        </p:nvCxnSpPr>
        <p:spPr>
          <a:xfrm flipH="1" flipV="1">
            <a:off x="4818745" y="3692354"/>
            <a:ext cx="4906508" cy="995703"/>
          </a:xfrm>
          <a:prstGeom prst="straightConnector1">
            <a:avLst/>
          </a:prstGeom>
          <a:noFill/>
          <a:ln w="19050" cap="flat" cmpd="sng">
            <a:solidFill>
              <a:srgbClr val="FF9999"/>
            </a:solidFill>
            <a:prstDash val="solid"/>
            <a:round/>
            <a:headEnd type="none" w="sm" len="sm"/>
            <a:tailEnd type="triangle" w="med" len="med"/>
          </a:ln>
        </p:spPr>
      </p:cxnSp>
      <p:sp>
        <p:nvSpPr>
          <p:cNvPr id="259" name="Google Shape;259;p20"/>
          <p:cNvSpPr txBox="1"/>
          <p:nvPr/>
        </p:nvSpPr>
        <p:spPr>
          <a:xfrm>
            <a:off x="9725253" y="5616572"/>
            <a:ext cx="1945800"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a:latin typeface="Consolas" panose="020B0609020204030204" pitchFamily="49" charset="0"/>
                <a:cs typeface="Consolas" panose="020B0609020204030204" pitchFamily="49" charset="0"/>
              </a:rPr>
              <a:t>books</a:t>
            </a:r>
            <a:r>
              <a:rPr lang="en-US" sz="1600" b="0" i="0" u="none" strike="noStrike" cap="none" dirty="0">
                <a:solidFill>
                  <a:schemeClr val="dk1"/>
                </a:solidFill>
                <a:latin typeface="Arial"/>
                <a:ea typeface="Arial"/>
                <a:cs typeface="Arial"/>
                <a:sym typeface="Arial"/>
              </a:rPr>
              <a:t> here refers to our collection in our database.</a:t>
            </a:r>
            <a:endParaRPr sz="1600" b="0" i="0" u="none" strike="noStrike" cap="none" dirty="0">
              <a:solidFill>
                <a:srgbClr val="000000"/>
              </a:solidFill>
              <a:latin typeface="Arial"/>
              <a:ea typeface="Arial"/>
              <a:cs typeface="Arial"/>
              <a:sym typeface="Arial"/>
            </a:endParaRPr>
          </a:p>
        </p:txBody>
      </p:sp>
      <p:sp>
        <p:nvSpPr>
          <p:cNvPr id="260" name="Google Shape;260;p20"/>
          <p:cNvSpPr/>
          <p:nvPr/>
        </p:nvSpPr>
        <p:spPr>
          <a:xfrm>
            <a:off x="7083472" y="5963621"/>
            <a:ext cx="775253" cy="240600"/>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1" name="Google Shape;261;p20"/>
          <p:cNvCxnSpPr>
            <a:cxnSpLocks/>
            <a:stCxn id="259" idx="1"/>
            <a:endCxn id="260" idx="3"/>
          </p:cNvCxnSpPr>
          <p:nvPr/>
        </p:nvCxnSpPr>
        <p:spPr>
          <a:xfrm flipH="1">
            <a:off x="7858725" y="6078222"/>
            <a:ext cx="1866528" cy="5699"/>
          </a:xfrm>
          <a:prstGeom prst="straightConnector1">
            <a:avLst/>
          </a:prstGeom>
          <a:noFill/>
          <a:ln w="19050" cap="flat" cmpd="sng">
            <a:solidFill>
              <a:srgbClr val="CC99FF"/>
            </a:solidFill>
            <a:prstDash val="solid"/>
            <a:round/>
            <a:headEnd type="none" w="sm" len="sm"/>
            <a:tailEnd type="triangle" w="med" len="med"/>
          </a:ln>
        </p:spPr>
      </p:cxnSp>
      <p:sp>
        <p:nvSpPr>
          <p:cNvPr id="262" name="Google Shape;262;p20"/>
          <p:cNvSpPr txBox="1"/>
          <p:nvPr/>
        </p:nvSpPr>
        <p:spPr>
          <a:xfrm>
            <a:off x="334963" y="5733533"/>
            <a:ext cx="1944000" cy="923299"/>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Create a new </a:t>
            </a:r>
            <a:r>
              <a:rPr lang="en-US" sz="1600" b="1" dirty="0">
                <a:latin typeface="Consolas" panose="020B0609020204030204" pitchFamily="49" charset="0"/>
                <a:cs typeface="Consolas" panose="020B0609020204030204" pitchFamily="49" charset="0"/>
              </a:rPr>
              <a:t>Book</a:t>
            </a:r>
            <a:r>
              <a:rPr lang="en-US" sz="1600" b="0" i="0" u="none" strike="noStrike" cap="none" dirty="0">
                <a:solidFill>
                  <a:srgbClr val="000000"/>
                </a:solidFill>
                <a:latin typeface="Arial"/>
                <a:ea typeface="Arial"/>
                <a:cs typeface="Arial"/>
                <a:sym typeface="Arial"/>
              </a:rPr>
              <a:t> model based on </a:t>
            </a:r>
            <a:r>
              <a:rPr lang="en-US" sz="1600" b="1" dirty="0" err="1">
                <a:latin typeface="Consolas" panose="020B0609020204030204" pitchFamily="49" charset="0"/>
                <a:cs typeface="Consolas" panose="020B0609020204030204" pitchFamily="49" charset="0"/>
              </a:rPr>
              <a:t>bookSchema</a:t>
            </a:r>
            <a:r>
              <a:rPr lang="en-US" sz="1600" b="0" i="0" u="none" strike="noStrike" cap="none" dirty="0">
                <a:solidFill>
                  <a:srgbClr val="000000"/>
                </a:solidFill>
                <a:latin typeface="Arial"/>
                <a:ea typeface="Arial"/>
                <a:cs typeface="Arial"/>
                <a:sym typeface="Arial"/>
              </a:rPr>
              <a:t>. </a:t>
            </a:r>
            <a:endParaRPr sz="1600" b="0" i="0" u="none" strike="noStrike" cap="none" dirty="0">
              <a:solidFill>
                <a:srgbClr val="000000"/>
              </a:solidFill>
              <a:latin typeface="Arial"/>
              <a:ea typeface="Arial"/>
              <a:cs typeface="Arial"/>
              <a:sym typeface="Arial"/>
            </a:endParaRPr>
          </a:p>
        </p:txBody>
      </p:sp>
      <p:sp>
        <p:nvSpPr>
          <p:cNvPr id="263" name="Google Shape;263;p20"/>
          <p:cNvSpPr/>
          <p:nvPr/>
        </p:nvSpPr>
        <p:spPr>
          <a:xfrm>
            <a:off x="3379172" y="5963621"/>
            <a:ext cx="2034103" cy="229200"/>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4" name="Google Shape;264;p20"/>
          <p:cNvCxnSpPr>
            <a:cxnSpLocks/>
            <a:stCxn id="262" idx="3"/>
            <a:endCxn id="263" idx="1"/>
          </p:cNvCxnSpPr>
          <p:nvPr/>
        </p:nvCxnSpPr>
        <p:spPr>
          <a:xfrm flipV="1">
            <a:off x="2278963" y="6078221"/>
            <a:ext cx="1100209" cy="116962"/>
          </a:xfrm>
          <a:prstGeom prst="straightConnector1">
            <a:avLst/>
          </a:prstGeom>
          <a:noFill/>
          <a:ln w="19050" cap="flat" cmpd="sng">
            <a:solidFill>
              <a:srgbClr val="FFCCFF"/>
            </a:solidFill>
            <a:prstDash val="solid"/>
            <a:round/>
            <a:headEnd type="none" w="sm" len="sm"/>
            <a:tailEnd type="triangle" w="med" len="med"/>
          </a:ln>
        </p:spPr>
      </p:cxnSp>
      <p:sp>
        <p:nvSpPr>
          <p:cNvPr id="258" name="Google Shape;258;p20"/>
          <p:cNvSpPr txBox="1"/>
          <p:nvPr/>
        </p:nvSpPr>
        <p:spPr>
          <a:xfrm>
            <a:off x="9725253" y="3980186"/>
            <a:ext cx="1945800" cy="1415742"/>
          </a:xfrm>
          <a:prstGeom prst="rect">
            <a:avLst/>
          </a:prstGeom>
          <a:solidFill>
            <a:srgbClr val="FF9999"/>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We use </a:t>
            </a:r>
          </a:p>
          <a:p>
            <a:pPr marL="0" marR="0" lvl="0" indent="0" algn="ctr" rtl="0">
              <a:lnSpc>
                <a:spcPct val="100000"/>
              </a:lnSpc>
              <a:spcBef>
                <a:spcPts val="0"/>
              </a:spcBef>
              <a:spcAft>
                <a:spcPts val="0"/>
              </a:spcAft>
              <a:buClr>
                <a:schemeClr val="dk1"/>
              </a:buClr>
              <a:buSzPts val="1100"/>
              <a:buFont typeface="Arial"/>
              <a:buNone/>
            </a:pPr>
            <a:r>
              <a:rPr lang="en-US" sz="1600" b="1" dirty="0">
                <a:latin typeface="Consolas" panose="020B0609020204030204" pitchFamily="49" charset="0"/>
                <a:cs typeface="Consolas" panose="020B0609020204030204" pitchFamily="49" charset="0"/>
              </a:rPr>
              <a:t>unique: true</a:t>
            </a:r>
            <a:endParaRPr lang="en-US" sz="1600" dirty="0">
              <a:solidFill>
                <a:schemeClr val="dk1"/>
              </a:solidFill>
            </a:endParaRPr>
          </a:p>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to set it as the unique index on that field.</a:t>
            </a:r>
            <a:endParaRPr sz="1600" b="0" i="0" u="none" strike="noStrike" cap="none" dirty="0">
              <a:solidFill>
                <a:srgbClr val="000000"/>
              </a:solidFill>
              <a:latin typeface="Arial"/>
              <a:ea typeface="Arial"/>
              <a:cs typeface="Arial"/>
              <a:sym typeface="Arial"/>
            </a:endParaRPr>
          </a:p>
        </p:txBody>
      </p:sp>
      <p:sp>
        <p:nvSpPr>
          <p:cNvPr id="265" name="Google Shape;265;p20"/>
          <p:cNvSpPr txBox="1"/>
          <p:nvPr/>
        </p:nvSpPr>
        <p:spPr>
          <a:xfrm>
            <a:off x="238081" y="1402999"/>
            <a:ext cx="7246937"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Let’s look at our new book schema</a:t>
            </a:r>
            <a:endParaRPr sz="1600" dirty="0"/>
          </a:p>
        </p:txBody>
      </p:sp>
      <p:sp>
        <p:nvSpPr>
          <p:cNvPr id="266" name="Google Shape;266;p20"/>
          <p:cNvSpPr txBox="1"/>
          <p:nvPr/>
        </p:nvSpPr>
        <p:spPr>
          <a:xfrm>
            <a:off x="334962" y="4387909"/>
            <a:ext cx="2231217" cy="1169521"/>
          </a:xfrm>
          <a:prstGeom prst="rect">
            <a:avLst/>
          </a:prstGeom>
          <a:solidFill>
            <a:srgbClr val="FEE599"/>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Consolas" panose="020B0609020204030204" pitchFamily="49" charset="0"/>
                <a:cs typeface="Consolas" panose="020B0609020204030204" pitchFamily="49" charset="0"/>
                <a:sym typeface="Arial"/>
              </a:rPr>
              <a:t>true</a:t>
            </a:r>
            <a:r>
              <a:rPr lang="en-US" sz="1600" b="0" i="0" u="none" strike="noStrike" cap="none" dirty="0">
                <a:solidFill>
                  <a:srgbClr val="000000"/>
                </a:solidFill>
                <a:latin typeface="Arial"/>
                <a:ea typeface="Arial"/>
                <a:cs typeface="Arial"/>
                <a:sym typeface="Arial"/>
              </a:rPr>
              <a:t>: means required and the string is a</a:t>
            </a:r>
            <a:br>
              <a:rPr lang="en-US" sz="1600" b="0" i="0" u="none" strike="noStrike" cap="none" dirty="0">
                <a:solidFill>
                  <a:srgbClr val="000000"/>
                </a:solidFill>
                <a:latin typeface="Arial"/>
                <a:ea typeface="Arial"/>
                <a:cs typeface="Arial"/>
                <a:sym typeface="Arial"/>
              </a:rPr>
            </a:br>
            <a:r>
              <a:rPr lang="en-US" sz="1600" b="0" i="0" u="none" strike="noStrike" cap="none" dirty="0">
                <a:solidFill>
                  <a:srgbClr val="000000"/>
                </a:solidFill>
                <a:latin typeface="Arial"/>
                <a:ea typeface="Arial"/>
                <a:cs typeface="Arial"/>
                <a:sym typeface="Arial"/>
              </a:rPr>
              <a:t>feedback message if the field is left empty.</a:t>
            </a:r>
            <a:endParaRPr sz="1600" b="0" i="0" u="none" strike="noStrike" cap="none" dirty="0">
              <a:solidFill>
                <a:srgbClr val="000000"/>
              </a:solidFill>
              <a:latin typeface="Arial"/>
              <a:ea typeface="Arial"/>
              <a:cs typeface="Arial"/>
              <a:sym typeface="Arial"/>
            </a:endParaRPr>
          </a:p>
        </p:txBody>
      </p:sp>
      <p:sp>
        <p:nvSpPr>
          <p:cNvPr id="267" name="Google Shape;267;p20"/>
          <p:cNvSpPr/>
          <p:nvPr/>
        </p:nvSpPr>
        <p:spPr>
          <a:xfrm>
            <a:off x="4600282" y="5148148"/>
            <a:ext cx="3128576" cy="240600"/>
          </a:xfrm>
          <a:prstGeom prst="flowChartAlternateProcess">
            <a:avLst/>
          </a:prstGeom>
          <a:noFill/>
          <a:ln w="19050"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8" name="Google Shape;268;p20"/>
          <p:cNvCxnSpPr>
            <a:cxnSpLocks/>
            <a:stCxn id="266" idx="3"/>
            <a:endCxn id="267" idx="1"/>
          </p:cNvCxnSpPr>
          <p:nvPr/>
        </p:nvCxnSpPr>
        <p:spPr>
          <a:xfrm>
            <a:off x="2566179" y="4972670"/>
            <a:ext cx="2034103" cy="295778"/>
          </a:xfrm>
          <a:prstGeom prst="bentConnector3">
            <a:avLst>
              <a:gd name="adj1" fmla="val 27523"/>
            </a:avLst>
          </a:prstGeom>
          <a:noFill/>
          <a:ln w="19050" cap="flat" cmpd="sng">
            <a:solidFill>
              <a:srgbClr val="FFD966"/>
            </a:solidFill>
            <a:prstDash val="solid"/>
            <a:round/>
            <a:headEnd type="none" w="sm" len="sm"/>
            <a:tailEnd type="triangle" w="med" len="med"/>
          </a:ln>
        </p:spPr>
      </p:cxnSp>
    </p:spTree>
    <p:extLst>
      <p:ext uri="{BB962C8B-B14F-4D97-AF65-F5344CB8AC3E}">
        <p14:creationId xmlns:p14="http://schemas.microsoft.com/office/powerpoint/2010/main" val="345880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a:t>
            </a:r>
            <a:r>
              <a:rPr lang="en-US" sz="2400" b="1" i="0" u="none" strike="noStrike" cap="none" dirty="0">
                <a:solidFill>
                  <a:schemeClr val="dk1"/>
                </a:solidFill>
                <a:latin typeface="Consolas"/>
                <a:ea typeface="Consolas"/>
                <a:cs typeface="Consolas"/>
                <a:sym typeface="Consolas"/>
              </a:rPr>
              <a:t>book-model.js</a:t>
            </a:r>
            <a:endParaRPr sz="2400" b="1" i="0" u="none" strike="noStrike" cap="none" dirty="0">
              <a:solidFill>
                <a:schemeClr val="dk1"/>
              </a:solidFill>
              <a:latin typeface="Consolas"/>
              <a:ea typeface="Consolas"/>
              <a:cs typeface="Consolas"/>
              <a:sym typeface="Consolas"/>
            </a:endParaRPr>
          </a:p>
        </p:txBody>
      </p:sp>
      <p:sp>
        <p:nvSpPr>
          <p:cNvPr id="336" name="Google Shape;336;p27"/>
          <p:cNvSpPr txBox="1"/>
          <p:nvPr/>
        </p:nvSpPr>
        <p:spPr>
          <a:xfrm>
            <a:off x="231724" y="1366622"/>
            <a:ext cx="10997100" cy="50601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The schema is given. We add the methods to be used to manipulate the data into various forms for our use. </a:t>
            </a:r>
            <a:endParaRPr sz="1600" b="0" i="0" u="none" strike="noStrike" cap="none">
              <a:solidFill>
                <a:schemeClr val="dk1"/>
              </a:solidFill>
              <a:latin typeface="Arial"/>
              <a:ea typeface="Arial"/>
              <a:cs typeface="Arial"/>
              <a:sym typeface="Arial"/>
            </a:endParaRPr>
          </a:p>
        </p:txBody>
      </p:sp>
      <p:sp>
        <p:nvSpPr>
          <p:cNvPr id="337" name="Google Shape;337;p27"/>
          <p:cNvSpPr txBox="1"/>
          <p:nvPr/>
        </p:nvSpPr>
        <p:spPr>
          <a:xfrm>
            <a:off x="2960185" y="2044797"/>
            <a:ext cx="6300000" cy="30339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 .</a:t>
            </a:r>
            <a:br>
              <a:rPr lang="en-US" sz="1400" b="0" i="0" u="none" strike="noStrike" cap="none">
                <a:solidFill>
                  <a:srgbClr val="000000"/>
                </a:solidFill>
                <a:latin typeface="Consolas"/>
                <a:ea typeface="Consolas"/>
                <a:cs typeface="Consolas"/>
                <a:sym typeface="Consolas"/>
              </a:rPr>
            </a:b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const Book = mongoose.model('Book', bookSchema, 'books');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//Methods here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exports.retrieveAll = function()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return Book.find();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endParaRPr sz="1400" b="0" i="0" u="none" strike="noStrike" cap="none">
              <a:solidFill>
                <a:srgbClr val="000000"/>
              </a:solidFill>
              <a:latin typeface="Arial"/>
              <a:ea typeface="Arial"/>
              <a:cs typeface="Arial"/>
              <a:sym typeface="Arial"/>
            </a:endParaRPr>
          </a:p>
        </p:txBody>
      </p:sp>
      <p:sp>
        <p:nvSpPr>
          <p:cNvPr id="338" name="Google Shape;338;p27"/>
          <p:cNvSpPr/>
          <p:nvPr/>
        </p:nvSpPr>
        <p:spPr>
          <a:xfrm>
            <a:off x="3832458" y="3469793"/>
            <a:ext cx="1342516" cy="28590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9" name="Google Shape;339;p27"/>
          <p:cNvCxnSpPr>
            <a:stCxn id="340" idx="3"/>
            <a:endCxn id="338" idx="1"/>
          </p:cNvCxnSpPr>
          <p:nvPr/>
        </p:nvCxnSpPr>
        <p:spPr>
          <a:xfrm>
            <a:off x="2815836" y="3159823"/>
            <a:ext cx="1016700" cy="453000"/>
          </a:xfrm>
          <a:prstGeom prst="straightConnector1">
            <a:avLst/>
          </a:prstGeom>
          <a:noFill/>
          <a:ln w="19050" cap="flat" cmpd="sng">
            <a:solidFill>
              <a:srgbClr val="6AA84F"/>
            </a:solidFill>
            <a:prstDash val="solid"/>
            <a:round/>
            <a:headEnd type="none" w="sm" len="sm"/>
            <a:tailEnd type="triangle" w="med" len="med"/>
          </a:ln>
        </p:spPr>
      </p:cxnSp>
      <p:sp>
        <p:nvSpPr>
          <p:cNvPr id="340" name="Google Shape;340;p27"/>
          <p:cNvSpPr txBox="1"/>
          <p:nvPr/>
        </p:nvSpPr>
        <p:spPr>
          <a:xfrm>
            <a:off x="592836" y="2574973"/>
            <a:ext cx="2223000" cy="1169700"/>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create a method call </a:t>
            </a:r>
            <a:r>
              <a:rPr lang="en-US" sz="1600" b="1" i="0" u="none" strike="noStrike" cap="none">
                <a:solidFill>
                  <a:schemeClr val="dk1"/>
                </a:solidFill>
                <a:latin typeface="Consolas"/>
                <a:ea typeface="Consolas"/>
                <a:cs typeface="Consolas"/>
                <a:sym typeface="Consolas"/>
              </a:rPr>
              <a:t>retrieveAll</a:t>
            </a:r>
            <a:r>
              <a:rPr lang="en-US" sz="1600" b="0" i="0" u="none" strike="noStrike" cap="none">
                <a:solidFill>
                  <a:schemeClr val="dk1"/>
                </a:solidFill>
                <a:latin typeface="Arial"/>
                <a:ea typeface="Arial"/>
                <a:cs typeface="Arial"/>
                <a:sym typeface="Arial"/>
              </a:rPr>
              <a:t> so it can be reused in the controller functions.</a:t>
            </a:r>
            <a:endParaRPr sz="1600" b="0" i="0" u="none" strike="noStrike" cap="none">
              <a:solidFill>
                <a:srgbClr val="000000"/>
              </a:solidFill>
              <a:latin typeface="Arial"/>
              <a:ea typeface="Arial"/>
              <a:cs typeface="Arial"/>
              <a:sym typeface="Arial"/>
            </a:endParaRPr>
          </a:p>
        </p:txBody>
      </p:sp>
      <p:sp>
        <p:nvSpPr>
          <p:cNvPr id="341" name="Google Shape;341;p27"/>
          <p:cNvSpPr/>
          <p:nvPr/>
        </p:nvSpPr>
        <p:spPr>
          <a:xfrm>
            <a:off x="3945609" y="3854057"/>
            <a:ext cx="1229366" cy="30510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2" name="Google Shape;342;p27"/>
          <p:cNvCxnSpPr>
            <a:stCxn id="343" idx="1"/>
            <a:endCxn id="341" idx="3"/>
          </p:cNvCxnSpPr>
          <p:nvPr/>
        </p:nvCxnSpPr>
        <p:spPr>
          <a:xfrm flipH="1">
            <a:off x="5175036" y="3992779"/>
            <a:ext cx="4371300" cy="13800"/>
          </a:xfrm>
          <a:prstGeom prst="straightConnector1">
            <a:avLst/>
          </a:prstGeom>
          <a:noFill/>
          <a:ln w="19050" cap="flat" cmpd="sng">
            <a:solidFill>
              <a:srgbClr val="0000FF"/>
            </a:solidFill>
            <a:prstDash val="solid"/>
            <a:round/>
            <a:headEnd type="none" w="sm" len="sm"/>
            <a:tailEnd type="triangle" w="med" len="med"/>
          </a:ln>
        </p:spPr>
      </p:cxnSp>
      <p:sp>
        <p:nvSpPr>
          <p:cNvPr id="343" name="Google Shape;343;p27"/>
          <p:cNvSpPr txBox="1"/>
          <p:nvPr/>
        </p:nvSpPr>
        <p:spPr>
          <a:xfrm>
            <a:off x="9546336" y="2792179"/>
            <a:ext cx="2223000" cy="2401200"/>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Book.find() </a:t>
            </a:r>
            <a:r>
              <a:rPr lang="en-US" sz="1600" b="0" i="0" u="none" strike="noStrike" cap="none">
                <a:solidFill>
                  <a:schemeClr val="dk1"/>
                </a:solidFill>
                <a:latin typeface="Arial"/>
                <a:ea typeface="Arial"/>
                <a:cs typeface="Arial"/>
                <a:sym typeface="Arial"/>
              </a:rPr>
              <a:t>is the actual syntax to retrieve all the records in the book collection. This method will return an array of book documents to its caller.</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44" name="Google Shape;344;p27"/>
          <p:cNvSpPr/>
          <p:nvPr/>
        </p:nvSpPr>
        <p:spPr>
          <a:xfrm>
            <a:off x="6526695" y="2586510"/>
            <a:ext cx="1066801" cy="3051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5" name="Google Shape;345;p27"/>
          <p:cNvCxnSpPr>
            <a:stCxn id="346" idx="1"/>
            <a:endCxn id="344" idx="3"/>
          </p:cNvCxnSpPr>
          <p:nvPr/>
        </p:nvCxnSpPr>
        <p:spPr>
          <a:xfrm flipH="1">
            <a:off x="7593478" y="2362343"/>
            <a:ext cx="1859400" cy="376800"/>
          </a:xfrm>
          <a:prstGeom prst="straightConnector1">
            <a:avLst/>
          </a:prstGeom>
          <a:noFill/>
          <a:ln w="19050" cap="flat" cmpd="sng">
            <a:solidFill>
              <a:srgbClr val="FF9900"/>
            </a:solidFill>
            <a:prstDash val="solid"/>
            <a:round/>
            <a:headEnd type="none" w="sm" len="sm"/>
            <a:tailEnd type="triangle" w="med" len="med"/>
          </a:ln>
        </p:spPr>
      </p:cxnSp>
      <p:sp>
        <p:nvSpPr>
          <p:cNvPr id="346" name="Google Shape;346;p27"/>
          <p:cNvSpPr txBox="1"/>
          <p:nvPr/>
        </p:nvSpPr>
        <p:spPr>
          <a:xfrm>
            <a:off x="9452878" y="2146793"/>
            <a:ext cx="2015700" cy="431100"/>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Schema name</a:t>
            </a:r>
            <a:endParaRPr sz="1600" b="0" i="0" u="none" strike="noStrike" cap="none">
              <a:solidFill>
                <a:srgbClr val="000000"/>
              </a:solidFill>
              <a:latin typeface="Arial"/>
              <a:ea typeface="Arial"/>
              <a:cs typeface="Arial"/>
              <a:sym typeface="Arial"/>
            </a:endParaRPr>
          </a:p>
        </p:txBody>
      </p:sp>
      <p:sp>
        <p:nvSpPr>
          <p:cNvPr id="347" name="Google Shape;347;p27"/>
          <p:cNvSpPr txBox="1"/>
          <p:nvPr/>
        </p:nvSpPr>
        <p:spPr>
          <a:xfrm>
            <a:off x="8759372" y="6049825"/>
            <a:ext cx="3204824" cy="30773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0" i="0" u="sng" strike="noStrike" cap="none">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sz="1400" b="1" i="0" u="sng" strike="noStrike" cap="none">
                <a:solidFill>
                  <a:srgbClr val="0070C0"/>
                </a:solidFill>
                <a:latin typeface="Consolas"/>
                <a:ea typeface="Consolas"/>
                <a:cs typeface="Consolas"/>
                <a:sym typeface="Consolas"/>
                <a:hlinkClick r:id="rId3">
                  <a:extLst>
                    <a:ext uri="{A12FA001-AC4F-418D-AE19-62706E023703}">
                      <ahyp:hlinkClr xmlns:ahyp="http://schemas.microsoft.com/office/drawing/2018/hyperlinkcolor" val="tx"/>
                    </a:ext>
                  </a:extLst>
                </a:hlinkClick>
              </a:rPr>
              <a:t>Model.find()</a:t>
            </a:r>
            <a:endParaRPr sz="1400" b="1" i="0" u="none" strike="noStrike" cap="none">
              <a:solidFill>
                <a:srgbClr val="0070C0"/>
              </a:solidFill>
              <a:latin typeface="Consolas"/>
              <a:ea typeface="Consolas"/>
              <a:cs typeface="Consolas"/>
              <a:sym typeface="Consolas"/>
            </a:endParaRPr>
          </a:p>
        </p:txBody>
      </p:sp>
      <p:sp>
        <p:nvSpPr>
          <p:cNvPr id="348" name="Google Shape;348;p27"/>
          <p:cNvSpPr txBox="1"/>
          <p:nvPr/>
        </p:nvSpPr>
        <p:spPr>
          <a:xfrm>
            <a:off x="5492296" y="5193379"/>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book-model.js</a:t>
            </a:r>
            <a:endParaRPr sz="1100" b="0" i="0" u="sng" strike="noStrike" cap="none">
              <a:solidFill>
                <a:srgbClr val="000000"/>
              </a:solidFill>
              <a:latin typeface="Consolas"/>
              <a:ea typeface="Consolas"/>
              <a:cs typeface="Consolas"/>
              <a:sym typeface="Consolas"/>
            </a:endParaRPr>
          </a:p>
        </p:txBody>
      </p:sp>
    </p:spTree>
    <p:extLst>
      <p:ext uri="{BB962C8B-B14F-4D97-AF65-F5344CB8AC3E}">
        <p14:creationId xmlns:p14="http://schemas.microsoft.com/office/powerpoint/2010/main" val="21464752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a:t>
            </a:r>
            <a:r>
              <a:rPr lang="en-US" sz="2400" b="1" i="0" u="none" strike="noStrike" cap="none" dirty="0">
                <a:solidFill>
                  <a:srgbClr val="11175E"/>
                </a:solidFill>
                <a:latin typeface="Consolas"/>
                <a:ea typeface="Consolas"/>
                <a:cs typeface="Consolas"/>
                <a:sym typeface="Consolas"/>
              </a:rPr>
              <a:t>books-routes.js</a:t>
            </a:r>
            <a:endParaRPr sz="2400" b="1" i="0" u="none" strike="noStrike" cap="none" dirty="0">
              <a:solidFill>
                <a:srgbClr val="11175E"/>
              </a:solidFill>
              <a:latin typeface="Consolas"/>
              <a:ea typeface="Consolas"/>
              <a:cs typeface="Consolas"/>
              <a:sym typeface="Consolas"/>
            </a:endParaRPr>
          </a:p>
        </p:txBody>
      </p:sp>
      <p:sp>
        <p:nvSpPr>
          <p:cNvPr id="354" name="Google Shape;354;p28"/>
          <p:cNvSpPr txBox="1"/>
          <p:nvPr/>
        </p:nvSpPr>
        <p:spPr>
          <a:xfrm>
            <a:off x="350659" y="2072229"/>
            <a:ext cx="7980541" cy="3057555"/>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const express = require('express');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const booksController = require('./../controllers/books-controller');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const router = express.Router(); // sub application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Define a GET route to display the list of 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router.get("/book-list", booksController.showBooks);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EXPORT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module.exports = router;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onsolas"/>
              <a:ea typeface="Consolas"/>
              <a:cs typeface="Consolas"/>
              <a:sym typeface="Consolas"/>
            </a:endParaRPr>
          </a:p>
        </p:txBody>
      </p:sp>
      <p:sp>
        <p:nvSpPr>
          <p:cNvPr id="355" name="Google Shape;355;p28"/>
          <p:cNvSpPr/>
          <p:nvPr/>
        </p:nvSpPr>
        <p:spPr>
          <a:xfrm>
            <a:off x="996695" y="2556550"/>
            <a:ext cx="6845279" cy="28398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6" name="Google Shape;356;p28"/>
          <p:cNvCxnSpPr>
            <a:stCxn id="357" idx="1"/>
            <a:endCxn id="355" idx="3"/>
          </p:cNvCxnSpPr>
          <p:nvPr/>
        </p:nvCxnSpPr>
        <p:spPr>
          <a:xfrm flipH="1">
            <a:off x="7842120" y="2681962"/>
            <a:ext cx="661800" cy="16500"/>
          </a:xfrm>
          <a:prstGeom prst="straightConnector1">
            <a:avLst/>
          </a:prstGeom>
          <a:noFill/>
          <a:ln w="19050" cap="flat" cmpd="sng">
            <a:solidFill>
              <a:srgbClr val="6AA84F"/>
            </a:solidFill>
            <a:prstDash val="solid"/>
            <a:round/>
            <a:headEnd type="none" w="sm" len="sm"/>
            <a:tailEnd type="triangle" w="med" len="med"/>
          </a:ln>
        </p:spPr>
      </p:cxnSp>
      <p:sp>
        <p:nvSpPr>
          <p:cNvPr id="357" name="Google Shape;357;p28"/>
          <p:cNvSpPr txBox="1"/>
          <p:nvPr/>
        </p:nvSpPr>
        <p:spPr>
          <a:xfrm>
            <a:off x="8503920" y="2466533"/>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Path to controller</a:t>
            </a:r>
            <a:endParaRPr sz="1600" b="0" i="0" u="none" strike="noStrike" cap="none">
              <a:solidFill>
                <a:srgbClr val="000000"/>
              </a:solidFill>
              <a:latin typeface="Arial"/>
              <a:ea typeface="Arial"/>
              <a:cs typeface="Arial"/>
              <a:sym typeface="Arial"/>
            </a:endParaRPr>
          </a:p>
        </p:txBody>
      </p:sp>
      <p:sp>
        <p:nvSpPr>
          <p:cNvPr id="358" name="Google Shape;358;p28"/>
          <p:cNvSpPr/>
          <p:nvPr/>
        </p:nvSpPr>
        <p:spPr>
          <a:xfrm>
            <a:off x="1581741" y="3860637"/>
            <a:ext cx="4514259" cy="28398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9" name="Google Shape;359;p28"/>
          <p:cNvCxnSpPr>
            <a:stCxn id="360" idx="1"/>
            <a:endCxn id="358" idx="3"/>
          </p:cNvCxnSpPr>
          <p:nvPr/>
        </p:nvCxnSpPr>
        <p:spPr>
          <a:xfrm rot="10800000">
            <a:off x="6096120" y="4002478"/>
            <a:ext cx="2407800" cy="36900"/>
          </a:xfrm>
          <a:prstGeom prst="straightConnector1">
            <a:avLst/>
          </a:prstGeom>
          <a:noFill/>
          <a:ln w="19050" cap="flat" cmpd="sng">
            <a:solidFill>
              <a:srgbClr val="0000FF"/>
            </a:solidFill>
            <a:prstDash val="solid"/>
            <a:round/>
            <a:headEnd type="none" w="sm" len="sm"/>
            <a:tailEnd type="triangle" w="med" len="med"/>
          </a:ln>
        </p:spPr>
      </p:cxnSp>
      <p:sp>
        <p:nvSpPr>
          <p:cNvPr id="360" name="Google Shape;360;p28"/>
          <p:cNvSpPr txBox="1"/>
          <p:nvPr/>
        </p:nvSpPr>
        <p:spPr>
          <a:xfrm>
            <a:off x="8503920" y="3331507"/>
            <a:ext cx="3369143" cy="1415742"/>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When the user goes to </a:t>
            </a:r>
            <a:r>
              <a:rPr lang="en-US" sz="1600" b="1" i="0" u="none" strike="noStrike" cap="none">
                <a:solidFill>
                  <a:schemeClr val="dk1"/>
                </a:solidFill>
                <a:latin typeface="Consolas"/>
                <a:ea typeface="Consolas"/>
                <a:cs typeface="Consolas"/>
                <a:sym typeface="Consolas"/>
              </a:rPr>
              <a:t>localhost:8000/book-list</a:t>
            </a:r>
            <a:br>
              <a:rPr lang="en-US" sz="16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it will call the function </a:t>
            </a:r>
            <a:r>
              <a:rPr lang="en-US" sz="1600" b="1" i="0" u="none" strike="noStrike" cap="none">
                <a:solidFill>
                  <a:schemeClr val="dk1"/>
                </a:solidFill>
                <a:latin typeface="Consolas"/>
                <a:ea typeface="Consolas"/>
                <a:cs typeface="Consolas"/>
                <a:sym typeface="Consolas"/>
              </a:rPr>
              <a:t>showBooks</a:t>
            </a:r>
            <a:r>
              <a:rPr lang="en-US" sz="1600" b="0" i="0" u="none" strike="noStrike" cap="none">
                <a:solidFill>
                  <a:schemeClr val="dk1"/>
                </a:solidFill>
                <a:latin typeface="Arial"/>
                <a:ea typeface="Arial"/>
                <a:cs typeface="Arial"/>
                <a:sym typeface="Arial"/>
              </a:rPr>
              <a:t> from the </a:t>
            </a:r>
            <a:r>
              <a:rPr lang="en-US" sz="1600" b="1" i="0" u="none" strike="noStrike" cap="none">
                <a:solidFill>
                  <a:schemeClr val="dk1"/>
                </a:solidFill>
                <a:latin typeface="Consolas"/>
                <a:ea typeface="Consolas"/>
                <a:cs typeface="Consolas"/>
                <a:sym typeface="Consolas"/>
              </a:rPr>
              <a:t>booksController</a:t>
            </a:r>
            <a:r>
              <a:rPr lang="en-US"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61" name="Google Shape;361;p28"/>
          <p:cNvSpPr txBox="1"/>
          <p:nvPr/>
        </p:nvSpPr>
        <p:spPr>
          <a:xfrm>
            <a:off x="240868" y="1423461"/>
            <a:ext cx="1108753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a:t>
            </a:r>
            <a:r>
              <a:rPr lang="en-US" sz="1600" b="1" i="0" u="none" strike="noStrike" cap="none">
                <a:solidFill>
                  <a:schemeClr val="dk1"/>
                </a:solidFill>
                <a:latin typeface="Consolas"/>
                <a:ea typeface="Consolas"/>
                <a:cs typeface="Consolas"/>
                <a:sym typeface="Consolas"/>
              </a:rPr>
              <a:t>book-routes.js</a:t>
            </a:r>
            <a:r>
              <a:rPr lang="en-US" sz="1600" b="0" i="0" u="none" strike="noStrike" cap="none">
                <a:solidFill>
                  <a:schemeClr val="dk1"/>
                </a:solidFill>
                <a:latin typeface="Arial"/>
                <a:ea typeface="Arial"/>
                <a:cs typeface="Arial"/>
                <a:sym typeface="Arial"/>
              </a:rPr>
              <a:t> file is given. It establishes which URL route it will use and which function it will call in the controller. </a:t>
            </a:r>
            <a:endParaRPr sz="1400" b="0" i="0" u="none" strike="noStrike" cap="none">
              <a:solidFill>
                <a:srgbClr val="000000"/>
              </a:solidFill>
              <a:latin typeface="Arial"/>
              <a:ea typeface="Arial"/>
              <a:cs typeface="Arial"/>
              <a:sym typeface="Arial"/>
            </a:endParaRPr>
          </a:p>
        </p:txBody>
      </p:sp>
      <p:sp>
        <p:nvSpPr>
          <p:cNvPr id="362" name="Google Shape;362;p28"/>
          <p:cNvSpPr txBox="1"/>
          <p:nvPr/>
        </p:nvSpPr>
        <p:spPr>
          <a:xfrm>
            <a:off x="3233728" y="5148320"/>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book-routes.js</a:t>
            </a:r>
            <a:endParaRPr sz="1100" b="0" i="0" u="sng" strike="noStrike" cap="none">
              <a:solidFill>
                <a:srgbClr val="000000"/>
              </a:solidFill>
              <a:latin typeface="Consolas"/>
              <a:ea typeface="Consolas"/>
              <a:cs typeface="Consolas"/>
              <a:sym typeface="Consolas"/>
            </a:endParaRPr>
          </a:p>
        </p:txBody>
      </p:sp>
    </p:spTree>
    <p:extLst>
      <p:ext uri="{BB962C8B-B14F-4D97-AF65-F5344CB8AC3E}">
        <p14:creationId xmlns:p14="http://schemas.microsoft.com/office/powerpoint/2010/main" val="283313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a:t>
            </a:r>
            <a:r>
              <a:rPr lang="en-US" sz="2400" b="1" i="0" u="none" strike="noStrike" cap="none" dirty="0">
                <a:solidFill>
                  <a:srgbClr val="11175E"/>
                </a:solidFill>
                <a:latin typeface="Consolas"/>
                <a:ea typeface="Consolas"/>
                <a:cs typeface="Consolas"/>
                <a:sym typeface="Consolas"/>
              </a:rPr>
              <a:t>books-controller.js</a:t>
            </a:r>
            <a:endParaRPr sz="2400" b="1" i="0" u="none" strike="noStrike" cap="none" dirty="0">
              <a:solidFill>
                <a:srgbClr val="11175E"/>
              </a:solidFill>
              <a:latin typeface="Consolas"/>
              <a:ea typeface="Consolas"/>
              <a:cs typeface="Consolas"/>
              <a:sym typeface="Consolas"/>
            </a:endParaRPr>
          </a:p>
        </p:txBody>
      </p:sp>
      <p:sp>
        <p:nvSpPr>
          <p:cNvPr id="368" name="Google Shape;368;p29"/>
          <p:cNvSpPr txBox="1"/>
          <p:nvPr/>
        </p:nvSpPr>
        <p:spPr>
          <a:xfrm>
            <a:off x="320179" y="2017365"/>
            <a:ext cx="8187805" cy="446977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const fs = require('fs/promises');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Get Service model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const Book = require('./../models/book-model');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Controller function to get all the documents in the db and display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exports.showBooks = async (req, res) =&gt;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try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let bookList = await Book.retrieveAll(); // fetch all the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console.log(bookList);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res.render("display-book", { bookList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 catch (error)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console.error(error);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res.send("Error reading database"); // Send error message if fetching fails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onsolas"/>
              <a:ea typeface="Consolas"/>
              <a:cs typeface="Consolas"/>
              <a:sym typeface="Consolas"/>
            </a:endParaRPr>
          </a:p>
        </p:txBody>
      </p:sp>
      <p:sp>
        <p:nvSpPr>
          <p:cNvPr id="369" name="Google Shape;369;p29"/>
          <p:cNvSpPr/>
          <p:nvPr/>
        </p:nvSpPr>
        <p:spPr>
          <a:xfrm>
            <a:off x="347870" y="2737886"/>
            <a:ext cx="4790971" cy="267236"/>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0" name="Google Shape;370;p29"/>
          <p:cNvCxnSpPr>
            <a:stCxn id="371" idx="1"/>
            <a:endCxn id="369" idx="3"/>
          </p:cNvCxnSpPr>
          <p:nvPr/>
        </p:nvCxnSpPr>
        <p:spPr>
          <a:xfrm rot="10800000">
            <a:off x="5138820" y="2871418"/>
            <a:ext cx="3365100" cy="30000"/>
          </a:xfrm>
          <a:prstGeom prst="straightConnector1">
            <a:avLst/>
          </a:prstGeom>
          <a:noFill/>
          <a:ln w="19050" cap="flat" cmpd="sng">
            <a:solidFill>
              <a:srgbClr val="6AA84F"/>
            </a:solidFill>
            <a:prstDash val="solid"/>
            <a:round/>
            <a:headEnd type="none" w="sm" len="sm"/>
            <a:tailEnd type="triangle" w="med" len="med"/>
          </a:ln>
        </p:spPr>
      </p:cxnSp>
      <p:sp>
        <p:nvSpPr>
          <p:cNvPr id="371" name="Google Shape;371;p29"/>
          <p:cNvSpPr txBox="1"/>
          <p:nvPr/>
        </p:nvSpPr>
        <p:spPr>
          <a:xfrm>
            <a:off x="8503920" y="2685989"/>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Path to </a:t>
            </a:r>
            <a:r>
              <a:rPr lang="en-US" sz="1600" b="1" i="0" u="none" strike="noStrike" cap="none">
                <a:solidFill>
                  <a:schemeClr val="dk1"/>
                </a:solidFill>
                <a:latin typeface="Consolas"/>
                <a:ea typeface="Consolas"/>
                <a:cs typeface="Consolas"/>
                <a:sym typeface="Consolas"/>
              </a:rPr>
              <a:t>book-model.js</a:t>
            </a:r>
            <a:endParaRPr sz="1600" b="1" i="0" u="none" strike="noStrike" cap="none">
              <a:solidFill>
                <a:schemeClr val="dk1"/>
              </a:solidFill>
              <a:latin typeface="Consolas"/>
              <a:ea typeface="Consolas"/>
              <a:cs typeface="Consolas"/>
              <a:sym typeface="Consolas"/>
            </a:endParaRPr>
          </a:p>
        </p:txBody>
      </p:sp>
      <p:sp>
        <p:nvSpPr>
          <p:cNvPr id="372" name="Google Shape;372;p29"/>
          <p:cNvSpPr/>
          <p:nvPr/>
        </p:nvSpPr>
        <p:spPr>
          <a:xfrm>
            <a:off x="1129929" y="3959265"/>
            <a:ext cx="3645271" cy="347446"/>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3" name="Google Shape;373;p29"/>
          <p:cNvCxnSpPr>
            <a:stCxn id="374" idx="1"/>
            <a:endCxn id="372" idx="3"/>
          </p:cNvCxnSpPr>
          <p:nvPr/>
        </p:nvCxnSpPr>
        <p:spPr>
          <a:xfrm flipH="1">
            <a:off x="4775220" y="4116188"/>
            <a:ext cx="3728700" cy="16800"/>
          </a:xfrm>
          <a:prstGeom prst="straightConnector1">
            <a:avLst/>
          </a:prstGeom>
          <a:noFill/>
          <a:ln w="19050" cap="flat" cmpd="sng">
            <a:solidFill>
              <a:srgbClr val="0000FF"/>
            </a:solidFill>
            <a:prstDash val="solid"/>
            <a:round/>
            <a:headEnd type="none" w="sm" len="sm"/>
            <a:tailEnd type="triangle" w="med" len="med"/>
          </a:ln>
        </p:spPr>
      </p:cxnSp>
      <p:sp>
        <p:nvSpPr>
          <p:cNvPr id="374" name="Google Shape;374;p29"/>
          <p:cNvSpPr txBox="1"/>
          <p:nvPr/>
        </p:nvSpPr>
        <p:spPr>
          <a:xfrm>
            <a:off x="8503920" y="3531427"/>
            <a:ext cx="3369143" cy="1169521"/>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Book.retrieveAll()</a:t>
            </a:r>
            <a:r>
              <a:rPr lang="en-US" sz="1600" b="0" i="0" u="none" strike="noStrike" cap="none">
                <a:solidFill>
                  <a:schemeClr val="dk1"/>
                </a:solidFill>
                <a:latin typeface="Arial"/>
                <a:ea typeface="Arial"/>
                <a:cs typeface="Arial"/>
                <a:sym typeface="Arial"/>
              </a:rPr>
              <a:t> function will return an array of all the documents in the collection. </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75" name="Google Shape;375;p29"/>
          <p:cNvSpPr/>
          <p:nvPr/>
        </p:nvSpPr>
        <p:spPr>
          <a:xfrm>
            <a:off x="704880" y="4669666"/>
            <a:ext cx="4229977" cy="267236"/>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6" name="Google Shape;376;p29"/>
          <p:cNvCxnSpPr>
            <a:stCxn id="377" idx="1"/>
            <a:endCxn id="375" idx="3"/>
          </p:cNvCxnSpPr>
          <p:nvPr/>
        </p:nvCxnSpPr>
        <p:spPr>
          <a:xfrm rot="10800000">
            <a:off x="4934820" y="4803389"/>
            <a:ext cx="3569100" cy="445500"/>
          </a:xfrm>
          <a:prstGeom prst="straightConnector1">
            <a:avLst/>
          </a:prstGeom>
          <a:noFill/>
          <a:ln w="19050" cap="flat" cmpd="sng">
            <a:solidFill>
              <a:srgbClr val="FF9900"/>
            </a:solidFill>
            <a:prstDash val="solid"/>
            <a:round/>
            <a:headEnd type="none" w="sm" len="sm"/>
            <a:tailEnd type="triangle" w="med" len="med"/>
          </a:ln>
        </p:spPr>
      </p:cxnSp>
      <p:sp>
        <p:nvSpPr>
          <p:cNvPr id="377" name="Google Shape;377;p29"/>
          <p:cNvSpPr txBox="1"/>
          <p:nvPr/>
        </p:nvSpPr>
        <p:spPr>
          <a:xfrm>
            <a:off x="8503920" y="4787239"/>
            <a:ext cx="3369142"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view </a:t>
            </a:r>
            <a:r>
              <a:rPr lang="en-US" sz="1600" b="1" i="0" u="none" strike="noStrike" cap="none">
                <a:solidFill>
                  <a:schemeClr val="dk1"/>
                </a:solidFill>
                <a:latin typeface="Consolas"/>
                <a:ea typeface="Consolas"/>
                <a:cs typeface="Consolas"/>
                <a:sym typeface="Consolas"/>
              </a:rPr>
              <a:t>display-book.ejs</a:t>
            </a:r>
            <a:r>
              <a:rPr lang="en-US" sz="1600" b="0" i="0" u="none" strike="noStrike" cap="none">
                <a:solidFill>
                  <a:srgbClr val="000000"/>
                </a:solidFill>
                <a:latin typeface="Arial"/>
                <a:ea typeface="Arial"/>
                <a:cs typeface="Arial"/>
                <a:sym typeface="Arial"/>
              </a:rPr>
              <a:t> is rendered with data retrieved from the database.</a:t>
            </a:r>
            <a:endParaRPr sz="1600" b="0" i="0" u="none" strike="noStrike" cap="none">
              <a:solidFill>
                <a:srgbClr val="000000"/>
              </a:solidFill>
              <a:latin typeface="Arial"/>
              <a:ea typeface="Arial"/>
              <a:cs typeface="Arial"/>
              <a:sym typeface="Arial"/>
            </a:endParaRPr>
          </a:p>
        </p:txBody>
      </p:sp>
      <p:sp>
        <p:nvSpPr>
          <p:cNvPr id="378" name="Google Shape;378;p29"/>
          <p:cNvSpPr txBox="1"/>
          <p:nvPr/>
        </p:nvSpPr>
        <p:spPr>
          <a:xfrm>
            <a:off x="240868" y="1423461"/>
            <a:ext cx="1011928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controller contains all the logic of the application. Every database operation requires the model database schema.  Let’s look at the first function showBooks.</a:t>
            </a:r>
            <a:endParaRPr sz="1400" b="0" i="0" u="none" strike="noStrike" cap="none">
              <a:solidFill>
                <a:srgbClr val="000000"/>
              </a:solidFill>
              <a:latin typeface="Arial"/>
              <a:ea typeface="Arial"/>
              <a:cs typeface="Arial"/>
              <a:sym typeface="Arial"/>
            </a:endParaRPr>
          </a:p>
        </p:txBody>
      </p:sp>
      <p:sp>
        <p:nvSpPr>
          <p:cNvPr id="379" name="Google Shape;379;p29"/>
          <p:cNvSpPr txBox="1"/>
          <p:nvPr/>
        </p:nvSpPr>
        <p:spPr>
          <a:xfrm>
            <a:off x="3539581" y="647432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book-controller.js</a:t>
            </a:r>
            <a:endParaRPr sz="1100" b="0" i="0" u="sng" strike="noStrike" cap="none">
              <a:solidFill>
                <a:srgbClr val="000000"/>
              </a:solidFill>
              <a:latin typeface="Consolas"/>
              <a:ea typeface="Consolas"/>
              <a:cs typeface="Consolas"/>
              <a:sym typeface="Consolas"/>
            </a:endParaRPr>
          </a:p>
        </p:txBody>
      </p:sp>
    </p:spTree>
    <p:extLst>
      <p:ext uri="{BB962C8B-B14F-4D97-AF65-F5344CB8AC3E}">
        <p14:creationId xmlns:p14="http://schemas.microsoft.com/office/powerpoint/2010/main" val="3991942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a:t>
            </a:r>
            <a:r>
              <a:rPr lang="en-US" sz="2400" b="1" i="0" u="none" strike="noStrike" cap="none" dirty="0">
                <a:solidFill>
                  <a:srgbClr val="11175E"/>
                </a:solidFill>
                <a:latin typeface="Consolas"/>
                <a:ea typeface="Consolas"/>
                <a:cs typeface="Consolas"/>
                <a:sym typeface="Consolas"/>
              </a:rPr>
              <a:t>display-</a:t>
            </a:r>
            <a:r>
              <a:rPr lang="en-US" sz="2400" b="1" i="0" u="none" strike="noStrike" cap="none" dirty="0" err="1">
                <a:solidFill>
                  <a:srgbClr val="11175E"/>
                </a:solidFill>
                <a:latin typeface="Consolas"/>
                <a:ea typeface="Consolas"/>
                <a:cs typeface="Consolas"/>
                <a:sym typeface="Consolas"/>
              </a:rPr>
              <a:t>book.ejs</a:t>
            </a:r>
            <a:endParaRPr sz="2400" b="1" i="0" u="none" strike="noStrike" cap="none" dirty="0">
              <a:solidFill>
                <a:srgbClr val="11175E"/>
              </a:solidFill>
              <a:latin typeface="Consolas"/>
              <a:ea typeface="Consolas"/>
              <a:cs typeface="Consolas"/>
              <a:sym typeface="Consolas"/>
            </a:endParaRPr>
          </a:p>
        </p:txBody>
      </p:sp>
      <p:sp>
        <p:nvSpPr>
          <p:cNvPr id="392" name="Google Shape;392;p31"/>
          <p:cNvSpPr txBox="1"/>
          <p:nvPr/>
        </p:nvSpPr>
        <p:spPr>
          <a:xfrm>
            <a:off x="381139" y="2072230"/>
            <a:ext cx="7950061" cy="413028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EJS conditional block: Check if there are any book list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if (bookList.length === 0)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&lt;p&gt;No books yet.&lt;/p&gt; &lt;!-- Message when there is no books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 else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&lt;h2&gt;Node.js Book List&lt;/h2&gt;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EJS loop to render each book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bookList.forEach(book =&gt;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&lt;p&gt;&lt;strong&gt;Title: &lt;%= book.title  %&gt; &lt;/strong&gt;&lt;/p&gt;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ISBN: &lt;%= book.isbn   %&gt; &lt;br&gt;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Rating: &lt;%= book.rating %&gt; &lt;br&gt;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Price: &lt;%= book.price  %&gt;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&lt;hr&gt;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onsolas"/>
              <a:ea typeface="Consolas"/>
              <a:cs typeface="Consolas"/>
              <a:sym typeface="Consolas"/>
            </a:endParaRPr>
          </a:p>
        </p:txBody>
      </p:sp>
      <p:sp>
        <p:nvSpPr>
          <p:cNvPr id="393" name="Google Shape;393;p31"/>
          <p:cNvSpPr/>
          <p:nvPr/>
        </p:nvSpPr>
        <p:spPr>
          <a:xfrm>
            <a:off x="617584" y="2379223"/>
            <a:ext cx="3584447" cy="235373"/>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4" name="Google Shape;394;p31"/>
          <p:cNvCxnSpPr>
            <a:stCxn id="395" idx="1"/>
            <a:endCxn id="393" idx="3"/>
          </p:cNvCxnSpPr>
          <p:nvPr/>
        </p:nvCxnSpPr>
        <p:spPr>
          <a:xfrm flipH="1">
            <a:off x="4202082" y="2470038"/>
            <a:ext cx="4332600" cy="27000"/>
          </a:xfrm>
          <a:prstGeom prst="straightConnector1">
            <a:avLst/>
          </a:prstGeom>
          <a:noFill/>
          <a:ln w="19050" cap="flat" cmpd="sng">
            <a:solidFill>
              <a:srgbClr val="6AA84F"/>
            </a:solidFill>
            <a:prstDash val="solid"/>
            <a:round/>
            <a:headEnd type="none" w="sm" len="sm"/>
            <a:tailEnd type="triangle" w="med" len="med"/>
          </a:ln>
        </p:spPr>
      </p:cxnSp>
      <p:sp>
        <p:nvSpPr>
          <p:cNvPr id="395" name="Google Shape;395;p31"/>
          <p:cNvSpPr txBox="1"/>
          <p:nvPr/>
        </p:nvSpPr>
        <p:spPr>
          <a:xfrm>
            <a:off x="8534682" y="2131499"/>
            <a:ext cx="3338380"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Check if the input </a:t>
            </a:r>
            <a:r>
              <a:rPr lang="en-US" sz="1600" b="1" i="0" u="none" strike="noStrike" cap="none">
                <a:solidFill>
                  <a:schemeClr val="dk1"/>
                </a:solidFill>
                <a:latin typeface="Consolas"/>
                <a:ea typeface="Consolas"/>
                <a:cs typeface="Consolas"/>
                <a:sym typeface="Consolas"/>
              </a:rPr>
              <a:t>bookList</a:t>
            </a:r>
            <a:r>
              <a:rPr lang="en-US" sz="1600" b="0" i="0" u="none" strike="noStrike" cap="none">
                <a:solidFill>
                  <a:schemeClr val="dk1"/>
                </a:solidFill>
                <a:latin typeface="Arial"/>
                <a:ea typeface="Arial"/>
                <a:cs typeface="Arial"/>
                <a:sym typeface="Arial"/>
              </a:rPr>
              <a:t> is not empty</a:t>
            </a:r>
            <a:endParaRPr sz="1600" b="0" i="0" u="none" strike="noStrike" cap="none">
              <a:solidFill>
                <a:srgbClr val="000000"/>
              </a:solidFill>
              <a:latin typeface="Arial"/>
              <a:ea typeface="Arial"/>
              <a:cs typeface="Arial"/>
              <a:sym typeface="Arial"/>
            </a:endParaRPr>
          </a:p>
        </p:txBody>
      </p:sp>
      <p:sp>
        <p:nvSpPr>
          <p:cNvPr id="396" name="Google Shape;396;p31"/>
          <p:cNvSpPr/>
          <p:nvPr/>
        </p:nvSpPr>
        <p:spPr>
          <a:xfrm>
            <a:off x="687533" y="3611389"/>
            <a:ext cx="3361953" cy="31361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7" name="Google Shape;397;p31"/>
          <p:cNvCxnSpPr>
            <a:stCxn id="398" idx="1"/>
            <a:endCxn id="396" idx="3"/>
          </p:cNvCxnSpPr>
          <p:nvPr/>
        </p:nvCxnSpPr>
        <p:spPr>
          <a:xfrm flipH="1">
            <a:off x="4049382" y="3754814"/>
            <a:ext cx="4485300" cy="13500"/>
          </a:xfrm>
          <a:prstGeom prst="straightConnector1">
            <a:avLst/>
          </a:prstGeom>
          <a:noFill/>
          <a:ln w="19050" cap="flat" cmpd="sng">
            <a:solidFill>
              <a:srgbClr val="0000FF"/>
            </a:solidFill>
            <a:prstDash val="solid"/>
            <a:round/>
            <a:headEnd type="none" w="sm" len="sm"/>
            <a:tailEnd type="triangle" w="med" len="med"/>
          </a:ln>
        </p:spPr>
      </p:cxnSp>
      <p:sp>
        <p:nvSpPr>
          <p:cNvPr id="398" name="Google Shape;398;p31"/>
          <p:cNvSpPr txBox="1"/>
          <p:nvPr/>
        </p:nvSpPr>
        <p:spPr>
          <a:xfrm>
            <a:off x="8534682" y="3293165"/>
            <a:ext cx="3306941" cy="923299"/>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forEach</a:t>
            </a:r>
            <a:r>
              <a:rPr lang="en-US" sz="1600" b="0" i="0" u="none" strike="noStrike" cap="none">
                <a:solidFill>
                  <a:schemeClr val="dk1"/>
                </a:solidFill>
                <a:latin typeface="Arial"/>
                <a:ea typeface="Arial"/>
                <a:cs typeface="Arial"/>
                <a:sym typeface="Arial"/>
              </a:rPr>
              <a:t> loop to walk through the list of documents (</a:t>
            </a:r>
            <a:r>
              <a:rPr lang="en-US" sz="1600" b="1" i="0" u="none" strike="noStrike" cap="none">
                <a:solidFill>
                  <a:schemeClr val="dk1"/>
                </a:solidFill>
                <a:latin typeface="Consolas"/>
                <a:ea typeface="Consolas"/>
                <a:cs typeface="Consolas"/>
                <a:sym typeface="Consolas"/>
              </a:rPr>
              <a:t>bookList</a:t>
            </a:r>
            <a:r>
              <a:rPr lang="en-US"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99" name="Google Shape;399;p31"/>
          <p:cNvSpPr/>
          <p:nvPr/>
        </p:nvSpPr>
        <p:spPr>
          <a:xfrm>
            <a:off x="2838053" y="4068432"/>
            <a:ext cx="1937147" cy="864829"/>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00" name="Google Shape;400;p31"/>
          <p:cNvCxnSpPr>
            <a:stCxn id="401" idx="1"/>
            <a:endCxn id="399" idx="3"/>
          </p:cNvCxnSpPr>
          <p:nvPr/>
        </p:nvCxnSpPr>
        <p:spPr>
          <a:xfrm rot="10800000">
            <a:off x="4775220" y="4500878"/>
            <a:ext cx="3728700" cy="396300"/>
          </a:xfrm>
          <a:prstGeom prst="straightConnector1">
            <a:avLst/>
          </a:prstGeom>
          <a:noFill/>
          <a:ln w="19050" cap="flat" cmpd="sng">
            <a:solidFill>
              <a:srgbClr val="FF9900"/>
            </a:solidFill>
            <a:prstDash val="solid"/>
            <a:round/>
            <a:headEnd type="none" w="sm" len="sm"/>
            <a:tailEnd type="triangle" w="med" len="med"/>
          </a:ln>
        </p:spPr>
      </p:cxnSp>
      <p:sp>
        <p:nvSpPr>
          <p:cNvPr id="401" name="Google Shape;401;p31"/>
          <p:cNvSpPr txBox="1"/>
          <p:nvPr/>
        </p:nvSpPr>
        <p:spPr>
          <a:xfrm>
            <a:off x="8503920" y="4558639"/>
            <a:ext cx="3306941" cy="677078"/>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Accessing the attributes of the document. </a:t>
            </a:r>
            <a:endParaRPr sz="1600" b="0" i="0" u="none" strike="noStrike" cap="none">
              <a:solidFill>
                <a:srgbClr val="000000"/>
              </a:solidFill>
              <a:latin typeface="Arial"/>
              <a:ea typeface="Arial"/>
              <a:cs typeface="Arial"/>
              <a:sym typeface="Arial"/>
            </a:endParaRPr>
          </a:p>
        </p:txBody>
      </p:sp>
      <p:sp>
        <p:nvSpPr>
          <p:cNvPr id="402" name="Google Shape;402;p31"/>
          <p:cNvSpPr txBox="1"/>
          <p:nvPr/>
        </p:nvSpPr>
        <p:spPr>
          <a:xfrm>
            <a:off x="258937" y="1407999"/>
            <a:ext cx="1045783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onsolas"/>
                <a:ea typeface="Consolas"/>
                <a:cs typeface="Consolas"/>
                <a:sym typeface="Consolas"/>
              </a:rPr>
              <a:t>display-book.ejs </a:t>
            </a:r>
            <a:r>
              <a:rPr lang="en-US" sz="1600" b="0" i="0" u="none" strike="noStrike" cap="none">
                <a:solidFill>
                  <a:schemeClr val="dk1"/>
                </a:solidFill>
                <a:latin typeface="Arial"/>
                <a:ea typeface="Arial"/>
                <a:cs typeface="Arial"/>
                <a:sym typeface="Arial"/>
              </a:rPr>
              <a:t>contains an </a:t>
            </a:r>
            <a:r>
              <a:rPr lang="en-US" sz="1600" b="1" i="0" u="none" strike="noStrike" cap="none">
                <a:solidFill>
                  <a:schemeClr val="dk1"/>
                </a:solidFill>
                <a:latin typeface="Consolas"/>
                <a:ea typeface="Consolas"/>
                <a:cs typeface="Consolas"/>
                <a:sym typeface="Consolas"/>
              </a:rPr>
              <a:t>html</a:t>
            </a:r>
            <a:r>
              <a:rPr lang="en-US" sz="1600" b="0" i="0" u="none" strike="noStrike" cap="none">
                <a:solidFill>
                  <a:schemeClr val="dk1"/>
                </a:solidFill>
                <a:latin typeface="Arial"/>
                <a:ea typeface="Arial"/>
                <a:cs typeface="Arial"/>
                <a:sym typeface="Arial"/>
              </a:rPr>
              <a:t> block with </a:t>
            </a:r>
            <a:r>
              <a:rPr lang="en-US" sz="1600" b="1" i="0" u="none" strike="noStrike" cap="none">
                <a:solidFill>
                  <a:schemeClr val="dk1"/>
                </a:solidFill>
                <a:latin typeface="Consolas"/>
                <a:ea typeface="Consolas"/>
                <a:cs typeface="Consolas"/>
                <a:sym typeface="Consolas"/>
              </a:rPr>
              <a:t>ejs</a:t>
            </a:r>
            <a:r>
              <a:rPr lang="en-US" sz="1600" b="0" i="0" u="none" strike="noStrike" cap="none">
                <a:solidFill>
                  <a:schemeClr val="dk1"/>
                </a:solidFill>
                <a:latin typeface="Arial"/>
                <a:ea typeface="Arial"/>
                <a:cs typeface="Arial"/>
                <a:sym typeface="Arial"/>
              </a:rPr>
              <a:t> block that loops through the given </a:t>
            </a:r>
            <a:r>
              <a:rPr lang="en-US" sz="1600" b="1" i="0" u="none" strike="noStrike" cap="none">
                <a:solidFill>
                  <a:schemeClr val="dk1"/>
                </a:solidFill>
                <a:latin typeface="Consolas"/>
                <a:ea typeface="Consolas"/>
                <a:cs typeface="Consolas"/>
                <a:sym typeface="Consolas"/>
              </a:rPr>
              <a:t>bookList</a:t>
            </a:r>
            <a:r>
              <a:rPr lang="en-US" sz="1600" b="0" i="0" u="none" strike="noStrike" cap="none">
                <a:solidFill>
                  <a:schemeClr val="dk1"/>
                </a:solidFill>
                <a:latin typeface="Arial"/>
                <a:ea typeface="Arial"/>
                <a:cs typeface="Arial"/>
                <a:sym typeface="Arial"/>
              </a:rPr>
              <a:t> array and display all the attributes of the documents.</a:t>
            </a:r>
            <a:endParaRPr sz="1400" b="0" i="0" u="none" strike="noStrike" cap="none">
              <a:solidFill>
                <a:srgbClr val="000000"/>
              </a:solidFill>
              <a:latin typeface="Arial"/>
              <a:ea typeface="Arial"/>
              <a:cs typeface="Arial"/>
              <a:sym typeface="Arial"/>
            </a:endParaRPr>
          </a:p>
        </p:txBody>
      </p:sp>
      <p:sp>
        <p:nvSpPr>
          <p:cNvPr id="403" name="Google Shape;403;p31"/>
          <p:cNvSpPr txBox="1"/>
          <p:nvPr/>
        </p:nvSpPr>
        <p:spPr>
          <a:xfrm>
            <a:off x="3572056" y="6177376"/>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display-book.js</a:t>
            </a:r>
            <a:endParaRPr sz="1100" b="0" i="0" u="sng" strike="noStrike" cap="none">
              <a:solidFill>
                <a:srgbClr val="000000"/>
              </a:solidFill>
              <a:latin typeface="Consolas"/>
              <a:ea typeface="Consolas"/>
              <a:cs typeface="Consolas"/>
              <a:sym typeface="Consolas"/>
            </a:endParaRPr>
          </a:p>
        </p:txBody>
      </p:sp>
    </p:spTree>
    <p:extLst>
      <p:ext uri="{BB962C8B-B14F-4D97-AF65-F5344CB8AC3E}">
        <p14:creationId xmlns:p14="http://schemas.microsoft.com/office/powerpoint/2010/main" val="66166368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otalTime>76</TotalTime>
  <Words>4236</Words>
  <Application>Microsoft Macintosh PowerPoint</Application>
  <PresentationFormat>Widescreen</PresentationFormat>
  <Paragraphs>431</Paragraphs>
  <Slides>46</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Calibri</vt:lpstr>
      <vt:lpstr>Roboto Mono</vt:lpstr>
      <vt:lpstr>Courier New</vt: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Express.js code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Elvin NG Pei Xiong</dc:creator>
  <cp:lastModifiedBy>SHAR Lwin Khin</cp:lastModifiedBy>
  <cp:revision>9</cp:revision>
  <dcterms:created xsi:type="dcterms:W3CDTF">2018-11-21T01:52:47Z</dcterms:created>
  <dcterms:modified xsi:type="dcterms:W3CDTF">2026-08-11T04:56:48Z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0x01010090F32C23BA0D1F46B52AAC7AA48FC3E3</vt:lpwstr>
  </property>
  <property fmtid="{D5CDD505-2E9C-101B-9397-08002B2CF9AE}" pid="3" name="ClassificationContentMarkingHeaderLocations">
    <vt:lpwstr>Office Theme:3</vt:lpwstr>
  </property>
  <property fmtid="{D5CDD505-2E9C-101B-9397-08002B2CF9AE}" pid="4" name="ClassificationContentMarkingHeaderText">
    <vt:lpwstr>SMU Classification: Restricted</vt:lpwstr>
  </property>
</Properties>
</file>