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56"/>
  </p:notesMasterIdLst>
  <p:sldIdLst>
    <p:sldId id="256" r:id="rId5"/>
    <p:sldId id="258" r:id="rId6"/>
    <p:sldId id="329" r:id="rId7"/>
    <p:sldId id="332" r:id="rId8"/>
    <p:sldId id="259" r:id="rId9"/>
    <p:sldId id="260" r:id="rId10"/>
    <p:sldId id="261" r:id="rId11"/>
    <p:sldId id="262" r:id="rId12"/>
    <p:sldId id="264" r:id="rId13"/>
    <p:sldId id="298" r:id="rId14"/>
    <p:sldId id="287" r:id="rId15"/>
    <p:sldId id="296" r:id="rId16"/>
    <p:sldId id="285" r:id="rId17"/>
    <p:sldId id="299" r:id="rId18"/>
    <p:sldId id="288" r:id="rId19"/>
    <p:sldId id="301" r:id="rId20"/>
    <p:sldId id="302" r:id="rId21"/>
    <p:sldId id="290" r:id="rId22"/>
    <p:sldId id="304" r:id="rId23"/>
    <p:sldId id="305" r:id="rId24"/>
    <p:sldId id="294" r:id="rId25"/>
    <p:sldId id="312" r:id="rId26"/>
    <p:sldId id="265" r:id="rId27"/>
    <p:sldId id="293" r:id="rId28"/>
    <p:sldId id="307" r:id="rId29"/>
    <p:sldId id="292" r:id="rId30"/>
    <p:sldId id="295" r:id="rId31"/>
    <p:sldId id="267" r:id="rId32"/>
    <p:sldId id="268" r:id="rId33"/>
    <p:sldId id="269" r:id="rId34"/>
    <p:sldId id="271" r:id="rId35"/>
    <p:sldId id="273" r:id="rId36"/>
    <p:sldId id="272" r:id="rId37"/>
    <p:sldId id="310" r:id="rId38"/>
    <p:sldId id="311" r:id="rId39"/>
    <p:sldId id="297" r:id="rId40"/>
    <p:sldId id="306" r:id="rId41"/>
    <p:sldId id="314" r:id="rId42"/>
    <p:sldId id="275" r:id="rId43"/>
    <p:sldId id="313" r:id="rId44"/>
    <p:sldId id="315" r:id="rId45"/>
    <p:sldId id="277" r:id="rId46"/>
    <p:sldId id="278" r:id="rId47"/>
    <p:sldId id="321" r:id="rId48"/>
    <p:sldId id="322" r:id="rId49"/>
    <p:sldId id="323" r:id="rId50"/>
    <p:sldId id="320" r:id="rId51"/>
    <p:sldId id="365" r:id="rId52"/>
    <p:sldId id="366" r:id="rId53"/>
    <p:sldId id="359" r:id="rId54"/>
    <p:sldId id="282" r:id="rId55"/>
  </p:sldIdLst>
  <p:sldSz cx="9144000" cy="5143500" type="screen16x9"/>
  <p:notesSz cx="6858000" cy="9144000"/>
  <p:embeddedFontLst>
    <p:embeddedFont>
      <p:font typeface="Economica" panose="02000506040000020004" pitchFamily="2" charset="77"/>
      <p:regular r:id="rId57"/>
      <p:bold r:id="rId58"/>
      <p:italic r:id="rId59"/>
      <p:boldItalic r:id="rId60"/>
    </p:embeddedFont>
    <p:embeddedFont>
      <p:font typeface="Helvetica" pitchFamily="2" charset="0"/>
      <p:regular r:id="rId61"/>
      <p:bold r:id="rId62"/>
      <p:italic r:id="rId63"/>
      <p:boldItalic r:id="rId64"/>
    </p:embeddedFont>
    <p:embeddedFont>
      <p:font typeface="Open Sans" panose="020B0606030504020204" pitchFamily="3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FB2CDA-6665-FE42-4FB8-4BD22A873E77}" name="THIANG Lay Foo" initials="TF" userId="S::lfthiang@smu.edu.sg::f66ddd3b-8fd8-4b00-a4df-dc833c3567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3F204C-C767-6144-A3E7-B5A5E73E95F3}" v="6" dt="2026-08-13T08:36:13.406"/>
  </p1510:revLst>
</p1510:revInfo>
</file>

<file path=ppt/tableStyles.xml><?xml version="1.0" encoding="utf-8"?>
<a:tblStyleLst xmlns:a="http://schemas.openxmlformats.org/drawingml/2006/main" def="{FD335744-63B0-49A2-8954-48F3BB1E67D2}">
  <a:tblStyle styleId="{FD335744-63B0-49A2-8954-48F3BB1E67D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413"/>
    <p:restoredTop sz="92228" autoAdjust="0"/>
  </p:normalViewPr>
  <p:slideViewPr>
    <p:cSldViewPr snapToGrid="0">
      <p:cViewPr varScale="1">
        <p:scale>
          <a:sx n="132" d="100"/>
          <a:sy n="132" d="100"/>
        </p:scale>
        <p:origin x="168" y="142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2.fntdata"/><Relationship Id="rId66" Type="http://schemas.openxmlformats.org/officeDocument/2006/relationships/font" Target="fonts/font10.fntdata"/><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6.fntdata"/><Relationship Id="rId70" Type="http://schemas.openxmlformats.org/officeDocument/2006/relationships/viewProps" Target="viewProps.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4.fntdata"/><Relationship Id="rId65" Type="http://schemas.openxmlformats.org/officeDocument/2006/relationships/font" Target="fonts/font9.fntdata"/><Relationship Id="rId7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 Lwin Khin" userId="33cb3c8a-ae33-4f55-be34-306cbe5b6d67" providerId="ADAL" clId="{EC909A2D-78C2-525E-811C-45F995EBE952}"/>
    <pc:docChg chg="undo custSel addSld delSld modSld">
      <pc:chgData name="SHAR Lwin Khin" userId="33cb3c8a-ae33-4f55-be34-306cbe5b6d67" providerId="ADAL" clId="{EC909A2D-78C2-525E-811C-45F995EBE952}" dt="2026-08-13T08:41:53.745" v="159" actId="20577"/>
      <pc:docMkLst>
        <pc:docMk/>
      </pc:docMkLst>
      <pc:sldChg chg="modSp mod">
        <pc:chgData name="SHAR Lwin Khin" userId="33cb3c8a-ae33-4f55-be34-306cbe5b6d67" providerId="ADAL" clId="{EC909A2D-78C2-525E-811C-45F995EBE952}" dt="2026-08-13T08:41:53.745" v="159" actId="20577"/>
        <pc:sldMkLst>
          <pc:docMk/>
          <pc:sldMk cId="0" sldId="258"/>
        </pc:sldMkLst>
        <pc:spChg chg="mod">
          <ac:chgData name="SHAR Lwin Khin" userId="33cb3c8a-ae33-4f55-be34-306cbe5b6d67" providerId="ADAL" clId="{EC909A2D-78C2-525E-811C-45F995EBE952}" dt="2026-08-13T08:41:53.745" v="159" actId="20577"/>
          <ac:spMkLst>
            <pc:docMk/>
            <pc:sldMk cId="0" sldId="258"/>
            <ac:spMk id="75" creationId="{00000000-0000-0000-0000-000000000000}"/>
          </ac:spMkLst>
        </pc:spChg>
      </pc:sldChg>
      <pc:sldChg chg="modSp mod">
        <pc:chgData name="SHAR Lwin Khin" userId="33cb3c8a-ae33-4f55-be34-306cbe5b6d67" providerId="ADAL" clId="{EC909A2D-78C2-525E-811C-45F995EBE952}" dt="2026-08-11T04:45:36.539" v="10"/>
        <pc:sldMkLst>
          <pc:docMk/>
          <pc:sldMk cId="0" sldId="282"/>
        </pc:sldMkLst>
        <pc:spChg chg="mod">
          <ac:chgData name="SHAR Lwin Khin" userId="33cb3c8a-ae33-4f55-be34-306cbe5b6d67" providerId="ADAL" clId="{EC909A2D-78C2-525E-811C-45F995EBE952}" dt="2026-08-11T04:45:36.539" v="10"/>
          <ac:spMkLst>
            <pc:docMk/>
            <pc:sldMk cId="0" sldId="282"/>
            <ac:spMk id="248" creationId="{00000000-0000-0000-0000-000000000000}"/>
          </ac:spMkLst>
        </pc:spChg>
      </pc:sldChg>
      <pc:sldChg chg="modSp add del mod">
        <pc:chgData name="SHAR Lwin Khin" userId="33cb3c8a-ae33-4f55-be34-306cbe5b6d67" providerId="ADAL" clId="{EC909A2D-78C2-525E-811C-45F995EBE952}" dt="2026-08-13T08:24:50.724" v="62" actId="2696"/>
        <pc:sldMkLst>
          <pc:docMk/>
          <pc:sldMk cId="1887649718" sldId="352"/>
        </pc:sldMkLst>
        <pc:spChg chg="mod">
          <ac:chgData name="SHAR Lwin Khin" userId="33cb3c8a-ae33-4f55-be34-306cbe5b6d67" providerId="ADAL" clId="{EC909A2D-78C2-525E-811C-45F995EBE952}" dt="2026-08-13T08:03:01.713" v="37" actId="20577"/>
          <ac:spMkLst>
            <pc:docMk/>
            <pc:sldMk cId="1887649718" sldId="352"/>
            <ac:spMk id="4" creationId="{1DA38E3D-83E8-DBF7-A11D-5DF8F8C4BE22}"/>
          </ac:spMkLst>
        </pc:spChg>
      </pc:sldChg>
      <pc:sldChg chg="modSp add del mod">
        <pc:chgData name="SHAR Lwin Khin" userId="33cb3c8a-ae33-4f55-be34-306cbe5b6d67" providerId="ADAL" clId="{EC909A2D-78C2-525E-811C-45F995EBE952}" dt="2026-08-13T08:30:44.105" v="79" actId="2696"/>
        <pc:sldMkLst>
          <pc:docMk/>
          <pc:sldMk cId="1267338417" sldId="359"/>
        </pc:sldMkLst>
        <pc:spChg chg="mod">
          <ac:chgData name="SHAR Lwin Khin" userId="33cb3c8a-ae33-4f55-be34-306cbe5b6d67" providerId="ADAL" clId="{EC909A2D-78C2-525E-811C-45F995EBE952}" dt="2026-08-13T08:30:32.410" v="78" actId="20577"/>
          <ac:spMkLst>
            <pc:docMk/>
            <pc:sldMk cId="1267338417" sldId="359"/>
            <ac:spMk id="4" creationId="{A6CA9478-889D-21BC-1745-05DEA9729E33}"/>
          </ac:spMkLst>
        </pc:spChg>
      </pc:sldChg>
      <pc:sldChg chg="modSp add mod">
        <pc:chgData name="SHAR Lwin Khin" userId="33cb3c8a-ae33-4f55-be34-306cbe5b6d67" providerId="ADAL" clId="{EC909A2D-78C2-525E-811C-45F995EBE952}" dt="2026-08-13T08:36:15.458" v="129" actId="20577"/>
        <pc:sldMkLst>
          <pc:docMk/>
          <pc:sldMk cId="3716435874" sldId="359"/>
        </pc:sldMkLst>
        <pc:spChg chg="mod">
          <ac:chgData name="SHAR Lwin Khin" userId="33cb3c8a-ae33-4f55-be34-306cbe5b6d67" providerId="ADAL" clId="{EC909A2D-78C2-525E-811C-45F995EBE952}" dt="2026-08-13T08:36:15.458" v="129" actId="20577"/>
          <ac:spMkLst>
            <pc:docMk/>
            <pc:sldMk cId="3716435874" sldId="359"/>
            <ac:spMk id="4" creationId="{A6CA9478-889D-21BC-1745-05DEA9729E33}"/>
          </ac:spMkLst>
        </pc:spChg>
      </pc:sldChg>
      <pc:sldChg chg="modSp add del mod">
        <pc:chgData name="SHAR Lwin Khin" userId="33cb3c8a-ae33-4f55-be34-306cbe5b6d67" providerId="ADAL" clId="{EC909A2D-78C2-525E-811C-45F995EBE952}" dt="2026-08-13T08:30:44.105" v="79" actId="2696"/>
        <pc:sldMkLst>
          <pc:docMk/>
          <pc:sldMk cId="64287102" sldId="365"/>
        </pc:sldMkLst>
        <pc:spChg chg="mod">
          <ac:chgData name="SHAR Lwin Khin" userId="33cb3c8a-ae33-4f55-be34-306cbe5b6d67" providerId="ADAL" clId="{EC909A2D-78C2-525E-811C-45F995EBE952}" dt="2026-08-13T08:02:35.116" v="34" actId="20577"/>
          <ac:spMkLst>
            <pc:docMk/>
            <pc:sldMk cId="64287102" sldId="365"/>
            <ac:spMk id="126" creationId="{74529147-6F57-73BD-346A-62CD5F68DC16}"/>
          </ac:spMkLst>
        </pc:spChg>
      </pc:sldChg>
      <pc:sldChg chg="modSp add mod">
        <pc:chgData name="SHAR Lwin Khin" userId="33cb3c8a-ae33-4f55-be34-306cbe5b6d67" providerId="ADAL" clId="{EC909A2D-78C2-525E-811C-45F995EBE952}" dt="2026-08-13T08:32:51.062" v="125" actId="20577"/>
        <pc:sldMkLst>
          <pc:docMk/>
          <pc:sldMk cId="1105787269" sldId="365"/>
        </pc:sldMkLst>
        <pc:spChg chg="mod">
          <ac:chgData name="SHAR Lwin Khin" userId="33cb3c8a-ae33-4f55-be34-306cbe5b6d67" providerId="ADAL" clId="{EC909A2D-78C2-525E-811C-45F995EBE952}" dt="2026-08-13T08:32:51.062" v="125" actId="20577"/>
          <ac:spMkLst>
            <pc:docMk/>
            <pc:sldMk cId="1105787269" sldId="365"/>
            <ac:spMk id="4" creationId="{1FF0D8EB-7F71-EECF-5FC3-116FB4A8539B}"/>
          </ac:spMkLst>
        </pc:spChg>
        <pc:spChg chg="mod">
          <ac:chgData name="SHAR Lwin Khin" userId="33cb3c8a-ae33-4f55-be34-306cbe5b6d67" providerId="ADAL" clId="{EC909A2D-78C2-525E-811C-45F995EBE952}" dt="2026-08-13T08:32:41.866" v="114" actId="20577"/>
          <ac:spMkLst>
            <pc:docMk/>
            <pc:sldMk cId="1105787269" sldId="365"/>
            <ac:spMk id="127" creationId="{B4E066FF-F48C-210E-D6ED-BD20E5939DBF}"/>
          </ac:spMkLst>
        </pc:spChg>
      </pc:sldChg>
      <pc:sldChg chg="add del">
        <pc:chgData name="SHAR Lwin Khin" userId="33cb3c8a-ae33-4f55-be34-306cbe5b6d67" providerId="ADAL" clId="{EC909A2D-78C2-525E-811C-45F995EBE952}" dt="2026-08-13T08:30:44.105" v="79" actId="2696"/>
        <pc:sldMkLst>
          <pc:docMk/>
          <pc:sldMk cId="732783928" sldId="366"/>
        </pc:sldMkLst>
      </pc:sldChg>
      <pc:sldChg chg="add">
        <pc:chgData name="SHAR Lwin Khin" userId="33cb3c8a-ae33-4f55-be34-306cbe5b6d67" providerId="ADAL" clId="{EC909A2D-78C2-525E-811C-45F995EBE952}" dt="2026-08-13T08:30:50.996" v="80"/>
        <pc:sldMkLst>
          <pc:docMk/>
          <pc:sldMk cId="1945451067" sldId="366"/>
        </pc:sldMkLst>
      </pc:sldChg>
    </pc:docChg>
  </pc:docChgLst>
  <pc:docChgLst>
    <pc:chgData name="SHAR Lwin Khin" userId="S::lkshar@smu.edu.sg::33cb3c8a-ae33-4f55-be34-306cbe5b6d67" providerId="AD" clId="Web-{0C8EEF13-52A9-3CDD-7903-1C434AF180CE}"/>
    <pc:docChg chg="modSld">
      <pc:chgData name="SHAR Lwin Khin" userId="S::lkshar@smu.edu.sg::33cb3c8a-ae33-4f55-be34-306cbe5b6d67" providerId="AD" clId="Web-{0C8EEF13-52A9-3CDD-7903-1C434AF180CE}" dt="2026-07-18T02:22:16.818" v="1" actId="20577"/>
      <pc:docMkLst>
        <pc:docMk/>
      </pc:docMkLst>
      <pc:sldChg chg="modSp">
        <pc:chgData name="SHAR Lwin Khin" userId="S::lkshar@smu.edu.sg::33cb3c8a-ae33-4f55-be34-306cbe5b6d67" providerId="AD" clId="Web-{0C8EEF13-52A9-3CDD-7903-1C434AF180CE}" dt="2026-07-18T02:22:16.818" v="1" actId="20577"/>
        <pc:sldMkLst>
          <pc:docMk/>
          <pc:sldMk cId="0" sldId="256"/>
        </pc:sldMkLst>
        <pc:spChg chg="mod">
          <ac:chgData name="SHAR Lwin Khin" userId="S::lkshar@smu.edu.sg::33cb3c8a-ae33-4f55-be34-306cbe5b6d67" providerId="AD" clId="Web-{0C8EEF13-52A9-3CDD-7903-1C434AF180CE}" dt="2026-07-18T02:22:16.818" v="1" actId="20577"/>
          <ac:spMkLst>
            <pc:docMk/>
            <pc:sldMk cId="0" sldId="256"/>
            <ac:spMk id="63" creationId="{00000000-0000-0000-0000-000000000000}"/>
          </ac:spMkLst>
        </pc:spChg>
      </pc:sldChg>
    </pc:docChg>
  </pc:docChgLst>
  <pc:docChgLst>
    <pc:chgData name="SHAR Lwin Khin" userId="S::lkshar@smu.edu.sg::33cb3c8a-ae33-4f55-be34-306cbe5b6d67" providerId="AD" clId="Web-{3DDF0EE5-8B14-91EC-62F0-B42A5C63FF72}"/>
    <pc:docChg chg="addSld modSld">
      <pc:chgData name="SHAR Lwin Khin" userId="S::lkshar@smu.edu.sg::33cb3c8a-ae33-4f55-be34-306cbe5b6d67" providerId="AD" clId="Web-{3DDF0EE5-8B14-91EC-62F0-B42A5C63FF72}" dt="2026-07-17T05:04:34.082" v="117" actId="20577"/>
      <pc:docMkLst>
        <pc:docMk/>
      </pc:docMkLst>
      <pc:sldChg chg="modSp">
        <pc:chgData name="SHAR Lwin Khin" userId="S::lkshar@smu.edu.sg::33cb3c8a-ae33-4f55-be34-306cbe5b6d67" providerId="AD" clId="Web-{3DDF0EE5-8B14-91EC-62F0-B42A5C63FF72}" dt="2026-07-17T05:02:01.269" v="14" actId="14100"/>
        <pc:sldMkLst>
          <pc:docMk/>
          <pc:sldMk cId="0" sldId="256"/>
        </pc:sldMkLst>
        <pc:spChg chg="mod">
          <ac:chgData name="SHAR Lwin Khin" userId="S::lkshar@smu.edu.sg::33cb3c8a-ae33-4f55-be34-306cbe5b6d67" providerId="AD" clId="Web-{3DDF0EE5-8B14-91EC-62F0-B42A5C63FF72}" dt="2026-07-17T05:02:01.269" v="14" actId="14100"/>
          <ac:spMkLst>
            <pc:docMk/>
            <pc:sldMk cId="0" sldId="256"/>
            <ac:spMk id="63" creationId="{00000000-0000-0000-0000-000000000000}"/>
          </ac:spMkLst>
        </pc:spChg>
      </pc:sldChg>
      <pc:sldChg chg="modSp">
        <pc:chgData name="SHAR Lwin Khin" userId="S::lkshar@smu.edu.sg::33cb3c8a-ae33-4f55-be34-306cbe5b6d67" providerId="AD" clId="Web-{3DDF0EE5-8B14-91EC-62F0-B42A5C63FF72}" dt="2026-07-17T05:04:34.082" v="117" actId="20577"/>
        <pc:sldMkLst>
          <pc:docMk/>
          <pc:sldMk cId="0" sldId="258"/>
        </pc:sldMkLst>
        <pc:spChg chg="mod">
          <ac:chgData name="SHAR Lwin Khin" userId="S::lkshar@smu.edu.sg::33cb3c8a-ae33-4f55-be34-306cbe5b6d67" providerId="AD" clId="Web-{3DDF0EE5-8B14-91EC-62F0-B42A5C63FF72}" dt="2026-07-17T05:04:34.082" v="117" actId="20577"/>
          <ac:spMkLst>
            <pc:docMk/>
            <pc:sldMk cId="0" sldId="258"/>
            <ac:spMk id="75" creationId="{00000000-0000-0000-0000-000000000000}"/>
          </ac:spMkLst>
        </pc:spChg>
      </pc:sldChg>
      <pc:sldChg chg="add">
        <pc:chgData name="SHAR Lwin Khin" userId="S::lkshar@smu.edu.sg::33cb3c8a-ae33-4f55-be34-306cbe5b6d67" providerId="AD" clId="Web-{3DDF0EE5-8B14-91EC-62F0-B42A5C63FF72}" dt="2026-07-17T05:02:40.457" v="15"/>
        <pc:sldMkLst>
          <pc:docMk/>
          <pc:sldMk cId="0" sldId="329"/>
        </pc:sldMkLst>
      </pc:sldChg>
      <pc:sldChg chg="add">
        <pc:chgData name="SHAR Lwin Khin" userId="S::lkshar@smu.edu.sg::33cb3c8a-ae33-4f55-be34-306cbe5b6d67" providerId="AD" clId="Web-{3DDF0EE5-8B14-91EC-62F0-B42A5C63FF72}" dt="2026-07-17T05:02:40.504" v="16"/>
        <pc:sldMkLst>
          <pc:docMk/>
          <pc:sldMk cId="419278902" sldId="332"/>
        </pc:sldMkLst>
      </pc:sldChg>
    </pc:docChg>
  </pc:docChgLst>
  <pc:docChgLst>
    <pc:chgData name="SHAR Lwin Khin" userId="S::lkshar@smu.edu.sg::33cb3c8a-ae33-4f55-be34-306cbe5b6d67" providerId="AD" clId="Web-{BE885456-F1B2-739C-9927-01B9F0FB25A9}"/>
    <pc:docChg chg="modSld">
      <pc:chgData name="SHAR Lwin Khin" userId="S::lkshar@smu.edu.sg::33cb3c8a-ae33-4f55-be34-306cbe5b6d67" providerId="AD" clId="Web-{BE885456-F1B2-739C-9927-01B9F0FB25A9}" dt="2026-08-11T04:50:22.581" v="58" actId="20577"/>
      <pc:docMkLst>
        <pc:docMk/>
      </pc:docMkLst>
      <pc:sldChg chg="modSp">
        <pc:chgData name="SHAR Lwin Khin" userId="S::lkshar@smu.edu.sg::33cb3c8a-ae33-4f55-be34-306cbe5b6d67" providerId="AD" clId="Web-{BE885456-F1B2-739C-9927-01B9F0FB25A9}" dt="2026-08-11T04:50:22.581" v="58" actId="20577"/>
        <pc:sldMkLst>
          <pc:docMk/>
          <pc:sldMk cId="47108736" sldId="295"/>
        </pc:sldMkLst>
        <pc:spChg chg="mod">
          <ac:chgData name="SHAR Lwin Khin" userId="S::lkshar@smu.edu.sg::33cb3c8a-ae33-4f55-be34-306cbe5b6d67" providerId="AD" clId="Web-{BE885456-F1B2-739C-9927-01B9F0FB25A9}" dt="2026-08-11T04:50:22.581" v="58" actId="20577"/>
          <ac:spMkLst>
            <pc:docMk/>
            <pc:sldMk cId="47108736" sldId="295"/>
            <ac:spMk id="3" creationId="{76976D11-0462-4595-2B13-10D7F4DD48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SG"/>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86be9dc93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72" name="Google Shape;72;g86be9dc93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91258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93ed6132e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79" name="Google Shape;79;g93ed6132e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86be9dc936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86" name="Google Shape;86;g86be9dc936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96950c343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93" name="Google Shape;93;g96950c343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9dd57aedc3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04" name="Google Shape;104;g9dd57aedc3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92f7fd5f6c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18" name="Google Shape;118;g92f7fd5f6c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SG"/>
          </a:p>
        </p:txBody>
      </p:sp>
      <p:sp>
        <p:nvSpPr>
          <p:cNvPr id="73" name="Google Shape;7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6533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D63C7734-1F6B-FA6F-78D1-AB088E62DAB6}"/>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E8DA2D90-79B2-C4C1-04C6-B7158DC0EE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1615FEE9-4746-E92A-9274-A334A60003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001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74630467-B850-182C-4DBF-A38D5F7AA224}"/>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86EA1FDC-1464-960F-D0A1-1A6EBC85D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C06D3C46-02FE-F743-BD51-2409FAE076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5836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97db27a630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746CBF22-2ACF-53D0-4862-483D3C504087}"/>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0E4F8037-9D73-2CC5-666B-4591255DF6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3513074E-C157-8A2B-05F1-12A846C63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8591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0A07D983-6CD9-BDF4-070B-85A34FA901CE}"/>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0E70334B-7B78-C67D-517C-3D6DCACBC9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402148A2-45AF-EF73-5A42-CB62DE7487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6594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9748e87f77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38" name="Google Shape;138;g9748e87f7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9dd57aedc3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45" name="Google Shape;145;g9dd57aedc3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9dd57aedc3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52" name="Google Shape;152;g9dd57aedc3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7db27a63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67" name="Google Shape;167;g97db27a63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9dd57aedc3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81" name="Google Shape;181;g9dd57aedc3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sz="1100" b="0" i="0" u="none" strike="noStrike" cap="none" dirty="0">
                <a:solidFill>
                  <a:srgbClr val="000000"/>
                </a:solidFill>
                <a:effectLst/>
                <a:latin typeface="Arial"/>
                <a:ea typeface="Arial"/>
                <a:cs typeface="Arial"/>
                <a:sym typeface="Arial"/>
              </a:rPr>
              <a:t>Using </a:t>
            </a:r>
            <a:r>
              <a:rPr lang="en-SG" dirty="0"/>
              <a:t>v-if</a:t>
            </a:r>
            <a:r>
              <a:rPr lang="en-SG" sz="1100" b="0" i="0" u="none" strike="noStrike" cap="none" dirty="0">
                <a:solidFill>
                  <a:srgbClr val="000000"/>
                </a:solidFill>
                <a:effectLst/>
                <a:latin typeface="Arial"/>
                <a:ea typeface="Arial"/>
                <a:cs typeface="Arial"/>
                <a:sym typeface="Arial"/>
              </a:rPr>
              <a:t> and </a:t>
            </a:r>
            <a:r>
              <a:rPr lang="en-SG" dirty="0"/>
              <a:t>v-for</a:t>
            </a:r>
            <a:r>
              <a:rPr lang="en-SG" sz="1100" b="0" i="0" u="none" strike="noStrike" cap="none" dirty="0">
                <a:solidFill>
                  <a:srgbClr val="000000"/>
                </a:solidFill>
                <a:effectLst/>
                <a:latin typeface="Arial"/>
                <a:ea typeface="Arial"/>
                <a:cs typeface="Arial"/>
                <a:sym typeface="Arial"/>
              </a:rPr>
              <a:t> together is </a:t>
            </a:r>
            <a:r>
              <a:rPr lang="en-SG" sz="1100" b="1" i="0" u="none" strike="noStrike" cap="none" dirty="0">
                <a:solidFill>
                  <a:srgbClr val="000000"/>
                </a:solidFill>
                <a:effectLst/>
                <a:latin typeface="Arial"/>
                <a:ea typeface="Arial"/>
                <a:cs typeface="Arial"/>
                <a:sym typeface="Arial"/>
              </a:rPr>
              <a:t>not recommended</a:t>
            </a:r>
            <a:r>
              <a:rPr lang="en-SG" sz="1100" b="0" i="0" u="none" strike="noStrike" cap="none" dirty="0">
                <a:solidFill>
                  <a:srgbClr val="000000"/>
                </a:solidFill>
                <a:effectLst/>
                <a:latin typeface="Arial"/>
                <a:ea typeface="Arial"/>
                <a:cs typeface="Arial"/>
                <a:sym typeface="Arial"/>
              </a:rPr>
              <a:t>. </a:t>
            </a:r>
          </a:p>
          <a:p>
            <a:pPr marL="0" lvl="0" indent="0" algn="l" rtl="0">
              <a:spcBef>
                <a:spcPts val="0"/>
              </a:spcBef>
              <a:spcAft>
                <a:spcPts val="0"/>
              </a:spcAft>
              <a:buNone/>
            </a:pPr>
            <a:r>
              <a:rPr lang="en-SG" sz="1100" b="0" i="0" u="none" strike="noStrike" cap="none" dirty="0">
                <a:solidFill>
                  <a:srgbClr val="000000"/>
                </a:solidFill>
                <a:effectLst/>
                <a:latin typeface="Arial"/>
                <a:cs typeface="Arial"/>
                <a:sym typeface="Arial"/>
              </a:rPr>
              <a:t>see: https://v3.vuejs.org/guide/</a:t>
            </a:r>
            <a:r>
              <a:rPr lang="en-SG" sz="1100" b="0" i="0" u="none" strike="noStrike" cap="none" dirty="0" err="1">
                <a:solidFill>
                  <a:srgbClr val="000000"/>
                </a:solidFill>
                <a:effectLst/>
                <a:latin typeface="Arial"/>
                <a:cs typeface="Arial"/>
                <a:sym typeface="Arial"/>
              </a:rPr>
              <a:t>conditional.html#v-show</a:t>
            </a:r>
            <a:r>
              <a:rPr lang="en-SG" sz="1100" b="0" i="0" u="none" strike="noStrike" cap="none" dirty="0">
                <a:solidFill>
                  <a:srgbClr val="000000"/>
                </a:solidFill>
                <a:effectLst/>
                <a:latin typeface="Arial"/>
                <a:cs typeface="Arial"/>
                <a:sym typeface="Arial"/>
              </a:rPr>
              <a:t> </a:t>
            </a:r>
            <a:endParaRPr dirty="0"/>
          </a:p>
        </p:txBody>
      </p:sp>
    </p:spTree>
    <p:extLst>
      <p:ext uri="{BB962C8B-B14F-4D97-AF65-F5344CB8AC3E}">
        <p14:creationId xmlns:p14="http://schemas.microsoft.com/office/powerpoint/2010/main" val="2041468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97db27a630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053B4BB4-5B18-1790-A0F2-AC142793238D}"/>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F38F48AB-C95E-F330-5BF0-A024D662C3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4D2D8B33-DE83-4B2A-9802-7DE8243420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9172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E17A8769-934E-1B80-4285-0E8FE1AEB708}"/>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4AE60E46-C2BD-D4A4-CB7B-A71B9E8D82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8158FE0B-D4C6-BD3F-A746-86286F3176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4701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DBD6E6CD-C3E3-69DA-9D9D-F7F39A5EEA5F}"/>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3A16D17A-978B-730F-6B45-B53AD4393C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6CAA3D08-801F-4449-96B5-BAF8EC1BBC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8776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F0407021-2CE5-F258-2326-8E7BB4D9555F}"/>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0F556F7C-DCFB-12C3-C480-A7425BC090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E45187A8-AFD0-34EB-E445-0CE51DE061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235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9748e87f77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94" name="Google Shape;194;g9748e87f77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157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AFF4D813-A5AD-7296-A9D2-AF3BB5C370A0}"/>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22A92CA0-7F23-E7EF-11FC-F130D387D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A1D048BC-3756-10B0-66D6-58F93BCA3A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8291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53196d93c6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08" name="Google Shape;208;g53196d93c6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982b739567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FBC4912D-D6C2-12AB-FE76-55781FFC78AA}"/>
            </a:ext>
          </a:extLst>
        </p:cNvPr>
        <p:cNvGrpSpPr/>
        <p:nvPr/>
      </p:nvGrpSpPr>
      <p:grpSpPr>
        <a:xfrm>
          <a:off x="0" y="0"/>
          <a:ext cx="0" cy="0"/>
          <a:chOff x="0" y="0"/>
          <a:chExt cx="0" cy="0"/>
        </a:xfrm>
      </p:grpSpPr>
      <p:sp>
        <p:nvSpPr>
          <p:cNvPr id="213" name="Google Shape;213;g982b739567_0_51:notes">
            <a:extLst>
              <a:ext uri="{FF2B5EF4-FFF2-40B4-BE49-F238E27FC236}">
                <a16:creationId xmlns:a16="http://schemas.microsoft.com/office/drawing/2014/main" id="{101115A4-099D-1593-4990-B69EDC982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a:extLst>
              <a:ext uri="{FF2B5EF4-FFF2-40B4-BE49-F238E27FC236}">
                <a16:creationId xmlns:a16="http://schemas.microsoft.com/office/drawing/2014/main" id="{6476B3DD-5451-F434-522F-98483F6C1A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456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52540CC7-9926-2185-0A00-5EF989D06987}"/>
            </a:ext>
          </a:extLst>
        </p:cNvPr>
        <p:cNvGrpSpPr/>
        <p:nvPr/>
      </p:nvGrpSpPr>
      <p:grpSpPr>
        <a:xfrm>
          <a:off x="0" y="0"/>
          <a:ext cx="0" cy="0"/>
          <a:chOff x="0" y="0"/>
          <a:chExt cx="0" cy="0"/>
        </a:xfrm>
      </p:grpSpPr>
      <p:sp>
        <p:nvSpPr>
          <p:cNvPr id="213" name="Google Shape;213;g982b739567_0_51:notes">
            <a:extLst>
              <a:ext uri="{FF2B5EF4-FFF2-40B4-BE49-F238E27FC236}">
                <a16:creationId xmlns:a16="http://schemas.microsoft.com/office/drawing/2014/main" id="{68E76E02-16D5-0529-B545-947DD14C49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a:extLst>
              <a:ext uri="{FF2B5EF4-FFF2-40B4-BE49-F238E27FC236}">
                <a16:creationId xmlns:a16="http://schemas.microsoft.com/office/drawing/2014/main" id="{8D6C59B6-65C9-B4B6-7A33-71DCC26047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50807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D3683149-3DB9-5E0B-FDDD-A54F19CB0287}"/>
            </a:ext>
          </a:extLst>
        </p:cNvPr>
        <p:cNvGrpSpPr/>
        <p:nvPr/>
      </p:nvGrpSpPr>
      <p:grpSpPr>
        <a:xfrm>
          <a:off x="0" y="0"/>
          <a:ext cx="0" cy="0"/>
          <a:chOff x="0" y="0"/>
          <a:chExt cx="0" cy="0"/>
        </a:xfrm>
      </p:grpSpPr>
      <p:sp>
        <p:nvSpPr>
          <p:cNvPr id="213" name="Google Shape;213;g982b739567_0_51:notes">
            <a:extLst>
              <a:ext uri="{FF2B5EF4-FFF2-40B4-BE49-F238E27FC236}">
                <a16:creationId xmlns:a16="http://schemas.microsoft.com/office/drawing/2014/main" id="{BCC7E105-21C2-93C3-B21E-481BDDF05C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a:extLst>
              <a:ext uri="{FF2B5EF4-FFF2-40B4-BE49-F238E27FC236}">
                <a16:creationId xmlns:a16="http://schemas.microsoft.com/office/drawing/2014/main" id="{164D0EAA-05C6-A9D4-6A08-F9BE618B1C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8361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9748e87f77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37" name="Google Shape;237;g9748e87f77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922FD2D4-F35D-5E4B-E5AA-167C533729B4}"/>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166A2A9E-5BAB-8F0A-4B9B-417B7EA2CE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C726815E-F94F-30AF-8E1E-659F3452EB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74713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9A1B56F7-13E9-FAFE-AAA0-33F504EACA4D}"/>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B41466DF-0928-F1BE-9725-D42AF6BC6D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B08F5B55-01D0-8781-2CA9-7DDDCC7BDB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7607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44BC8088-BAD6-8311-4570-792F03F1FC66}"/>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6C7F441C-4633-AF26-4465-F7E69DD0F9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5416DED2-1AE5-FD9E-62DE-7CEE3DA7EB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614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bdf37d5a65_1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45" name="Google Shape;245;gbdf37d5a65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78992F04-A9E7-67E8-4265-9735777B5D78}"/>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ctr"/>
            <a:r>
              <a:rPr lang="en-US" sz="800" dirty="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developer.mozilla.org/en-US/docs/Web/API/Document_Object_Mode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vuejs.org/resources/themes.html"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medium.com/swlh/is-vue-js-going-to-take-over-react-in-2020-929c19806ac#:~:text=mid%2Dsized%20projects.-,Popularity,reported%20by%20Node%20Package%20Manager."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marketplace.visualstudio.com/items?itemName=Vue.volar"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chromewebstore.google.com/detail/vuejs-devtools/nhdogjmejiglipccpnnnanhbledajbpd?hl=en&amp;pli=1"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nodejs.org/en" TargetMode="Externa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vuejs.org/guide/quick-start"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vuejs.org/guide/quick-start" TargetMode="Externa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vuejs.org/guide/quick-start" TargetMode="Externa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5173/__devtools__/"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hyperlink" Target="https://vuejs.org/guide/essentials/reactivity-fundamentals.html#reactive" TargetMode="Externa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s://forum.vuejs.org/c/help"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hyperlink" Target="http://localhost:5173/products/1"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http://localhost:5173/" TargetMode="Externa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Web Application Development II</a:t>
            </a:r>
            <a:endParaRPr/>
          </a:p>
        </p:txBody>
      </p:sp>
      <p:sp>
        <p:nvSpPr>
          <p:cNvPr id="63" name="Google Shape;63;p13"/>
          <p:cNvSpPr txBox="1">
            <a:spLocks noGrp="1"/>
          </p:cNvSpPr>
          <p:nvPr>
            <p:ph type="subTitle" idx="1"/>
          </p:nvPr>
        </p:nvSpPr>
        <p:spPr>
          <a:xfrm>
            <a:off x="3044700" y="3116580"/>
            <a:ext cx="3217885" cy="701400"/>
          </a:xfrm>
          <a:prstGeom prst="rect">
            <a:avLst/>
          </a:prstGeom>
        </p:spPr>
        <p:txBody>
          <a:bodyPr spcFirstLastPara="1" wrap="square" lIns="91425" tIns="91425" rIns="91425" bIns="91425" anchor="t" anchorCtr="0">
            <a:noAutofit/>
          </a:bodyPr>
          <a:lstStyle/>
          <a:p>
            <a:pPr marL="0" indent="0"/>
            <a:r>
              <a:rPr lang="en" dirty="0"/>
              <a:t>Week 4: </a:t>
            </a:r>
            <a:r>
              <a:rPr lang="en" dirty="0" err="1"/>
              <a:t>Vue.js</a:t>
            </a:r>
            <a:endParaRPr lang="en" dirty="0"/>
          </a:p>
          <a:p>
            <a:pPr algn="l"/>
            <a:r>
              <a:rPr lang="en-GB" sz="1600" dirty="0">
                <a:latin typeface="Calibri"/>
                <a:ea typeface="Calibri"/>
                <a:cs typeface="Calibri"/>
              </a:rPr>
              <a:t>Building reactive, interactive pages</a:t>
            </a:r>
            <a:endParaRPr lang="en-US" sz="1600" dirty="0">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75" name="Google Shape;75;p1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indent="0">
              <a:buNone/>
            </a:pPr>
            <a:r>
              <a:rPr lang="en" dirty="0"/>
              <a:t>DOM Manipulation</a:t>
            </a:r>
          </a:p>
          <a:p>
            <a:pPr marL="0" indent="0">
              <a:lnSpc>
                <a:spcPct val="114999"/>
              </a:lnSpc>
              <a:buNone/>
            </a:pPr>
            <a:endParaRPr lang="en" dirty="0"/>
          </a:p>
          <a:p>
            <a:pPr marL="0" indent="0">
              <a:lnSpc>
                <a:spcPct val="114999"/>
              </a:lnSpc>
              <a:buNone/>
            </a:pPr>
            <a:r>
              <a:rPr lang="en" dirty="0"/>
              <a:t>Introduction to Vue</a:t>
            </a:r>
            <a:endParaRPr lang="en-US" dirty="0"/>
          </a:p>
          <a:p>
            <a:pPr marL="0" indent="0">
              <a:lnSpc>
                <a:spcPct val="114999"/>
              </a:lnSpc>
              <a:buNone/>
            </a:pPr>
            <a:endParaRPr lang="en" dirty="0"/>
          </a:p>
          <a:p>
            <a:pPr marL="0" indent="0">
              <a:lnSpc>
                <a:spcPct val="114999"/>
              </a:lnSpc>
              <a:buNone/>
            </a:pPr>
            <a:r>
              <a:rPr lang="en" dirty="0"/>
              <a:t>Installation and setup</a:t>
            </a:r>
          </a:p>
          <a:p>
            <a:pPr marL="0" indent="0">
              <a:spcBef>
                <a:spcPts val="1600"/>
              </a:spcBef>
              <a:buNone/>
            </a:pPr>
            <a:r>
              <a:rPr lang="en" dirty="0" err="1"/>
              <a:t>Vue.js</a:t>
            </a:r>
            <a:r>
              <a:rPr lang="en" dirty="0"/>
              <a:t> Features</a:t>
            </a:r>
          </a:p>
          <a:p>
            <a:pPr marL="0" indent="0">
              <a:lnSpc>
                <a:spcPct val="114999"/>
              </a:lnSpc>
              <a:spcBef>
                <a:spcPts val="1600"/>
              </a:spcBef>
              <a:buNone/>
            </a:pPr>
            <a:r>
              <a:rPr lang="en" dirty="0"/>
              <a:t>  Data/Attribute/Form Input binding</a:t>
            </a:r>
          </a:p>
          <a:p>
            <a:pPr marL="0" indent="0">
              <a:lnSpc>
                <a:spcPct val="114999"/>
              </a:lnSpc>
              <a:spcBef>
                <a:spcPts val="1600"/>
              </a:spcBef>
              <a:buNone/>
            </a:pPr>
            <a:r>
              <a:rPr lang="en" dirty="0"/>
              <a:t>  Class &amp; Style binding</a:t>
            </a:r>
          </a:p>
          <a:p>
            <a:pPr marL="0" indent="0">
              <a:lnSpc>
                <a:spcPct val="114999"/>
              </a:lnSpc>
              <a:spcBef>
                <a:spcPts val="1600"/>
              </a:spcBef>
              <a:buNone/>
            </a:pPr>
            <a:r>
              <a:rPr lang="en" dirty="0"/>
              <a:t>Routing</a:t>
            </a:r>
          </a:p>
          <a:p>
            <a:pPr marL="0" indent="0">
              <a:lnSpc>
                <a:spcPct val="114999"/>
              </a:lnSpc>
              <a:spcBef>
                <a:spcPts val="1600"/>
              </a:spcBef>
              <a:buNone/>
            </a:pPr>
            <a:endParaRPr lang="en" dirty="0"/>
          </a:p>
          <a:p>
            <a:pPr marL="0" indent="0">
              <a:lnSpc>
                <a:spcPct val="114999"/>
              </a:lnSpc>
              <a:spcBef>
                <a:spcPts val="1600"/>
              </a:spcBef>
              <a:buNone/>
            </a:pPr>
            <a:endParaRPr lang="en" dirty="0"/>
          </a:p>
          <a:p>
            <a:pPr marL="0" lvl="0" indent="0" algn="l">
              <a:spcBef>
                <a:spcPts val="1600"/>
              </a:spcBef>
              <a:spcAft>
                <a:spcPts val="1600"/>
              </a:spcAft>
              <a:buNone/>
            </a:pPr>
            <a:endParaRPr lang="en-US" dirty="0"/>
          </a:p>
        </p:txBody>
      </p:sp>
      <p:pic>
        <p:nvPicPr>
          <p:cNvPr id="76" name="Google Shape;76;p15"/>
          <p:cNvPicPr preferRelativeResize="0"/>
          <p:nvPr/>
        </p:nvPicPr>
        <p:blipFill>
          <a:blip r:embed="rId3">
            <a:alphaModFix/>
          </a:blip>
          <a:stretch>
            <a:fillRect/>
          </a:stretch>
        </p:blipFill>
        <p:spPr>
          <a:xfrm>
            <a:off x="3912925" y="2105863"/>
            <a:ext cx="4527599" cy="15927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DOM?</a:t>
            </a:r>
            <a:endParaRPr/>
          </a:p>
        </p:txBody>
      </p:sp>
      <p:sp>
        <p:nvSpPr>
          <p:cNvPr id="76" name="Google Shape;76;p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The browser represents an HTML document as Document Object Model (DOM).</a:t>
            </a:r>
            <a:endParaRPr/>
          </a:p>
          <a:p>
            <a:pPr marL="0" marR="0" lvl="0" indent="0" algn="l" rtl="0">
              <a:lnSpc>
                <a:spcPct val="115000"/>
              </a:lnSpc>
              <a:spcBef>
                <a:spcPts val="1600"/>
              </a:spcBef>
              <a:spcAft>
                <a:spcPts val="0"/>
              </a:spcAft>
              <a:buSzPts val="1400"/>
              <a:buNone/>
            </a:pPr>
            <a:r>
              <a:rPr lang="en"/>
              <a:t>In DOM, every HTML entities – elements, attributes, texts are represented as nodes (objects) in a hierarchical data structure.</a:t>
            </a:r>
            <a:endParaRPr/>
          </a:p>
          <a:p>
            <a:pPr marL="0" marR="0" lvl="0" indent="0" algn="l" rtl="0">
              <a:lnSpc>
                <a:spcPct val="115000"/>
              </a:lnSpc>
              <a:spcBef>
                <a:spcPts val="1600"/>
              </a:spcBef>
              <a:spcAft>
                <a:spcPts val="1600"/>
              </a:spcAft>
              <a:buSzPts val="1400"/>
              <a:buNone/>
            </a:pPr>
            <a:r>
              <a:rPr lang="en"/>
              <a:t>This data structure makes it easy for JavaScript to access and change the entities in an HTML document.</a:t>
            </a:r>
            <a:endParaRPr/>
          </a:p>
        </p:txBody>
      </p:sp>
      <p:pic>
        <p:nvPicPr>
          <p:cNvPr id="77" name="Google Shape;77;p4"/>
          <p:cNvPicPr preferRelativeResize="0"/>
          <p:nvPr/>
        </p:nvPicPr>
        <p:blipFill rotWithShape="1">
          <a:blip r:embed="rId3">
            <a:alphaModFix/>
          </a:blip>
          <a:srcRect/>
          <a:stretch/>
        </p:blipFill>
        <p:spPr>
          <a:xfrm>
            <a:off x="5022950" y="2593374"/>
            <a:ext cx="2936675" cy="2230350"/>
          </a:xfrm>
          <a:prstGeom prst="rect">
            <a:avLst/>
          </a:prstGeom>
          <a:noFill/>
          <a:ln>
            <a:noFill/>
          </a:ln>
        </p:spPr>
      </p:pic>
      <p:sp>
        <p:nvSpPr>
          <p:cNvPr id="78" name="Google Shape;78;p4"/>
          <p:cNvSpPr txBox="1"/>
          <p:nvPr/>
        </p:nvSpPr>
        <p:spPr>
          <a:xfrm>
            <a:off x="5022950" y="459400"/>
            <a:ext cx="3999900" cy="2065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708090"/>
                </a:solidFill>
                <a:highlight>
                  <a:srgbClr val="F5F2F0"/>
                </a:highlight>
                <a:latin typeface="Arial"/>
                <a:ea typeface="Arial"/>
                <a:cs typeface="Arial"/>
                <a:sym typeface="Arial"/>
              </a:rPr>
              <a:t>&lt;!DOCTYPE HTML&gt;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html</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head</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333333"/>
                </a:solidFill>
                <a:highlight>
                  <a:srgbClr val="F5F2F0"/>
                </a:highlight>
                <a:latin typeface="Arial"/>
                <a:ea typeface="Arial"/>
                <a:cs typeface="Arial"/>
                <a:sym typeface="Arial"/>
              </a:rPr>
              <a:t>  </a:t>
            </a: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title</a:t>
            </a:r>
            <a:r>
              <a:rPr lang="en" sz="1200" b="0" i="0" u="none" strike="noStrike" cap="none">
                <a:solidFill>
                  <a:srgbClr val="999999"/>
                </a:solidFill>
                <a:highlight>
                  <a:srgbClr val="F5F2F0"/>
                </a:highlight>
                <a:latin typeface="Arial"/>
                <a:ea typeface="Arial"/>
                <a:cs typeface="Arial"/>
                <a:sym typeface="Arial"/>
              </a:rPr>
              <a:t>&gt;</a:t>
            </a:r>
            <a:r>
              <a:rPr lang="en" sz="1200" b="0" i="0" u="none" strike="noStrike" cap="none">
                <a:solidFill>
                  <a:srgbClr val="333333"/>
                </a:solidFill>
                <a:highlight>
                  <a:srgbClr val="F5F2F0"/>
                </a:highlight>
                <a:latin typeface="Arial"/>
                <a:ea typeface="Arial"/>
                <a:cs typeface="Arial"/>
                <a:sym typeface="Arial"/>
              </a:rPr>
              <a:t>About elk</a:t>
            </a: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title</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head</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body</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333333"/>
                </a:solidFill>
                <a:highlight>
                  <a:srgbClr val="F5F2F0"/>
                </a:highlight>
                <a:latin typeface="Arial"/>
                <a:ea typeface="Arial"/>
                <a:cs typeface="Arial"/>
                <a:sym typeface="Arial"/>
              </a:rPr>
              <a:t>  The truth about elk.</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body</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html</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999999"/>
              </a:solidFill>
              <a:highlight>
                <a:srgbClr val="F5F2F0"/>
              </a:highlight>
              <a:latin typeface="Arial"/>
              <a:ea typeface="Arial"/>
              <a:cs typeface="Arial"/>
              <a:sym typeface="Arial"/>
            </a:endParaRPr>
          </a:p>
        </p:txBody>
      </p:sp>
      <p:sp>
        <p:nvSpPr>
          <p:cNvPr id="79" name="Google Shape;79;p4"/>
          <p:cNvSpPr/>
          <p:nvPr/>
        </p:nvSpPr>
        <p:spPr>
          <a:xfrm>
            <a:off x="909575" y="4257325"/>
            <a:ext cx="3719100" cy="566400"/>
          </a:xfrm>
          <a:prstGeom prst="wedgeRoundRectCallout">
            <a:avLst>
              <a:gd name="adj1" fmla="val -62922"/>
              <a:gd name="adj2" fmla="val 4690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With DOM, we can access and modify the HTML document through Javascript. </a:t>
            </a: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D6561E07-70E9-22FD-7EE9-0730F6AD9300}"/>
              </a:ext>
            </a:extLst>
          </p:cNvPr>
          <p:cNvSpPr txBox="1"/>
          <p:nvPr/>
        </p:nvSpPr>
        <p:spPr>
          <a:xfrm>
            <a:off x="609600" y="3758776"/>
            <a:ext cx="4572000" cy="318998"/>
          </a:xfrm>
          <a:prstGeom prst="rect">
            <a:avLst/>
          </a:prstGeom>
          <a:noFill/>
        </p:spPr>
        <p:txBody>
          <a:bodyPr wrap="square">
            <a:spAutoFit/>
          </a:bodyPr>
          <a:lstStyle/>
          <a:p>
            <a:pPr marL="0" marR="0" lvl="0" indent="0" algn="l" rtl="0">
              <a:lnSpc>
                <a:spcPct val="115000"/>
              </a:lnSpc>
              <a:spcBef>
                <a:spcPts val="0"/>
              </a:spcBef>
              <a:spcAft>
                <a:spcPts val="0"/>
              </a:spcAft>
              <a:buSzPts val="1400"/>
              <a:buNone/>
            </a:pPr>
            <a:r>
              <a:rPr lang="nl-NL" sz="1400" u="sng" dirty="0">
                <a:solidFill>
                  <a:schemeClr val="hlink"/>
                </a:solidFill>
                <a:hlinkClick r:id="rId4"/>
              </a:rPr>
              <a:t>Document Object Model (DOM) - Web APIs | MDN</a:t>
            </a:r>
            <a:endParaRPr lang="nl-NL"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DOM Manipulation</a:t>
            </a:r>
            <a:endParaRPr/>
          </a:p>
        </p:txBody>
      </p:sp>
      <p:sp>
        <p:nvSpPr>
          <p:cNvPr id="107" name="Google Shape;107;p8"/>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Manipulating the DOM, we can create dynamic web pages</a:t>
            </a:r>
            <a:endParaRPr dirty="0"/>
          </a:p>
          <a:p>
            <a:pPr marL="457200" lvl="0" indent="-317500" algn="l" rtl="0">
              <a:lnSpc>
                <a:spcPct val="115000"/>
              </a:lnSpc>
              <a:spcBef>
                <a:spcPts val="1600"/>
              </a:spcBef>
              <a:spcAft>
                <a:spcPts val="0"/>
              </a:spcAft>
              <a:buSzPts val="1400"/>
              <a:buChar char="●"/>
            </a:pPr>
            <a:r>
              <a:rPr lang="en" dirty="0"/>
              <a:t>change all the HTML elements, attributes, and CSS styles in the page</a:t>
            </a:r>
            <a:endParaRPr dirty="0"/>
          </a:p>
          <a:p>
            <a:pPr marL="457200" marR="0" lvl="0" indent="-317500" algn="l" rtl="0">
              <a:lnSpc>
                <a:spcPct val="115000"/>
              </a:lnSpc>
              <a:spcBef>
                <a:spcPts val="0"/>
              </a:spcBef>
              <a:spcAft>
                <a:spcPts val="0"/>
              </a:spcAft>
              <a:buSzPts val="1400"/>
              <a:buChar char="●"/>
            </a:pPr>
            <a:r>
              <a:rPr lang="en" dirty="0"/>
              <a:t>change all the HTML elements, attributes, and CSS styles in the page</a:t>
            </a:r>
            <a:endParaRPr dirty="0"/>
          </a:p>
          <a:p>
            <a:pPr marL="457200" marR="0" lvl="0" indent="-317500" algn="l" rtl="0">
              <a:lnSpc>
                <a:spcPct val="115000"/>
              </a:lnSpc>
              <a:spcBef>
                <a:spcPts val="0"/>
              </a:spcBef>
              <a:spcAft>
                <a:spcPts val="0"/>
              </a:spcAft>
              <a:buSzPts val="1400"/>
              <a:buChar char="●"/>
            </a:pPr>
            <a:r>
              <a:rPr lang="en" dirty="0"/>
              <a:t>remove existing HTML elements and attributes</a:t>
            </a:r>
            <a:endParaRPr dirty="0"/>
          </a:p>
          <a:p>
            <a:pPr marL="457200" marR="0" lvl="0" indent="-317500" algn="l" rtl="0">
              <a:lnSpc>
                <a:spcPct val="115000"/>
              </a:lnSpc>
              <a:spcBef>
                <a:spcPts val="0"/>
              </a:spcBef>
              <a:spcAft>
                <a:spcPts val="0"/>
              </a:spcAft>
              <a:buSzPts val="1400"/>
              <a:buChar char="●"/>
            </a:pPr>
            <a:r>
              <a:rPr lang="en" dirty="0"/>
              <a:t>add new HTML elements and attributes</a:t>
            </a:r>
            <a:endParaRPr dirty="0"/>
          </a:p>
          <a:p>
            <a:pPr marL="457200" marR="0" lvl="0" indent="-317500" algn="l" rtl="0">
              <a:lnSpc>
                <a:spcPct val="115000"/>
              </a:lnSpc>
              <a:spcBef>
                <a:spcPts val="0"/>
              </a:spcBef>
              <a:spcAft>
                <a:spcPts val="0"/>
              </a:spcAft>
              <a:buSzPts val="1400"/>
              <a:buChar char="●"/>
            </a:pPr>
            <a:r>
              <a:rPr lang="en" dirty="0"/>
              <a:t>react to HTML events in the page</a:t>
            </a:r>
            <a:endParaRPr dirty="0"/>
          </a:p>
          <a:p>
            <a:pPr marL="457200" marR="0" lvl="0" indent="-317500" algn="l" rtl="0">
              <a:lnSpc>
                <a:spcPct val="115000"/>
              </a:lnSpc>
              <a:spcBef>
                <a:spcPts val="0"/>
              </a:spcBef>
              <a:spcAft>
                <a:spcPts val="0"/>
              </a:spcAft>
              <a:buSzPts val="1400"/>
              <a:buChar char="●"/>
            </a:pPr>
            <a:r>
              <a:rPr lang="en" dirty="0"/>
              <a:t>create new HTML events in the page</a:t>
            </a:r>
            <a:endParaRPr dirty="0"/>
          </a:p>
          <a:p>
            <a:pPr marL="0" marR="0" lvl="0" indent="0" algn="l" rtl="0">
              <a:lnSpc>
                <a:spcPct val="115000"/>
              </a:lnSpc>
              <a:spcBef>
                <a:spcPts val="1600"/>
              </a:spcBef>
              <a:spcAft>
                <a:spcPts val="1600"/>
              </a:spcAft>
              <a:buSzPts val="1400"/>
              <a:buNone/>
            </a:pPr>
            <a:endParaRPr dirty="0"/>
          </a:p>
        </p:txBody>
      </p:sp>
      <p:sp>
        <p:nvSpPr>
          <p:cNvPr id="109" name="Google Shape;109;p8"/>
          <p:cNvSpPr/>
          <p:nvPr/>
        </p:nvSpPr>
        <p:spPr>
          <a:xfrm>
            <a:off x="5620350" y="4049725"/>
            <a:ext cx="2424000" cy="566400"/>
          </a:xfrm>
          <a:prstGeom prst="wedgeRoundRectCallout">
            <a:avLst>
              <a:gd name="adj1" fmla="val 47199"/>
              <a:gd name="adj2" fmla="val 7098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You can do whatever you want to the tree.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9278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 a Reactive Application?</a:t>
            </a:r>
            <a:endParaRPr/>
          </a:p>
        </p:txBody>
      </p:sp>
      <p:sp>
        <p:nvSpPr>
          <p:cNvPr id="82" name="Google Shape;82;p16"/>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t>A reactive web application</a:t>
            </a:r>
            <a:endParaRPr/>
          </a:p>
          <a:p>
            <a:pPr marL="457200" marR="0" lvl="0" indent="-317500" algn="l" rtl="0">
              <a:lnSpc>
                <a:spcPct val="115000"/>
              </a:lnSpc>
              <a:spcBef>
                <a:spcPts val="1600"/>
              </a:spcBef>
              <a:spcAft>
                <a:spcPts val="0"/>
              </a:spcAft>
              <a:buSzPts val="1400"/>
              <a:buChar char="●"/>
            </a:pPr>
            <a:r>
              <a:rPr lang="en"/>
              <a:t>Observe changes in application state</a:t>
            </a:r>
            <a:endParaRPr/>
          </a:p>
          <a:p>
            <a:pPr marL="457200" marR="0" lvl="0" indent="-317500" algn="l" rtl="0">
              <a:lnSpc>
                <a:spcPct val="115000"/>
              </a:lnSpc>
              <a:spcBef>
                <a:spcPts val="0"/>
              </a:spcBef>
              <a:spcAft>
                <a:spcPts val="0"/>
              </a:spcAft>
              <a:buSzPts val="1400"/>
              <a:buChar char="●"/>
            </a:pPr>
            <a:r>
              <a:rPr lang="en"/>
              <a:t>Propagate change notification throughout the application</a:t>
            </a:r>
            <a:endParaRPr/>
          </a:p>
          <a:p>
            <a:pPr marL="457200" marR="0" lvl="0" indent="-317500" algn="l" rtl="0">
              <a:lnSpc>
                <a:spcPct val="115000"/>
              </a:lnSpc>
              <a:spcBef>
                <a:spcPts val="0"/>
              </a:spcBef>
              <a:spcAft>
                <a:spcPts val="0"/>
              </a:spcAft>
              <a:buSzPts val="1400"/>
              <a:buChar char="●"/>
            </a:pPr>
            <a:r>
              <a:rPr lang="en"/>
              <a:t>Render views automatically in response to changes in state</a:t>
            </a:r>
            <a:endParaRPr/>
          </a:p>
          <a:p>
            <a:pPr marL="457200" marR="0" lvl="0" indent="-317500" algn="l" rtl="0">
              <a:lnSpc>
                <a:spcPct val="115000"/>
              </a:lnSpc>
              <a:spcBef>
                <a:spcPts val="0"/>
              </a:spcBef>
              <a:spcAft>
                <a:spcPts val="0"/>
              </a:spcAft>
              <a:buSzPts val="1400"/>
              <a:buChar char="●"/>
            </a:pPr>
            <a:r>
              <a:rPr lang="en"/>
              <a:t>Provide timely feedback for user interactions</a:t>
            </a:r>
            <a:endParaRPr/>
          </a:p>
          <a:p>
            <a:pPr marL="0" marR="0" lvl="0" indent="0" algn="l" rtl="0">
              <a:lnSpc>
                <a:spcPct val="115000"/>
              </a:lnSpc>
              <a:spcBef>
                <a:spcPts val="1600"/>
              </a:spcBef>
              <a:spcAft>
                <a:spcPts val="0"/>
              </a:spcAft>
              <a:buNone/>
            </a:pPr>
            <a:endParaRPr/>
          </a:p>
          <a:p>
            <a:pPr marL="0" marR="0" lvl="0" indent="0" algn="l" rtl="0">
              <a:lnSpc>
                <a:spcPct val="115000"/>
              </a:lnSpc>
              <a:spcBef>
                <a:spcPts val="1600"/>
              </a:spcBef>
              <a:spcAft>
                <a:spcPts val="1600"/>
              </a:spcAft>
              <a:buNone/>
            </a:pPr>
            <a:endParaRPr/>
          </a:p>
        </p:txBody>
      </p:sp>
      <p:pic>
        <p:nvPicPr>
          <p:cNvPr id="83" name="Google Shape;83;p16"/>
          <p:cNvPicPr preferRelativeResize="0"/>
          <p:nvPr/>
        </p:nvPicPr>
        <p:blipFill>
          <a:blip r:embed="rId3">
            <a:alphaModFix/>
          </a:blip>
          <a:stretch>
            <a:fillRect/>
          </a:stretch>
        </p:blipFill>
        <p:spPr>
          <a:xfrm>
            <a:off x="4898575" y="1658150"/>
            <a:ext cx="3375425" cy="2784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 Vue.js</a:t>
            </a:r>
            <a:endParaRPr/>
          </a:p>
        </p:txBody>
      </p:sp>
      <p:sp>
        <p:nvSpPr>
          <p:cNvPr id="89" name="Google Shape;89;p17"/>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t>Vue (pronounced like View) is a progressive framework for building user interfaces.</a:t>
            </a:r>
            <a:endParaRPr/>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r>
              <a:rPr lang="en"/>
              <a:t>The core library is focused on the view layer only, and is easy to pick up and integrate with other libraries or existing projects.</a:t>
            </a:r>
            <a:endParaRPr/>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r>
              <a:rPr lang="en"/>
              <a:t>On the other hand, Vue is also perfectly capable of powering sophisticated Single-Page Applications when used in combination with modern tooling and supporting libraries.</a:t>
            </a:r>
            <a:endParaRPr sz="2400">
              <a:latin typeface="Arial"/>
              <a:ea typeface="Arial"/>
              <a:cs typeface="Arial"/>
              <a:sym typeface="Arial"/>
            </a:endParaRPr>
          </a:p>
          <a:p>
            <a:pPr marL="0" marR="0" lvl="0" indent="0" algn="l" rtl="0">
              <a:lnSpc>
                <a:spcPct val="115000"/>
              </a:lnSpc>
              <a:spcBef>
                <a:spcPts val="0"/>
              </a:spcBef>
              <a:spcAft>
                <a:spcPts val="0"/>
              </a:spcAft>
              <a:buNone/>
            </a:pPr>
            <a:r>
              <a:rPr lang="en"/>
              <a:t> </a:t>
            </a:r>
            <a:r>
              <a:rPr lang="en" b="1"/>
              <a:t> </a:t>
            </a:r>
            <a:endParaRPr/>
          </a:p>
        </p:txBody>
      </p:sp>
      <p:sp>
        <p:nvSpPr>
          <p:cNvPr id="90" name="Google Shape;90;p17"/>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Example</a:t>
            </a:r>
            <a:endParaRPr b="1"/>
          </a:p>
          <a:p>
            <a:pPr marL="0" lvl="0" indent="0" algn="l" rtl="0">
              <a:spcBef>
                <a:spcPts val="1600"/>
              </a:spcBef>
              <a:spcAft>
                <a:spcPts val="0"/>
              </a:spcAft>
              <a:buNone/>
            </a:pPr>
            <a:r>
              <a:rPr lang="en" u="sng">
                <a:solidFill>
                  <a:schemeClr val="hlink"/>
                </a:solidFill>
                <a:hlinkClick r:id="rId3"/>
              </a:rPr>
              <a:t>Themes</a:t>
            </a:r>
            <a:endParaRPr/>
          </a:p>
          <a:p>
            <a:pPr marL="0" lvl="0" indent="0" algn="l" rtl="0">
              <a:spcBef>
                <a:spcPts val="1600"/>
              </a:spcBef>
              <a:spcAft>
                <a:spcPts val="0"/>
              </a:spcAft>
              <a:buNone/>
            </a:pPr>
            <a:endParaRPr/>
          </a:p>
          <a:p>
            <a:pPr marL="0" marR="0" lvl="0" indent="0" algn="l" rtl="0">
              <a:lnSpc>
                <a:spcPct val="115000"/>
              </a:lnSpc>
              <a:spcBef>
                <a:spcPts val="16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Why Vue.js</a:t>
            </a:r>
            <a:endParaRPr/>
          </a:p>
        </p:txBody>
      </p:sp>
      <p:pic>
        <p:nvPicPr>
          <p:cNvPr id="96" name="Google Shape;96;p18"/>
          <p:cNvPicPr preferRelativeResize="0"/>
          <p:nvPr/>
        </p:nvPicPr>
        <p:blipFill>
          <a:blip r:embed="rId3">
            <a:alphaModFix/>
          </a:blip>
          <a:stretch>
            <a:fillRect/>
          </a:stretch>
        </p:blipFill>
        <p:spPr>
          <a:xfrm>
            <a:off x="3567113" y="1147225"/>
            <a:ext cx="2009775" cy="1743075"/>
          </a:xfrm>
          <a:prstGeom prst="rect">
            <a:avLst/>
          </a:prstGeom>
          <a:noFill/>
          <a:ln>
            <a:noFill/>
          </a:ln>
        </p:spPr>
      </p:pic>
      <p:pic>
        <p:nvPicPr>
          <p:cNvPr id="97" name="Google Shape;97;p18"/>
          <p:cNvPicPr preferRelativeResize="0"/>
          <p:nvPr/>
        </p:nvPicPr>
        <p:blipFill>
          <a:blip r:embed="rId4">
            <a:alphaModFix/>
          </a:blip>
          <a:stretch>
            <a:fillRect/>
          </a:stretch>
        </p:blipFill>
        <p:spPr>
          <a:xfrm>
            <a:off x="1698800" y="2890300"/>
            <a:ext cx="1868329" cy="1948400"/>
          </a:xfrm>
          <a:prstGeom prst="rect">
            <a:avLst/>
          </a:prstGeom>
          <a:noFill/>
          <a:ln>
            <a:noFill/>
          </a:ln>
        </p:spPr>
      </p:pic>
      <p:pic>
        <p:nvPicPr>
          <p:cNvPr id="98" name="Google Shape;98;p18"/>
          <p:cNvPicPr preferRelativeResize="0"/>
          <p:nvPr/>
        </p:nvPicPr>
        <p:blipFill>
          <a:blip r:embed="rId5">
            <a:alphaModFix/>
          </a:blip>
          <a:stretch>
            <a:fillRect/>
          </a:stretch>
        </p:blipFill>
        <p:spPr>
          <a:xfrm>
            <a:off x="5576888" y="2921525"/>
            <a:ext cx="2009775" cy="1885950"/>
          </a:xfrm>
          <a:prstGeom prst="rect">
            <a:avLst/>
          </a:prstGeom>
          <a:noFill/>
          <a:ln>
            <a:noFill/>
          </a:ln>
        </p:spPr>
      </p:pic>
      <p:sp>
        <p:nvSpPr>
          <p:cNvPr id="99" name="Google Shape;99;p18"/>
          <p:cNvSpPr txBox="1"/>
          <p:nvPr/>
        </p:nvSpPr>
        <p:spPr>
          <a:xfrm>
            <a:off x="1285875" y="4485250"/>
            <a:ext cx="918600" cy="85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Google</a:t>
            </a:r>
            <a:endParaRPr>
              <a:latin typeface="Open Sans"/>
              <a:ea typeface="Open Sans"/>
              <a:cs typeface="Open Sans"/>
              <a:sym typeface="Open Sans"/>
            </a:endParaRPr>
          </a:p>
        </p:txBody>
      </p:sp>
      <p:sp>
        <p:nvSpPr>
          <p:cNvPr id="100" name="Google Shape;100;p18"/>
          <p:cNvSpPr txBox="1"/>
          <p:nvPr/>
        </p:nvSpPr>
        <p:spPr>
          <a:xfrm>
            <a:off x="7377775" y="4485250"/>
            <a:ext cx="1164000" cy="85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Facebook</a:t>
            </a:r>
            <a:endParaRPr>
              <a:latin typeface="Open Sans"/>
              <a:ea typeface="Open Sans"/>
              <a:cs typeface="Open Sans"/>
              <a:sym typeface="Open Sans"/>
            </a:endParaRPr>
          </a:p>
        </p:txBody>
      </p:sp>
      <p:sp>
        <p:nvSpPr>
          <p:cNvPr id="101" name="Google Shape;101;p18"/>
          <p:cNvSpPr txBox="1"/>
          <p:nvPr/>
        </p:nvSpPr>
        <p:spPr>
          <a:xfrm>
            <a:off x="5576900" y="1147225"/>
            <a:ext cx="1164000" cy="85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Used by Alibaba</a:t>
            </a:r>
            <a:endParaRPr>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Why Vue.js</a:t>
            </a:r>
            <a:endParaRPr/>
          </a:p>
        </p:txBody>
      </p:sp>
      <p:pic>
        <p:nvPicPr>
          <p:cNvPr id="107" name="Google Shape;107;p19"/>
          <p:cNvPicPr preferRelativeResize="0"/>
          <p:nvPr/>
        </p:nvPicPr>
        <p:blipFill>
          <a:blip r:embed="rId3">
            <a:alphaModFix/>
          </a:blip>
          <a:stretch>
            <a:fillRect/>
          </a:stretch>
        </p:blipFill>
        <p:spPr>
          <a:xfrm>
            <a:off x="5006079" y="3260785"/>
            <a:ext cx="2861212" cy="1793154"/>
          </a:xfrm>
          <a:prstGeom prst="rect">
            <a:avLst/>
          </a:prstGeom>
          <a:noFill/>
          <a:ln>
            <a:noFill/>
          </a:ln>
        </p:spPr>
      </p:pic>
      <p:sp>
        <p:nvSpPr>
          <p:cNvPr id="108" name="Google Shape;108;p19"/>
          <p:cNvSpPr txBox="1">
            <a:spLocks noGrp="1"/>
          </p:cNvSpPr>
          <p:nvPr>
            <p:ph type="body" idx="2"/>
          </p:nvPr>
        </p:nvSpPr>
        <p:spPr>
          <a:xfrm>
            <a:off x="4832400" y="3159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Popularity</a:t>
            </a:r>
            <a:r>
              <a:rPr lang="en" dirty="0"/>
              <a:t>: </a:t>
            </a:r>
            <a:r>
              <a:rPr lang="en" u="sng" dirty="0">
                <a:solidFill>
                  <a:schemeClr val="hlink"/>
                </a:solidFill>
                <a:hlinkClick r:id="rId4"/>
              </a:rPr>
              <a:t>Read Here</a:t>
            </a:r>
            <a:endParaRPr dirty="0"/>
          </a:p>
          <a:p>
            <a:pPr marL="0" marR="0" lvl="0" indent="0" algn="l" rtl="0">
              <a:lnSpc>
                <a:spcPct val="115000"/>
              </a:lnSpc>
              <a:spcBef>
                <a:spcPts val="1600"/>
              </a:spcBef>
              <a:spcAft>
                <a:spcPts val="1600"/>
              </a:spcAft>
              <a:buNone/>
            </a:pPr>
            <a:r>
              <a:rPr lang="en" i="1" dirty="0"/>
              <a:t>“React has been a leader in popularity among JavaScript frameworks. It takes the first place with the number of 48,718 dependents, whereas, </a:t>
            </a:r>
            <a:r>
              <a:rPr lang="en" i="1" dirty="0" err="1"/>
              <a:t>Vue.js</a:t>
            </a:r>
            <a:r>
              <a:rPr lang="en" i="1" dirty="0"/>
              <a:t> is the second most popular JavaScript framework with half as many dependents — 21,575, as reported by Node Package Manager. Though, if we take a look at statistics at the end of 2018, we will see that Vue’s dependents had tripled, while </a:t>
            </a:r>
            <a:r>
              <a:rPr lang="en" i="1" dirty="0" err="1"/>
              <a:t>React’s</a:t>
            </a:r>
            <a:r>
              <a:rPr lang="en" i="1" dirty="0"/>
              <a:t> had doubled.”</a:t>
            </a:r>
            <a:endParaRPr i="1" dirty="0"/>
          </a:p>
        </p:txBody>
      </p:sp>
      <p:sp>
        <p:nvSpPr>
          <p:cNvPr id="2" name="Google Shape;114;p20">
            <a:extLst>
              <a:ext uri="{FF2B5EF4-FFF2-40B4-BE49-F238E27FC236}">
                <a16:creationId xmlns:a16="http://schemas.microsoft.com/office/drawing/2014/main" id="{A5DF5BFB-9584-01D0-18B6-671DF5314FAA}"/>
              </a:ext>
            </a:extLst>
          </p:cNvPr>
          <p:cNvSpPr txBox="1">
            <a:spLocks noGrp="1"/>
          </p:cNvSpPr>
          <p:nvPr>
            <p:ph type="body" idx="1"/>
          </p:nvPr>
        </p:nvSpPr>
        <p:spPr>
          <a:xfrm>
            <a:off x="311700" y="1225225"/>
            <a:ext cx="33651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Extremely small (16KB)</a:t>
            </a:r>
            <a:endParaRPr dirty="0"/>
          </a:p>
          <a:p>
            <a:pPr marL="0" marR="0" lvl="0" indent="0" algn="l" rtl="0">
              <a:lnSpc>
                <a:spcPct val="115000"/>
              </a:lnSpc>
              <a:spcBef>
                <a:spcPts val="1600"/>
              </a:spcBef>
              <a:spcAft>
                <a:spcPts val="0"/>
              </a:spcAft>
              <a:buNone/>
            </a:pPr>
            <a:r>
              <a:rPr lang="en" dirty="0"/>
              <a:t>Great runtime performance</a:t>
            </a:r>
            <a:endParaRPr dirty="0"/>
          </a:p>
          <a:p>
            <a:pPr marL="0" marR="0" lvl="0" indent="0" algn="l" rtl="0">
              <a:lnSpc>
                <a:spcPct val="115000"/>
              </a:lnSpc>
              <a:spcBef>
                <a:spcPts val="1600"/>
              </a:spcBef>
              <a:spcAft>
                <a:spcPts val="1600"/>
              </a:spcAft>
              <a:buNone/>
            </a:pPr>
            <a:r>
              <a:rPr lang="en" b="1" dirty="0"/>
              <a:t>Easy to learn</a:t>
            </a:r>
            <a:endParaRPr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Vue.js Features</a:t>
            </a:r>
            <a:endParaRPr/>
          </a:p>
        </p:txBody>
      </p:sp>
      <p:sp>
        <p:nvSpPr>
          <p:cNvPr id="121" name="Google Shape;121;p2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b="1" dirty="0"/>
              <a:t>Data Binding</a:t>
            </a:r>
            <a:r>
              <a:rPr lang="en" dirty="0"/>
              <a:t>: This feature helps manipulate or assign values to HTML attributes, change the style, assign classes with the help of binding directive called v-bind </a:t>
            </a:r>
            <a:endParaRPr dirty="0"/>
          </a:p>
          <a:p>
            <a:pPr marL="0" marR="0" lvl="0" indent="0" algn="l" rtl="0">
              <a:lnSpc>
                <a:spcPct val="100000"/>
              </a:lnSpc>
              <a:spcBef>
                <a:spcPts val="0"/>
              </a:spcBef>
              <a:spcAft>
                <a:spcPts val="0"/>
              </a:spcAft>
              <a:buNone/>
            </a:pPr>
            <a:endParaRPr dirty="0"/>
          </a:p>
          <a:p>
            <a:pPr marL="0" marR="0" lvl="0" indent="0" algn="l" rtl="0">
              <a:lnSpc>
                <a:spcPct val="100000"/>
              </a:lnSpc>
              <a:spcBef>
                <a:spcPts val="0"/>
              </a:spcBef>
              <a:spcAft>
                <a:spcPts val="0"/>
              </a:spcAft>
              <a:buNone/>
            </a:pPr>
            <a:r>
              <a:rPr lang="en" b="1" dirty="0"/>
              <a:t>Directives</a:t>
            </a:r>
            <a:r>
              <a:rPr lang="en" dirty="0"/>
              <a:t>: built-in directives such as v-if, v-else, v-on, v-bind, and v-model, which are used to perform various actions on the frontend.  </a:t>
            </a:r>
            <a:endParaRPr dirty="0"/>
          </a:p>
          <a:p>
            <a:pPr marL="0" marR="0" lvl="0" indent="0" algn="l" rtl="0">
              <a:lnSpc>
                <a:spcPct val="100000"/>
              </a:lnSpc>
              <a:spcBef>
                <a:spcPts val="0"/>
              </a:spcBef>
              <a:spcAft>
                <a:spcPts val="0"/>
              </a:spcAft>
              <a:buNone/>
            </a:pPr>
            <a:endParaRPr dirty="0"/>
          </a:p>
          <a:p>
            <a:pPr marL="0" marR="0" lvl="0" indent="0" algn="l" rtl="0">
              <a:lnSpc>
                <a:spcPct val="100000"/>
              </a:lnSpc>
              <a:spcBef>
                <a:spcPts val="0"/>
              </a:spcBef>
              <a:spcAft>
                <a:spcPts val="0"/>
              </a:spcAft>
              <a:buNone/>
            </a:pPr>
            <a:r>
              <a:rPr lang="en" b="1" dirty="0"/>
              <a:t>Event Handling</a:t>
            </a:r>
            <a:r>
              <a:rPr lang="en" dirty="0"/>
              <a:t>: with v-on directive, it can listen to the events</a:t>
            </a:r>
            <a:endParaRPr dirty="0"/>
          </a:p>
          <a:p>
            <a:pPr marL="0" marR="0" lvl="0" indent="0" algn="l" rtl="0">
              <a:lnSpc>
                <a:spcPct val="100000"/>
              </a:lnSpc>
              <a:spcBef>
                <a:spcPts val="0"/>
              </a:spcBef>
              <a:spcAft>
                <a:spcPts val="0"/>
              </a:spcAft>
              <a:buNone/>
            </a:pPr>
            <a:endParaRPr dirty="0"/>
          </a:p>
          <a:p>
            <a:pPr marL="0" marR="0" lvl="0" indent="0" algn="l" rtl="0">
              <a:lnSpc>
                <a:spcPct val="100000"/>
              </a:lnSpc>
              <a:spcBef>
                <a:spcPts val="0"/>
              </a:spcBef>
              <a:spcAft>
                <a:spcPts val="0"/>
              </a:spcAft>
              <a:buNone/>
            </a:pPr>
            <a:r>
              <a:rPr lang="en" b="1" dirty="0"/>
              <a:t>Computed Properties</a:t>
            </a:r>
            <a:r>
              <a:rPr lang="en" dirty="0"/>
              <a:t>: helps to listen to the changes made to the UI elements and performs necessary calculations</a:t>
            </a:r>
            <a:endParaRPr dirty="0"/>
          </a:p>
          <a:p>
            <a:pPr marL="0" marR="0" lvl="0" indent="0" algn="l" rtl="0">
              <a:lnSpc>
                <a:spcPct val="100000"/>
              </a:lnSpc>
              <a:spcBef>
                <a:spcPts val="0"/>
              </a:spcBef>
              <a:spcAft>
                <a:spcPts val="0"/>
              </a:spcAft>
              <a:buNone/>
            </a:pPr>
            <a:endParaRPr dirty="0"/>
          </a:p>
          <a:p>
            <a:pPr marL="0" marR="0" lvl="0" indent="0" algn="l" rtl="0">
              <a:lnSpc>
                <a:spcPct val="100000"/>
              </a:lnSpc>
              <a:spcBef>
                <a:spcPts val="0"/>
              </a:spcBef>
              <a:spcAft>
                <a:spcPts val="0"/>
              </a:spcAft>
              <a:buNone/>
            </a:pPr>
            <a:r>
              <a:rPr lang="en" b="1" dirty="0"/>
              <a:t>Components</a:t>
            </a:r>
            <a:r>
              <a:rPr lang="en" dirty="0"/>
              <a:t>: custom elements that can be reused in HTML</a:t>
            </a:r>
            <a:endParaRPr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dirty="0"/>
              <a:t>Example</a:t>
            </a:r>
            <a:endParaRPr b="1" dirty="0"/>
          </a:p>
          <a:p>
            <a:pPr marL="0" lvl="0" indent="0" algn="l" rtl="0">
              <a:lnSpc>
                <a:spcPct val="100000"/>
              </a:lnSpc>
              <a:spcBef>
                <a:spcPts val="1600"/>
              </a:spcBef>
              <a:spcAft>
                <a:spcPts val="0"/>
              </a:spcAft>
              <a:buClr>
                <a:schemeClr val="dk1"/>
              </a:buClr>
              <a:buSzPts val="1100"/>
              <a:buFont typeface="Arial"/>
              <a:buNone/>
            </a:pPr>
            <a:r>
              <a:rPr lang="en" dirty="0"/>
              <a:t>&lt;div id="app"&gt;</a:t>
            </a:r>
            <a:endParaRPr dirty="0"/>
          </a:p>
          <a:p>
            <a:pPr marL="0" lvl="0" indent="0" algn="l" rtl="0">
              <a:lnSpc>
                <a:spcPct val="100000"/>
              </a:lnSpc>
              <a:spcBef>
                <a:spcPts val="0"/>
              </a:spcBef>
              <a:spcAft>
                <a:spcPts val="0"/>
              </a:spcAft>
              <a:buClr>
                <a:schemeClr val="dk1"/>
              </a:buClr>
              <a:buSzPts val="1100"/>
              <a:buFont typeface="Arial"/>
              <a:buNone/>
            </a:pPr>
            <a:r>
              <a:rPr lang="en" dirty="0"/>
              <a:t>   &lt;app-nav&gt;&lt;/app-nav&gt;</a:t>
            </a:r>
            <a:endParaRPr dirty="0"/>
          </a:p>
          <a:p>
            <a:pPr marL="0" lvl="0" indent="0" algn="l" rtl="0">
              <a:lnSpc>
                <a:spcPct val="100000"/>
              </a:lnSpc>
              <a:spcBef>
                <a:spcPts val="0"/>
              </a:spcBef>
              <a:spcAft>
                <a:spcPts val="0"/>
              </a:spcAft>
              <a:buClr>
                <a:schemeClr val="dk1"/>
              </a:buClr>
              <a:buSzPts val="1100"/>
              <a:buFont typeface="Arial"/>
              <a:buNone/>
            </a:pPr>
            <a:r>
              <a:rPr lang="en" dirty="0"/>
              <a:t>   &lt;app-view&gt;</a:t>
            </a:r>
            <a:endParaRPr dirty="0"/>
          </a:p>
          <a:p>
            <a:pPr marL="0" lvl="0" indent="0" algn="l" rtl="0">
              <a:lnSpc>
                <a:spcPct val="100000"/>
              </a:lnSpc>
              <a:spcBef>
                <a:spcPts val="0"/>
              </a:spcBef>
              <a:spcAft>
                <a:spcPts val="0"/>
              </a:spcAft>
              <a:buClr>
                <a:schemeClr val="dk1"/>
              </a:buClr>
              <a:buSzPts val="1100"/>
              <a:buFont typeface="Arial"/>
              <a:buNone/>
            </a:pPr>
            <a:r>
              <a:rPr lang="en" dirty="0"/>
              <a:t>      &lt;app-sidebar&gt;&lt;/app-sidebar&gt;</a:t>
            </a:r>
            <a:endParaRPr dirty="0"/>
          </a:p>
          <a:p>
            <a:pPr marL="0" lvl="0" indent="0" algn="l" rtl="0">
              <a:lnSpc>
                <a:spcPct val="100000"/>
              </a:lnSpc>
              <a:spcBef>
                <a:spcPts val="0"/>
              </a:spcBef>
              <a:spcAft>
                <a:spcPts val="0"/>
              </a:spcAft>
              <a:buClr>
                <a:schemeClr val="dk1"/>
              </a:buClr>
              <a:buSzPts val="1100"/>
              <a:buFont typeface="Arial"/>
              <a:buNone/>
            </a:pPr>
            <a:r>
              <a:rPr lang="en" dirty="0"/>
              <a:t>      &lt;app-content&gt;&lt;/app-content&gt;</a:t>
            </a:r>
            <a:endParaRPr dirty="0"/>
          </a:p>
          <a:p>
            <a:pPr marL="0" lvl="0" indent="0" algn="l" rtl="0">
              <a:lnSpc>
                <a:spcPct val="100000"/>
              </a:lnSpc>
              <a:spcBef>
                <a:spcPts val="0"/>
              </a:spcBef>
              <a:spcAft>
                <a:spcPts val="0"/>
              </a:spcAft>
              <a:buClr>
                <a:schemeClr val="dk1"/>
              </a:buClr>
              <a:buSzPts val="1100"/>
              <a:buFont typeface="Arial"/>
              <a:buNone/>
            </a:pPr>
            <a:r>
              <a:rPr lang="en" dirty="0"/>
              <a:t>   &lt;/app-view&gt;</a:t>
            </a:r>
            <a:endParaRPr dirty="0"/>
          </a:p>
          <a:p>
            <a:pPr marL="0" lvl="0" indent="0" algn="l" rtl="0">
              <a:lnSpc>
                <a:spcPct val="100000"/>
              </a:lnSpc>
              <a:spcBef>
                <a:spcPts val="0"/>
              </a:spcBef>
              <a:spcAft>
                <a:spcPts val="0"/>
              </a:spcAft>
              <a:buClr>
                <a:schemeClr val="dk1"/>
              </a:buClr>
              <a:buSzPts val="1100"/>
              <a:buFont typeface="Arial"/>
              <a:buNone/>
            </a:pPr>
            <a:r>
              <a:rPr lang="en" dirty="0"/>
              <a:t>&lt;/div&gt;</a:t>
            </a:r>
            <a:endParaRPr dirty="0"/>
          </a:p>
        </p:txBody>
      </p:sp>
      <p:sp>
        <p:nvSpPr>
          <p:cNvPr id="76" name="Google Shape;76;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Vue Components</a:t>
            </a:r>
            <a:endParaRPr/>
          </a:p>
        </p:txBody>
      </p:sp>
      <p:sp>
        <p:nvSpPr>
          <p:cNvPr id="77" name="Google Shape;77;p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Vue components are an abstraction that allows us to build large-scale applications composed of small, self-contained, and often reusable components.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
              <a:t>A component is a group of elements (i.e., template) together with the Vue instances with a name so that it can be reused.</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Clr>
                <a:schemeClr val="dk1"/>
              </a:buClr>
              <a:buSzPts val="1100"/>
              <a:buFont typeface="Arial"/>
              <a:buNone/>
            </a:pPr>
            <a:r>
              <a:rPr lang="en"/>
              <a:t>In a large application, it is necessary to divide the whole app into components to make development manageable and scalable.</a:t>
            </a:r>
            <a:endParaRPr/>
          </a:p>
          <a:p>
            <a:pPr marL="0" lvl="0" indent="0" algn="l" rtl="0">
              <a:lnSpc>
                <a:spcPct val="100000"/>
              </a:lnSpc>
              <a:spcBef>
                <a:spcPts val="0"/>
              </a:spcBef>
              <a:spcAft>
                <a:spcPts val="0"/>
              </a:spcAft>
              <a:buClr>
                <a:schemeClr val="dk1"/>
              </a:buClr>
              <a:buSzPts val="1100"/>
              <a:buFont typeface="Arial"/>
              <a:buNone/>
            </a:pPr>
            <a:endParaRPr/>
          </a:p>
          <a:p>
            <a:pPr marL="0" marR="0" lvl="0" indent="0" algn="l" rtl="0">
              <a:lnSpc>
                <a:spcPct val="100000"/>
              </a:lnSpc>
              <a:spcBef>
                <a:spcPts val="0"/>
              </a:spcBef>
              <a:spcAft>
                <a:spcPts val="0"/>
              </a:spcAft>
              <a:buSzPts val="1400"/>
              <a:buNone/>
            </a:pPr>
            <a:endParaRPr/>
          </a:p>
        </p:txBody>
      </p:sp>
      <p:pic>
        <p:nvPicPr>
          <p:cNvPr id="78" name="Google Shape;78;p3"/>
          <p:cNvPicPr preferRelativeResize="0"/>
          <p:nvPr/>
        </p:nvPicPr>
        <p:blipFill rotWithShape="1">
          <a:blip r:embed="rId3">
            <a:alphaModFix/>
          </a:blip>
          <a:srcRect/>
          <a:stretch/>
        </p:blipFill>
        <p:spPr>
          <a:xfrm>
            <a:off x="4793325" y="3249407"/>
            <a:ext cx="3999900" cy="1540292"/>
          </a:xfrm>
          <a:prstGeom prst="rect">
            <a:avLst/>
          </a:prstGeom>
          <a:noFill/>
          <a:ln>
            <a:noFill/>
          </a:ln>
        </p:spPr>
      </p:pic>
      <p:sp>
        <p:nvSpPr>
          <p:cNvPr id="79" name="Google Shape;79;p3"/>
          <p:cNvSpPr/>
          <p:nvPr/>
        </p:nvSpPr>
        <p:spPr>
          <a:xfrm>
            <a:off x="605625" y="4130300"/>
            <a:ext cx="2624700" cy="659400"/>
          </a:xfrm>
          <a:prstGeom prst="wedgeRoundRectCallout">
            <a:avLst>
              <a:gd name="adj1" fmla="val -39830"/>
              <a:gd name="adj2" fmla="val 7115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Vue components allow you to define your own reactive tags.</a:t>
            </a:r>
            <a:endParaRPr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96561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E976-97CD-C5A1-E29E-62D087C05C48}"/>
              </a:ext>
            </a:extLst>
          </p:cNvPr>
          <p:cNvSpPr>
            <a:spLocks noGrp="1"/>
          </p:cNvSpPr>
          <p:nvPr>
            <p:ph type="title"/>
          </p:nvPr>
        </p:nvSpPr>
        <p:spPr/>
        <p:txBody>
          <a:bodyPr/>
          <a:lstStyle/>
          <a:p>
            <a:r>
              <a:rPr lang="en-US" dirty="0"/>
              <a:t>Vue – Official Extension for VS Code</a:t>
            </a:r>
          </a:p>
        </p:txBody>
      </p:sp>
      <p:sp>
        <p:nvSpPr>
          <p:cNvPr id="3" name="Text Placeholder 2">
            <a:extLst>
              <a:ext uri="{FF2B5EF4-FFF2-40B4-BE49-F238E27FC236}">
                <a16:creationId xmlns:a16="http://schemas.microsoft.com/office/drawing/2014/main" id="{8C1900E3-F6BF-442E-D0AE-3881630A7C32}"/>
              </a:ext>
            </a:extLst>
          </p:cNvPr>
          <p:cNvSpPr>
            <a:spLocks noGrp="1"/>
          </p:cNvSpPr>
          <p:nvPr>
            <p:ph type="body" idx="1"/>
          </p:nvPr>
        </p:nvSpPr>
        <p:spPr>
          <a:xfrm>
            <a:off x="311700" y="1225225"/>
            <a:ext cx="8520600" cy="1072867"/>
          </a:xfrm>
        </p:spPr>
        <p:txBody>
          <a:bodyPr/>
          <a:lstStyle/>
          <a:p>
            <a:pPr marL="114300" indent="0">
              <a:buNone/>
            </a:pPr>
            <a:r>
              <a:rPr lang="en-US" dirty="0"/>
              <a:t>Search for </a:t>
            </a:r>
            <a:r>
              <a:rPr lang="en-US" dirty="0">
                <a:hlinkClick r:id="rId2"/>
              </a:rPr>
              <a:t>Vue (Official) or </a:t>
            </a:r>
            <a:r>
              <a:rPr lang="en-US" dirty="0" err="1">
                <a:hlinkClick r:id="rId2"/>
              </a:rPr>
              <a:t>vue.volar</a:t>
            </a:r>
            <a:r>
              <a:rPr lang="en-US" dirty="0">
                <a:hlinkClick r:id="rId2"/>
              </a:rPr>
              <a:t> </a:t>
            </a:r>
            <a:r>
              <a:rPr lang="en-US" dirty="0"/>
              <a:t>in the </a:t>
            </a:r>
            <a:r>
              <a:rPr lang="en-US" dirty="0" err="1"/>
              <a:t>VSCode</a:t>
            </a:r>
            <a:r>
              <a:rPr lang="en-US" dirty="0"/>
              <a:t> extension and click install:</a:t>
            </a:r>
          </a:p>
          <a:p>
            <a:endParaRPr lang="en-US" dirty="0"/>
          </a:p>
          <a:p>
            <a:endParaRPr lang="en-US" dirty="0"/>
          </a:p>
        </p:txBody>
      </p:sp>
      <p:pic>
        <p:nvPicPr>
          <p:cNvPr id="6" name="Picture 5">
            <a:extLst>
              <a:ext uri="{FF2B5EF4-FFF2-40B4-BE49-F238E27FC236}">
                <a16:creationId xmlns:a16="http://schemas.microsoft.com/office/drawing/2014/main" id="{4F87D924-1A17-D093-D1B8-E90A7EC48245}"/>
              </a:ext>
            </a:extLst>
          </p:cNvPr>
          <p:cNvPicPr>
            <a:picLocks noChangeAspect="1"/>
          </p:cNvPicPr>
          <p:nvPr/>
        </p:nvPicPr>
        <p:blipFill>
          <a:blip r:embed="rId3"/>
          <a:stretch>
            <a:fillRect/>
          </a:stretch>
        </p:blipFill>
        <p:spPr>
          <a:xfrm>
            <a:off x="1721374" y="1835604"/>
            <a:ext cx="5206245" cy="2991971"/>
          </a:xfrm>
          <a:prstGeom prst="rect">
            <a:avLst/>
          </a:prstGeom>
        </p:spPr>
      </p:pic>
    </p:spTree>
    <p:extLst>
      <p:ext uri="{BB962C8B-B14F-4D97-AF65-F5344CB8AC3E}">
        <p14:creationId xmlns:p14="http://schemas.microsoft.com/office/powerpoint/2010/main" val="2859622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ECE17-68B6-CDCA-5B8D-4E5A6526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51C62-55B9-B3C6-6CEF-9B3AD59D0EE3}"/>
              </a:ext>
            </a:extLst>
          </p:cNvPr>
          <p:cNvSpPr>
            <a:spLocks noGrp="1"/>
          </p:cNvSpPr>
          <p:nvPr>
            <p:ph type="title"/>
          </p:nvPr>
        </p:nvSpPr>
        <p:spPr/>
        <p:txBody>
          <a:bodyPr/>
          <a:lstStyle/>
          <a:p>
            <a:r>
              <a:rPr lang="en-US" dirty="0" err="1"/>
              <a:t>Vue.js</a:t>
            </a:r>
            <a:r>
              <a:rPr lang="en-US" dirty="0"/>
              <a:t> </a:t>
            </a:r>
            <a:r>
              <a:rPr lang="en-US" dirty="0" err="1"/>
              <a:t>devtools</a:t>
            </a:r>
            <a:r>
              <a:rPr lang="en-US" dirty="0"/>
              <a:t> for Chrome</a:t>
            </a:r>
          </a:p>
        </p:txBody>
      </p:sp>
      <p:sp>
        <p:nvSpPr>
          <p:cNvPr id="3" name="Text Placeholder 2">
            <a:extLst>
              <a:ext uri="{FF2B5EF4-FFF2-40B4-BE49-F238E27FC236}">
                <a16:creationId xmlns:a16="http://schemas.microsoft.com/office/drawing/2014/main" id="{943B03BF-510C-A462-F374-F09CB3A01B77}"/>
              </a:ext>
            </a:extLst>
          </p:cNvPr>
          <p:cNvSpPr>
            <a:spLocks noGrp="1"/>
          </p:cNvSpPr>
          <p:nvPr>
            <p:ph type="body" idx="1"/>
          </p:nvPr>
        </p:nvSpPr>
        <p:spPr>
          <a:xfrm>
            <a:off x="311700" y="1225225"/>
            <a:ext cx="8520600" cy="1072867"/>
          </a:xfrm>
        </p:spPr>
        <p:txBody>
          <a:bodyPr/>
          <a:lstStyle/>
          <a:p>
            <a:pPr marL="114300" indent="0">
              <a:buNone/>
            </a:pPr>
            <a:r>
              <a:rPr lang="en-US" dirty="0"/>
              <a:t>Install </a:t>
            </a:r>
            <a:r>
              <a:rPr lang="en-US" dirty="0">
                <a:hlinkClick r:id="rId2"/>
              </a:rPr>
              <a:t>Vue.js </a:t>
            </a:r>
            <a:r>
              <a:rPr lang="en-US" dirty="0" err="1">
                <a:hlinkClick r:id="rId2"/>
              </a:rPr>
              <a:t>devtools</a:t>
            </a:r>
            <a:r>
              <a:rPr lang="en-US" dirty="0">
                <a:hlinkClick r:id="rId2"/>
              </a:rPr>
              <a:t> </a:t>
            </a:r>
            <a:r>
              <a:rPr lang="en-US" dirty="0"/>
              <a:t>for chrome:</a:t>
            </a:r>
          </a:p>
          <a:p>
            <a:endParaRPr lang="en-US" dirty="0"/>
          </a:p>
          <a:p>
            <a:endParaRPr lang="en-US" dirty="0"/>
          </a:p>
        </p:txBody>
      </p:sp>
      <p:pic>
        <p:nvPicPr>
          <p:cNvPr id="6" name="Picture 5" descr="A search engine window with a white background&#10;&#10;Description automatically generated with medium confidence">
            <a:extLst>
              <a:ext uri="{FF2B5EF4-FFF2-40B4-BE49-F238E27FC236}">
                <a16:creationId xmlns:a16="http://schemas.microsoft.com/office/drawing/2014/main" id="{010E0E03-AA1E-8996-37C9-912EDA4FCF42}"/>
              </a:ext>
            </a:extLst>
          </p:cNvPr>
          <p:cNvPicPr>
            <a:picLocks noChangeAspect="1"/>
          </p:cNvPicPr>
          <p:nvPr/>
        </p:nvPicPr>
        <p:blipFill>
          <a:blip r:embed="rId3"/>
          <a:stretch>
            <a:fillRect/>
          </a:stretch>
        </p:blipFill>
        <p:spPr>
          <a:xfrm>
            <a:off x="311699" y="1970979"/>
            <a:ext cx="5214020" cy="1301031"/>
          </a:xfrm>
          <a:prstGeom prst="rect">
            <a:avLst/>
          </a:prstGeom>
        </p:spPr>
      </p:pic>
    </p:spTree>
    <p:extLst>
      <p:ext uri="{BB962C8B-B14F-4D97-AF65-F5344CB8AC3E}">
        <p14:creationId xmlns:p14="http://schemas.microsoft.com/office/powerpoint/2010/main" val="2216782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8FBE-B89E-0D1B-E994-E8ED39C24BF1}"/>
              </a:ext>
            </a:extLst>
          </p:cNvPr>
          <p:cNvSpPr>
            <a:spLocks noGrp="1"/>
          </p:cNvSpPr>
          <p:nvPr>
            <p:ph type="title"/>
          </p:nvPr>
        </p:nvSpPr>
        <p:spPr>
          <a:xfrm>
            <a:off x="311700" y="315925"/>
            <a:ext cx="8520600" cy="831300"/>
          </a:xfrm>
        </p:spPr>
        <p:txBody>
          <a:bodyPr wrap="square" anchor="ctr">
            <a:normAutofit/>
          </a:bodyPr>
          <a:lstStyle/>
          <a:p>
            <a:r>
              <a:rPr lang="en-US" dirty="0"/>
              <a:t>Install Node.js</a:t>
            </a:r>
          </a:p>
        </p:txBody>
      </p:sp>
      <p:sp>
        <p:nvSpPr>
          <p:cNvPr id="3" name="Text Placeholder 2">
            <a:extLst>
              <a:ext uri="{FF2B5EF4-FFF2-40B4-BE49-F238E27FC236}">
                <a16:creationId xmlns:a16="http://schemas.microsoft.com/office/drawing/2014/main" id="{CFC11F78-D082-4D94-FC04-A5DCAAEEC619}"/>
              </a:ext>
            </a:extLst>
          </p:cNvPr>
          <p:cNvSpPr>
            <a:spLocks noGrp="1"/>
          </p:cNvSpPr>
          <p:nvPr>
            <p:ph type="body" idx="4294967295"/>
          </p:nvPr>
        </p:nvSpPr>
        <p:spPr>
          <a:xfrm>
            <a:off x="311700" y="1337725"/>
            <a:ext cx="4069800" cy="3264408"/>
          </a:xfrm>
        </p:spPr>
        <p:txBody>
          <a:bodyPr anchor="t">
            <a:normAutofit/>
          </a:bodyPr>
          <a:lstStyle/>
          <a:p>
            <a:pPr marL="114300" indent="0">
              <a:lnSpc>
                <a:spcPct val="105000"/>
              </a:lnSpc>
              <a:spcAft>
                <a:spcPts val="600"/>
              </a:spcAft>
              <a:buClr>
                <a:srgbClr val="000000"/>
              </a:buClr>
              <a:buNone/>
            </a:pPr>
            <a:r>
              <a:rPr lang="en-US" sz="1400" dirty="0"/>
              <a:t>Download and install</a:t>
            </a:r>
            <a:r>
              <a:rPr lang="en-US" sz="1400" b="0" i="0" u="none" strike="noStrike" cap="none" dirty="0"/>
              <a:t> Node.js: </a:t>
            </a:r>
            <a:r>
              <a:rPr lang="en-US" sz="1400" b="0" i="0" u="none" strike="noStrike" cap="none" dirty="0">
                <a:hlinkClick r:id="rId2">
                  <a:extLst>
                    <a:ext uri="{A12FA001-AC4F-418D-AE19-62706E023703}">
                      <ahyp:hlinkClr xmlns:ahyp="http://schemas.microsoft.com/office/drawing/2018/hyperlinkcolor" val="tx"/>
                    </a:ext>
                  </a:extLst>
                </a:hlinkClick>
              </a:rPr>
              <a:t>https://nodejs.org/en</a:t>
            </a:r>
            <a:r>
              <a:rPr lang="en-US" sz="1400" b="0" i="0" u="none" strike="noStrike" cap="none" dirty="0"/>
              <a:t> </a:t>
            </a:r>
          </a:p>
          <a:p>
            <a:pPr marL="114300" indent="0">
              <a:lnSpc>
                <a:spcPct val="105000"/>
              </a:lnSpc>
              <a:spcAft>
                <a:spcPts val="600"/>
              </a:spcAft>
              <a:buClr>
                <a:srgbClr val="000000"/>
              </a:buClr>
              <a:buNone/>
            </a:pPr>
            <a:endParaRPr lang="en-US" sz="1400" b="0" i="0" u="none" strike="noStrike" cap="none" dirty="0"/>
          </a:p>
          <a:p>
            <a:pPr marL="114300" indent="0">
              <a:lnSpc>
                <a:spcPct val="105000"/>
              </a:lnSpc>
              <a:spcAft>
                <a:spcPts val="600"/>
              </a:spcAft>
              <a:buClr>
                <a:srgbClr val="000000"/>
              </a:buClr>
              <a:buNone/>
            </a:pPr>
            <a:r>
              <a:rPr lang="en-US" sz="1400" b="0" i="0" u="none" strike="noStrike" cap="none" dirty="0"/>
              <a:t>After Node.js is installed, open the terminal and </a:t>
            </a:r>
            <a:r>
              <a:rPr lang="en-US" sz="1400" dirty="0"/>
              <a:t>run the command: </a:t>
            </a:r>
          </a:p>
          <a:p>
            <a:pPr marL="114300" indent="0">
              <a:lnSpc>
                <a:spcPct val="105000"/>
              </a:lnSpc>
              <a:spcAft>
                <a:spcPts val="600"/>
              </a:spcAft>
              <a:buClr>
                <a:srgbClr val="000000"/>
              </a:buClr>
              <a:buNone/>
            </a:pPr>
            <a:r>
              <a:rPr lang="en-US" sz="1400" dirty="0">
                <a:latin typeface="Courier New" panose="02070309020205020404" pitchFamily="49" charset="0"/>
                <a:cs typeface="Courier New" panose="02070309020205020404" pitchFamily="49" charset="0"/>
              </a:rPr>
              <a:t>	</a:t>
            </a:r>
            <a:r>
              <a:rPr lang="en-US" sz="1400" dirty="0">
                <a:latin typeface="Open Sans" panose="020B0606030504020204" pitchFamily="34" charset="0"/>
                <a:ea typeface="Open Sans" panose="020B0606030504020204" pitchFamily="34" charset="0"/>
                <a:cs typeface="Open Sans" panose="020B0606030504020204" pitchFamily="34" charset="0"/>
              </a:rPr>
              <a:t>n</a:t>
            </a:r>
            <a:r>
              <a:rPr lang="en-US" sz="1400" b="0" i="0" u="none" strike="noStrike" cap="none" dirty="0">
                <a:latin typeface="Open Sans" panose="020B0606030504020204" pitchFamily="34" charset="0"/>
                <a:ea typeface="Open Sans" panose="020B0606030504020204" pitchFamily="34" charset="0"/>
                <a:cs typeface="Open Sans" panose="020B0606030504020204" pitchFamily="34" charset="0"/>
              </a:rPr>
              <a:t>ode -v</a:t>
            </a:r>
          </a:p>
          <a:p>
            <a:pPr marL="114300" indent="0">
              <a:lnSpc>
                <a:spcPct val="105000"/>
              </a:lnSpc>
              <a:spcAft>
                <a:spcPts val="600"/>
              </a:spcAft>
              <a:buClr>
                <a:srgbClr val="000000"/>
              </a:buClr>
              <a:buNone/>
            </a:pPr>
            <a:endParaRPr lang="en-US" sz="1400" b="0" i="0" u="none" strike="noStrike" cap="none" dirty="0"/>
          </a:p>
          <a:p>
            <a:pPr marL="114300" indent="0">
              <a:lnSpc>
                <a:spcPct val="105000"/>
              </a:lnSpc>
              <a:spcAft>
                <a:spcPts val="600"/>
              </a:spcAft>
              <a:buClr>
                <a:srgbClr val="000000"/>
              </a:buClr>
              <a:buNone/>
            </a:pPr>
            <a:r>
              <a:rPr lang="en-US" sz="1400" b="0" i="0" u="none" strike="noStrike" cap="none" dirty="0"/>
              <a:t>If the version appears, it means node was successfully installed </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b="0" i="0" u="none" strike="noStrike" cap="none" dirty="0"/>
              <a:t>Ensure that node version &gt;= 22.12.0</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endParaRPr lang="en-US" sz="1400" b="0" i="0" u="none" strike="noStrike" cap="none" dirty="0"/>
          </a:p>
          <a:p>
            <a:pPr marL="114300" indent="0">
              <a:lnSpc>
                <a:spcPct val="105000"/>
              </a:lnSpc>
              <a:spcAft>
                <a:spcPts val="600"/>
              </a:spcAft>
              <a:buClr>
                <a:srgbClr val="000000"/>
              </a:buClr>
              <a:buNone/>
            </a:pPr>
            <a:endParaRPr lang="en-US" sz="1400" b="0" i="0" u="none" strike="noStrike" cap="none" dirty="0"/>
          </a:p>
        </p:txBody>
      </p:sp>
      <p:sp>
        <p:nvSpPr>
          <p:cNvPr id="6" name="TextBox 5">
            <a:extLst>
              <a:ext uri="{FF2B5EF4-FFF2-40B4-BE49-F238E27FC236}">
                <a16:creationId xmlns:a16="http://schemas.microsoft.com/office/drawing/2014/main" id="{005EA487-DD79-C11A-DE73-B2E61C2761ED}"/>
              </a:ext>
            </a:extLst>
          </p:cNvPr>
          <p:cNvSpPr txBox="1"/>
          <p:nvPr/>
        </p:nvSpPr>
        <p:spPr>
          <a:xfrm>
            <a:off x="4693186" y="3933022"/>
            <a:ext cx="3481330" cy="646331"/>
          </a:xfrm>
          <a:prstGeom prst="rect">
            <a:avLst/>
          </a:prstGeom>
          <a:noFill/>
        </p:spPr>
        <p:txBody>
          <a:bodyPr wrap="square" rtlCol="0">
            <a:spAutoFit/>
          </a:bodyPr>
          <a:lstStyle/>
          <a:p>
            <a:r>
              <a:rPr lang="en-US" sz="1200" dirty="0">
                <a:latin typeface="Open Sans" panose="020B0606030504020204" pitchFamily="34" charset="0"/>
                <a:ea typeface="Open Sans" panose="020B0606030504020204" pitchFamily="34" charset="0"/>
                <a:cs typeface="Open Sans" panose="020B0606030504020204" pitchFamily="34" charset="0"/>
              </a:rPr>
              <a:t>Note: Node.js comes with NPM, which is a software package manager. NPM is needed to install </a:t>
            </a:r>
            <a:r>
              <a:rPr lang="en-US" sz="1200" dirty="0" err="1">
                <a:latin typeface="Open Sans" panose="020B0606030504020204" pitchFamily="34" charset="0"/>
                <a:ea typeface="Open Sans" panose="020B0606030504020204" pitchFamily="34" charset="0"/>
                <a:cs typeface="Open Sans" panose="020B0606030504020204" pitchFamily="34" charset="0"/>
              </a:rPr>
              <a:t>pnpm</a:t>
            </a:r>
            <a:r>
              <a:rPr lang="en-US" sz="1200" dirty="0">
                <a:latin typeface="Open Sans" panose="020B0606030504020204" pitchFamily="34" charset="0"/>
                <a:ea typeface="Open Sans" panose="020B0606030504020204" pitchFamily="34" charset="0"/>
                <a:cs typeface="Open Sans" panose="020B0606030504020204" pitchFamily="34" charset="0"/>
              </a:rPr>
              <a:t>, Vue CLI and other packages …</a:t>
            </a:r>
          </a:p>
        </p:txBody>
      </p:sp>
      <p:pic>
        <p:nvPicPr>
          <p:cNvPr id="7" name="Picture 6">
            <a:extLst>
              <a:ext uri="{FF2B5EF4-FFF2-40B4-BE49-F238E27FC236}">
                <a16:creationId xmlns:a16="http://schemas.microsoft.com/office/drawing/2014/main" id="{9E4DB814-E64B-5613-642D-75965227DCAF}"/>
              </a:ext>
            </a:extLst>
          </p:cNvPr>
          <p:cNvPicPr>
            <a:picLocks noChangeAspect="1"/>
          </p:cNvPicPr>
          <p:nvPr/>
        </p:nvPicPr>
        <p:blipFill>
          <a:blip r:embed="rId3"/>
          <a:stretch>
            <a:fillRect/>
          </a:stretch>
        </p:blipFill>
        <p:spPr>
          <a:xfrm>
            <a:off x="4762502" y="2130491"/>
            <a:ext cx="3048425" cy="819264"/>
          </a:xfrm>
          <a:prstGeom prst="rect">
            <a:avLst/>
          </a:prstGeom>
        </p:spPr>
      </p:pic>
    </p:spTree>
    <p:extLst>
      <p:ext uri="{BB962C8B-B14F-4D97-AF65-F5344CB8AC3E}">
        <p14:creationId xmlns:p14="http://schemas.microsoft.com/office/powerpoint/2010/main" val="3443452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3915D-E0C2-B7C2-6227-89A1BF71F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914BE-0E6E-661E-BE21-D5DFB0574BD2}"/>
              </a:ext>
            </a:extLst>
          </p:cNvPr>
          <p:cNvSpPr>
            <a:spLocks noGrp="1"/>
          </p:cNvSpPr>
          <p:nvPr>
            <p:ph type="title"/>
          </p:nvPr>
        </p:nvSpPr>
        <p:spPr>
          <a:xfrm>
            <a:off x="311700" y="315925"/>
            <a:ext cx="8520600" cy="831300"/>
          </a:xfrm>
        </p:spPr>
        <p:txBody>
          <a:bodyPr wrap="square" anchor="ctr">
            <a:normAutofit/>
          </a:bodyPr>
          <a:lstStyle/>
          <a:p>
            <a:r>
              <a:rPr lang="en-US" dirty="0"/>
              <a:t>Install </a:t>
            </a:r>
            <a:r>
              <a:rPr lang="en-US" dirty="0" err="1"/>
              <a:t>pnpm</a:t>
            </a:r>
            <a:endParaRPr lang="en-US" dirty="0"/>
          </a:p>
        </p:txBody>
      </p:sp>
      <p:sp>
        <p:nvSpPr>
          <p:cNvPr id="3" name="Text Placeholder 2">
            <a:extLst>
              <a:ext uri="{FF2B5EF4-FFF2-40B4-BE49-F238E27FC236}">
                <a16:creationId xmlns:a16="http://schemas.microsoft.com/office/drawing/2014/main" id="{9BA0DD9C-0247-EEA9-CAD8-543D10DFEA82}"/>
              </a:ext>
            </a:extLst>
          </p:cNvPr>
          <p:cNvSpPr>
            <a:spLocks noGrp="1"/>
          </p:cNvSpPr>
          <p:nvPr>
            <p:ph type="body" idx="4294967295"/>
          </p:nvPr>
        </p:nvSpPr>
        <p:spPr>
          <a:xfrm>
            <a:off x="311700" y="1337725"/>
            <a:ext cx="4069800" cy="3643066"/>
          </a:xfrm>
        </p:spPr>
        <p:txBody>
          <a:bodyPr anchor="t">
            <a:normAutofit fontScale="85000" lnSpcReduction="20000"/>
          </a:bodyPr>
          <a:lstStyle/>
          <a:p>
            <a:pPr marL="114300" indent="0">
              <a:lnSpc>
                <a:spcPct val="105000"/>
              </a:lnSpc>
              <a:spcAft>
                <a:spcPts val="600"/>
              </a:spcAft>
              <a:buClr>
                <a:srgbClr val="000000"/>
              </a:buClr>
              <a:buNone/>
            </a:pPr>
            <a:r>
              <a:rPr lang="en-SG" sz="1600" b="1" dirty="0" err="1">
                <a:latin typeface="Open Sans" panose="020B0606030504020204" pitchFamily="34" charset="0"/>
                <a:ea typeface="Open Sans" panose="020B0606030504020204" pitchFamily="34" charset="0"/>
                <a:cs typeface="Open Sans" panose="020B0606030504020204" pitchFamily="34" charset="0"/>
              </a:rPr>
              <a:t>pnpm</a:t>
            </a:r>
            <a:r>
              <a:rPr lang="en-SG" sz="1600" dirty="0">
                <a:latin typeface="Open Sans" panose="020B0606030504020204" pitchFamily="34" charset="0"/>
                <a:ea typeface="Open Sans" panose="020B0606030504020204" pitchFamily="34" charset="0"/>
                <a:cs typeface="Open Sans" panose="020B0606030504020204" pitchFamily="34" charset="0"/>
              </a:rPr>
              <a:t> (Performant </a:t>
            </a:r>
            <a:r>
              <a:rPr lang="en-SG" sz="1600" dirty="0" err="1">
                <a:latin typeface="Open Sans" panose="020B0606030504020204" pitchFamily="34" charset="0"/>
                <a:ea typeface="Open Sans" panose="020B0606030504020204" pitchFamily="34" charset="0"/>
                <a:cs typeface="Open Sans" panose="020B0606030504020204" pitchFamily="34" charset="0"/>
              </a:rPr>
              <a:t>npm</a:t>
            </a:r>
            <a:r>
              <a:rPr lang="en-SG" sz="1600" dirty="0">
                <a:latin typeface="Open Sans" panose="020B0606030504020204" pitchFamily="34" charset="0"/>
                <a:ea typeface="Open Sans" panose="020B0606030504020204" pitchFamily="34" charset="0"/>
                <a:cs typeface="Open Sans" panose="020B0606030504020204" pitchFamily="34" charset="0"/>
              </a:rPr>
              <a:t>) is a fast, highly efficient JavaScript package manager designed as a drop-in replacement for </a:t>
            </a:r>
            <a:r>
              <a:rPr lang="en-SG" sz="1600" dirty="0" err="1">
                <a:latin typeface="Open Sans" panose="020B0606030504020204" pitchFamily="34" charset="0"/>
                <a:ea typeface="Open Sans" panose="020B0606030504020204" pitchFamily="34" charset="0"/>
                <a:cs typeface="Open Sans" panose="020B0606030504020204" pitchFamily="34" charset="0"/>
              </a:rPr>
              <a:t>npm</a:t>
            </a:r>
            <a:r>
              <a:rPr lang="en-SG" sz="1600" dirty="0">
                <a:latin typeface="Open Sans" panose="020B0606030504020204" pitchFamily="34" charset="0"/>
                <a:ea typeface="Open Sans" panose="020B0606030504020204" pitchFamily="34" charset="0"/>
                <a:cs typeface="Open Sans" panose="020B0606030504020204" pitchFamily="34" charset="0"/>
              </a:rPr>
              <a:t> and Yarn. It solves disk-bloat and slow installations by using a global, content-addressable storage to share packages across all projects, linking them via hard links and </a:t>
            </a:r>
            <a:r>
              <a:rPr lang="en-SG" sz="1600" dirty="0" err="1">
                <a:latin typeface="Open Sans" panose="020B0606030504020204" pitchFamily="34" charset="0"/>
                <a:ea typeface="Open Sans" panose="020B0606030504020204" pitchFamily="34" charset="0"/>
                <a:cs typeface="Open Sans" panose="020B0606030504020204" pitchFamily="34" charset="0"/>
              </a:rPr>
              <a:t>symlinks</a:t>
            </a:r>
            <a:endParaRPr lang="en-SG" sz="1600"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SG" sz="1600"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r>
              <a:rPr lang="en-SG" sz="1600" dirty="0">
                <a:latin typeface="Open Sans" panose="020B0606030504020204" pitchFamily="34" charset="0"/>
                <a:ea typeface="Open Sans" panose="020B0606030504020204" pitchFamily="34" charset="0"/>
                <a:cs typeface="Open Sans" panose="020B0606030504020204" pitchFamily="34" charset="0"/>
              </a:rPr>
              <a:t>Open your terminal (Command Prompt,  PowerShell, or Mac terminal) and run:</a:t>
            </a:r>
            <a:r>
              <a:rPr lang="en-US" sz="1600" dirty="0">
                <a:latin typeface="Open Sans" panose="020B0606030504020204" pitchFamily="34" charset="0"/>
                <a:ea typeface="Open Sans" panose="020B0606030504020204" pitchFamily="34" charset="0"/>
                <a:cs typeface="Open Sans" panose="020B0606030504020204" pitchFamily="34" charset="0"/>
              </a:rPr>
              <a:t>	</a:t>
            </a:r>
          </a:p>
          <a:p>
            <a:pPr marL="114300" indent="0">
              <a:lnSpc>
                <a:spcPct val="105000"/>
              </a:lnSpc>
              <a:spcAft>
                <a:spcPts val="600"/>
              </a:spcAft>
              <a:buClr>
                <a:srgbClr val="000000"/>
              </a:buClr>
              <a:buNone/>
            </a:pP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npm</a:t>
            </a:r>
            <a:r>
              <a:rPr lang="en-US" sz="1600" dirty="0">
                <a:latin typeface="Open Sans" panose="020B0606030504020204" pitchFamily="34" charset="0"/>
                <a:ea typeface="Open Sans" panose="020B0606030504020204" pitchFamily="34" charset="0"/>
                <a:cs typeface="Open Sans" panose="020B0606030504020204" pitchFamily="34" charset="0"/>
              </a:rPr>
              <a:t> install -g </a:t>
            </a:r>
            <a:r>
              <a:rPr lang="en-US" sz="1600" dirty="0" err="1">
                <a:latin typeface="Open Sans" panose="020B0606030504020204" pitchFamily="34" charset="0"/>
                <a:ea typeface="Open Sans" panose="020B0606030504020204" pitchFamily="34" charset="0"/>
                <a:cs typeface="Open Sans" panose="020B0606030504020204" pitchFamily="34" charset="0"/>
              </a:rPr>
              <a:t>pnpm</a:t>
            </a:r>
            <a:endParaRPr lang="en-US" sz="1600" b="0" i="0" u="none" strike="noStrike" cap="none"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sz="1600" b="0" i="0" u="none" strike="noStrike" cap="none"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r>
              <a:rPr lang="en-US" sz="1600" b="0" i="0" u="none" strike="noStrike" cap="none" dirty="0">
                <a:latin typeface="Open Sans" panose="020B0606030504020204" pitchFamily="34" charset="0"/>
                <a:ea typeface="Open Sans" panose="020B0606030504020204" pitchFamily="34" charset="0"/>
                <a:cs typeface="Open Sans" panose="020B0606030504020204" pitchFamily="34" charset="0"/>
              </a:rPr>
              <a:t>Check if it was successfully installed:</a:t>
            </a:r>
          </a:p>
          <a:p>
            <a:pPr marL="114300" indent="0">
              <a:lnSpc>
                <a:spcPct val="105000"/>
              </a:lnSpc>
              <a:spcAft>
                <a:spcPts val="600"/>
              </a:spcAft>
              <a:buClr>
                <a:srgbClr val="000000"/>
              </a:buClr>
              <a:buNone/>
            </a:pP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pnpm</a:t>
            </a:r>
            <a:r>
              <a:rPr lang="en-US" sz="1600" dirty="0">
                <a:latin typeface="Open Sans" panose="020B0606030504020204" pitchFamily="34" charset="0"/>
                <a:ea typeface="Open Sans" panose="020B0606030504020204" pitchFamily="34" charset="0"/>
                <a:cs typeface="Open Sans" panose="020B0606030504020204" pitchFamily="34" charset="0"/>
              </a:rPr>
              <a:t> -v</a:t>
            </a:r>
            <a:endParaRPr lang="en-US" sz="1600" b="0" i="0" u="none" strike="noStrike" cap="none"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sz="1400" b="0" i="0" u="none" strike="noStrike" cap="none" dirty="0"/>
          </a:p>
        </p:txBody>
      </p:sp>
      <p:pic>
        <p:nvPicPr>
          <p:cNvPr id="7" name="Picture 6">
            <a:extLst>
              <a:ext uri="{FF2B5EF4-FFF2-40B4-BE49-F238E27FC236}">
                <a16:creationId xmlns:a16="http://schemas.microsoft.com/office/drawing/2014/main" id="{045CE00B-1A2C-1D62-9097-8D19E6B2FE60}"/>
              </a:ext>
            </a:extLst>
          </p:cNvPr>
          <p:cNvPicPr>
            <a:picLocks noChangeAspect="1"/>
          </p:cNvPicPr>
          <p:nvPr/>
        </p:nvPicPr>
        <p:blipFill>
          <a:blip r:embed="rId2"/>
          <a:stretch>
            <a:fillRect/>
          </a:stretch>
        </p:blipFill>
        <p:spPr>
          <a:xfrm>
            <a:off x="4463497" y="1847727"/>
            <a:ext cx="3791479" cy="1457528"/>
          </a:xfrm>
          <a:prstGeom prst="rect">
            <a:avLst/>
          </a:prstGeom>
        </p:spPr>
      </p:pic>
      <p:pic>
        <p:nvPicPr>
          <p:cNvPr id="9" name="Picture 8">
            <a:extLst>
              <a:ext uri="{FF2B5EF4-FFF2-40B4-BE49-F238E27FC236}">
                <a16:creationId xmlns:a16="http://schemas.microsoft.com/office/drawing/2014/main" id="{756F7B21-780D-F38C-39F5-BF0A4FB93403}"/>
              </a:ext>
            </a:extLst>
          </p:cNvPr>
          <p:cNvPicPr>
            <a:picLocks noChangeAspect="1"/>
          </p:cNvPicPr>
          <p:nvPr/>
        </p:nvPicPr>
        <p:blipFill>
          <a:blip r:embed="rId3"/>
          <a:stretch>
            <a:fillRect/>
          </a:stretch>
        </p:blipFill>
        <p:spPr>
          <a:xfrm>
            <a:off x="4463497" y="3605651"/>
            <a:ext cx="2953162" cy="800212"/>
          </a:xfrm>
          <a:prstGeom prst="rect">
            <a:avLst/>
          </a:prstGeom>
        </p:spPr>
      </p:pic>
    </p:spTree>
    <p:extLst>
      <p:ext uri="{BB962C8B-B14F-4D97-AF65-F5344CB8AC3E}">
        <p14:creationId xmlns:p14="http://schemas.microsoft.com/office/powerpoint/2010/main" val="633048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4266D-F56B-D097-B86F-B15E89106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6B6AC-3B35-B302-03BD-8E675E3AFEF9}"/>
              </a:ext>
            </a:extLst>
          </p:cNvPr>
          <p:cNvSpPr>
            <a:spLocks noGrp="1"/>
          </p:cNvSpPr>
          <p:nvPr>
            <p:ph type="title"/>
          </p:nvPr>
        </p:nvSpPr>
        <p:spPr>
          <a:xfrm>
            <a:off x="311700" y="315925"/>
            <a:ext cx="8520600" cy="831300"/>
          </a:xfrm>
        </p:spPr>
        <p:txBody>
          <a:bodyPr wrap="square" anchor="ctr">
            <a:normAutofit/>
          </a:bodyPr>
          <a:lstStyle/>
          <a:p>
            <a:r>
              <a:rPr lang="en-US" dirty="0"/>
              <a:t>Quick Start (1)</a:t>
            </a:r>
          </a:p>
        </p:txBody>
      </p:sp>
      <p:sp>
        <p:nvSpPr>
          <p:cNvPr id="3" name="Text Placeholder 2">
            <a:extLst>
              <a:ext uri="{FF2B5EF4-FFF2-40B4-BE49-F238E27FC236}">
                <a16:creationId xmlns:a16="http://schemas.microsoft.com/office/drawing/2014/main" id="{9E0B0DB0-D3CD-B21C-2205-637E43EDFF7F}"/>
              </a:ext>
            </a:extLst>
          </p:cNvPr>
          <p:cNvSpPr>
            <a:spLocks noGrp="1"/>
          </p:cNvSpPr>
          <p:nvPr>
            <p:ph type="body" idx="4294967295"/>
          </p:nvPr>
        </p:nvSpPr>
        <p:spPr>
          <a:xfrm>
            <a:off x="311700" y="1337724"/>
            <a:ext cx="4069800" cy="3691475"/>
          </a:xfrm>
        </p:spPr>
        <p:txBody>
          <a:bodyPr anchor="t">
            <a:normAutofit/>
          </a:bodyPr>
          <a:lstStyle/>
          <a:p>
            <a:pPr marL="114300" indent="0">
              <a:lnSpc>
                <a:spcPct val="105000"/>
              </a:lnSpc>
              <a:spcAft>
                <a:spcPts val="600"/>
              </a:spcAft>
              <a:buClr>
                <a:srgbClr val="000000"/>
              </a:buClr>
              <a:buNone/>
            </a:pPr>
            <a:r>
              <a:rPr lang="en-US" sz="1400" dirty="0"/>
              <a:t>Let’s create a Vue app.</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In the terminal, run</a:t>
            </a:r>
          </a:p>
          <a:p>
            <a:pPr marL="114300" indent="0">
              <a:lnSpc>
                <a:spcPct val="105000"/>
              </a:lnSpc>
              <a:spcAft>
                <a:spcPts val="600"/>
              </a:spcAft>
              <a:buClr>
                <a:srgbClr val="000000"/>
              </a:buClr>
              <a:buNone/>
            </a:pPr>
            <a:r>
              <a:rPr lang="en-US" sz="1400" dirty="0">
                <a:latin typeface="Open Sans" panose="020B0606030504020204" pitchFamily="34" charset="0"/>
                <a:ea typeface="Open Sans" panose="020B0606030504020204" pitchFamily="34" charset="0"/>
                <a:cs typeface="Open Sans" panose="020B0606030504020204" pitchFamily="34" charset="0"/>
              </a:rPr>
              <a:t>	</a:t>
            </a:r>
            <a:r>
              <a:rPr lang="en-US" sz="1400" dirty="0" err="1">
                <a:latin typeface="Open Sans" panose="020B0606030504020204" pitchFamily="34" charset="0"/>
                <a:ea typeface="Open Sans" panose="020B0606030504020204" pitchFamily="34" charset="0"/>
                <a:cs typeface="Open Sans" panose="020B0606030504020204" pitchFamily="34" charset="0"/>
              </a:rPr>
              <a:t>pnpm</a:t>
            </a:r>
            <a:r>
              <a:rPr lang="en-US" sz="1400" dirty="0">
                <a:latin typeface="Open Sans" panose="020B0606030504020204" pitchFamily="34" charset="0"/>
                <a:ea typeface="Open Sans" panose="020B0606030504020204" pitchFamily="34" charset="0"/>
                <a:cs typeface="Open Sans" panose="020B0606030504020204" pitchFamily="34" charset="0"/>
              </a:rPr>
              <a:t> create </a:t>
            </a:r>
            <a:r>
              <a:rPr lang="en-US" sz="1400" dirty="0" err="1">
                <a:latin typeface="Open Sans" panose="020B0606030504020204" pitchFamily="34" charset="0"/>
                <a:ea typeface="Open Sans" panose="020B0606030504020204" pitchFamily="34" charset="0"/>
                <a:cs typeface="Open Sans" panose="020B0606030504020204" pitchFamily="34" charset="0"/>
              </a:rPr>
              <a:t>vue@latest</a:t>
            </a:r>
            <a:endParaRPr lang="en-US" sz="1400"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Project name -&gt; </a:t>
            </a:r>
            <a:r>
              <a:rPr lang="en-US" sz="1400" dirty="0" err="1"/>
              <a:t>vue</a:t>
            </a:r>
            <a:r>
              <a:rPr lang="en-US" sz="1400" dirty="0"/>
              <a:t>-example</a:t>
            </a:r>
          </a:p>
          <a:p>
            <a:pPr marL="114300" indent="0">
              <a:lnSpc>
                <a:spcPct val="105000"/>
              </a:lnSpc>
              <a:spcAft>
                <a:spcPts val="600"/>
              </a:spcAft>
              <a:buClr>
                <a:srgbClr val="000000"/>
              </a:buClr>
              <a:buNone/>
            </a:pPr>
            <a:r>
              <a:rPr lang="en-US" sz="1400" dirty="0"/>
              <a:t>Use TypeScript? No</a:t>
            </a:r>
          </a:p>
          <a:p>
            <a:pPr marL="114300" indent="0">
              <a:lnSpc>
                <a:spcPct val="105000"/>
              </a:lnSpc>
              <a:spcAft>
                <a:spcPts val="600"/>
              </a:spcAft>
              <a:buClr>
                <a:srgbClr val="000000"/>
              </a:buClr>
              <a:buNone/>
            </a:pPr>
            <a:r>
              <a:rPr lang="en-US" sz="1400" dirty="0"/>
              <a:t>Select features -&gt; press spacebar to select:</a:t>
            </a:r>
          </a:p>
          <a:p>
            <a:pPr marL="571500" lvl="1" indent="0">
              <a:lnSpc>
                <a:spcPct val="105000"/>
              </a:lnSpc>
              <a:spcBef>
                <a:spcPts val="0"/>
              </a:spcBef>
              <a:buClr>
                <a:srgbClr val="000000"/>
              </a:buClr>
              <a:buNone/>
            </a:pPr>
            <a:r>
              <a:rPr lang="en-US" dirty="0"/>
              <a:t>Router, </a:t>
            </a:r>
            <a:r>
              <a:rPr lang="en-US" dirty="0" err="1"/>
              <a:t>Pinia</a:t>
            </a:r>
            <a:r>
              <a:rPr lang="en-US" dirty="0"/>
              <a:t>, </a:t>
            </a:r>
            <a:r>
              <a:rPr lang="en-US" dirty="0" err="1"/>
              <a:t>Vitest</a:t>
            </a:r>
            <a:r>
              <a:rPr lang="en-US" dirty="0"/>
              <a:t>, End-to-End Testing, Linter, Prettier  </a:t>
            </a:r>
          </a:p>
          <a:p>
            <a:pPr marL="571500" lvl="1" indent="0">
              <a:lnSpc>
                <a:spcPct val="105000"/>
              </a:lnSpc>
              <a:spcBef>
                <a:spcPts val="0"/>
              </a:spcBef>
              <a:buClr>
                <a:srgbClr val="000000"/>
              </a:buClr>
              <a:buNone/>
            </a:pPr>
            <a:endParaRPr lang="en-US" dirty="0"/>
          </a:p>
          <a:p>
            <a:pPr marL="571500" lvl="1" indent="0">
              <a:lnSpc>
                <a:spcPct val="105000"/>
              </a:lnSpc>
              <a:spcBef>
                <a:spcPts val="0"/>
              </a:spcBef>
              <a:buClr>
                <a:srgbClr val="000000"/>
              </a:buClr>
              <a:buNone/>
            </a:pPr>
            <a:r>
              <a:rPr lang="en-US" dirty="0"/>
              <a:t>Press Enter</a:t>
            </a:r>
            <a:endParaRPr lang="en-US"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pic>
        <p:nvPicPr>
          <p:cNvPr id="9" name="Picture 8">
            <a:extLst>
              <a:ext uri="{FF2B5EF4-FFF2-40B4-BE49-F238E27FC236}">
                <a16:creationId xmlns:a16="http://schemas.microsoft.com/office/drawing/2014/main" id="{8484C381-B60C-06FC-9335-D88E91B06B2D}"/>
              </a:ext>
            </a:extLst>
          </p:cNvPr>
          <p:cNvPicPr>
            <a:picLocks noChangeAspect="1"/>
          </p:cNvPicPr>
          <p:nvPr/>
        </p:nvPicPr>
        <p:blipFill>
          <a:blip r:embed="rId3"/>
          <a:stretch>
            <a:fillRect/>
          </a:stretch>
        </p:blipFill>
        <p:spPr>
          <a:xfrm>
            <a:off x="4823405" y="1060911"/>
            <a:ext cx="3962953" cy="3477110"/>
          </a:xfrm>
          <a:prstGeom prst="rect">
            <a:avLst/>
          </a:prstGeom>
        </p:spPr>
      </p:pic>
      <p:grpSp>
        <p:nvGrpSpPr>
          <p:cNvPr id="17" name="Group 16">
            <a:extLst>
              <a:ext uri="{FF2B5EF4-FFF2-40B4-BE49-F238E27FC236}">
                <a16:creationId xmlns:a16="http://schemas.microsoft.com/office/drawing/2014/main" id="{979F4463-D897-B036-EE3A-326612FF761B}"/>
              </a:ext>
            </a:extLst>
          </p:cNvPr>
          <p:cNvGrpSpPr/>
          <p:nvPr/>
        </p:nvGrpSpPr>
        <p:grpSpPr>
          <a:xfrm>
            <a:off x="4027470" y="3021727"/>
            <a:ext cx="735032" cy="1399337"/>
            <a:chOff x="4073190" y="2892056"/>
            <a:chExt cx="735032" cy="1399337"/>
          </a:xfrm>
        </p:grpSpPr>
        <p:cxnSp>
          <p:nvCxnSpPr>
            <p:cNvPr id="10" name="Straight Arrow Connector 9">
              <a:extLst>
                <a:ext uri="{FF2B5EF4-FFF2-40B4-BE49-F238E27FC236}">
                  <a16:creationId xmlns:a16="http://schemas.microsoft.com/office/drawing/2014/main" id="{F6DE5D58-F5D2-746F-C5BD-DEEADC802500}"/>
                </a:ext>
              </a:extLst>
            </p:cNvPr>
            <p:cNvCxnSpPr>
              <a:cxnSpLocks/>
              <a:endCxn id="12" idx="1"/>
            </p:cNvCxnSpPr>
            <p:nvPr/>
          </p:nvCxnSpPr>
          <p:spPr>
            <a:xfrm>
              <a:off x="4073190" y="3591725"/>
              <a:ext cx="59991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79B751A9-5968-964B-51B6-5E99B1E6C2D8}"/>
                </a:ext>
              </a:extLst>
            </p:cNvPr>
            <p:cNvSpPr/>
            <p:nvPr/>
          </p:nvSpPr>
          <p:spPr>
            <a:xfrm>
              <a:off x="4673100" y="2892056"/>
              <a:ext cx="135122" cy="1399337"/>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grpSp>
      <p:sp>
        <p:nvSpPr>
          <p:cNvPr id="20" name="TextBox 19">
            <a:extLst>
              <a:ext uri="{FF2B5EF4-FFF2-40B4-BE49-F238E27FC236}">
                <a16:creationId xmlns:a16="http://schemas.microsoft.com/office/drawing/2014/main" id="{76FC3FAC-6A2D-5E9C-715F-B4FFD21ABE0E}"/>
              </a:ext>
            </a:extLst>
          </p:cNvPr>
          <p:cNvSpPr txBox="1"/>
          <p:nvPr/>
        </p:nvSpPr>
        <p:spPr>
          <a:xfrm>
            <a:off x="5464829" y="4795283"/>
            <a:ext cx="3435032" cy="307777"/>
          </a:xfrm>
          <a:prstGeom prst="rect">
            <a:avLst/>
          </a:prstGeom>
          <a:noFill/>
        </p:spPr>
        <p:txBody>
          <a:bodyPr wrap="square" rtlCol="0">
            <a:spAutoFit/>
          </a:bodyPr>
          <a:lstStyle/>
          <a:p>
            <a:r>
              <a:rPr lang="en-US" dirty="0">
                <a:hlinkClick r:id="rId2"/>
              </a:rPr>
              <a:t>follow this guide for detail</a:t>
            </a:r>
            <a:endParaRPr lang="en-US" dirty="0"/>
          </a:p>
        </p:txBody>
      </p:sp>
    </p:spTree>
    <p:extLst>
      <p:ext uri="{BB962C8B-B14F-4D97-AF65-F5344CB8AC3E}">
        <p14:creationId xmlns:p14="http://schemas.microsoft.com/office/powerpoint/2010/main" val="2739529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1AEE-E798-AD84-1D6E-882D7983D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10543-EBAA-2C06-7500-0AA87BC6E76D}"/>
              </a:ext>
            </a:extLst>
          </p:cNvPr>
          <p:cNvSpPr>
            <a:spLocks noGrp="1"/>
          </p:cNvSpPr>
          <p:nvPr>
            <p:ph type="title"/>
          </p:nvPr>
        </p:nvSpPr>
        <p:spPr>
          <a:xfrm>
            <a:off x="311700" y="315925"/>
            <a:ext cx="8520600" cy="831300"/>
          </a:xfrm>
        </p:spPr>
        <p:txBody>
          <a:bodyPr wrap="square" anchor="ctr">
            <a:normAutofit/>
          </a:bodyPr>
          <a:lstStyle/>
          <a:p>
            <a:r>
              <a:rPr lang="en-US" dirty="0"/>
              <a:t>Quick Start (2)</a:t>
            </a:r>
          </a:p>
        </p:txBody>
      </p:sp>
      <p:sp>
        <p:nvSpPr>
          <p:cNvPr id="3" name="Text Placeholder 2">
            <a:extLst>
              <a:ext uri="{FF2B5EF4-FFF2-40B4-BE49-F238E27FC236}">
                <a16:creationId xmlns:a16="http://schemas.microsoft.com/office/drawing/2014/main" id="{6FA19089-B880-46DB-DAB5-DC67CF879E0F}"/>
              </a:ext>
            </a:extLst>
          </p:cNvPr>
          <p:cNvSpPr>
            <a:spLocks noGrp="1"/>
          </p:cNvSpPr>
          <p:nvPr>
            <p:ph type="body" idx="4294967295"/>
          </p:nvPr>
        </p:nvSpPr>
        <p:spPr>
          <a:xfrm>
            <a:off x="311700" y="1337725"/>
            <a:ext cx="5239246" cy="2054062"/>
          </a:xfrm>
        </p:spPr>
        <p:txBody>
          <a:bodyPr anchor="t">
            <a:normAutofit/>
          </a:bodyPr>
          <a:lstStyle/>
          <a:p>
            <a:pPr marL="114300" indent="0">
              <a:lnSpc>
                <a:spcPct val="105000"/>
              </a:lnSpc>
              <a:spcAft>
                <a:spcPts val="600"/>
              </a:spcAft>
              <a:buClr>
                <a:srgbClr val="000000"/>
              </a:buClr>
              <a:buNone/>
            </a:pPr>
            <a:r>
              <a:rPr lang="en-US" sz="1400" dirty="0"/>
              <a:t>Select an End-to-End testing framework: Playwright</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Select experimental features … : none</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Skip all example code … ? No</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endParaRPr lang="en-US" sz="1400" dirty="0"/>
          </a:p>
          <a:p>
            <a:pPr marL="571500" lvl="1"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EA4673F3-BA73-9C6C-90E0-FB8F75FEA7D3}"/>
              </a:ext>
            </a:extLst>
          </p:cNvPr>
          <p:cNvPicPr>
            <a:picLocks noChangeAspect="1"/>
          </p:cNvPicPr>
          <p:nvPr/>
        </p:nvPicPr>
        <p:blipFill>
          <a:blip r:embed="rId3"/>
          <a:stretch>
            <a:fillRect/>
          </a:stretch>
        </p:blipFill>
        <p:spPr>
          <a:xfrm>
            <a:off x="2183095" y="3255731"/>
            <a:ext cx="5315692" cy="1571844"/>
          </a:xfrm>
          <a:prstGeom prst="rect">
            <a:avLst/>
          </a:prstGeom>
        </p:spPr>
      </p:pic>
    </p:spTree>
    <p:extLst>
      <p:ext uri="{BB962C8B-B14F-4D97-AF65-F5344CB8AC3E}">
        <p14:creationId xmlns:p14="http://schemas.microsoft.com/office/powerpoint/2010/main" val="2261270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AA5F3-68C1-5234-B2D9-652B4F797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53E8E-E10B-8CEE-0C57-CD145DB8FF7E}"/>
              </a:ext>
            </a:extLst>
          </p:cNvPr>
          <p:cNvSpPr>
            <a:spLocks noGrp="1"/>
          </p:cNvSpPr>
          <p:nvPr>
            <p:ph type="title"/>
          </p:nvPr>
        </p:nvSpPr>
        <p:spPr>
          <a:xfrm>
            <a:off x="311700" y="315925"/>
            <a:ext cx="8520600" cy="831300"/>
          </a:xfrm>
        </p:spPr>
        <p:txBody>
          <a:bodyPr wrap="square" anchor="ctr">
            <a:normAutofit/>
          </a:bodyPr>
          <a:lstStyle/>
          <a:p>
            <a:r>
              <a:rPr lang="en-US" dirty="0"/>
              <a:t>Quick Start (3)</a:t>
            </a:r>
          </a:p>
        </p:txBody>
      </p:sp>
      <p:sp>
        <p:nvSpPr>
          <p:cNvPr id="3" name="Text Placeholder 2">
            <a:extLst>
              <a:ext uri="{FF2B5EF4-FFF2-40B4-BE49-F238E27FC236}">
                <a16:creationId xmlns:a16="http://schemas.microsoft.com/office/drawing/2014/main" id="{84251491-E065-9CD4-EE6D-91F04E7A11E3}"/>
              </a:ext>
            </a:extLst>
          </p:cNvPr>
          <p:cNvSpPr>
            <a:spLocks noGrp="1"/>
          </p:cNvSpPr>
          <p:nvPr>
            <p:ph type="body" idx="4294967295"/>
          </p:nvPr>
        </p:nvSpPr>
        <p:spPr>
          <a:xfrm>
            <a:off x="311700" y="1337724"/>
            <a:ext cx="4069800" cy="3643065"/>
          </a:xfrm>
        </p:spPr>
        <p:txBody>
          <a:bodyPr anchor="t">
            <a:normAutofit fontScale="70000" lnSpcReduction="20000"/>
          </a:bodyPr>
          <a:lstStyle/>
          <a:p>
            <a:pPr marL="114300" indent="0">
              <a:lnSpc>
                <a:spcPct val="105000"/>
              </a:lnSpc>
              <a:spcAft>
                <a:spcPts val="600"/>
              </a:spcAft>
              <a:buClr>
                <a:srgbClr val="000000"/>
              </a:buClr>
              <a:buNone/>
            </a:pPr>
            <a:r>
              <a:rPr lang="en-US" sz="1900" dirty="0"/>
              <a:t>Vue project should be created in your workspace. </a:t>
            </a:r>
          </a:p>
          <a:p>
            <a:pPr marL="114300" indent="0">
              <a:lnSpc>
                <a:spcPct val="105000"/>
              </a:lnSpc>
              <a:spcAft>
                <a:spcPts val="600"/>
              </a:spcAft>
              <a:buClr>
                <a:srgbClr val="000000"/>
              </a:buClr>
              <a:buNone/>
            </a:pPr>
            <a:endParaRPr lang="en-US" sz="1900" dirty="0"/>
          </a:p>
          <a:p>
            <a:pPr marL="114300" indent="0">
              <a:lnSpc>
                <a:spcPct val="105000"/>
              </a:lnSpc>
              <a:spcAft>
                <a:spcPts val="600"/>
              </a:spcAft>
              <a:buClr>
                <a:srgbClr val="000000"/>
              </a:buClr>
              <a:buNone/>
            </a:pPr>
            <a:r>
              <a:rPr lang="en-US" sz="1900" dirty="0"/>
              <a:t>Run the following commands (one by one):</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cd </a:t>
            </a:r>
            <a:r>
              <a:rPr lang="en-US" sz="1900" dirty="0" err="1">
                <a:latin typeface="Open Sans" panose="020B0606030504020204" pitchFamily="34" charset="0"/>
                <a:ea typeface="Open Sans" panose="020B0606030504020204" pitchFamily="34" charset="0"/>
                <a:cs typeface="Open Sans" panose="020B0606030504020204" pitchFamily="34" charset="0"/>
              </a:rPr>
              <a:t>vue</a:t>
            </a:r>
            <a:r>
              <a:rPr lang="en-US" sz="1900" dirty="0">
                <a:latin typeface="Open Sans" panose="020B0606030504020204" pitchFamily="34" charset="0"/>
                <a:ea typeface="Open Sans" panose="020B0606030504020204" pitchFamily="34" charset="0"/>
                <a:cs typeface="Open Sans" panose="020B0606030504020204" pitchFamily="34" charset="0"/>
              </a:rPr>
              <a:t>-example</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a:t>
            </a:r>
            <a:r>
              <a:rPr lang="en-US" sz="1900" dirty="0" err="1">
                <a:latin typeface="Open Sans" panose="020B0606030504020204" pitchFamily="34" charset="0"/>
                <a:ea typeface="Open Sans" panose="020B0606030504020204" pitchFamily="34" charset="0"/>
                <a:cs typeface="Open Sans" panose="020B0606030504020204" pitchFamily="34" charset="0"/>
              </a:rPr>
              <a:t>pnpm</a:t>
            </a:r>
            <a:r>
              <a:rPr lang="en-US" sz="1900" dirty="0">
                <a:latin typeface="Open Sans" panose="020B0606030504020204" pitchFamily="34" charset="0"/>
                <a:ea typeface="Open Sans" panose="020B0606030504020204" pitchFamily="34" charset="0"/>
                <a:cs typeface="Open Sans" panose="020B0606030504020204" pitchFamily="34" charset="0"/>
              </a:rPr>
              <a:t> install</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a:t>
            </a:r>
            <a:r>
              <a:rPr lang="en-US" sz="1900" dirty="0" err="1">
                <a:latin typeface="Open Sans" panose="020B0606030504020204" pitchFamily="34" charset="0"/>
                <a:ea typeface="Open Sans" panose="020B0606030504020204" pitchFamily="34" charset="0"/>
                <a:cs typeface="Open Sans" panose="020B0606030504020204" pitchFamily="34" charset="0"/>
              </a:rPr>
              <a:t>pnpm</a:t>
            </a:r>
            <a:r>
              <a:rPr lang="en-US" sz="1900" dirty="0">
                <a:latin typeface="Open Sans" panose="020B0606030504020204" pitchFamily="34" charset="0"/>
                <a:ea typeface="Open Sans" panose="020B0606030504020204" pitchFamily="34" charset="0"/>
                <a:cs typeface="Open Sans" panose="020B0606030504020204" pitchFamily="34" charset="0"/>
              </a:rPr>
              <a:t> format</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a:t>
            </a:r>
            <a:r>
              <a:rPr lang="en-US" sz="1900" dirty="0" err="1">
                <a:latin typeface="Open Sans" panose="020B0606030504020204" pitchFamily="34" charset="0"/>
                <a:ea typeface="Open Sans" panose="020B0606030504020204" pitchFamily="34" charset="0"/>
                <a:cs typeface="Open Sans" panose="020B0606030504020204" pitchFamily="34" charset="0"/>
              </a:rPr>
              <a:t>pnpm</a:t>
            </a:r>
            <a:r>
              <a:rPr lang="en-US" sz="1900" dirty="0">
                <a:latin typeface="Open Sans" panose="020B0606030504020204" pitchFamily="34" charset="0"/>
                <a:ea typeface="Open Sans" panose="020B0606030504020204" pitchFamily="34" charset="0"/>
                <a:cs typeface="Open Sans" panose="020B0606030504020204" pitchFamily="34" charset="0"/>
              </a:rPr>
              <a:t> dev</a:t>
            </a:r>
          </a:p>
          <a:p>
            <a:pPr marL="114300" indent="0">
              <a:lnSpc>
                <a:spcPct val="105000"/>
              </a:lnSpc>
              <a:spcAft>
                <a:spcPts val="600"/>
              </a:spcAft>
              <a:buClr>
                <a:srgbClr val="000000"/>
              </a:buClr>
              <a:buNone/>
            </a:pPr>
            <a:endParaRPr lang="en-US" sz="1900" dirty="0"/>
          </a:p>
          <a:p>
            <a:pPr marL="114300" indent="0">
              <a:lnSpc>
                <a:spcPct val="105000"/>
              </a:lnSpc>
              <a:spcAft>
                <a:spcPts val="600"/>
              </a:spcAft>
              <a:buClr>
                <a:srgbClr val="000000"/>
              </a:buClr>
              <a:buNone/>
            </a:pPr>
            <a:r>
              <a:rPr lang="en-US" sz="1900" dirty="0"/>
              <a:t>After running the above commands, </a:t>
            </a:r>
            <a:r>
              <a:rPr lang="en-US" sz="1900" dirty="0" err="1"/>
              <a:t>vue</a:t>
            </a:r>
            <a:r>
              <a:rPr lang="en-US" sz="1900" dirty="0"/>
              <a:t> app is deployed. Click on this link to view the app in the browser</a:t>
            </a:r>
          </a:p>
          <a:p>
            <a:pPr marL="114300" indent="0">
              <a:lnSpc>
                <a:spcPct val="105000"/>
              </a:lnSpc>
              <a:spcAft>
                <a:spcPts val="600"/>
              </a:spcAft>
              <a:buClr>
                <a:srgbClr val="000000"/>
              </a:buClr>
              <a:buNone/>
            </a:pPr>
            <a:endParaRPr lang="en-US" sz="1900" dirty="0"/>
          </a:p>
          <a:p>
            <a:pPr marL="114300" indent="0">
              <a:lnSpc>
                <a:spcPct val="105000"/>
              </a:lnSpc>
              <a:spcAft>
                <a:spcPts val="600"/>
              </a:spcAft>
              <a:buClr>
                <a:srgbClr val="000000"/>
              </a:buClr>
              <a:buNone/>
            </a:pPr>
            <a:r>
              <a:rPr lang="en-US" sz="1900" dirty="0"/>
              <a:t>Note: the link with “/___</a:t>
            </a:r>
            <a:r>
              <a:rPr lang="en-US" sz="1900" dirty="0" err="1"/>
              <a:t>devtools</a:t>
            </a:r>
            <a:r>
              <a:rPr lang="en-US" sz="1900" dirty="0"/>
              <a:t>__/”  will open the Vue dev console (for debugging purposes).</a:t>
            </a: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4F59A04B-567A-1645-CE4D-4C763D614C5C}"/>
              </a:ext>
            </a:extLst>
          </p:cNvPr>
          <p:cNvPicPr>
            <a:picLocks noChangeAspect="1"/>
          </p:cNvPicPr>
          <p:nvPr/>
        </p:nvPicPr>
        <p:blipFill>
          <a:blip r:embed="rId3"/>
          <a:stretch>
            <a:fillRect/>
          </a:stretch>
        </p:blipFill>
        <p:spPr>
          <a:xfrm>
            <a:off x="4381499" y="1448521"/>
            <a:ext cx="4618451" cy="1352170"/>
          </a:xfrm>
          <a:prstGeom prst="rect">
            <a:avLst/>
          </a:prstGeom>
        </p:spPr>
      </p:pic>
      <p:pic>
        <p:nvPicPr>
          <p:cNvPr id="8" name="Picture 7">
            <a:extLst>
              <a:ext uri="{FF2B5EF4-FFF2-40B4-BE49-F238E27FC236}">
                <a16:creationId xmlns:a16="http://schemas.microsoft.com/office/drawing/2014/main" id="{B2F42FCB-6AE3-B443-C056-F264CA6E3A58}"/>
              </a:ext>
            </a:extLst>
          </p:cNvPr>
          <p:cNvPicPr>
            <a:picLocks noChangeAspect="1"/>
          </p:cNvPicPr>
          <p:nvPr/>
        </p:nvPicPr>
        <p:blipFill>
          <a:blip r:embed="rId4"/>
          <a:stretch>
            <a:fillRect/>
          </a:stretch>
        </p:blipFill>
        <p:spPr>
          <a:xfrm>
            <a:off x="4381500" y="3045239"/>
            <a:ext cx="4618451" cy="1284710"/>
          </a:xfrm>
          <a:prstGeom prst="rect">
            <a:avLst/>
          </a:prstGeom>
        </p:spPr>
      </p:pic>
      <p:cxnSp>
        <p:nvCxnSpPr>
          <p:cNvPr id="9" name="Straight Arrow Connector 8">
            <a:extLst>
              <a:ext uri="{FF2B5EF4-FFF2-40B4-BE49-F238E27FC236}">
                <a16:creationId xmlns:a16="http://schemas.microsoft.com/office/drawing/2014/main" id="{25B5C938-11AA-D71C-B19F-3240F6FA4F74}"/>
              </a:ext>
            </a:extLst>
          </p:cNvPr>
          <p:cNvCxnSpPr>
            <a:cxnSpLocks/>
          </p:cNvCxnSpPr>
          <p:nvPr/>
        </p:nvCxnSpPr>
        <p:spPr>
          <a:xfrm>
            <a:off x="3238052" y="3313355"/>
            <a:ext cx="1918739" cy="2060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BDBB61D-A33C-E043-715C-3AAD1A8031B1}"/>
              </a:ext>
            </a:extLst>
          </p:cNvPr>
          <p:cNvCxnSpPr>
            <a:cxnSpLocks/>
          </p:cNvCxnSpPr>
          <p:nvPr/>
        </p:nvCxnSpPr>
        <p:spPr>
          <a:xfrm>
            <a:off x="4001845" y="3709876"/>
            <a:ext cx="1463290" cy="540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F5764BF-DDC4-8E2A-072F-42363C0FC2C4}"/>
              </a:ext>
            </a:extLst>
          </p:cNvPr>
          <p:cNvSpPr txBox="1"/>
          <p:nvPr/>
        </p:nvSpPr>
        <p:spPr>
          <a:xfrm>
            <a:off x="4572000" y="4388586"/>
            <a:ext cx="4184725" cy="606000"/>
          </a:xfrm>
          <a:prstGeom prst="rect">
            <a:avLst/>
          </a:prstGeom>
          <a:noFill/>
        </p:spPr>
        <p:txBody>
          <a:bodyPr wrap="square" rtlCol="0">
            <a:spAutoFit/>
          </a:bodyPr>
          <a:lstStyle/>
          <a:p>
            <a:pPr marL="114300">
              <a:lnSpc>
                <a:spcPct val="105000"/>
              </a:lnSpc>
              <a:spcAft>
                <a:spcPts val="600"/>
              </a:spcAft>
            </a:pPr>
            <a:r>
              <a:rPr lang="en-US" dirty="0"/>
              <a:t>To stop the server, press </a:t>
            </a:r>
            <a:r>
              <a:rPr lang="en-US" b="1" dirty="0"/>
              <a:t>Ctrl + c </a:t>
            </a:r>
          </a:p>
          <a:p>
            <a:pPr marL="114300">
              <a:lnSpc>
                <a:spcPct val="105000"/>
              </a:lnSpc>
              <a:spcAft>
                <a:spcPts val="600"/>
              </a:spcAft>
            </a:pPr>
            <a:r>
              <a:rPr lang="en-US" dirty="0"/>
              <a:t>To start again, run the command </a:t>
            </a:r>
            <a:r>
              <a:rPr lang="en-US" b="1" dirty="0" err="1"/>
              <a:t>pnpm</a:t>
            </a:r>
            <a:r>
              <a:rPr lang="en-US" b="1" dirty="0"/>
              <a:t> dev</a:t>
            </a:r>
          </a:p>
        </p:txBody>
      </p:sp>
    </p:spTree>
    <p:extLst>
      <p:ext uri="{BB962C8B-B14F-4D97-AF65-F5344CB8AC3E}">
        <p14:creationId xmlns:p14="http://schemas.microsoft.com/office/powerpoint/2010/main" val="3892840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EE13A-E0EC-623E-B38B-F277E18E5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1CE88-E3FB-F675-7730-F10B814AC2FE}"/>
              </a:ext>
            </a:extLst>
          </p:cNvPr>
          <p:cNvSpPr>
            <a:spLocks noGrp="1"/>
          </p:cNvSpPr>
          <p:nvPr>
            <p:ph type="title"/>
          </p:nvPr>
        </p:nvSpPr>
        <p:spPr>
          <a:xfrm>
            <a:off x="311700" y="315925"/>
            <a:ext cx="8520600" cy="831300"/>
          </a:xfrm>
        </p:spPr>
        <p:txBody>
          <a:bodyPr wrap="square" anchor="ctr">
            <a:normAutofit/>
          </a:bodyPr>
          <a:lstStyle/>
          <a:p>
            <a:r>
              <a:rPr lang="en" dirty="0"/>
              <a:t>Structure of a Vue App (1)</a:t>
            </a:r>
            <a:endParaRPr lang="en-US" dirty="0"/>
          </a:p>
        </p:txBody>
      </p:sp>
      <p:sp>
        <p:nvSpPr>
          <p:cNvPr id="3" name="Text Placeholder 2">
            <a:extLst>
              <a:ext uri="{FF2B5EF4-FFF2-40B4-BE49-F238E27FC236}">
                <a16:creationId xmlns:a16="http://schemas.microsoft.com/office/drawing/2014/main" id="{B854B623-C490-316B-180B-40B6BDFD93DE}"/>
              </a:ext>
            </a:extLst>
          </p:cNvPr>
          <p:cNvSpPr>
            <a:spLocks noGrp="1"/>
          </p:cNvSpPr>
          <p:nvPr>
            <p:ph type="body" idx="4294967295"/>
          </p:nvPr>
        </p:nvSpPr>
        <p:spPr>
          <a:xfrm>
            <a:off x="311699" y="1227555"/>
            <a:ext cx="7382192" cy="3753400"/>
          </a:xfrm>
        </p:spPr>
        <p:txBody>
          <a:bodyPr anchor="t">
            <a:normAutofit fontScale="92500"/>
          </a:bodyPr>
          <a:lstStyle/>
          <a:p>
            <a:pPr marL="114300" indent="0">
              <a:lnSpc>
                <a:spcPct val="105000"/>
              </a:lnSpc>
              <a:spcAft>
                <a:spcPts val="600"/>
              </a:spcAft>
              <a:buClr>
                <a:srgbClr val="000000"/>
              </a:buClr>
              <a:buNone/>
            </a:pPr>
            <a:r>
              <a:rPr lang="en-SG" sz="1400" b="1" dirty="0" err="1"/>
              <a:t>node_modules</a:t>
            </a:r>
            <a:r>
              <a:rPr lang="en-SG" sz="1400" b="1" dirty="0"/>
              <a:t>/</a:t>
            </a:r>
            <a:r>
              <a:rPr lang="en-SG" sz="1400" dirty="0"/>
              <a:t>: stores all external libraries and dependencies your project needs to function. This is auto-generated by your package manager and shouldn't be edited directly</a:t>
            </a:r>
            <a:endParaRPr lang="en-US" sz="1400" b="0" i="0" u="none" strike="noStrike" cap="none" dirty="0">
              <a:solidFill>
                <a:schemeClr val="tx1"/>
              </a:solidFill>
              <a:latin typeface="Courier New" panose="02070309020205020404" pitchFamily="49" charset="0"/>
              <a:cs typeface="Courier New" panose="02070309020205020404" pitchFamily="49" charset="0"/>
            </a:endParaRPr>
          </a:p>
          <a:p>
            <a:pPr marL="114300" indent="0">
              <a:lnSpc>
                <a:spcPct val="105000"/>
              </a:lnSpc>
              <a:spcAft>
                <a:spcPts val="600"/>
              </a:spcAft>
              <a:buClr>
                <a:srgbClr val="000000"/>
              </a:buClr>
              <a:buNone/>
            </a:pPr>
            <a:r>
              <a:rPr lang="en-SG" sz="1400" b="1" dirty="0"/>
              <a:t>public/</a:t>
            </a:r>
            <a:r>
              <a:rPr lang="en-SG" sz="1400" dirty="0"/>
              <a:t>: stores static assets like favicon.ico</a:t>
            </a:r>
            <a:endParaRPr lang="en-SG" sz="1400" b="1" dirty="0"/>
          </a:p>
          <a:p>
            <a:pPr marL="114300" indent="0">
              <a:lnSpc>
                <a:spcPct val="105000"/>
              </a:lnSpc>
              <a:spcAft>
                <a:spcPts val="600"/>
              </a:spcAft>
              <a:buClr>
                <a:srgbClr val="000000"/>
              </a:buClr>
              <a:buNone/>
            </a:pPr>
            <a:r>
              <a:rPr lang="en-SG" sz="1400" b="1" dirty="0" err="1"/>
              <a:t>src</a:t>
            </a:r>
            <a:r>
              <a:rPr lang="en-SG" sz="1400" b="1" dirty="0"/>
              <a:t>/</a:t>
            </a:r>
            <a:r>
              <a:rPr lang="en-SG" sz="1400" dirty="0"/>
              <a:t>: The heart of your application. This contains:</a:t>
            </a:r>
          </a:p>
          <a:p>
            <a:pPr marL="571500" lvl="1" indent="0">
              <a:lnSpc>
                <a:spcPct val="105000"/>
              </a:lnSpc>
              <a:spcBef>
                <a:spcPts val="0"/>
              </a:spcBef>
              <a:buClr>
                <a:srgbClr val="000000"/>
              </a:buClr>
              <a:buNone/>
            </a:pPr>
            <a:r>
              <a:rPr lang="en-SG" b="1" dirty="0"/>
              <a:t>assets/</a:t>
            </a:r>
            <a:r>
              <a:rPr lang="en-SG" dirty="0"/>
              <a:t>:  files that need to be processed by your bundler, such as raw CSS/SCSS files, fonts, and images.</a:t>
            </a:r>
          </a:p>
          <a:p>
            <a:pPr marL="571500" lvl="1" indent="0">
              <a:lnSpc>
                <a:spcPct val="105000"/>
              </a:lnSpc>
              <a:spcBef>
                <a:spcPts val="0"/>
              </a:spcBef>
              <a:buClr>
                <a:srgbClr val="000000"/>
              </a:buClr>
              <a:buNone/>
            </a:pPr>
            <a:r>
              <a:rPr lang="en-SG" b="1" dirty="0"/>
              <a:t>components/</a:t>
            </a:r>
            <a:r>
              <a:rPr lang="en-SG" dirty="0"/>
              <a:t>: contains modular, reusable pieces of your UI components (e.g., headers, footers, navigation bars, and cards). </a:t>
            </a:r>
          </a:p>
          <a:p>
            <a:pPr marL="571500" lvl="1" indent="0">
              <a:lnSpc>
                <a:spcPct val="105000"/>
              </a:lnSpc>
              <a:spcBef>
                <a:spcPts val="0"/>
              </a:spcBef>
              <a:buClr>
                <a:srgbClr val="000000"/>
              </a:buClr>
              <a:buNone/>
            </a:pPr>
            <a:r>
              <a:rPr lang="en-SG" b="1" dirty="0"/>
              <a:t>router/</a:t>
            </a:r>
            <a:r>
              <a:rPr lang="en-SG" dirty="0"/>
              <a:t>: contains routing configuration (index.js) that maps URL paths to specific views.</a:t>
            </a:r>
          </a:p>
          <a:p>
            <a:pPr marL="571500" lvl="1" indent="0">
              <a:lnSpc>
                <a:spcPct val="105000"/>
              </a:lnSpc>
              <a:spcBef>
                <a:spcPts val="0"/>
              </a:spcBef>
              <a:buClr>
                <a:srgbClr val="000000"/>
              </a:buClr>
              <a:buNone/>
            </a:pPr>
            <a:r>
              <a:rPr lang="en-SG" b="1" dirty="0"/>
              <a:t>stores/</a:t>
            </a:r>
            <a:r>
              <a:rPr lang="en-SG" dirty="0"/>
              <a:t>: holds state management logic (using </a:t>
            </a:r>
            <a:r>
              <a:rPr lang="en-SG" b="1" dirty="0" err="1"/>
              <a:t>Pinia</a:t>
            </a:r>
            <a:r>
              <a:rPr lang="en-SG" dirty="0"/>
              <a:t>) for centralized data sharing across your SPA.</a:t>
            </a:r>
          </a:p>
          <a:p>
            <a:pPr marL="571500" lvl="1" indent="0">
              <a:lnSpc>
                <a:spcPct val="105000"/>
              </a:lnSpc>
              <a:spcBef>
                <a:spcPts val="0"/>
              </a:spcBef>
              <a:buClr>
                <a:srgbClr val="000000"/>
              </a:buClr>
              <a:buNone/>
            </a:pPr>
            <a:r>
              <a:rPr lang="en-SG" b="1" dirty="0"/>
              <a:t>views/ (or pages/)</a:t>
            </a:r>
            <a:r>
              <a:rPr lang="en-SG" dirty="0"/>
              <a:t>: Contains components that represent full pages or major UI sections, typically mapped to routing paths (e.g., </a:t>
            </a:r>
            <a:r>
              <a:rPr lang="en-SG" dirty="0" err="1"/>
              <a:t>Home.vue</a:t>
            </a:r>
            <a:r>
              <a:rPr lang="en-SG" dirty="0"/>
              <a:t>, </a:t>
            </a:r>
            <a:r>
              <a:rPr lang="en-SG" dirty="0" err="1"/>
              <a:t>About.vue</a:t>
            </a:r>
            <a:r>
              <a:rPr lang="en-SG" dirty="0"/>
              <a:t>).</a:t>
            </a:r>
            <a:endParaRPr lang="en-SG" b="1" dirty="0"/>
          </a:p>
          <a:p>
            <a:pPr marL="571500" lvl="1" indent="0">
              <a:lnSpc>
                <a:spcPct val="105000"/>
              </a:lnSpc>
              <a:spcBef>
                <a:spcPts val="0"/>
              </a:spcBef>
              <a:buClr>
                <a:srgbClr val="000000"/>
              </a:buClr>
              <a:buNone/>
            </a:pPr>
            <a:r>
              <a:rPr lang="en-SG" dirty="0"/>
              <a:t>Additionally you may create </a:t>
            </a:r>
            <a:r>
              <a:rPr lang="en-SG" b="1" dirty="0"/>
              <a:t>utils/ (or helpers/) </a:t>
            </a:r>
            <a:r>
              <a:rPr lang="en-SG" dirty="0"/>
              <a:t>folder to store miscellaneous helper functions, such as date formatters or math calculators, used throughout the app</a:t>
            </a:r>
            <a:endParaRPr lang="en-SG" sz="1000" dirty="0"/>
          </a:p>
        </p:txBody>
      </p:sp>
      <p:pic>
        <p:nvPicPr>
          <p:cNvPr id="8" name="Picture 7">
            <a:extLst>
              <a:ext uri="{FF2B5EF4-FFF2-40B4-BE49-F238E27FC236}">
                <a16:creationId xmlns:a16="http://schemas.microsoft.com/office/drawing/2014/main" id="{5943EA18-F483-170C-F771-1607C60A9799}"/>
              </a:ext>
            </a:extLst>
          </p:cNvPr>
          <p:cNvPicPr>
            <a:picLocks noChangeAspect="1"/>
          </p:cNvPicPr>
          <p:nvPr/>
        </p:nvPicPr>
        <p:blipFill>
          <a:blip r:embed="rId2"/>
          <a:stretch>
            <a:fillRect/>
          </a:stretch>
        </p:blipFill>
        <p:spPr>
          <a:xfrm>
            <a:off x="7761634" y="0"/>
            <a:ext cx="1070666" cy="5143500"/>
          </a:xfrm>
          <a:prstGeom prst="rect">
            <a:avLst/>
          </a:prstGeom>
        </p:spPr>
      </p:pic>
    </p:spTree>
    <p:extLst>
      <p:ext uri="{BB962C8B-B14F-4D97-AF65-F5344CB8AC3E}">
        <p14:creationId xmlns:p14="http://schemas.microsoft.com/office/powerpoint/2010/main" val="1514938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63050-C0CB-E322-638D-D1CC49BB6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70D96-742C-C0C8-AD1D-051B6683FF9C}"/>
              </a:ext>
            </a:extLst>
          </p:cNvPr>
          <p:cNvSpPr>
            <a:spLocks noGrp="1"/>
          </p:cNvSpPr>
          <p:nvPr>
            <p:ph type="title"/>
          </p:nvPr>
        </p:nvSpPr>
        <p:spPr>
          <a:xfrm>
            <a:off x="311700" y="315925"/>
            <a:ext cx="8520600" cy="831300"/>
          </a:xfrm>
        </p:spPr>
        <p:txBody>
          <a:bodyPr wrap="square" anchor="ctr">
            <a:normAutofit/>
          </a:bodyPr>
          <a:lstStyle/>
          <a:p>
            <a:r>
              <a:rPr lang="en" dirty="0"/>
              <a:t>Structure of a Vue App (2)</a:t>
            </a:r>
            <a:endParaRPr lang="en-US" dirty="0"/>
          </a:p>
        </p:txBody>
      </p:sp>
      <p:sp>
        <p:nvSpPr>
          <p:cNvPr id="3" name="Text Placeholder 2">
            <a:extLst>
              <a:ext uri="{FF2B5EF4-FFF2-40B4-BE49-F238E27FC236}">
                <a16:creationId xmlns:a16="http://schemas.microsoft.com/office/drawing/2014/main" id="{FBA0BCDA-1EA5-702C-084D-4E04B0AADFB9}"/>
              </a:ext>
            </a:extLst>
          </p:cNvPr>
          <p:cNvSpPr>
            <a:spLocks noGrp="1"/>
          </p:cNvSpPr>
          <p:nvPr>
            <p:ph type="body" idx="4294967295"/>
          </p:nvPr>
        </p:nvSpPr>
        <p:spPr>
          <a:xfrm>
            <a:off x="311699" y="1227555"/>
            <a:ext cx="7382192" cy="3753400"/>
          </a:xfrm>
        </p:spPr>
        <p:txBody>
          <a:bodyPr anchor="t">
            <a:normAutofit/>
          </a:bodyPr>
          <a:lstStyle/>
          <a:p>
            <a:pPr marL="114300" indent="0">
              <a:lnSpc>
                <a:spcPct val="105000"/>
              </a:lnSpc>
              <a:spcAft>
                <a:spcPts val="600"/>
              </a:spcAft>
              <a:buClr>
                <a:srgbClr val="000000"/>
              </a:buClr>
              <a:buNone/>
            </a:pPr>
            <a:r>
              <a:rPr lang="en-US" sz="1400" b="1" dirty="0">
                <a:solidFill>
                  <a:schemeClr val="tx1"/>
                </a:solidFill>
              </a:rPr>
              <a:t>index.html</a:t>
            </a:r>
            <a:r>
              <a:rPr lang="en-US" sz="1400" dirty="0">
                <a:solidFill>
                  <a:schemeClr val="tx1"/>
                </a:solidFill>
              </a:rPr>
              <a:t>: the landing page of your web app. It is also the only .html page (Single Page App). Notice that it</a:t>
            </a:r>
          </a:p>
          <a:p>
            <a:pPr>
              <a:lnSpc>
                <a:spcPct val="105000"/>
              </a:lnSpc>
              <a:spcAft>
                <a:spcPts val="600"/>
              </a:spcAft>
              <a:buClr>
                <a:srgbClr val="000000"/>
              </a:buClr>
              <a:buFont typeface="Arial" panose="020B0604020202020204" pitchFamily="34" charset="0"/>
              <a:buChar char="•"/>
            </a:pPr>
            <a:r>
              <a:rPr lang="en-US" sz="1400" dirty="0">
                <a:solidFill>
                  <a:schemeClr val="tx1"/>
                </a:solidFill>
              </a:rPr>
              <a:t>contains &lt;div&gt; element with id “app</a:t>
            </a:r>
            <a:r>
              <a:rPr lang="en-US" sz="1300" dirty="0">
                <a:solidFill>
                  <a:schemeClr val="tx1"/>
                </a:solidFill>
              </a:rPr>
              <a:t>”. This is where all the contents (Vue components) will be loaded </a:t>
            </a:r>
          </a:p>
          <a:p>
            <a:pPr>
              <a:lnSpc>
                <a:spcPct val="105000"/>
              </a:lnSpc>
              <a:spcAft>
                <a:spcPts val="600"/>
              </a:spcAft>
              <a:buClr>
                <a:srgbClr val="000000"/>
              </a:buClr>
              <a:buFont typeface="Arial" panose="020B0604020202020204" pitchFamily="34" charset="0"/>
              <a:buChar char="•"/>
            </a:pPr>
            <a:r>
              <a:rPr lang="en-US" sz="1400" dirty="0">
                <a:solidFill>
                  <a:schemeClr val="tx1"/>
                </a:solidFill>
              </a:rPr>
              <a:t>imports “main.js” file</a:t>
            </a:r>
          </a:p>
          <a:p>
            <a:pPr>
              <a:lnSpc>
                <a:spcPct val="105000"/>
              </a:lnSpc>
              <a:spcAft>
                <a:spcPts val="600"/>
              </a:spcAft>
              <a:buClr>
                <a:srgbClr val="000000"/>
              </a:buClr>
              <a:buFont typeface="Arial" panose="020B0604020202020204" pitchFamily="34" charset="0"/>
              <a:buChar char="•"/>
            </a:pPr>
            <a:endParaRPr lang="en-US" sz="1400" dirty="0">
              <a:solidFill>
                <a:schemeClr val="tx1"/>
              </a:solidFill>
            </a:endParaRPr>
          </a:p>
          <a:p>
            <a:pPr marL="114300" indent="0">
              <a:lnSpc>
                <a:spcPct val="105000"/>
              </a:lnSpc>
              <a:spcAft>
                <a:spcPts val="600"/>
              </a:spcAft>
              <a:buClr>
                <a:srgbClr val="000000"/>
              </a:buClr>
              <a:buNone/>
            </a:pPr>
            <a:r>
              <a:rPr lang="en-US" sz="1400" b="1" dirty="0">
                <a:solidFill>
                  <a:schemeClr val="tx1"/>
                </a:solidFill>
              </a:rPr>
              <a:t>main.js: </a:t>
            </a:r>
            <a:r>
              <a:rPr lang="en-US" sz="1400" dirty="0">
                <a:solidFill>
                  <a:schemeClr val="tx1"/>
                </a:solidFill>
              </a:rPr>
              <a:t>imports libraries and Vue components; initialize Vue app instance (</a:t>
            </a:r>
            <a:r>
              <a:rPr lang="en-US" sz="1400" dirty="0" err="1">
                <a:solidFill>
                  <a:schemeClr val="tx1"/>
                </a:solidFill>
              </a:rPr>
              <a:t>App.vue</a:t>
            </a:r>
            <a:r>
              <a:rPr lang="en-US" sz="1400" dirty="0">
                <a:solidFill>
                  <a:schemeClr val="tx1"/>
                </a:solidFill>
              </a:rPr>
              <a:t>) and attaches it to the DOM (&lt;div id=‘app’&gt;&lt;/div&gt;) in </a:t>
            </a:r>
            <a:r>
              <a:rPr lang="en-US" sz="1400" dirty="0" err="1">
                <a:solidFill>
                  <a:schemeClr val="tx1"/>
                </a:solidFill>
              </a:rPr>
              <a:t>index.html</a:t>
            </a:r>
            <a:endParaRPr lang="en-US" sz="1400" dirty="0">
              <a:solidFill>
                <a:schemeClr val="tx1"/>
              </a:solidFill>
            </a:endParaRPr>
          </a:p>
          <a:p>
            <a:pPr marL="114300" indent="0">
              <a:lnSpc>
                <a:spcPct val="105000"/>
              </a:lnSpc>
              <a:spcAft>
                <a:spcPts val="600"/>
              </a:spcAft>
              <a:buClr>
                <a:srgbClr val="000000"/>
              </a:buClr>
              <a:buNone/>
            </a:pPr>
            <a:endParaRPr lang="en-US" sz="1400" dirty="0">
              <a:solidFill>
                <a:schemeClr val="tx1"/>
              </a:solidFill>
              <a:latin typeface="Courier New" panose="02070309020205020404" pitchFamily="49" charset="0"/>
              <a:cs typeface="Courier New" panose="02070309020205020404" pitchFamily="49" charset="0"/>
            </a:endParaRPr>
          </a:p>
          <a:p>
            <a:pPr marL="114300" indent="0">
              <a:lnSpc>
                <a:spcPct val="105000"/>
              </a:lnSpc>
              <a:spcAft>
                <a:spcPts val="600"/>
              </a:spcAft>
              <a:buClr>
                <a:srgbClr val="000000"/>
              </a:buClr>
              <a:buNone/>
            </a:pPr>
            <a:r>
              <a:rPr lang="en-US" sz="1400" b="1" dirty="0" err="1">
                <a:solidFill>
                  <a:schemeClr val="tx1"/>
                </a:solidFill>
              </a:rPr>
              <a:t>App.vue</a:t>
            </a:r>
            <a:r>
              <a:rPr lang="en-US" sz="1400" b="1" dirty="0">
                <a:solidFill>
                  <a:schemeClr val="tx1"/>
                </a:solidFill>
              </a:rPr>
              <a:t>:</a:t>
            </a:r>
            <a:r>
              <a:rPr lang="en-US" sz="1400" dirty="0">
                <a:solidFill>
                  <a:schemeClr val="tx1"/>
                </a:solidFill>
              </a:rPr>
              <a:t> the master/root component. All other components are typically nested inside this single-file component.</a:t>
            </a:r>
          </a:p>
          <a:p>
            <a:pPr marL="114300" indent="0">
              <a:lnSpc>
                <a:spcPct val="105000"/>
              </a:lnSpc>
              <a:spcAft>
                <a:spcPts val="600"/>
              </a:spcAft>
              <a:buClr>
                <a:srgbClr val="000000"/>
              </a:buClr>
              <a:buNone/>
            </a:pPr>
            <a:endParaRPr lang="en-US" sz="1400" dirty="0">
              <a:solidFill>
                <a:schemeClr val="tx1"/>
              </a:solidFill>
            </a:endParaRPr>
          </a:p>
        </p:txBody>
      </p:sp>
      <p:pic>
        <p:nvPicPr>
          <p:cNvPr id="8" name="Picture 7">
            <a:extLst>
              <a:ext uri="{FF2B5EF4-FFF2-40B4-BE49-F238E27FC236}">
                <a16:creationId xmlns:a16="http://schemas.microsoft.com/office/drawing/2014/main" id="{4C8042B3-DC32-0FC0-80F4-237EC75AD38D}"/>
              </a:ext>
            </a:extLst>
          </p:cNvPr>
          <p:cNvPicPr>
            <a:picLocks noChangeAspect="1"/>
          </p:cNvPicPr>
          <p:nvPr/>
        </p:nvPicPr>
        <p:blipFill>
          <a:blip r:embed="rId2"/>
          <a:stretch>
            <a:fillRect/>
          </a:stretch>
        </p:blipFill>
        <p:spPr>
          <a:xfrm>
            <a:off x="7761634" y="0"/>
            <a:ext cx="1070666" cy="5143500"/>
          </a:xfrm>
          <a:prstGeom prst="rect">
            <a:avLst/>
          </a:prstGeom>
        </p:spPr>
      </p:pic>
    </p:spTree>
    <p:extLst>
      <p:ext uri="{BB962C8B-B14F-4D97-AF65-F5344CB8AC3E}">
        <p14:creationId xmlns:p14="http://schemas.microsoft.com/office/powerpoint/2010/main" val="2357585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ECD29-CE50-E408-B91F-0D1701B58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2E189-B618-F779-4BE0-F2CBA36894C3}"/>
              </a:ext>
            </a:extLst>
          </p:cNvPr>
          <p:cNvSpPr>
            <a:spLocks noGrp="1"/>
          </p:cNvSpPr>
          <p:nvPr>
            <p:ph type="title"/>
          </p:nvPr>
        </p:nvSpPr>
        <p:spPr>
          <a:xfrm>
            <a:off x="311700" y="315925"/>
            <a:ext cx="8520600" cy="831300"/>
          </a:xfrm>
        </p:spPr>
        <p:txBody>
          <a:bodyPr wrap="square" anchor="ctr">
            <a:normAutofit/>
          </a:bodyPr>
          <a:lstStyle/>
          <a:p>
            <a:r>
              <a:rPr lang="en" dirty="0"/>
              <a:t>Structure of a Vue App (3)</a:t>
            </a:r>
            <a:endParaRPr lang="en-US" dirty="0"/>
          </a:p>
        </p:txBody>
      </p:sp>
      <p:sp>
        <p:nvSpPr>
          <p:cNvPr id="3" name="Text Placeholder 2">
            <a:extLst>
              <a:ext uri="{FF2B5EF4-FFF2-40B4-BE49-F238E27FC236}">
                <a16:creationId xmlns:a16="http://schemas.microsoft.com/office/drawing/2014/main" id="{A5AC75AA-6172-4615-D4C4-07F8CD749C68}"/>
              </a:ext>
            </a:extLst>
          </p:cNvPr>
          <p:cNvSpPr>
            <a:spLocks noGrp="1"/>
          </p:cNvSpPr>
          <p:nvPr>
            <p:ph type="body" idx="4294967295"/>
          </p:nvPr>
        </p:nvSpPr>
        <p:spPr>
          <a:xfrm>
            <a:off x="311699" y="1227555"/>
            <a:ext cx="7382192" cy="3753400"/>
          </a:xfrm>
        </p:spPr>
        <p:txBody>
          <a:bodyPr anchor="t">
            <a:normAutofit fontScale="92500" lnSpcReduction="10000"/>
          </a:bodyPr>
          <a:lstStyle/>
          <a:p>
            <a:pPr marL="114300" indent="0">
              <a:lnSpc>
                <a:spcPct val="105000"/>
              </a:lnSpc>
              <a:spcAft>
                <a:spcPts val="600"/>
              </a:spcAft>
              <a:buClr>
                <a:srgbClr val="000000"/>
              </a:buClr>
              <a:buNone/>
            </a:pPr>
            <a:r>
              <a:rPr lang="en-US" sz="1400" dirty="0">
                <a:solidFill>
                  <a:schemeClr val="tx1"/>
                </a:solidFill>
              </a:rPr>
              <a:t>Following are configuration files that we don’t usually need to bother with:</a:t>
            </a:r>
          </a:p>
          <a:p>
            <a:pPr marL="114300" indent="0">
              <a:lnSpc>
                <a:spcPct val="105000"/>
              </a:lnSpc>
              <a:spcAft>
                <a:spcPts val="600"/>
              </a:spcAft>
              <a:buClr>
                <a:srgbClr val="000000"/>
              </a:buClr>
              <a:buNone/>
            </a:pPr>
            <a:endParaRPr lang="en-US" sz="1400" dirty="0">
              <a:solidFill>
                <a:schemeClr val="tx1"/>
              </a:solidFill>
            </a:endParaRPr>
          </a:p>
          <a:p>
            <a:pPr marL="114300" indent="0">
              <a:lnSpc>
                <a:spcPct val="105000"/>
              </a:lnSpc>
              <a:spcAft>
                <a:spcPts val="600"/>
              </a:spcAft>
              <a:buClr>
                <a:srgbClr val="000000"/>
              </a:buClr>
              <a:buNone/>
            </a:pPr>
            <a:r>
              <a:rPr lang="en-US" sz="1400" b="1" dirty="0" err="1">
                <a:solidFill>
                  <a:schemeClr val="tx1"/>
                </a:solidFill>
              </a:rPr>
              <a:t>package.json</a:t>
            </a:r>
            <a:r>
              <a:rPr lang="en-US" sz="1400" dirty="0">
                <a:solidFill>
                  <a:schemeClr val="tx1"/>
                </a:solidFill>
              </a:rPr>
              <a:t>: lists your project dependencies, scripts, and version metadata</a:t>
            </a:r>
          </a:p>
          <a:p>
            <a:pPr marL="114300" indent="0">
              <a:lnSpc>
                <a:spcPct val="105000"/>
              </a:lnSpc>
              <a:spcAft>
                <a:spcPts val="600"/>
              </a:spcAft>
              <a:buClr>
                <a:srgbClr val="000000"/>
              </a:buClr>
              <a:buNone/>
            </a:pPr>
            <a:r>
              <a:rPr lang="en-US" sz="1400" b="1" dirty="0">
                <a:solidFill>
                  <a:schemeClr val="tx1"/>
                </a:solidFill>
              </a:rPr>
              <a:t>vite.config.js:</a:t>
            </a:r>
            <a:r>
              <a:rPr lang="en-US" sz="1400" dirty="0">
                <a:solidFill>
                  <a:schemeClr val="tx1"/>
                </a:solidFill>
              </a:rPr>
              <a:t> bundler configuration file that lets you define plugins, proxies, and build optimizations.</a:t>
            </a:r>
          </a:p>
          <a:p>
            <a:pPr marL="114300" indent="0">
              <a:lnSpc>
                <a:spcPct val="105000"/>
              </a:lnSpc>
              <a:spcAft>
                <a:spcPts val="600"/>
              </a:spcAft>
              <a:buClr>
                <a:srgbClr val="000000"/>
              </a:buClr>
              <a:buNone/>
            </a:pPr>
            <a:r>
              <a:rPr lang="en-US" sz="1400" b="1" dirty="0" err="1">
                <a:solidFill>
                  <a:schemeClr val="tx1"/>
                </a:solidFill>
              </a:rPr>
              <a:t>vitest.config.ts</a:t>
            </a:r>
            <a:r>
              <a:rPr lang="en-US" sz="1400" b="1" dirty="0">
                <a:solidFill>
                  <a:schemeClr val="tx1"/>
                </a:solidFill>
              </a:rPr>
              <a:t>: </a:t>
            </a:r>
            <a:r>
              <a:rPr lang="en-US" sz="1400" dirty="0">
                <a:solidFill>
                  <a:schemeClr val="tx1"/>
                </a:solidFill>
              </a:rPr>
              <a:t>configuration file for </a:t>
            </a:r>
            <a:r>
              <a:rPr lang="en-US" sz="1400" dirty="0" err="1">
                <a:solidFill>
                  <a:schemeClr val="tx1"/>
                </a:solidFill>
              </a:rPr>
              <a:t>Vitest</a:t>
            </a:r>
            <a:r>
              <a:rPr lang="en-US" sz="1400" dirty="0">
                <a:solidFill>
                  <a:schemeClr val="tx1"/>
                </a:solidFill>
              </a:rPr>
              <a:t>, a fast, Vite-native testing framework  for Vue. It defines how your </a:t>
            </a:r>
            <a:r>
              <a:rPr lang="en-US" sz="1400" b="1" dirty="0">
                <a:solidFill>
                  <a:schemeClr val="tx1"/>
                </a:solidFill>
              </a:rPr>
              <a:t>unit and component tests </a:t>
            </a:r>
            <a:r>
              <a:rPr lang="en-US" sz="1400" dirty="0">
                <a:solidFill>
                  <a:schemeClr val="tx1"/>
                </a:solidFill>
              </a:rPr>
              <a:t>are configured, executed, and integrated into your build pipeline. Note: *.</a:t>
            </a:r>
            <a:r>
              <a:rPr lang="en-US" sz="1400" dirty="0" err="1">
                <a:solidFill>
                  <a:schemeClr val="tx1"/>
                </a:solidFill>
              </a:rPr>
              <a:t>ts</a:t>
            </a:r>
            <a:r>
              <a:rPr lang="en-US" sz="1400" dirty="0">
                <a:solidFill>
                  <a:schemeClr val="tx1"/>
                </a:solidFill>
              </a:rPr>
              <a:t> denotes a typescript file, which is a typed, compiled language built on top of JavaScript.</a:t>
            </a:r>
          </a:p>
          <a:p>
            <a:pPr marL="114300" indent="0">
              <a:lnSpc>
                <a:spcPct val="105000"/>
              </a:lnSpc>
              <a:spcAft>
                <a:spcPts val="600"/>
              </a:spcAft>
              <a:buClr>
                <a:srgbClr val="000000"/>
              </a:buClr>
              <a:buNone/>
            </a:pPr>
            <a:r>
              <a:rPr lang="en-US" sz="1400" b="1" dirty="0">
                <a:solidFill>
                  <a:schemeClr val="tx1"/>
                </a:solidFill>
              </a:rPr>
              <a:t>playwright.config.js: </a:t>
            </a:r>
            <a:r>
              <a:rPr lang="en-US" sz="1400" dirty="0">
                <a:solidFill>
                  <a:schemeClr val="tx1"/>
                </a:solidFill>
              </a:rPr>
              <a:t>configuration file for Playwright, a powerful end-to-end (E2E) testing framework. Unlike unit tests that check small pieces of code, E2E tests launch real browsers to simulate actual user journeys—like logging in, clicking buttons, and completing checkouts. This file controls exactly how those browsers behave and how your tests execute.</a:t>
            </a:r>
          </a:p>
          <a:p>
            <a:pPr marL="114300" indent="0">
              <a:lnSpc>
                <a:spcPct val="105000"/>
              </a:lnSpc>
              <a:spcAft>
                <a:spcPts val="600"/>
              </a:spcAft>
              <a:buClr>
                <a:srgbClr val="000000"/>
              </a:buClr>
              <a:buNone/>
            </a:pPr>
            <a:r>
              <a:rPr lang="en-US" sz="1400" b="1" dirty="0">
                <a:solidFill>
                  <a:schemeClr val="tx1"/>
                </a:solidFill>
              </a:rPr>
              <a:t>vue.spec.js: </a:t>
            </a:r>
            <a:r>
              <a:rPr lang="en-US" sz="1400" dirty="0">
                <a:solidFill>
                  <a:schemeClr val="tx1"/>
                </a:solidFill>
              </a:rPr>
              <a:t>boilerplate, starter test file auto-generated when you scaffold a Vue app using tools like Vite with End-to-End (E2E) testing selected</a:t>
            </a:r>
          </a:p>
          <a:p>
            <a:pPr marL="114300" indent="0">
              <a:lnSpc>
                <a:spcPct val="105000"/>
              </a:lnSpc>
              <a:spcAft>
                <a:spcPts val="600"/>
              </a:spcAft>
              <a:buClr>
                <a:srgbClr val="000000"/>
              </a:buClr>
              <a:buNone/>
            </a:pPr>
            <a:endParaRPr lang="en-US" sz="1400" dirty="0">
              <a:solidFill>
                <a:schemeClr val="tx1"/>
              </a:solidFill>
            </a:endParaRPr>
          </a:p>
        </p:txBody>
      </p:sp>
      <p:pic>
        <p:nvPicPr>
          <p:cNvPr id="8" name="Picture 7">
            <a:extLst>
              <a:ext uri="{FF2B5EF4-FFF2-40B4-BE49-F238E27FC236}">
                <a16:creationId xmlns:a16="http://schemas.microsoft.com/office/drawing/2014/main" id="{D3FC7162-96F4-2A24-A6F8-C1C98702BD94}"/>
              </a:ext>
            </a:extLst>
          </p:cNvPr>
          <p:cNvPicPr>
            <a:picLocks noChangeAspect="1"/>
          </p:cNvPicPr>
          <p:nvPr/>
        </p:nvPicPr>
        <p:blipFill>
          <a:blip r:embed="rId2"/>
          <a:stretch>
            <a:fillRect/>
          </a:stretch>
        </p:blipFill>
        <p:spPr>
          <a:xfrm>
            <a:off x="7761634" y="0"/>
            <a:ext cx="1070666" cy="5143500"/>
          </a:xfrm>
          <a:prstGeom prst="rect">
            <a:avLst/>
          </a:prstGeom>
        </p:spPr>
      </p:pic>
    </p:spTree>
    <p:extLst>
      <p:ext uri="{BB962C8B-B14F-4D97-AF65-F5344CB8AC3E}">
        <p14:creationId xmlns:p14="http://schemas.microsoft.com/office/powerpoint/2010/main" val="2362737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6BA41A17-3531-5B9B-FC58-4663E263DBFC}"/>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6EDFA72C-AFB6-C2C4-0C45-F7E78308705C}"/>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(1)</a:t>
            </a:r>
            <a:endParaRPr dirty="0"/>
          </a:p>
        </p:txBody>
      </p:sp>
      <p:sp>
        <p:nvSpPr>
          <p:cNvPr id="127" name="Google Shape;127;p22">
            <a:extLst>
              <a:ext uri="{FF2B5EF4-FFF2-40B4-BE49-F238E27FC236}">
                <a16:creationId xmlns:a16="http://schemas.microsoft.com/office/drawing/2014/main" id="{A53D2EAA-65F0-E571-51A9-05F2C7A2C683}"/>
              </a:ext>
            </a:extLst>
          </p:cNvPr>
          <p:cNvSpPr txBox="1">
            <a:spLocks noGrp="1"/>
          </p:cNvSpPr>
          <p:nvPr>
            <p:ph type="body" idx="1"/>
          </p:nvPr>
        </p:nvSpPr>
        <p:spPr>
          <a:xfrm>
            <a:off x="311699" y="1225224"/>
            <a:ext cx="8481597" cy="3857209"/>
          </a:xfrm>
          <a:prstGeom prst="rect">
            <a:avLst/>
          </a:prstGeom>
        </p:spPr>
        <p:txBody>
          <a:bodyPr spcFirstLastPara="1" wrap="square" lIns="91425" tIns="91425" rIns="91425" bIns="91425" anchor="t" anchorCtr="0">
            <a:noAutofit/>
          </a:bodyPr>
          <a:lstStyle/>
          <a:p>
            <a:pPr marL="0" lvl="0" indent="0">
              <a:buNone/>
            </a:pPr>
            <a:r>
              <a:rPr lang="en-US" dirty="0">
                <a:uFill>
                  <a:noFill/>
                </a:uFill>
              </a:rPr>
              <a:t>Routing on </a:t>
            </a:r>
            <a:r>
              <a:rPr lang="en-US" b="1" dirty="0">
                <a:uFill>
                  <a:noFill/>
                </a:uFill>
              </a:rPr>
              <a:t>the server side </a:t>
            </a:r>
            <a:r>
              <a:rPr lang="en-US" dirty="0">
                <a:uFill>
                  <a:noFill/>
                </a:uFill>
              </a:rPr>
              <a:t>means the server is sending a response based on the URL path that the user is visiting. When we click on a link in a server-rendered web app (e.g., Express.js + MVC + </a:t>
            </a:r>
            <a:r>
              <a:rPr lang="en-US" dirty="0" err="1">
                <a:uFill>
                  <a:noFill/>
                </a:uFill>
              </a:rPr>
              <a:t>ejs</a:t>
            </a:r>
            <a:r>
              <a:rPr lang="en-US" dirty="0">
                <a:uFill>
                  <a:noFill/>
                </a:uFill>
              </a:rPr>
              <a:t> template engine), the browser receives an HTML response from the server and reloads the entire page with the new HTML.</a:t>
            </a:r>
          </a:p>
          <a:p>
            <a:pPr marL="0" lvl="0" indent="0" algn="l" rtl="0">
              <a:spcBef>
                <a:spcPts val="0"/>
              </a:spcBef>
              <a:spcAft>
                <a:spcPts val="0"/>
              </a:spcAft>
              <a:buNone/>
            </a:pPr>
            <a:endParaRPr lang="en-US" dirty="0">
              <a:uFill>
                <a:noFill/>
              </a:uFill>
            </a:endParaRPr>
          </a:p>
          <a:p>
            <a:pPr marL="0" lvl="0" indent="0">
              <a:buNone/>
            </a:pPr>
            <a:r>
              <a:rPr lang="en-US" dirty="0">
                <a:uFill>
                  <a:noFill/>
                </a:uFill>
              </a:rPr>
              <a:t>Routing on </a:t>
            </a:r>
            <a:r>
              <a:rPr lang="en-US" b="1" dirty="0">
                <a:uFill>
                  <a:noFill/>
                </a:uFill>
              </a:rPr>
              <a:t>the client side </a:t>
            </a:r>
            <a:r>
              <a:rPr lang="en-US" dirty="0">
                <a:uFill>
                  <a:noFill/>
                </a:uFill>
              </a:rPr>
              <a:t>means the client side app (e.g., Vue’s Single-Page Application)  can intercept the navigation, dynamically fetch new data, and update the current page (typically with a new Vue component), without full page reloads.</a:t>
            </a:r>
          </a:p>
          <a:p>
            <a:pPr marL="0" lvl="0" indent="0" algn="l" rtl="0">
              <a:spcBef>
                <a:spcPts val="0"/>
              </a:spcBef>
              <a:spcAft>
                <a:spcPts val="0"/>
              </a:spcAft>
              <a:buNone/>
            </a:pPr>
            <a:endParaRPr lang="en-US" dirty="0">
              <a:uFill>
                <a:noFill/>
              </a:uFill>
            </a:endParaRPr>
          </a:p>
          <a:p>
            <a:pPr marL="457200" lvl="1" indent="0">
              <a:spcBef>
                <a:spcPts val="0"/>
              </a:spcBef>
              <a:buNone/>
            </a:pPr>
            <a:r>
              <a:rPr lang="en-US" dirty="0">
                <a:uFill>
                  <a:noFill/>
                </a:uFill>
              </a:rPr>
              <a:t>In Vue’s Single-Page Application (SPA), this is done by using </a:t>
            </a:r>
            <a:r>
              <a:rPr lang="en-US" b="1" dirty="0">
                <a:uFill>
                  <a:noFill/>
                </a:uFill>
              </a:rPr>
              <a:t>Vue Router</a:t>
            </a:r>
            <a:r>
              <a:rPr lang="en-US" dirty="0">
                <a:uFill>
                  <a:noFill/>
                </a:uFill>
              </a:rPr>
              <a:t>.</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28050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B5E0EE1D-EBD2-9B74-285E-07C619C9D825}"/>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C35A6A24-DEF5-7F3F-BC14-50CC7470D102}"/>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(2)</a:t>
            </a:r>
            <a:endParaRPr dirty="0"/>
          </a:p>
        </p:txBody>
      </p:sp>
      <p:sp>
        <p:nvSpPr>
          <p:cNvPr id="127" name="Google Shape;127;p22">
            <a:extLst>
              <a:ext uri="{FF2B5EF4-FFF2-40B4-BE49-F238E27FC236}">
                <a16:creationId xmlns:a16="http://schemas.microsoft.com/office/drawing/2014/main" id="{C8BFE9EC-DBFD-F28D-AD9D-55D4559A335E}"/>
              </a:ext>
            </a:extLst>
          </p:cNvPr>
          <p:cNvSpPr txBox="1">
            <a:spLocks noGrp="1"/>
          </p:cNvSpPr>
          <p:nvPr>
            <p:ph type="body" idx="1"/>
          </p:nvPr>
        </p:nvSpPr>
        <p:spPr>
          <a:xfrm>
            <a:off x="311699" y="1225224"/>
            <a:ext cx="8481597" cy="38572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uFill>
                  <a:noFill/>
                </a:uFill>
              </a:rPr>
              <a:t>Vue Router </a:t>
            </a:r>
            <a:r>
              <a:rPr lang="en-US" dirty="0">
                <a:uFill>
                  <a:noFill/>
                </a:uFill>
              </a:rPr>
              <a:t>is a Vue Library that provides two components: </a:t>
            </a:r>
            <a:r>
              <a:rPr lang="en-US" dirty="0" err="1">
                <a:uFill>
                  <a:noFill/>
                </a:uFill>
              </a:rPr>
              <a:t>RouterLink</a:t>
            </a:r>
            <a:r>
              <a:rPr lang="en-US" dirty="0">
                <a:uFill>
                  <a:noFill/>
                </a:uFill>
              </a:rPr>
              <a:t> and </a:t>
            </a:r>
            <a:r>
              <a:rPr lang="en-US" dirty="0" err="1">
                <a:uFill>
                  <a:noFill/>
                </a:uFill>
              </a:rPr>
              <a:t>RouterView</a:t>
            </a:r>
            <a:r>
              <a:rPr lang="en-US" dirty="0">
                <a:uFill>
                  <a:noFill/>
                </a:uFill>
              </a:rPr>
              <a:t>.</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err="1">
                <a:uFill>
                  <a:noFill/>
                </a:uFill>
              </a:rPr>
              <a:t>RouterLink</a:t>
            </a:r>
            <a:r>
              <a:rPr lang="en-US" dirty="0">
                <a:uFill>
                  <a:noFill/>
                </a:uFill>
              </a:rPr>
              <a:t> is used to create links (Instead of using regular &lt;a&gt; tags)</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err="1">
                <a:uFill>
                  <a:noFill/>
                </a:uFill>
              </a:rPr>
              <a:t>RouterView</a:t>
            </a:r>
            <a:r>
              <a:rPr lang="en-US" dirty="0">
                <a:uFill>
                  <a:noFill/>
                </a:uFill>
              </a:rPr>
              <a:t> component tells Vue Router (the location) where to render the current route component. </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a:uFill>
                  <a:noFill/>
                </a:uFill>
              </a:rPr>
              <a:t>Syntax</a:t>
            </a:r>
          </a:p>
          <a:p>
            <a:pPr marL="0" indent="0">
              <a:buNone/>
            </a:pPr>
            <a:r>
              <a:rPr lang="en-US" dirty="0">
                <a:uFill>
                  <a:noFill/>
                </a:uFill>
                <a:latin typeface="Menlo" panose="020B0609030804020204" pitchFamily="49" charset="0"/>
                <a:ea typeface="Menlo" panose="020B0609030804020204" pitchFamily="49" charset="0"/>
                <a:cs typeface="Menlo" panose="020B0609030804020204" pitchFamily="49" charset="0"/>
              </a:rPr>
              <a:t>&lt;</a:t>
            </a:r>
            <a:r>
              <a:rPr lang="en-US" dirty="0" err="1">
                <a:uFill>
                  <a:noFill/>
                </a:uFill>
                <a:latin typeface="Menlo" panose="020B0609030804020204" pitchFamily="49" charset="0"/>
                <a:ea typeface="Menlo" panose="020B0609030804020204" pitchFamily="49" charset="0"/>
                <a:cs typeface="Menlo" panose="020B0609030804020204" pitchFamily="49" charset="0"/>
              </a:rPr>
              <a:t>RouterView</a:t>
            </a:r>
            <a:r>
              <a:rPr lang="en-US" dirty="0">
                <a:uFill>
                  <a:noFill/>
                </a:uFill>
                <a:latin typeface="Menlo" panose="020B0609030804020204" pitchFamily="49" charset="0"/>
                <a:ea typeface="Menlo" panose="020B0609030804020204" pitchFamily="49" charset="0"/>
                <a:cs typeface="Menlo" panose="020B0609030804020204" pitchFamily="49" charset="0"/>
              </a:rPr>
              <a:t> /&gt;	</a:t>
            </a:r>
            <a:r>
              <a:rPr lang="en-US" dirty="0">
                <a:uFill>
                  <a:noFill/>
                </a:uFill>
              </a:rPr>
              <a:t>		</a:t>
            </a:r>
            <a:r>
              <a:rPr lang="en-US" dirty="0">
                <a:uFill>
                  <a:noFill/>
                </a:uFill>
                <a:latin typeface="Menlo" panose="020B0609030804020204" pitchFamily="49" charset="0"/>
                <a:ea typeface="Menlo" panose="020B0609030804020204" pitchFamily="49" charset="0"/>
                <a:cs typeface="Menlo" panose="020B0609030804020204" pitchFamily="49" charset="0"/>
              </a:rPr>
              <a:t>&lt;</a:t>
            </a:r>
            <a:r>
              <a:rPr lang="en-US" dirty="0" err="1">
                <a:uFill>
                  <a:noFill/>
                </a:uFill>
                <a:latin typeface="Menlo" panose="020B0609030804020204" pitchFamily="49" charset="0"/>
                <a:ea typeface="Menlo" panose="020B0609030804020204" pitchFamily="49" charset="0"/>
                <a:cs typeface="Menlo" panose="020B0609030804020204" pitchFamily="49" charset="0"/>
              </a:rPr>
              <a:t>RouterLink</a:t>
            </a:r>
            <a:r>
              <a:rPr lang="en-US" dirty="0">
                <a:uFill>
                  <a:noFill/>
                </a:uFill>
                <a:latin typeface="Menlo" panose="020B0609030804020204" pitchFamily="49" charset="0"/>
                <a:ea typeface="Menlo" panose="020B0609030804020204" pitchFamily="49" charset="0"/>
                <a:cs typeface="Menlo" panose="020B0609030804020204" pitchFamily="49" charset="0"/>
              </a:rPr>
              <a:t> to=&lt;path&gt; &gt; Label &lt;/</a:t>
            </a:r>
            <a:r>
              <a:rPr lang="en-US" dirty="0" err="1">
                <a:uFill>
                  <a:noFill/>
                </a:uFill>
                <a:latin typeface="Menlo" panose="020B0609030804020204" pitchFamily="49" charset="0"/>
                <a:ea typeface="Menlo" panose="020B0609030804020204" pitchFamily="49" charset="0"/>
                <a:cs typeface="Menlo" panose="020B0609030804020204" pitchFamily="49" charset="0"/>
              </a:rPr>
              <a:t>RouterLink</a:t>
            </a:r>
            <a:r>
              <a:rPr lang="en-US" dirty="0">
                <a:uFill>
                  <a:noFill/>
                </a:uFill>
                <a:latin typeface="Menlo" panose="020B0609030804020204" pitchFamily="49" charset="0"/>
                <a:ea typeface="Menlo" panose="020B0609030804020204" pitchFamily="49" charset="0"/>
                <a:cs typeface="Menlo" panose="020B0609030804020204" pitchFamily="49" charset="0"/>
              </a:rPr>
              <a:t>&gt;</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
        <p:nvSpPr>
          <p:cNvPr id="3" name="TextBox 2">
            <a:extLst>
              <a:ext uri="{FF2B5EF4-FFF2-40B4-BE49-F238E27FC236}">
                <a16:creationId xmlns:a16="http://schemas.microsoft.com/office/drawing/2014/main" id="{FF37E708-3059-18B7-327A-69D42A2349B4}"/>
              </a:ext>
            </a:extLst>
          </p:cNvPr>
          <p:cNvSpPr txBox="1"/>
          <p:nvPr/>
        </p:nvSpPr>
        <p:spPr>
          <a:xfrm>
            <a:off x="3955774" y="3850974"/>
            <a:ext cx="4144617" cy="954107"/>
          </a:xfrm>
          <a:prstGeom prst="rect">
            <a:avLst/>
          </a:prstGeom>
          <a:noFill/>
        </p:spPr>
        <p:txBody>
          <a:bodyPr wrap="square" rtlCol="0">
            <a:spAutoFit/>
          </a:bodyPr>
          <a:lstStyle/>
          <a:p>
            <a:r>
              <a:rPr lang="en-SG" b="0" i="0" dirty="0">
                <a:solidFill>
                  <a:srgbClr val="ABB2BF"/>
                </a:solidFill>
                <a:effectLst/>
                <a:latin typeface="ui-monospace"/>
              </a:rPr>
              <a:t>&lt;</a:t>
            </a:r>
            <a:r>
              <a:rPr lang="en-SG" b="0" i="0" dirty="0">
                <a:solidFill>
                  <a:srgbClr val="E06C75"/>
                </a:solidFill>
                <a:effectLst/>
                <a:latin typeface="ui-monospace"/>
              </a:rPr>
              <a:t>template</a:t>
            </a:r>
            <a:r>
              <a:rPr lang="en-SG" b="0" i="0" dirty="0">
                <a:solidFill>
                  <a:srgbClr val="ABB2BF"/>
                </a:solidFill>
                <a:effectLst/>
                <a:latin typeface="ui-monospace"/>
              </a:rPr>
              <a:t>&gt;</a:t>
            </a:r>
            <a:r>
              <a:rPr lang="en-SG" b="0" i="0" dirty="0">
                <a:effectLst/>
                <a:latin typeface="ui-monospace"/>
              </a:rPr>
              <a:t> </a:t>
            </a:r>
          </a:p>
          <a:p>
            <a:r>
              <a:rPr lang="en-SG" b="0" i="0" dirty="0">
                <a:solidFill>
                  <a:srgbClr val="ABB2BF"/>
                </a:solidFill>
                <a:effectLst/>
                <a:latin typeface="ui-monospace"/>
              </a:rPr>
              <a:t>  &lt;</a:t>
            </a:r>
            <a:r>
              <a:rPr lang="en-SG" b="0" i="0" dirty="0" err="1">
                <a:solidFill>
                  <a:srgbClr val="E06C75"/>
                </a:solidFill>
                <a:effectLst/>
                <a:latin typeface="ui-monospace"/>
              </a:rPr>
              <a:t>RouterLink</a:t>
            </a:r>
            <a:r>
              <a:rPr lang="en-SG" b="0" i="0" dirty="0">
                <a:solidFill>
                  <a:srgbClr val="D19A66"/>
                </a:solidFill>
                <a:effectLst/>
                <a:latin typeface="ui-monospace"/>
              </a:rPr>
              <a:t> to</a:t>
            </a:r>
            <a:r>
              <a:rPr lang="en-SG" b="0" i="0" dirty="0">
                <a:solidFill>
                  <a:srgbClr val="ABB2BF"/>
                </a:solidFill>
                <a:effectLst/>
                <a:latin typeface="ui-monospace"/>
              </a:rPr>
              <a:t>=</a:t>
            </a:r>
            <a:r>
              <a:rPr lang="en-SG" b="0" i="0" dirty="0">
                <a:solidFill>
                  <a:srgbClr val="98C379"/>
                </a:solidFill>
                <a:effectLst/>
                <a:latin typeface="ui-monospace"/>
              </a:rPr>
              <a:t>"/"</a:t>
            </a:r>
            <a:r>
              <a:rPr lang="en-SG" b="0" i="0" dirty="0">
                <a:solidFill>
                  <a:srgbClr val="ABB2BF"/>
                </a:solidFill>
                <a:effectLst/>
                <a:latin typeface="ui-monospace"/>
              </a:rPr>
              <a:t>&gt;Go to Home&lt;/</a:t>
            </a:r>
            <a:r>
              <a:rPr lang="en-SG" b="0" i="0" dirty="0" err="1">
                <a:solidFill>
                  <a:srgbClr val="E06C75"/>
                </a:solidFill>
                <a:effectLst/>
                <a:latin typeface="ui-monospace"/>
              </a:rPr>
              <a:t>RouterLink</a:t>
            </a:r>
            <a:r>
              <a:rPr lang="en-SG" b="0" i="0" dirty="0">
                <a:solidFill>
                  <a:srgbClr val="ABB2BF"/>
                </a:solidFill>
                <a:effectLst/>
                <a:latin typeface="ui-monospace"/>
              </a:rPr>
              <a:t>&gt;</a:t>
            </a:r>
            <a:r>
              <a:rPr lang="en-SG" b="0" i="0" dirty="0">
                <a:effectLst/>
                <a:latin typeface="ui-monospace"/>
              </a:rPr>
              <a:t> </a:t>
            </a:r>
          </a:p>
          <a:p>
            <a:r>
              <a:rPr lang="en-SG" dirty="0">
                <a:solidFill>
                  <a:srgbClr val="ABB2BF"/>
                </a:solidFill>
                <a:latin typeface="ui-monospace"/>
              </a:rPr>
              <a:t>  </a:t>
            </a:r>
            <a:r>
              <a:rPr lang="en-SG" b="0" i="0" dirty="0">
                <a:solidFill>
                  <a:srgbClr val="ABB2BF"/>
                </a:solidFill>
                <a:effectLst/>
                <a:latin typeface="ui-monospace"/>
              </a:rPr>
              <a:t>&lt;</a:t>
            </a:r>
            <a:r>
              <a:rPr lang="en-SG" b="0" i="0" dirty="0" err="1">
                <a:solidFill>
                  <a:srgbClr val="E06C75"/>
                </a:solidFill>
                <a:effectLst/>
                <a:latin typeface="ui-monospace"/>
              </a:rPr>
              <a:t>RouterLink</a:t>
            </a:r>
            <a:r>
              <a:rPr lang="en-SG" b="0" i="0" dirty="0">
                <a:solidFill>
                  <a:srgbClr val="D19A66"/>
                </a:solidFill>
                <a:effectLst/>
                <a:latin typeface="ui-monospace"/>
              </a:rPr>
              <a:t> to</a:t>
            </a:r>
            <a:r>
              <a:rPr lang="en-SG" b="0" i="0" dirty="0">
                <a:solidFill>
                  <a:srgbClr val="ABB2BF"/>
                </a:solidFill>
                <a:effectLst/>
                <a:latin typeface="ui-monospace"/>
              </a:rPr>
              <a:t>=</a:t>
            </a:r>
            <a:r>
              <a:rPr lang="en-SG" b="0" i="0" dirty="0">
                <a:solidFill>
                  <a:srgbClr val="98C379"/>
                </a:solidFill>
                <a:effectLst/>
                <a:latin typeface="ui-monospace"/>
              </a:rPr>
              <a:t>"/about"</a:t>
            </a:r>
            <a:r>
              <a:rPr lang="en-SG" b="0" i="0" dirty="0">
                <a:solidFill>
                  <a:srgbClr val="ABB2BF"/>
                </a:solidFill>
                <a:effectLst/>
                <a:latin typeface="ui-monospace"/>
              </a:rPr>
              <a:t>&gt;Go to About&lt;/</a:t>
            </a:r>
            <a:r>
              <a:rPr lang="en-SG" b="0" i="0" dirty="0" err="1">
                <a:solidFill>
                  <a:srgbClr val="E06C75"/>
                </a:solidFill>
                <a:effectLst/>
                <a:latin typeface="ui-monospace"/>
              </a:rPr>
              <a:t>RouterLink</a:t>
            </a:r>
            <a:r>
              <a:rPr lang="en-SG" b="0" i="0" dirty="0">
                <a:solidFill>
                  <a:srgbClr val="ABB2BF"/>
                </a:solidFill>
                <a:effectLst/>
                <a:latin typeface="ui-monospace"/>
              </a:rPr>
              <a:t>&gt;</a:t>
            </a:r>
            <a:r>
              <a:rPr lang="en-SG" b="0" i="0" dirty="0">
                <a:effectLst/>
                <a:latin typeface="ui-monospace"/>
              </a:rPr>
              <a:t> </a:t>
            </a:r>
          </a:p>
          <a:p>
            <a:r>
              <a:rPr lang="en-SG" b="0" i="0" dirty="0">
                <a:solidFill>
                  <a:srgbClr val="ABB2BF"/>
                </a:solidFill>
                <a:effectLst/>
                <a:latin typeface="ui-monospace"/>
              </a:rPr>
              <a:t>&lt;/</a:t>
            </a:r>
            <a:r>
              <a:rPr lang="en-SG" dirty="0">
                <a:solidFill>
                  <a:srgbClr val="E06C75"/>
                </a:solidFill>
                <a:latin typeface="ui-monospace"/>
              </a:rPr>
              <a:t>template</a:t>
            </a:r>
            <a:r>
              <a:rPr lang="en-SG" b="0" i="0" dirty="0">
                <a:solidFill>
                  <a:srgbClr val="ABB2BF"/>
                </a:solidFill>
                <a:effectLst/>
                <a:latin typeface="ui-monospace"/>
              </a:rPr>
              <a:t>&gt;</a:t>
            </a:r>
            <a:endParaRPr lang="en-US" dirty="0"/>
          </a:p>
        </p:txBody>
      </p:sp>
      <p:sp>
        <p:nvSpPr>
          <p:cNvPr id="5" name="TextBox 4">
            <a:extLst>
              <a:ext uri="{FF2B5EF4-FFF2-40B4-BE49-F238E27FC236}">
                <a16:creationId xmlns:a16="http://schemas.microsoft.com/office/drawing/2014/main" id="{39598405-EFBD-13FC-C36E-FA1E1E0FF372}"/>
              </a:ext>
            </a:extLst>
          </p:cNvPr>
          <p:cNvSpPr txBox="1"/>
          <p:nvPr/>
        </p:nvSpPr>
        <p:spPr>
          <a:xfrm>
            <a:off x="350704" y="3850974"/>
            <a:ext cx="3339548" cy="738664"/>
          </a:xfrm>
          <a:prstGeom prst="rect">
            <a:avLst/>
          </a:prstGeom>
          <a:noFill/>
        </p:spPr>
        <p:txBody>
          <a:bodyPr wrap="square" rtlCol="0">
            <a:spAutoFit/>
          </a:bodyPr>
          <a:lstStyle/>
          <a:p>
            <a:r>
              <a:rPr lang="en-SG" b="0" i="0" dirty="0">
                <a:solidFill>
                  <a:srgbClr val="ABB2BF"/>
                </a:solidFill>
                <a:effectLst/>
                <a:latin typeface="ui-monospace"/>
              </a:rPr>
              <a:t>&lt;</a:t>
            </a:r>
            <a:r>
              <a:rPr lang="en-SG" b="0" i="0" dirty="0">
                <a:solidFill>
                  <a:srgbClr val="E06C75"/>
                </a:solidFill>
                <a:effectLst/>
                <a:latin typeface="ui-monospace"/>
              </a:rPr>
              <a:t>template</a:t>
            </a:r>
            <a:r>
              <a:rPr lang="en-SG" b="0" i="0" dirty="0">
                <a:solidFill>
                  <a:srgbClr val="ABB2BF"/>
                </a:solidFill>
                <a:effectLst/>
                <a:latin typeface="ui-monospace"/>
              </a:rPr>
              <a:t>&gt;</a:t>
            </a:r>
            <a:r>
              <a:rPr lang="en-SG" b="0" i="0" dirty="0">
                <a:effectLst/>
                <a:latin typeface="ui-monospace"/>
              </a:rPr>
              <a:t> </a:t>
            </a:r>
          </a:p>
          <a:p>
            <a:r>
              <a:rPr lang="en-SG" dirty="0">
                <a:solidFill>
                  <a:srgbClr val="ABB2BF"/>
                </a:solidFill>
                <a:latin typeface="ui-monospace"/>
              </a:rPr>
              <a:t>      </a:t>
            </a:r>
            <a:r>
              <a:rPr lang="en-SG" b="0" i="0" dirty="0">
                <a:solidFill>
                  <a:srgbClr val="ABB2BF"/>
                </a:solidFill>
                <a:effectLst/>
                <a:latin typeface="ui-monospace"/>
              </a:rPr>
              <a:t>&lt;</a:t>
            </a:r>
            <a:r>
              <a:rPr lang="en-SG" b="0" i="0" dirty="0" err="1">
                <a:solidFill>
                  <a:srgbClr val="E06C75"/>
                </a:solidFill>
                <a:effectLst/>
                <a:latin typeface="ui-monospace"/>
              </a:rPr>
              <a:t>RouterView</a:t>
            </a:r>
            <a:r>
              <a:rPr lang="en-SG" b="0" i="0" dirty="0">
                <a:solidFill>
                  <a:srgbClr val="ABB2BF"/>
                </a:solidFill>
                <a:effectLst/>
                <a:latin typeface="ui-monospace"/>
              </a:rPr>
              <a:t> /&gt;</a:t>
            </a:r>
            <a:r>
              <a:rPr lang="en-SG" b="0" i="0" dirty="0">
                <a:effectLst/>
                <a:latin typeface="ui-monospace"/>
              </a:rPr>
              <a:t> </a:t>
            </a:r>
          </a:p>
          <a:p>
            <a:r>
              <a:rPr lang="en-SG" b="0" i="0" dirty="0">
                <a:solidFill>
                  <a:srgbClr val="ABB2BF"/>
                </a:solidFill>
                <a:effectLst/>
                <a:latin typeface="ui-monospace"/>
              </a:rPr>
              <a:t>&lt;/</a:t>
            </a:r>
            <a:r>
              <a:rPr lang="en-SG" dirty="0">
                <a:solidFill>
                  <a:srgbClr val="E06C75"/>
                </a:solidFill>
                <a:latin typeface="ui-monospace"/>
              </a:rPr>
              <a:t>template</a:t>
            </a:r>
            <a:r>
              <a:rPr lang="en-SG" b="0" i="0" dirty="0">
                <a:solidFill>
                  <a:srgbClr val="ABB2BF"/>
                </a:solidFill>
                <a:effectLst/>
                <a:latin typeface="ui-monospace"/>
              </a:rPr>
              <a:t>&gt;</a:t>
            </a:r>
            <a:endParaRPr lang="en-US" dirty="0"/>
          </a:p>
        </p:txBody>
      </p:sp>
    </p:spTree>
    <p:extLst>
      <p:ext uri="{BB962C8B-B14F-4D97-AF65-F5344CB8AC3E}">
        <p14:creationId xmlns:p14="http://schemas.microsoft.com/office/powerpoint/2010/main" val="1997152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(3)</a:t>
            </a:r>
            <a:endParaRPr dirty="0"/>
          </a:p>
        </p:txBody>
      </p:sp>
      <p:sp>
        <p:nvSpPr>
          <p:cNvPr id="127" name="Google Shape;127;p22"/>
          <p:cNvSpPr txBox="1">
            <a:spLocks noGrp="1"/>
          </p:cNvSpPr>
          <p:nvPr>
            <p:ph type="body" idx="1"/>
          </p:nvPr>
        </p:nvSpPr>
        <p:spPr>
          <a:xfrm>
            <a:off x="311700" y="1225224"/>
            <a:ext cx="4451686" cy="38572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Check out </a:t>
            </a:r>
            <a:r>
              <a:rPr lang="en-US" b="1" dirty="0" err="1">
                <a:uFill>
                  <a:noFill/>
                </a:uFill>
              </a:rPr>
              <a:t>App.vue</a:t>
            </a:r>
            <a:r>
              <a:rPr lang="en-US" dirty="0">
                <a:uFill>
                  <a:noFill/>
                </a:uFill>
              </a:rPr>
              <a:t> and </a:t>
            </a:r>
            <a:r>
              <a:rPr lang="en-US" b="1" dirty="0">
                <a:uFill>
                  <a:noFill/>
                </a:uFill>
              </a:rPr>
              <a:t>router/index.js </a:t>
            </a:r>
            <a:r>
              <a:rPr lang="en-US" dirty="0">
                <a:uFill>
                  <a:noFill/>
                </a:uFill>
              </a:rPr>
              <a:t>in the example app that we created based on the Quick Start slides</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b="1" dirty="0" err="1">
                <a:uFill>
                  <a:noFill/>
                </a:uFill>
              </a:rPr>
              <a:t>App.vue</a:t>
            </a:r>
            <a:r>
              <a:rPr lang="en-US" b="1" dirty="0">
                <a:uFill>
                  <a:noFill/>
                </a:uFill>
              </a:rPr>
              <a:t> </a:t>
            </a:r>
            <a:r>
              <a:rPr lang="en-US" dirty="0">
                <a:uFill>
                  <a:noFill/>
                </a:uFill>
              </a:rPr>
              <a:t>provides a default template which use &lt;</a:t>
            </a:r>
            <a:r>
              <a:rPr lang="en-US" dirty="0" err="1">
                <a:uFill>
                  <a:noFill/>
                </a:uFill>
              </a:rPr>
              <a:t>RouterView</a:t>
            </a:r>
            <a:r>
              <a:rPr lang="en-US" dirty="0">
                <a:uFill>
                  <a:noFill/>
                </a:uFill>
              </a:rPr>
              <a:t> /&gt; </a:t>
            </a:r>
          </a:p>
          <a:p>
            <a:pPr marL="285750" lvl="0" indent="-285750" algn="l" rtl="0">
              <a:spcBef>
                <a:spcPts val="0"/>
              </a:spcBef>
              <a:spcAft>
                <a:spcPts val="0"/>
              </a:spcAft>
              <a:buFont typeface="Symbol" pitchFamily="2" charset="2"/>
              <a:buChar char="Þ"/>
            </a:pPr>
            <a:r>
              <a:rPr lang="en-US" dirty="0">
                <a:uFill>
                  <a:noFill/>
                </a:uFill>
              </a:rPr>
              <a:t>This will link to router/index.js </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a:uFill>
                  <a:noFill/>
                </a:uFill>
              </a:rPr>
              <a:t>In </a:t>
            </a:r>
            <a:r>
              <a:rPr lang="en-US" dirty="0" err="1">
                <a:uFill>
                  <a:noFill/>
                </a:uFill>
              </a:rPr>
              <a:t>App.vue</a:t>
            </a:r>
            <a:r>
              <a:rPr lang="en-US" dirty="0">
                <a:uFill>
                  <a:noFill/>
                </a:uFill>
              </a:rPr>
              <a:t> or any other component nested in </a:t>
            </a:r>
            <a:r>
              <a:rPr lang="en-US" dirty="0" err="1">
                <a:uFill>
                  <a:noFill/>
                </a:uFill>
              </a:rPr>
              <a:t>App.vue</a:t>
            </a:r>
            <a:r>
              <a:rPr lang="en-US" dirty="0">
                <a:uFill>
                  <a:noFill/>
                </a:uFill>
              </a:rPr>
              <a:t>, use &lt;</a:t>
            </a:r>
            <a:r>
              <a:rPr lang="en-US" dirty="0" err="1">
                <a:uFill>
                  <a:noFill/>
                </a:uFill>
              </a:rPr>
              <a:t>RouterLink</a:t>
            </a:r>
            <a:r>
              <a:rPr lang="en-US" dirty="0">
                <a:uFill>
                  <a:noFill/>
                </a:uFill>
              </a:rPr>
              <a:t>&gt;&lt;/</a:t>
            </a:r>
            <a:r>
              <a:rPr lang="en-US" dirty="0" err="1">
                <a:uFill>
                  <a:noFill/>
                </a:uFill>
              </a:rPr>
              <a:t>RouterLink</a:t>
            </a:r>
            <a:r>
              <a:rPr lang="en-US" dirty="0">
                <a:uFill>
                  <a:noFill/>
                </a:uFill>
              </a:rPr>
              <a:t>&gt; to map the URL to the specific Vue components. For example,</a:t>
            </a:r>
          </a:p>
          <a:p>
            <a:pPr marL="0" lvl="0" indent="0">
              <a:buNone/>
            </a:pPr>
            <a:r>
              <a:rPr lang="en-US" dirty="0">
                <a:uFill>
                  <a:noFill/>
                </a:uFill>
              </a:rPr>
              <a:t>“http://localhost:5173/about” maps to “AboutView.vue” component, which will be rendered in the &lt;</a:t>
            </a:r>
            <a:r>
              <a:rPr lang="en-US" dirty="0" err="1">
                <a:uFill>
                  <a:noFill/>
                </a:uFill>
              </a:rPr>
              <a:t>RouterView</a:t>
            </a:r>
            <a:r>
              <a:rPr lang="en-US" dirty="0">
                <a:uFill>
                  <a:noFill/>
                </a:uFill>
              </a:rPr>
              <a:t> /&gt; location in </a:t>
            </a:r>
            <a:r>
              <a:rPr lang="en-US" dirty="0" err="1">
                <a:uFill>
                  <a:noFill/>
                </a:uFill>
              </a:rPr>
              <a:t>App.vue</a:t>
            </a:r>
            <a:r>
              <a:rPr lang="en-US" dirty="0">
                <a:uFill>
                  <a:noFill/>
                </a:uFill>
              </a:rPr>
              <a:t> </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
        <p:nvSpPr>
          <p:cNvPr id="3" name="Text Placeholder 2">
            <a:extLst>
              <a:ext uri="{FF2B5EF4-FFF2-40B4-BE49-F238E27FC236}">
                <a16:creationId xmlns:a16="http://schemas.microsoft.com/office/drawing/2014/main" id="{B55873CB-9369-857C-836B-51668D77EEE5}"/>
              </a:ext>
            </a:extLst>
          </p:cNvPr>
          <p:cNvSpPr>
            <a:spLocks noGrp="1"/>
          </p:cNvSpPr>
          <p:nvPr>
            <p:ph type="body" idx="2"/>
          </p:nvPr>
        </p:nvSpPr>
        <p:spPr>
          <a:xfrm>
            <a:off x="7384119" y="1508917"/>
            <a:ext cx="1280160" cy="831300"/>
          </a:xfrm>
        </p:spPr>
        <p:txBody>
          <a:bodyPr/>
          <a:lstStyle/>
          <a:p>
            <a:pPr marL="139700" indent="0">
              <a:buNone/>
            </a:pPr>
            <a:r>
              <a:rPr lang="en-US" dirty="0" err="1"/>
              <a:t>App.vue</a:t>
            </a:r>
            <a:endParaRPr lang="en-US" dirty="0"/>
          </a:p>
        </p:txBody>
      </p:sp>
      <p:sp>
        <p:nvSpPr>
          <p:cNvPr id="8" name="Text Placeholder 2">
            <a:extLst>
              <a:ext uri="{FF2B5EF4-FFF2-40B4-BE49-F238E27FC236}">
                <a16:creationId xmlns:a16="http://schemas.microsoft.com/office/drawing/2014/main" id="{577DC506-74DD-2109-CE34-83CE03A799A3}"/>
              </a:ext>
            </a:extLst>
          </p:cNvPr>
          <p:cNvSpPr txBox="1">
            <a:spLocks/>
          </p:cNvSpPr>
          <p:nvPr/>
        </p:nvSpPr>
        <p:spPr>
          <a:xfrm>
            <a:off x="6617517" y="2624213"/>
            <a:ext cx="1726730" cy="3300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1pPr>
            <a:lvl2pPr marL="914400" marR="0" lvl="1"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2pPr>
            <a:lvl3pPr marL="1371600" marR="0" lvl="2"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3pPr>
            <a:lvl4pPr marL="1828800" marR="0" lvl="3"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4pPr>
            <a:lvl5pPr marL="2286000" marR="0" lvl="4"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5pPr>
            <a:lvl6pPr marL="2743200" marR="0" lvl="5"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6pPr>
            <a:lvl7pPr marL="3200400" marR="0" lvl="6"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7pPr>
            <a:lvl8pPr marL="3657600" marR="0" lvl="7"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8pPr>
            <a:lvl9pPr marL="4114800" marR="0" lvl="8" indent="-304800" algn="l" rtl="0">
              <a:lnSpc>
                <a:spcPct val="115000"/>
              </a:lnSpc>
              <a:spcBef>
                <a:spcPts val="1600"/>
              </a:spcBef>
              <a:spcAft>
                <a:spcPts val="160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9pPr>
          </a:lstStyle>
          <a:p>
            <a:pPr marL="139700" indent="0">
              <a:buFont typeface="Open Sans"/>
              <a:buNone/>
            </a:pPr>
            <a:r>
              <a:rPr lang="en-US" dirty="0"/>
              <a:t>router/index.js</a:t>
            </a:r>
          </a:p>
        </p:txBody>
      </p:sp>
      <p:pic>
        <p:nvPicPr>
          <p:cNvPr id="5" name="Picture 4">
            <a:extLst>
              <a:ext uri="{FF2B5EF4-FFF2-40B4-BE49-F238E27FC236}">
                <a16:creationId xmlns:a16="http://schemas.microsoft.com/office/drawing/2014/main" id="{99E8F0C7-1DFD-E829-4A8E-E185F5794858}"/>
              </a:ext>
            </a:extLst>
          </p:cNvPr>
          <p:cNvPicPr>
            <a:picLocks noChangeAspect="1"/>
          </p:cNvPicPr>
          <p:nvPr/>
        </p:nvPicPr>
        <p:blipFill>
          <a:blip r:embed="rId3"/>
          <a:stretch>
            <a:fillRect/>
          </a:stretch>
        </p:blipFill>
        <p:spPr>
          <a:xfrm>
            <a:off x="4639794" y="2749901"/>
            <a:ext cx="2171686" cy="2077674"/>
          </a:xfrm>
          <a:prstGeom prst="rect">
            <a:avLst/>
          </a:prstGeom>
        </p:spPr>
      </p:pic>
      <p:pic>
        <p:nvPicPr>
          <p:cNvPr id="9" name="Picture 8">
            <a:extLst>
              <a:ext uri="{FF2B5EF4-FFF2-40B4-BE49-F238E27FC236}">
                <a16:creationId xmlns:a16="http://schemas.microsoft.com/office/drawing/2014/main" id="{374EEF31-05E4-4CBE-14E1-4CE08CF56964}"/>
              </a:ext>
            </a:extLst>
          </p:cNvPr>
          <p:cNvPicPr>
            <a:picLocks noChangeAspect="1"/>
          </p:cNvPicPr>
          <p:nvPr/>
        </p:nvPicPr>
        <p:blipFill>
          <a:blip r:embed="rId4"/>
          <a:stretch>
            <a:fillRect/>
          </a:stretch>
        </p:blipFill>
        <p:spPr>
          <a:xfrm>
            <a:off x="4639794" y="1474020"/>
            <a:ext cx="2744325" cy="1097730"/>
          </a:xfrm>
          <a:prstGeom prst="rect">
            <a:avLst/>
          </a:prstGeom>
        </p:spPr>
      </p:pic>
      <p:cxnSp>
        <p:nvCxnSpPr>
          <p:cNvPr id="17" name="Straight Arrow Connector 16">
            <a:extLst>
              <a:ext uri="{FF2B5EF4-FFF2-40B4-BE49-F238E27FC236}">
                <a16:creationId xmlns:a16="http://schemas.microsoft.com/office/drawing/2014/main" id="{B4E43FAE-B756-8037-56E6-F1DF124976C7}"/>
              </a:ext>
            </a:extLst>
          </p:cNvPr>
          <p:cNvCxnSpPr>
            <a:cxnSpLocks/>
          </p:cNvCxnSpPr>
          <p:nvPr/>
        </p:nvCxnSpPr>
        <p:spPr>
          <a:xfrm flipV="1">
            <a:off x="2392326" y="2477386"/>
            <a:ext cx="2247468" cy="1468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A659F74D-8733-1673-C64A-D79FCD9084CE}"/>
              </a:ext>
            </a:extLst>
          </p:cNvPr>
          <p:cNvGrpSpPr/>
          <p:nvPr/>
        </p:nvGrpSpPr>
        <p:grpSpPr>
          <a:xfrm>
            <a:off x="2785662" y="3833737"/>
            <a:ext cx="1854130" cy="653203"/>
            <a:chOff x="3110662" y="2892056"/>
            <a:chExt cx="1697560" cy="1839437"/>
          </a:xfrm>
        </p:grpSpPr>
        <p:cxnSp>
          <p:nvCxnSpPr>
            <p:cNvPr id="22" name="Straight Arrow Connector 21">
              <a:extLst>
                <a:ext uri="{FF2B5EF4-FFF2-40B4-BE49-F238E27FC236}">
                  <a16:creationId xmlns:a16="http://schemas.microsoft.com/office/drawing/2014/main" id="{35DF5F35-DAAF-4501-50A1-49022AE1A079}"/>
                </a:ext>
              </a:extLst>
            </p:cNvPr>
            <p:cNvCxnSpPr>
              <a:cxnSpLocks/>
              <a:endCxn id="23" idx="1"/>
            </p:cNvCxnSpPr>
            <p:nvPr/>
          </p:nvCxnSpPr>
          <p:spPr>
            <a:xfrm flipV="1">
              <a:off x="3110662" y="3591726"/>
              <a:ext cx="1562437" cy="113976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Left Brace 22">
              <a:extLst>
                <a:ext uri="{FF2B5EF4-FFF2-40B4-BE49-F238E27FC236}">
                  <a16:creationId xmlns:a16="http://schemas.microsoft.com/office/drawing/2014/main" id="{41515D80-661E-B534-6E75-C77BE1500F19}"/>
                </a:ext>
              </a:extLst>
            </p:cNvPr>
            <p:cNvSpPr/>
            <p:nvPr/>
          </p:nvSpPr>
          <p:spPr>
            <a:xfrm>
              <a:off x="4673100" y="2892056"/>
              <a:ext cx="135122" cy="1399337"/>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grpSp>
      <p:cxnSp>
        <p:nvCxnSpPr>
          <p:cNvPr id="10" name="Straight Arrow Connector 9">
            <a:extLst>
              <a:ext uri="{FF2B5EF4-FFF2-40B4-BE49-F238E27FC236}">
                <a16:creationId xmlns:a16="http://schemas.microsoft.com/office/drawing/2014/main" id="{52D3C6BA-72BC-4698-270E-36EDCDBDCD3C}"/>
              </a:ext>
            </a:extLst>
          </p:cNvPr>
          <p:cNvCxnSpPr>
            <a:cxnSpLocks/>
          </p:cNvCxnSpPr>
          <p:nvPr/>
        </p:nvCxnSpPr>
        <p:spPr>
          <a:xfrm flipV="1">
            <a:off x="3625702" y="2477386"/>
            <a:ext cx="1014091" cy="23501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A198FBCD-FC15-A052-281E-BCB2EACAFEAB}"/>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EC2B1D31-A7AE-D7A6-7F41-B6BAC9BE2352}"/>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Hello World</a:t>
            </a:r>
            <a:endParaRPr dirty="0"/>
          </a:p>
        </p:txBody>
      </p:sp>
      <p:sp>
        <p:nvSpPr>
          <p:cNvPr id="127" name="Google Shape;127;p22">
            <a:extLst>
              <a:ext uri="{FF2B5EF4-FFF2-40B4-BE49-F238E27FC236}">
                <a16:creationId xmlns:a16="http://schemas.microsoft.com/office/drawing/2014/main" id="{31AF299A-63BE-C4E7-4AB2-0ACC955AAE95}"/>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Check out Example1.vue component in given </a:t>
            </a:r>
            <a:r>
              <a:rPr lang="en-US" b="1" dirty="0">
                <a:uFill>
                  <a:noFill/>
                </a:uFill>
              </a:rPr>
              <a:t>example</a:t>
            </a:r>
            <a:r>
              <a:rPr lang="en-US" dirty="0">
                <a:uFill>
                  <a:noFill/>
                </a:uFill>
              </a:rPr>
              <a:t> folder</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
        <p:nvSpPr>
          <p:cNvPr id="128" name="Google Shape;128;p22">
            <a:extLst>
              <a:ext uri="{FF2B5EF4-FFF2-40B4-BE49-F238E27FC236}">
                <a16:creationId xmlns:a16="http://schemas.microsoft.com/office/drawing/2014/main" id="{73798146-94B2-5F86-D5FB-662AB55C7C9A}"/>
              </a:ext>
            </a:extLst>
          </p:cNvPr>
          <p:cNvSpPr txBox="1">
            <a:spLocks noGrp="1"/>
          </p:cNvSpPr>
          <p:nvPr>
            <p:ph type="body" idx="2"/>
          </p:nvPr>
        </p:nvSpPr>
        <p:spPr>
          <a:xfrm>
            <a:off x="4306265" y="1225225"/>
            <a:ext cx="47604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Example1.vue</a:t>
            </a:r>
            <a:endParaRPr b="1" i="1" dirty="0"/>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In the terminal, go to the example folder and run </a:t>
            </a:r>
          </a:p>
          <a:p>
            <a:pPr marL="114300" indent="0">
              <a:lnSpc>
                <a:spcPct val="105000"/>
              </a:lnSpc>
              <a:spcAft>
                <a:spcPts val="600"/>
              </a:spcAft>
              <a:buClr>
                <a:srgbClr val="000000"/>
              </a:buClr>
              <a:buNone/>
            </a:pPr>
            <a:endParaRPr lang="en-US"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pnpm</a:t>
            </a:r>
            <a:r>
              <a:rPr lang="en-US" dirty="0">
                <a:latin typeface="Open Sans" panose="020B0606030504020204" pitchFamily="34" charset="0"/>
                <a:ea typeface="Open Sans" panose="020B0606030504020204" pitchFamily="34" charset="0"/>
                <a:cs typeface="Open Sans" panose="020B0606030504020204" pitchFamily="34" charset="0"/>
              </a:rPr>
              <a:t> dev</a:t>
            </a:r>
          </a:p>
          <a:p>
            <a:pPr marL="457200" lvl="1" indent="0">
              <a:spcBef>
                <a:spcPts val="0"/>
              </a:spcBef>
              <a:buNone/>
            </a:pPr>
            <a:endParaRPr lang="en-US" dirty="0">
              <a:latin typeface="Courier New" panose="02070309020205020404" pitchFamily="49" charset="0"/>
              <a:cs typeface="Courier New" panose="02070309020205020404" pitchFamily="49" charset="0"/>
            </a:endParaRPr>
          </a:p>
          <a:p>
            <a:pPr marL="0" indent="0">
              <a:buNone/>
            </a:pPr>
            <a:r>
              <a:rPr lang="en-US" dirty="0"/>
              <a:t>Click on the localhost link</a:t>
            </a:r>
          </a:p>
          <a:p>
            <a:pPr marL="0" indent="0">
              <a:buNone/>
            </a:pPr>
            <a:endParaRPr lang="en-US" dirty="0"/>
          </a:p>
          <a:p>
            <a:pPr marL="0" indent="0">
              <a:buNone/>
            </a:pPr>
            <a:r>
              <a:rPr lang="en-US" dirty="0"/>
              <a:t>In the browser, click on “Example1” and observe the output</a:t>
            </a:r>
            <a:endParaRPr lang="en-US" dirty="0">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4056A138-CB84-27B4-9BAB-1D9314CF8B97}"/>
              </a:ext>
            </a:extLst>
          </p:cNvPr>
          <p:cNvPicPr>
            <a:picLocks noChangeAspect="1"/>
          </p:cNvPicPr>
          <p:nvPr/>
        </p:nvPicPr>
        <p:blipFill>
          <a:blip r:embed="rId3"/>
          <a:stretch>
            <a:fillRect/>
          </a:stretch>
        </p:blipFill>
        <p:spPr>
          <a:xfrm>
            <a:off x="1455273" y="3918275"/>
            <a:ext cx="2236115" cy="833805"/>
          </a:xfrm>
          <a:prstGeom prst="rect">
            <a:avLst/>
          </a:prstGeom>
        </p:spPr>
      </p:pic>
    </p:spTree>
    <p:extLst>
      <p:ext uri="{BB962C8B-B14F-4D97-AF65-F5344CB8AC3E}">
        <p14:creationId xmlns:p14="http://schemas.microsoft.com/office/powerpoint/2010/main" val="48655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47129F61-D31B-6675-8933-75ED2EC114E3}"/>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44C9752C-35E9-FEA3-0CDE-CB7F4F5A38DB}"/>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DevTools</a:t>
            </a:r>
            <a:endParaRPr dirty="0"/>
          </a:p>
        </p:txBody>
      </p:sp>
      <p:sp>
        <p:nvSpPr>
          <p:cNvPr id="127" name="Google Shape;127;p22">
            <a:extLst>
              <a:ext uri="{FF2B5EF4-FFF2-40B4-BE49-F238E27FC236}">
                <a16:creationId xmlns:a16="http://schemas.microsoft.com/office/drawing/2014/main" id="{34296C30-21A8-053F-73F8-06B408BA6A56}"/>
              </a:ext>
            </a:extLst>
          </p:cNvPr>
          <p:cNvSpPr txBox="1">
            <a:spLocks noGrp="1"/>
          </p:cNvSpPr>
          <p:nvPr>
            <p:ph type="body" idx="1"/>
          </p:nvPr>
        </p:nvSpPr>
        <p:spPr>
          <a:xfrm>
            <a:off x="311699" y="1225225"/>
            <a:ext cx="4593787"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Open the </a:t>
            </a:r>
            <a:r>
              <a:rPr lang="en-US" dirty="0" err="1">
                <a:uFill>
                  <a:noFill/>
                </a:uFill>
              </a:rPr>
              <a:t>devtools</a:t>
            </a:r>
            <a:r>
              <a:rPr lang="en-US" dirty="0">
                <a:uFill>
                  <a:noFill/>
                </a:uFill>
              </a:rPr>
              <a:t> by clicking the link with </a:t>
            </a:r>
            <a:r>
              <a:rPr lang="en-US" dirty="0">
                <a:uFill>
                  <a:noFill/>
                </a:uFill>
                <a:hlinkClick r:id="rId3"/>
              </a:rPr>
              <a:t>/__</a:t>
            </a:r>
            <a:r>
              <a:rPr lang="en-US" dirty="0" err="1">
                <a:uFill>
                  <a:noFill/>
                </a:uFill>
                <a:hlinkClick r:id="rId3"/>
              </a:rPr>
              <a:t>devtools</a:t>
            </a:r>
            <a:r>
              <a:rPr lang="en-US" dirty="0">
                <a:uFill>
                  <a:noFill/>
                </a:uFill>
                <a:hlinkClick r:id="rId3"/>
              </a:rPr>
              <a:t>__/ </a:t>
            </a: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a:uFill>
                  <a:noFill/>
                </a:uFill>
              </a:rPr>
              <a:t>Click on the buttons in the left panel and explore</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60FAF2F9-6DFE-A7FA-EC83-FEDB016A05B8}"/>
              </a:ext>
            </a:extLst>
          </p:cNvPr>
          <p:cNvPicPr>
            <a:picLocks noChangeAspect="1"/>
          </p:cNvPicPr>
          <p:nvPr/>
        </p:nvPicPr>
        <p:blipFill>
          <a:blip r:embed="rId4"/>
          <a:stretch>
            <a:fillRect/>
          </a:stretch>
        </p:blipFill>
        <p:spPr>
          <a:xfrm>
            <a:off x="1616760" y="2571750"/>
            <a:ext cx="5687682" cy="2342437"/>
          </a:xfrm>
          <a:prstGeom prst="rect">
            <a:avLst/>
          </a:prstGeom>
        </p:spPr>
      </p:pic>
      <p:sp>
        <p:nvSpPr>
          <p:cNvPr id="10" name="Google Shape;128;p22">
            <a:extLst>
              <a:ext uri="{FF2B5EF4-FFF2-40B4-BE49-F238E27FC236}">
                <a16:creationId xmlns:a16="http://schemas.microsoft.com/office/drawing/2014/main" id="{754002E3-CCDD-183A-2037-289C638D02C9}"/>
              </a:ext>
            </a:extLst>
          </p:cNvPr>
          <p:cNvSpPr txBox="1">
            <a:spLocks noGrp="1"/>
          </p:cNvSpPr>
          <p:nvPr>
            <p:ph type="body" idx="2"/>
          </p:nvPr>
        </p:nvSpPr>
        <p:spPr>
          <a:xfrm>
            <a:off x="4306265" y="1225225"/>
            <a:ext cx="47604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Example1.vue</a:t>
            </a:r>
          </a:p>
          <a:p>
            <a:pPr marL="0" lvl="0" indent="0" algn="l" rtl="0">
              <a:spcBef>
                <a:spcPts val="0"/>
              </a:spcBef>
              <a:spcAft>
                <a:spcPts val="0"/>
              </a:spcAft>
              <a:buNone/>
            </a:pPr>
            <a:endParaRPr lang="en" b="1" i="1" dirty="0"/>
          </a:p>
          <a:p>
            <a:pPr marL="0" lvl="0" indent="0" algn="l" rtl="0">
              <a:spcBef>
                <a:spcPts val="0"/>
              </a:spcBef>
              <a:spcAft>
                <a:spcPts val="0"/>
              </a:spcAft>
              <a:buNone/>
            </a:pPr>
            <a:endParaRPr b="1" i="1" dirty="0"/>
          </a:p>
        </p:txBody>
      </p:sp>
    </p:spTree>
    <p:extLst>
      <p:ext uri="{BB962C8B-B14F-4D97-AF65-F5344CB8AC3E}">
        <p14:creationId xmlns:p14="http://schemas.microsoft.com/office/powerpoint/2010/main" val="3647537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86645-2874-F670-FC7C-2A06045B3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08FF1-9B0A-BDD8-31DB-37CE1939F957}"/>
              </a:ext>
            </a:extLst>
          </p:cNvPr>
          <p:cNvSpPr>
            <a:spLocks noGrp="1"/>
          </p:cNvSpPr>
          <p:nvPr>
            <p:ph type="title"/>
          </p:nvPr>
        </p:nvSpPr>
        <p:spPr>
          <a:xfrm>
            <a:off x="311700" y="315925"/>
            <a:ext cx="8520600" cy="831300"/>
          </a:xfrm>
        </p:spPr>
        <p:txBody>
          <a:bodyPr wrap="square" anchor="ctr">
            <a:normAutofit/>
          </a:bodyPr>
          <a:lstStyle/>
          <a:p>
            <a:r>
              <a:rPr lang="en" dirty="0"/>
              <a:t>Component: Syntax</a:t>
            </a:r>
            <a:endParaRPr lang="en-US" dirty="0"/>
          </a:p>
        </p:txBody>
      </p:sp>
      <p:sp>
        <p:nvSpPr>
          <p:cNvPr id="3" name="Text Placeholder 2">
            <a:extLst>
              <a:ext uri="{FF2B5EF4-FFF2-40B4-BE49-F238E27FC236}">
                <a16:creationId xmlns:a16="http://schemas.microsoft.com/office/drawing/2014/main" id="{34BF9B2E-4AE9-5596-5CE6-D6A4B58F44AA}"/>
              </a:ext>
            </a:extLst>
          </p:cNvPr>
          <p:cNvSpPr>
            <a:spLocks noGrp="1"/>
          </p:cNvSpPr>
          <p:nvPr>
            <p:ph type="body" idx="4294967295"/>
          </p:nvPr>
        </p:nvSpPr>
        <p:spPr>
          <a:xfrm>
            <a:off x="311699" y="1227555"/>
            <a:ext cx="4787426" cy="2746568"/>
          </a:xfrm>
        </p:spPr>
        <p:txBody>
          <a:bodyPr anchor="t">
            <a:normAutofit/>
          </a:bodyPr>
          <a:lstStyle/>
          <a:p>
            <a:pPr marL="0" marR="0" lvl="0" indent="0" algn="l" rtl="0">
              <a:lnSpc>
                <a:spcPct val="115000"/>
              </a:lnSpc>
              <a:spcBef>
                <a:spcPts val="1600"/>
              </a:spcBef>
              <a:spcAft>
                <a:spcPts val="0"/>
              </a:spcAft>
              <a:buNone/>
            </a:pPr>
            <a:r>
              <a:rPr lang="en-SG" sz="1400" dirty="0"/>
              <a:t>Components contain 3 things. Yes you guessed them right. They are JavaScript, HTML, and CSS </a:t>
            </a:r>
            <a:r>
              <a:rPr lang="en-SG" sz="1400" dirty="0">
                <a:sym typeface="Wingdings" pitchFamily="2" charset="2"/>
              </a:rPr>
              <a:t> </a:t>
            </a:r>
            <a:endParaRPr lang="en-SG" sz="1400" dirty="0"/>
          </a:p>
          <a:p>
            <a:pPr marL="457200" lvl="1" indent="0">
              <a:spcBef>
                <a:spcPts val="0"/>
              </a:spcBef>
              <a:buNone/>
            </a:pPr>
            <a:endParaRPr lang="en-SG" sz="1200" dirty="0">
              <a:solidFill>
                <a:srgbClr val="002060"/>
              </a:solidFill>
            </a:endParaRPr>
          </a:p>
          <a:p>
            <a:pPr marL="457200" lvl="1" indent="0">
              <a:spcBef>
                <a:spcPts val="0"/>
              </a:spcBef>
              <a:buNone/>
            </a:pPr>
            <a:endParaRPr lang="en-SG" sz="1200" dirty="0">
              <a:solidFill>
                <a:srgbClr val="002060"/>
              </a:solidFill>
            </a:endParaRPr>
          </a:p>
          <a:p>
            <a:pPr marL="457200" lvl="1" indent="0">
              <a:spcBef>
                <a:spcPts val="0"/>
              </a:spcBef>
              <a:buNone/>
            </a:pPr>
            <a:r>
              <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&lt;script setup&gt; ** Vue/JS stuff ** &lt;/script&gt;</a:t>
            </a:r>
          </a:p>
          <a:p>
            <a:pPr marL="457200" lvl="1" indent="0">
              <a:spcBef>
                <a:spcPts val="0"/>
              </a:spcBef>
              <a:buNone/>
            </a:pPr>
            <a:endPar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457200" lvl="1" indent="0">
              <a:spcBef>
                <a:spcPts val="0"/>
              </a:spcBef>
              <a:buNone/>
            </a:pPr>
            <a:r>
              <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&lt;template&gt;** HTML stuff ** &lt;/template&gt;</a:t>
            </a:r>
          </a:p>
          <a:p>
            <a:pPr marL="457200" lvl="1" indent="0">
              <a:spcBef>
                <a:spcPts val="0"/>
              </a:spcBef>
              <a:buNone/>
            </a:pPr>
            <a:endPar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457200" lvl="1" indent="0">
              <a:spcBef>
                <a:spcPts val="0"/>
              </a:spcBef>
              <a:buNone/>
            </a:pPr>
            <a:r>
              <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&lt;style scoped&gt;** CSS stuff ** &lt;/style&gt;</a:t>
            </a:r>
          </a:p>
          <a:p>
            <a:pPr marL="457200" lvl="1" indent="0">
              <a:spcBef>
                <a:spcPts val="0"/>
              </a:spcBef>
              <a:buNone/>
            </a:pPr>
            <a:endParaRPr lang="en-SG" sz="1200"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DC5D12C5-1CB3-4072-6CD5-C15065C693D9}"/>
              </a:ext>
            </a:extLst>
          </p:cNvPr>
          <p:cNvSpPr txBox="1"/>
          <p:nvPr/>
        </p:nvSpPr>
        <p:spPr>
          <a:xfrm>
            <a:off x="311699" y="4519940"/>
            <a:ext cx="4100732" cy="461665"/>
          </a:xfrm>
          <a:prstGeom prst="rect">
            <a:avLst/>
          </a:prstGeom>
          <a:noFill/>
        </p:spPr>
        <p:txBody>
          <a:bodyPr wrap="square" rtlCol="0">
            <a:spAutoFit/>
          </a:bodyPr>
          <a:lstStyle/>
          <a:p>
            <a:r>
              <a:rPr lang="en-US" sz="1200" dirty="0">
                <a:latin typeface="Open Sans" panose="020B0606030504020204" pitchFamily="34" charset="0"/>
                <a:ea typeface="Open Sans" panose="020B0606030504020204" pitchFamily="34" charset="0"/>
                <a:cs typeface="Open Sans" panose="020B0606030504020204" pitchFamily="34" charset="0"/>
              </a:rPr>
              <a:t>Note: “scoped” means the styling is applicable only to this particular component.</a:t>
            </a:r>
          </a:p>
        </p:txBody>
      </p:sp>
      <p:sp>
        <p:nvSpPr>
          <p:cNvPr id="5" name="Google Shape;135;p23">
            <a:extLst>
              <a:ext uri="{FF2B5EF4-FFF2-40B4-BE49-F238E27FC236}">
                <a16:creationId xmlns:a16="http://schemas.microsoft.com/office/drawing/2014/main" id="{B2EC112E-647B-ACF3-182A-872626D0916F}"/>
              </a:ext>
            </a:extLst>
          </p:cNvPr>
          <p:cNvSpPr txBox="1">
            <a:spLocks/>
          </p:cNvSpPr>
          <p:nvPr/>
        </p:nvSpPr>
        <p:spPr>
          <a:xfrm>
            <a:off x="4627084" y="620005"/>
            <a:ext cx="4520700" cy="441666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SG" b="1" dirty="0"/>
              <a:t>Example: </a:t>
            </a:r>
            <a:r>
              <a:rPr lang="en-SG" i="1" dirty="0"/>
              <a:t>Example2.vue</a:t>
            </a:r>
          </a:p>
        </p:txBody>
      </p:sp>
    </p:spTree>
    <p:extLst>
      <p:ext uri="{BB962C8B-B14F-4D97-AF65-F5344CB8AC3E}">
        <p14:creationId xmlns:p14="http://schemas.microsoft.com/office/powerpoint/2010/main" val="988453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896F5-E3B7-5C71-2C08-A2EA5BF16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2256F-EC09-AFB2-1130-B62EB7EDAA95}"/>
              </a:ext>
            </a:extLst>
          </p:cNvPr>
          <p:cNvSpPr>
            <a:spLocks noGrp="1"/>
          </p:cNvSpPr>
          <p:nvPr>
            <p:ph type="title"/>
          </p:nvPr>
        </p:nvSpPr>
        <p:spPr>
          <a:xfrm>
            <a:off x="311700" y="315925"/>
            <a:ext cx="8520600" cy="831300"/>
          </a:xfrm>
        </p:spPr>
        <p:txBody>
          <a:bodyPr wrap="square" anchor="ctr">
            <a:normAutofit/>
          </a:bodyPr>
          <a:lstStyle/>
          <a:p>
            <a:r>
              <a:rPr lang="en" dirty="0"/>
              <a:t>Component: Syntax</a:t>
            </a:r>
            <a:endParaRPr lang="en-US" dirty="0"/>
          </a:p>
        </p:txBody>
      </p:sp>
      <p:sp>
        <p:nvSpPr>
          <p:cNvPr id="3" name="Text Placeholder 2">
            <a:extLst>
              <a:ext uri="{FF2B5EF4-FFF2-40B4-BE49-F238E27FC236}">
                <a16:creationId xmlns:a16="http://schemas.microsoft.com/office/drawing/2014/main" id="{76976D11-0462-4595-2B13-10D7F4DD48D3}"/>
              </a:ext>
            </a:extLst>
          </p:cNvPr>
          <p:cNvSpPr>
            <a:spLocks noGrp="1"/>
          </p:cNvSpPr>
          <p:nvPr>
            <p:ph type="body" idx="4294967295"/>
          </p:nvPr>
        </p:nvSpPr>
        <p:spPr>
          <a:xfrm>
            <a:off x="311699" y="1227555"/>
            <a:ext cx="4443181" cy="2746568"/>
          </a:xfrm>
        </p:spPr>
        <p:txBody>
          <a:bodyPr anchor="t">
            <a:normAutofit fontScale="92500" lnSpcReduction="20000"/>
          </a:bodyPr>
          <a:lstStyle/>
          <a:p>
            <a:pPr marL="0" marR="0" lvl="0" indent="0" algn="l" rtl="0">
              <a:lnSpc>
                <a:spcPct val="115000"/>
              </a:lnSpc>
              <a:spcBef>
                <a:spcPts val="1600"/>
              </a:spcBef>
              <a:spcAft>
                <a:spcPts val="0"/>
              </a:spcAft>
              <a:buNone/>
            </a:pPr>
            <a:r>
              <a:rPr lang="en-US" sz="1400" b="1" dirty="0"/>
              <a:t>ref: </a:t>
            </a:r>
            <a:r>
              <a:rPr lang="en-US" sz="1400" dirty="0"/>
              <a:t>Vue’s library function used to create reactive variables. It takes the argument and returns it wrapped within a ref object with a </a:t>
            </a:r>
            <a:r>
              <a:rPr lang="en-US" sz="1400" b="1" dirty="0"/>
              <a:t>.value </a:t>
            </a:r>
            <a:r>
              <a:rPr lang="en-US" sz="1400" dirty="0"/>
              <a:t>property</a:t>
            </a:r>
            <a:endParaRPr lang="en-SG" sz="1400" dirty="0"/>
          </a:p>
          <a:p>
            <a:pPr marL="0" indent="0">
              <a:spcBef>
                <a:spcPts val="1600"/>
              </a:spcBef>
              <a:buNone/>
            </a:pPr>
            <a:r>
              <a:rPr lang="en-SG" sz="1200" dirty="0"/>
              <a:t>Other Vue libraries that are typically imported include: </a:t>
            </a:r>
          </a:p>
          <a:p>
            <a:pPr marL="0" marR="0" lvl="0" indent="0" algn="l" rtl="0">
              <a:lnSpc>
                <a:spcPct val="115000"/>
              </a:lnSpc>
              <a:spcBef>
                <a:spcPts val="1600"/>
              </a:spcBef>
              <a:spcAft>
                <a:spcPts val="0"/>
              </a:spcAft>
              <a:buNone/>
            </a:pPr>
            <a:r>
              <a:rPr lang="en-SG" sz="1200" dirty="0" err="1">
                <a:solidFill>
                  <a:schemeClr val="accent5"/>
                </a:solidFill>
              </a:rPr>
              <a:t>onMounted</a:t>
            </a:r>
            <a:r>
              <a:rPr lang="en-SG" sz="1200" dirty="0"/>
              <a:t>, </a:t>
            </a:r>
            <a:r>
              <a:rPr lang="en-SG" sz="1200" dirty="0">
                <a:solidFill>
                  <a:schemeClr val="accent5"/>
                </a:solidFill>
              </a:rPr>
              <a:t>computed, </a:t>
            </a:r>
            <a:r>
              <a:rPr lang="en-SG" sz="1200" dirty="0" err="1">
                <a:solidFill>
                  <a:schemeClr val="accent5"/>
                </a:solidFill>
              </a:rPr>
              <a:t>defineProps</a:t>
            </a:r>
            <a:r>
              <a:rPr lang="en-SG" sz="1200" dirty="0">
                <a:solidFill>
                  <a:schemeClr val="accent5"/>
                </a:solidFill>
              </a:rPr>
              <a:t>, </a:t>
            </a:r>
            <a:r>
              <a:rPr lang="en-SG" sz="1200" dirty="0" err="1">
                <a:solidFill>
                  <a:schemeClr val="accent5"/>
                </a:solidFill>
              </a:rPr>
              <a:t>defineEmits</a:t>
            </a:r>
            <a:r>
              <a:rPr lang="en-SG" sz="1200" dirty="0">
                <a:solidFill>
                  <a:schemeClr val="accent5"/>
                </a:solidFill>
              </a:rPr>
              <a:t>, …</a:t>
            </a:r>
            <a:endParaRPr lang="en-SG" sz="2000" dirty="0">
              <a:solidFill>
                <a:srgbClr val="C00000"/>
              </a:solidFill>
              <a:latin typeface="Arial"/>
              <a:cs typeface="Arial"/>
            </a:endParaRPr>
          </a:p>
          <a:p>
            <a:pPr marL="0" indent="0">
              <a:lnSpc>
                <a:spcPct val="114999"/>
              </a:lnSpc>
              <a:spcBef>
                <a:spcPts val="1600"/>
              </a:spcBef>
              <a:buNone/>
            </a:pPr>
            <a:endParaRPr lang="en-SG" sz="1200" dirty="0">
              <a:solidFill>
                <a:schemeClr val="accent5"/>
              </a:solidFill>
            </a:endParaRPr>
          </a:p>
          <a:p>
            <a:pPr marL="0" indent="0">
              <a:lnSpc>
                <a:spcPct val="104999"/>
              </a:lnSpc>
              <a:buNone/>
            </a:pPr>
            <a:r>
              <a:rPr lang="en-SG" sz="1200" dirty="0">
                <a:solidFill>
                  <a:schemeClr val="tx1"/>
                </a:solidFill>
              </a:rPr>
              <a:t>Note: for objects, reactive, instead of ref, can also be </a:t>
            </a:r>
            <a:r>
              <a:rPr lang="en-SG" sz="1200" dirty="0" err="1">
                <a:solidFill>
                  <a:schemeClr val="tx1"/>
                </a:solidFill>
              </a:rPr>
              <a:t>used.But</a:t>
            </a:r>
            <a:r>
              <a:rPr lang="en-SG" sz="1200" dirty="0">
                <a:solidFill>
                  <a:schemeClr val="tx1"/>
                </a:solidFill>
              </a:rPr>
              <a:t> we shall cover this function in this course.</a:t>
            </a:r>
          </a:p>
          <a:p>
            <a:pPr marL="0" indent="0">
              <a:lnSpc>
                <a:spcPct val="104999"/>
              </a:lnSpc>
              <a:buNone/>
            </a:pPr>
            <a:r>
              <a:rPr lang="en-SG" sz="1200">
                <a:solidFill>
                  <a:schemeClr val="tx1"/>
                </a:solidFill>
              </a:rPr>
              <a:t>For more info: </a:t>
            </a:r>
            <a:r>
              <a:rPr lang="en-SG" sz="1200" dirty="0">
                <a:solidFill>
                  <a:schemeClr val="tx1"/>
                </a:solidFill>
                <a:latin typeface="Helvetica"/>
                <a:cs typeface="Helvetica"/>
                <a:hlinkClick r:id="rId2">
                  <a:extLst>
                    <a:ext uri="{A12FA001-AC4F-418D-AE19-62706E023703}">
                      <ahyp:hlinkClr xmlns:ahyp="http://schemas.microsoft.com/office/drawing/2018/hyperlinkcolor" val="tx"/>
                    </a:ext>
                  </a:extLst>
                </a:hlinkClick>
              </a:rPr>
              <a:t>https://vuejs.org/guide/essentials/reactivity-fundamentals.html#reactive</a:t>
            </a:r>
            <a:endParaRPr lang="en-SG" sz="1200" dirty="0">
              <a:solidFill>
                <a:schemeClr val="tx1"/>
              </a:solidFill>
            </a:endParaRPr>
          </a:p>
          <a:p>
            <a:pPr marL="0" indent="0">
              <a:lnSpc>
                <a:spcPct val="114999"/>
              </a:lnSpc>
              <a:spcBef>
                <a:spcPts val="1600"/>
              </a:spcBef>
              <a:buNone/>
            </a:pPr>
            <a:endParaRPr lang="en-SG" sz="1200" dirty="0">
              <a:solidFill>
                <a:schemeClr val="accent5"/>
              </a:solidFill>
            </a:endParaRPr>
          </a:p>
        </p:txBody>
      </p:sp>
      <p:sp>
        <p:nvSpPr>
          <p:cNvPr id="5" name="Google Shape;135;p23">
            <a:extLst>
              <a:ext uri="{FF2B5EF4-FFF2-40B4-BE49-F238E27FC236}">
                <a16:creationId xmlns:a16="http://schemas.microsoft.com/office/drawing/2014/main" id="{842BAEC3-9DC4-1BA7-9171-E95868C4DEB1}"/>
              </a:ext>
            </a:extLst>
          </p:cNvPr>
          <p:cNvSpPr txBox="1">
            <a:spLocks/>
          </p:cNvSpPr>
          <p:nvPr/>
        </p:nvSpPr>
        <p:spPr>
          <a:xfrm>
            <a:off x="4627084" y="620005"/>
            <a:ext cx="4520700" cy="441666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SG" b="1" dirty="0"/>
              <a:t>Example: </a:t>
            </a:r>
            <a:r>
              <a:rPr lang="en-SG" i="1" dirty="0"/>
              <a:t>Example2.vue</a:t>
            </a: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import libraries</a:t>
            </a:r>
          </a:p>
          <a:p>
            <a:r>
              <a:rPr lang="en-SG" dirty="0">
                <a:latin typeface="Open Sans" panose="020B0606030504020204" pitchFamily="34" charset="0"/>
                <a:ea typeface="Open Sans" panose="020B0606030504020204" pitchFamily="34" charset="0"/>
                <a:cs typeface="Open Sans" panose="020B0606030504020204" pitchFamily="34" charset="0"/>
              </a:rPr>
              <a:t>import { ref } from ‘</a:t>
            </a:r>
            <a:r>
              <a:rPr lang="en-SG" dirty="0" err="1">
                <a:latin typeface="Open Sans" panose="020B0606030504020204" pitchFamily="34" charset="0"/>
                <a:ea typeface="Open Sans" panose="020B0606030504020204" pitchFamily="34" charset="0"/>
                <a:cs typeface="Open Sans" panose="020B0606030504020204" pitchFamily="34" charset="0"/>
              </a:rPr>
              <a:t>vue</a:t>
            </a:r>
            <a:r>
              <a:rPr lang="en-SG" dirty="0">
                <a:latin typeface="Open Sans" panose="020B0606030504020204" pitchFamily="34" charset="0"/>
                <a:ea typeface="Open Sans" panose="020B0606030504020204" pitchFamily="34" charset="0"/>
                <a:cs typeface="Open Sans" panose="020B0606030504020204" pitchFamily="34" charset="0"/>
              </a:rPr>
              <a:t>’</a:t>
            </a:r>
          </a:p>
          <a:p>
            <a:endPar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endParaRP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define data</a:t>
            </a:r>
          </a:p>
          <a:p>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name = ref(“John”)</a:t>
            </a:r>
          </a:p>
          <a:p>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phone = ref(123456)</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use data</a:t>
            </a:r>
          </a:p>
          <a:p>
            <a:r>
              <a:rPr lang="en-SG" dirty="0">
                <a:latin typeface="Open Sans" panose="020B0606030504020204" pitchFamily="34" charset="0"/>
                <a:ea typeface="Open Sans" panose="020B0606030504020204" pitchFamily="34" charset="0"/>
                <a:cs typeface="Open Sans" panose="020B0606030504020204" pitchFamily="34" charset="0"/>
              </a:rPr>
              <a:t>console.log(</a:t>
            </a:r>
            <a:r>
              <a:rPr lang="en-SG" dirty="0" err="1">
                <a:latin typeface="Open Sans" panose="020B0606030504020204" pitchFamily="34" charset="0"/>
                <a:ea typeface="Open Sans" panose="020B0606030504020204" pitchFamily="34" charset="0"/>
                <a:cs typeface="Open Sans" panose="020B0606030504020204" pitchFamily="34" charset="0"/>
              </a:rPr>
              <a:t>name.value</a:t>
            </a:r>
            <a:r>
              <a:rPr lang="en-SG" dirty="0">
                <a:latin typeface="Open Sans" panose="020B0606030504020204" pitchFamily="34" charset="0"/>
                <a:ea typeface="Open Sans" panose="020B0606030504020204" pitchFamily="34" charset="0"/>
                <a:cs typeface="Open Sans" panose="020B0606030504020204" pitchFamily="34" charset="0"/>
              </a:rPr>
              <a:t>)</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define method(s)</a:t>
            </a:r>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function </a:t>
            </a:r>
            <a:r>
              <a:rPr lang="en-SG" dirty="0" err="1">
                <a:latin typeface="Open Sans" panose="020B0606030504020204" pitchFamily="34" charset="0"/>
                <a:ea typeface="Open Sans" panose="020B0606030504020204" pitchFamily="34" charset="0"/>
                <a:cs typeface="Open Sans" panose="020B0606030504020204" pitchFamily="34" charset="0"/>
              </a:rPr>
              <a:t>getPhone</a:t>
            </a:r>
            <a:r>
              <a:rPr lang="en-SG" dirty="0">
                <a:latin typeface="Open Sans" panose="020B0606030504020204" pitchFamily="34" charset="0"/>
                <a:ea typeface="Open Sans" panose="020B0606030504020204" pitchFamily="34" charset="0"/>
                <a:cs typeface="Open Sans" panose="020B0606030504020204" pitchFamily="34" charset="0"/>
              </a:rPr>
              <a:t>() {</a:t>
            </a:r>
          </a:p>
          <a:p>
            <a:r>
              <a:rPr lang="en-US" dirty="0">
                <a:latin typeface="Open Sans" panose="020B0606030504020204" pitchFamily="34" charset="0"/>
                <a:ea typeface="Open Sans" panose="020B0606030504020204" pitchFamily="34" charset="0"/>
                <a:cs typeface="Open Sans" panose="020B0606030504020204" pitchFamily="34" charset="0"/>
              </a:rPr>
              <a:t>     // method doesn't necessarily 'return’</a:t>
            </a:r>
          </a:p>
          <a:p>
            <a:r>
              <a:rPr lang="en-US" dirty="0">
                <a:latin typeface="Open Sans" panose="020B0606030504020204" pitchFamily="34" charset="0"/>
                <a:ea typeface="Open Sans" panose="020B0606030504020204" pitchFamily="34" charset="0"/>
                <a:cs typeface="Open Sans" panose="020B0606030504020204" pitchFamily="34" charset="0"/>
              </a:rPr>
              <a:t>     return "This is my number " + </a:t>
            </a:r>
            <a:r>
              <a:rPr lang="en-US" dirty="0" err="1">
                <a:latin typeface="Open Sans" panose="020B0606030504020204" pitchFamily="34" charset="0"/>
                <a:ea typeface="Open Sans" panose="020B0606030504020204" pitchFamily="34" charset="0"/>
                <a:cs typeface="Open Sans" panose="020B0606030504020204" pitchFamily="34" charset="0"/>
              </a:rPr>
              <a:t>phone.value</a:t>
            </a:r>
            <a:endParaRPr lang="en-US" dirty="0">
              <a:latin typeface="Open Sans" panose="020B0606030504020204" pitchFamily="34" charset="0"/>
              <a:ea typeface="Open Sans" panose="020B0606030504020204" pitchFamily="34" charset="0"/>
              <a:cs typeface="Open Sans" panose="020B0606030504020204" pitchFamily="34" charset="0"/>
            </a:endParaRPr>
          </a:p>
          <a:p>
            <a:r>
              <a:rPr lang="en-US" dirty="0">
                <a:latin typeface="Open Sans" panose="020B0606030504020204" pitchFamily="34" charset="0"/>
                <a:ea typeface="Open Sans" panose="020B0606030504020204" pitchFamily="34" charset="0"/>
                <a:cs typeface="Open Sans" panose="020B0606030504020204" pitchFamily="34" charset="0"/>
              </a:rPr>
              <a:t>}</a:t>
            </a:r>
            <a:endParaRPr lang="en-SG"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7108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Binding (1)</a:t>
            </a:r>
            <a:endParaRPr dirty="0"/>
          </a:p>
        </p:txBody>
      </p:sp>
      <p:sp>
        <p:nvSpPr>
          <p:cNvPr id="141" name="Google Shape;141;p24"/>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The most basic form of data binding is text interpolation using the “Mustache” syntax (double curly braces):</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a:t>{{ … }}  tells Vue to take everything inside them and parse it as code.</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p:txBody>
      </p:sp>
      <p:sp>
        <p:nvSpPr>
          <p:cNvPr id="142" name="Google Shape;142;p24"/>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Example2.vue</a:t>
            </a:r>
            <a:endParaRPr lang="en" b="1" dirty="0"/>
          </a:p>
          <a:p>
            <a:pPr marL="0" lvl="0" indent="0" algn="l" rtl="0">
              <a:spcBef>
                <a:spcPts val="0"/>
              </a:spcBef>
              <a:spcAft>
                <a:spcPts val="0"/>
              </a:spcAft>
              <a:buNone/>
            </a:pPr>
            <a:endParaRPr lang="en" b="1" i="1" dirty="0"/>
          </a:p>
          <a:p>
            <a:pPr marL="0" lvl="0" indent="0" algn="l" rtl="0">
              <a:spcBef>
                <a:spcPts val="0"/>
              </a:spcBef>
              <a:spcAft>
                <a:spcPts val="0"/>
              </a:spcAft>
              <a:buNone/>
            </a:pPr>
            <a:r>
              <a:rPr lang="en" dirty="0">
                <a:latin typeface="Courier New" panose="02070309020205020404" pitchFamily="49" charset="0"/>
                <a:cs typeface="Courier New" panose="02070309020205020404" pitchFamily="49" charset="0"/>
              </a:rPr>
              <a:t>&lt;h1&gt; Name : {{name}} &lt;/h1&gt;</a:t>
            </a:r>
            <a:endParaRPr dirty="0">
              <a:latin typeface="Courier New" panose="02070309020205020404" pitchFamily="49" charset="0"/>
              <a:cs typeface="Courier New" panose="02070309020205020404" pitchFamily="49" charset="0"/>
            </a:endParaRPr>
          </a:p>
          <a:p>
            <a:pPr marL="0" lvl="0" indent="0" algn="l" rtl="0">
              <a:spcBef>
                <a:spcPts val="0"/>
              </a:spcBef>
              <a:spcAft>
                <a:spcPts val="0"/>
              </a:spcAft>
              <a:buNone/>
            </a:pPr>
            <a:r>
              <a:rPr lang="en" dirty="0">
                <a:latin typeface="Courier New" panose="02070309020205020404" pitchFamily="49" charset="0"/>
                <a:cs typeface="Courier New" panose="02070309020205020404" pitchFamily="49" charset="0"/>
              </a:rPr>
              <a:t>&lt;h1&gt; Phone : {{getPhone()}} &lt;/h1&gt;</a:t>
            </a:r>
            <a:endParaRPr dirty="0">
              <a:latin typeface="Courier New" panose="02070309020205020404" pitchFamily="49" charset="0"/>
              <a:cs typeface="Courier New" panose="02070309020205020404" pitchFamily="49" charset="0"/>
            </a:endParaRPr>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 dirty="0"/>
              <a:t>In the above example, </a:t>
            </a:r>
            <a:r>
              <a:rPr lang="en" i="1" dirty="0"/>
              <a:t>name</a:t>
            </a:r>
            <a:r>
              <a:rPr lang="en" dirty="0"/>
              <a:t> will be replaced with the value of the name property of the </a:t>
            </a:r>
            <a:r>
              <a:rPr lang="en" dirty="0" err="1"/>
              <a:t>vue</a:t>
            </a:r>
            <a:r>
              <a:rPr lang="en" dirty="0"/>
              <a:t> instance.</a:t>
            </a: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 i="1" dirty="0" err="1"/>
              <a:t>getPhone</a:t>
            </a:r>
            <a:r>
              <a:rPr lang="en" i="1" dirty="0"/>
              <a:t>()</a:t>
            </a:r>
            <a:r>
              <a:rPr lang="en" dirty="0"/>
              <a:t> will be replaced with the outcome of the invocation of </a:t>
            </a:r>
            <a:r>
              <a:rPr lang="en" dirty="0" err="1"/>
              <a:t>vue</a:t>
            </a:r>
            <a:r>
              <a:rPr lang="en" dirty="0"/>
              <a:t> instance’s </a:t>
            </a:r>
            <a:r>
              <a:rPr lang="en" dirty="0" err="1"/>
              <a:t>getPhone</a:t>
            </a:r>
            <a:r>
              <a:rPr lang="en" dirty="0"/>
              <a:t> method.</a:t>
            </a:r>
            <a:endParaRPr dirty="0"/>
          </a:p>
          <a:p>
            <a:pPr marL="0" lvl="0" indent="0" algn="l" rtl="0">
              <a:spcBef>
                <a:spcPts val="0"/>
              </a:spcBef>
              <a:spcAft>
                <a:spcPts val="1600"/>
              </a:spcAft>
              <a:buNone/>
            </a:pPr>
            <a:endParaRPr dirty="0"/>
          </a:p>
        </p:txBody>
      </p:sp>
      <p:pic>
        <p:nvPicPr>
          <p:cNvPr id="2" name="Picture 1" descr="A picture containing text&#10;&#10;Description automatically generated">
            <a:extLst>
              <a:ext uri="{FF2B5EF4-FFF2-40B4-BE49-F238E27FC236}">
                <a16:creationId xmlns:a16="http://schemas.microsoft.com/office/drawing/2014/main" id="{2656E15D-2EE4-D413-2EE3-03D8578C434C}"/>
              </a:ext>
            </a:extLst>
          </p:cNvPr>
          <p:cNvPicPr>
            <a:picLocks noChangeAspect="1"/>
          </p:cNvPicPr>
          <p:nvPr/>
        </p:nvPicPr>
        <p:blipFill>
          <a:blip r:embed="rId3"/>
          <a:stretch>
            <a:fillRect/>
          </a:stretch>
        </p:blipFill>
        <p:spPr>
          <a:xfrm>
            <a:off x="878824" y="3918275"/>
            <a:ext cx="3270250" cy="787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Binding (2)</a:t>
            </a:r>
            <a:endParaRPr dirty="0"/>
          </a:p>
        </p:txBody>
      </p:sp>
      <p:sp>
        <p:nvSpPr>
          <p:cNvPr id="148" name="Google Shape;148;p25"/>
          <p:cNvSpPr txBox="1">
            <a:spLocks noGrp="1"/>
          </p:cNvSpPr>
          <p:nvPr>
            <p:ph type="body" idx="1"/>
          </p:nvPr>
        </p:nvSpPr>
        <p:spPr>
          <a:xfrm>
            <a:off x="311699" y="1225225"/>
            <a:ext cx="4443107" cy="3602350"/>
          </a:xfrm>
          <a:prstGeom prst="rect">
            <a:avLst/>
          </a:prstGeom>
        </p:spPr>
        <p:txBody>
          <a:bodyPr spcFirstLastPara="1" wrap="square" lIns="91425" tIns="91425" rIns="91425" bIns="91425" anchor="t" anchorCtr="0">
            <a:noAutofit/>
          </a:bodyPr>
          <a:lstStyle/>
          <a:p>
            <a:pPr marL="0" lvl="0" indent="0">
              <a:spcAft>
                <a:spcPts val="600"/>
              </a:spcAft>
              <a:buNone/>
            </a:pPr>
            <a:r>
              <a:rPr lang="en" dirty="0"/>
              <a:t>The value inside {{ … }} will be updated whenever there is a change in property.</a:t>
            </a:r>
          </a:p>
          <a:p>
            <a:pPr marL="0" marR="0" lvl="0" indent="0" algn="l" rtl="0">
              <a:lnSpc>
                <a:spcPct val="115000"/>
              </a:lnSpc>
              <a:spcAft>
                <a:spcPts val="0"/>
              </a:spcAft>
              <a:buNone/>
            </a:pPr>
            <a:endParaRPr lang="en" dirty="0"/>
          </a:p>
          <a:p>
            <a:pPr marL="0" lvl="0" indent="0" algn="l" rtl="0">
              <a:spcAft>
                <a:spcPts val="0"/>
              </a:spcAft>
              <a:buNone/>
            </a:pPr>
            <a:r>
              <a:rPr lang="en-SG" b="1" dirty="0"/>
              <a:t>Experiment:</a:t>
            </a:r>
          </a:p>
          <a:p>
            <a:pPr marL="457200" lvl="0" indent="-317500" algn="l" rtl="0">
              <a:spcAft>
                <a:spcPts val="0"/>
              </a:spcAft>
              <a:buSzPts val="1400"/>
              <a:buAutoNum type="arabicPeriod"/>
            </a:pPr>
            <a:r>
              <a:rPr lang="en-SG" dirty="0"/>
              <a:t>In </a:t>
            </a:r>
            <a:r>
              <a:rPr lang="en-SG" dirty="0" err="1"/>
              <a:t>devtools</a:t>
            </a:r>
            <a:r>
              <a:rPr lang="en-SG" dirty="0"/>
              <a:t>, select </a:t>
            </a:r>
            <a:r>
              <a:rPr lang="en-SG" i="1" dirty="0"/>
              <a:t>Example2</a:t>
            </a:r>
            <a:r>
              <a:rPr lang="en-SG" dirty="0"/>
              <a:t> component</a:t>
            </a:r>
          </a:p>
          <a:p>
            <a:pPr marL="457200" lvl="0" indent="-317500" algn="l" rtl="0">
              <a:spcBef>
                <a:spcPts val="0"/>
              </a:spcBef>
              <a:spcAft>
                <a:spcPts val="0"/>
              </a:spcAft>
              <a:buSzPts val="1400"/>
              <a:buAutoNum type="arabicPeriod"/>
            </a:pPr>
            <a:r>
              <a:rPr lang="en-SG" dirty="0"/>
              <a:t>Change name property to “Johnny”</a:t>
            </a:r>
          </a:p>
          <a:p>
            <a:pPr marL="457200" lvl="0" indent="-317500" algn="l" rtl="0">
              <a:spcBef>
                <a:spcPts val="0"/>
              </a:spcBef>
              <a:spcAft>
                <a:spcPts val="0"/>
              </a:spcAft>
              <a:buSzPts val="1400"/>
              <a:buAutoNum type="arabicPeriod"/>
            </a:pPr>
            <a:r>
              <a:rPr lang="en-SG" dirty="0"/>
              <a:t>Observe that the page is updated automatically</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p:txBody>
      </p:sp>
      <p:pic>
        <p:nvPicPr>
          <p:cNvPr id="4" name="Picture 3">
            <a:extLst>
              <a:ext uri="{FF2B5EF4-FFF2-40B4-BE49-F238E27FC236}">
                <a16:creationId xmlns:a16="http://schemas.microsoft.com/office/drawing/2014/main" id="{82112DEE-D972-4663-48DD-0CA0AE8EA5F9}"/>
              </a:ext>
            </a:extLst>
          </p:cNvPr>
          <p:cNvPicPr>
            <a:picLocks noChangeAspect="1"/>
          </p:cNvPicPr>
          <p:nvPr/>
        </p:nvPicPr>
        <p:blipFill>
          <a:blip r:embed="rId3"/>
          <a:stretch>
            <a:fillRect/>
          </a:stretch>
        </p:blipFill>
        <p:spPr>
          <a:xfrm>
            <a:off x="4754806" y="1447576"/>
            <a:ext cx="4250783" cy="224834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Vue Debugging 101</a:t>
            </a:r>
            <a:endParaRPr/>
          </a:p>
        </p:txBody>
      </p:sp>
      <p:sp>
        <p:nvSpPr>
          <p:cNvPr id="155" name="Google Shape;155;p26"/>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Use Chrome console and devtools to debug</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a:t>Enter variable names and check if you get expected results</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a:t>If you run into something you can’t figure out, or you find a particularly nasty error, check out</a:t>
            </a:r>
            <a:r>
              <a:rPr lang="en" dirty="0">
                <a:uFill>
                  <a:noFill/>
                </a:uFill>
                <a:hlinkClick r:id="rId3"/>
              </a:rPr>
              <a:t> https://forum.vuejs.org/c/help</a:t>
            </a:r>
            <a:endParaRPr dirty="0"/>
          </a:p>
          <a:p>
            <a:pPr marL="0" marR="0" lvl="0" indent="0" algn="l" rtl="0">
              <a:lnSpc>
                <a:spcPct val="115000"/>
              </a:lnSpc>
              <a:spcBef>
                <a:spcPts val="0"/>
              </a:spcBef>
              <a:spcAft>
                <a:spcPts val="0"/>
              </a:spcAft>
              <a:buNone/>
            </a:pPr>
            <a:endParaRPr dirty="0"/>
          </a:p>
        </p:txBody>
      </p:sp>
      <p:sp>
        <p:nvSpPr>
          <p:cNvPr id="156" name="Google Shape;156;p26"/>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t>Two common issues</a:t>
            </a:r>
            <a:endParaRPr b="1"/>
          </a:p>
          <a:p>
            <a:pPr marL="0" lvl="0" indent="0" algn="l" rtl="0">
              <a:spcBef>
                <a:spcPts val="0"/>
              </a:spcBef>
              <a:spcAft>
                <a:spcPts val="0"/>
              </a:spcAft>
              <a:buNone/>
            </a:pPr>
            <a:endParaRPr/>
          </a:p>
          <a:p>
            <a:pPr marL="0" lvl="0" indent="0" algn="l" rtl="0">
              <a:spcBef>
                <a:spcPts val="0"/>
              </a:spcBef>
              <a:spcAft>
                <a:spcPts val="0"/>
              </a:spcAft>
              <a:buNone/>
            </a:pPr>
            <a:r>
              <a:rPr lang="en" i="1"/>
              <a:t>Symptom: “Uncaught SyntaxError: Unexpected identifier”</a:t>
            </a:r>
            <a:endParaRPr i="1"/>
          </a:p>
          <a:p>
            <a:pPr marL="0" lvl="0" indent="0" algn="l" rtl="0">
              <a:spcBef>
                <a:spcPts val="0"/>
              </a:spcBef>
              <a:spcAft>
                <a:spcPts val="0"/>
              </a:spcAft>
              <a:buNone/>
            </a:pPr>
            <a:endParaRPr/>
          </a:p>
          <a:p>
            <a:pPr marL="0" lvl="0" indent="0" algn="l" rtl="0">
              <a:spcBef>
                <a:spcPts val="0"/>
              </a:spcBef>
              <a:spcAft>
                <a:spcPts val="0"/>
              </a:spcAft>
              <a:buNone/>
            </a:pPr>
            <a:r>
              <a:rPr lang="en"/>
              <a:t>Illness: usually typo error, missing comma or braces, or hidden strange characters</a:t>
            </a:r>
            <a:endParaRPr/>
          </a:p>
          <a:p>
            <a:pPr marL="0" lvl="0" indent="0" algn="l" rtl="0">
              <a:spcBef>
                <a:spcPts val="0"/>
              </a:spcBef>
              <a:spcAft>
                <a:spcPts val="0"/>
              </a:spcAft>
              <a:buNone/>
            </a:pPr>
            <a:endParaRPr/>
          </a:p>
          <a:p>
            <a:pPr marL="0" lvl="0" indent="0" algn="l" rtl="0">
              <a:spcBef>
                <a:spcPts val="0"/>
              </a:spcBef>
              <a:spcAft>
                <a:spcPts val="0"/>
              </a:spcAft>
              <a:buNone/>
            </a:pPr>
            <a:r>
              <a:rPr lang="en" i="1"/>
              <a:t>Symptom: “[Vue warn]: Property or method "propertyname" is not defined”</a:t>
            </a:r>
            <a:endParaRPr i="1"/>
          </a:p>
          <a:p>
            <a:pPr marL="0" lvl="0" indent="0" algn="l" rtl="0">
              <a:spcBef>
                <a:spcPts val="0"/>
              </a:spcBef>
              <a:spcAft>
                <a:spcPts val="0"/>
              </a:spcAft>
              <a:buNone/>
            </a:pPr>
            <a:endParaRPr/>
          </a:p>
          <a:p>
            <a:pPr marL="0" lvl="0" indent="0" algn="l" rtl="0">
              <a:spcBef>
                <a:spcPts val="0"/>
              </a:spcBef>
              <a:spcAft>
                <a:spcPts val="0"/>
              </a:spcAft>
              <a:buNone/>
            </a:pPr>
            <a:r>
              <a:rPr lang="en"/>
              <a:t>Illness: something was not defined in the options object (property or method)</a:t>
            </a:r>
            <a:endParaRPr/>
          </a:p>
          <a:p>
            <a:pPr marL="0" lvl="0" indent="0" algn="l" rtl="0">
              <a:spcBef>
                <a:spcPts val="0"/>
              </a:spcBef>
              <a:spcAft>
                <a:spcPts val="160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Exercise 1</a:t>
            </a:r>
            <a:endParaRPr/>
          </a:p>
        </p:txBody>
      </p:sp>
      <p:sp>
        <p:nvSpPr>
          <p:cNvPr id="170" name="Google Shape;170;p28"/>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600" dirty="0"/>
              <a:t>In Ex1.vue, the HTML part of the page is given. Program the script part by so that the page looks like the following.</a:t>
            </a:r>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r>
              <a:rPr lang="en" sz="1600" dirty="0"/>
              <a:t>Note: you need to install/include the node_modules first. In the terminal,</a:t>
            </a:r>
          </a:p>
          <a:p>
            <a:pPr marL="114300" indent="0">
              <a:lnSpc>
                <a:spcPct val="105000"/>
              </a:lnSpc>
              <a:spcAft>
                <a:spcPts val="600"/>
              </a:spcAft>
              <a:buClr>
                <a:srgbClr val="000000"/>
              </a:buClr>
              <a:buNone/>
            </a:pPr>
            <a:r>
              <a:rPr lang="en-US" sz="1600" dirty="0">
                <a:latin typeface="Open Sans" panose="020B0606030504020204" pitchFamily="34" charset="0"/>
                <a:ea typeface="Open Sans" panose="020B0606030504020204" pitchFamily="34" charset="0"/>
                <a:cs typeface="Open Sans" panose="020B0606030504020204" pitchFamily="34" charset="0"/>
              </a:rPr>
              <a:t>	cd resource</a:t>
            </a:r>
          </a:p>
          <a:p>
            <a:pPr marL="114300" indent="0">
              <a:lnSpc>
                <a:spcPct val="105000"/>
              </a:lnSpc>
              <a:spcAft>
                <a:spcPts val="600"/>
              </a:spcAft>
              <a:buClr>
                <a:srgbClr val="000000"/>
              </a:buClr>
              <a:buNone/>
            </a:pP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pnpm</a:t>
            </a:r>
            <a:r>
              <a:rPr lang="en-US" sz="1600" dirty="0">
                <a:latin typeface="Open Sans" panose="020B0606030504020204" pitchFamily="34" charset="0"/>
                <a:ea typeface="Open Sans" panose="020B0606030504020204" pitchFamily="34" charset="0"/>
                <a:cs typeface="Open Sans" panose="020B0606030504020204" pitchFamily="34" charset="0"/>
              </a:rPr>
              <a:t> dev</a:t>
            </a:r>
          </a:p>
          <a:p>
            <a:pPr marL="0" marR="0" lvl="0" indent="0" algn="l" rtl="0">
              <a:lnSpc>
                <a:spcPct val="115000"/>
              </a:lnSpc>
              <a:spcBef>
                <a:spcPts val="0"/>
              </a:spcBef>
              <a:spcAft>
                <a:spcPts val="0"/>
              </a:spcAft>
              <a:buNone/>
            </a:pPr>
            <a:endParaRPr sz="1600" dirty="0"/>
          </a:p>
        </p:txBody>
      </p:sp>
      <p:pic>
        <p:nvPicPr>
          <p:cNvPr id="4" name="Picture 3">
            <a:extLst>
              <a:ext uri="{FF2B5EF4-FFF2-40B4-BE49-F238E27FC236}">
                <a16:creationId xmlns:a16="http://schemas.microsoft.com/office/drawing/2014/main" id="{28FE6E1A-F287-F0B3-8F68-318AEF170808}"/>
              </a:ext>
            </a:extLst>
          </p:cNvPr>
          <p:cNvPicPr>
            <a:picLocks noChangeAspect="1"/>
          </p:cNvPicPr>
          <p:nvPr/>
        </p:nvPicPr>
        <p:blipFill>
          <a:blip r:embed="rId3"/>
          <a:stretch>
            <a:fillRect/>
          </a:stretch>
        </p:blipFill>
        <p:spPr>
          <a:xfrm>
            <a:off x="2747708" y="2176407"/>
            <a:ext cx="3648584" cy="79068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Vue Directives</a:t>
            </a:r>
            <a:endParaRPr dirty="0"/>
          </a:p>
        </p:txBody>
      </p:sp>
      <p:graphicFrame>
        <p:nvGraphicFramePr>
          <p:cNvPr id="184" name="Google Shape;184;p30"/>
          <p:cNvGraphicFramePr/>
          <p:nvPr>
            <p:extLst>
              <p:ext uri="{D42A27DB-BD31-4B8C-83A1-F6EECF244321}">
                <p14:modId xmlns:p14="http://schemas.microsoft.com/office/powerpoint/2010/main" val="1057708727"/>
              </p:ext>
            </p:extLst>
          </p:nvPr>
        </p:nvGraphicFramePr>
        <p:xfrm>
          <a:off x="430009" y="1117429"/>
          <a:ext cx="8713991" cy="3444060"/>
        </p:xfrm>
        <a:graphic>
          <a:graphicData uri="http://schemas.openxmlformats.org/drawingml/2006/table">
            <a:tbl>
              <a:tblPr>
                <a:noFill/>
                <a:tableStyleId>{FD335744-63B0-49A2-8954-48F3BB1E67D2}</a:tableStyleId>
              </a:tblPr>
              <a:tblGrid>
                <a:gridCol w="887844">
                  <a:extLst>
                    <a:ext uri="{9D8B030D-6E8A-4147-A177-3AD203B41FA5}">
                      <a16:colId xmlns:a16="http://schemas.microsoft.com/office/drawing/2014/main" val="20000"/>
                    </a:ext>
                  </a:extLst>
                </a:gridCol>
                <a:gridCol w="3966528">
                  <a:extLst>
                    <a:ext uri="{9D8B030D-6E8A-4147-A177-3AD203B41FA5}">
                      <a16:colId xmlns:a16="http://schemas.microsoft.com/office/drawing/2014/main" val="20001"/>
                    </a:ext>
                  </a:extLst>
                </a:gridCol>
                <a:gridCol w="3859619">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v-bind</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Bind an attribute value with a </a:t>
                      </a:r>
                      <a:r>
                        <a:rPr lang="en" sz="1400" dirty="0" err="1">
                          <a:latin typeface="Open Sans" panose="020B0606030504020204" pitchFamily="34" charset="0"/>
                          <a:ea typeface="Open Sans" panose="020B0606030504020204" pitchFamily="34" charset="0"/>
                          <a:cs typeface="Open Sans" panose="020B0606030504020204" pitchFamily="34" charset="0"/>
                        </a:rPr>
                        <a:t>vue</a:t>
                      </a:r>
                      <a:r>
                        <a:rPr lang="en" sz="1400" dirty="0">
                          <a:latin typeface="Open Sans" panose="020B0606030504020204" pitchFamily="34" charset="0"/>
                          <a:ea typeface="Open Sans" panose="020B0606030504020204" pitchFamily="34" charset="0"/>
                          <a:cs typeface="Open Sans" panose="020B0606030504020204" pitchFamily="34" charset="0"/>
                        </a:rPr>
                        <a:t> variable</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a:t>
                      </a:r>
                      <a:r>
                        <a:rPr lang="en" sz="1400" dirty="0" err="1">
                          <a:latin typeface="Open Sans" panose="020B0606030504020204" pitchFamily="34" charset="0"/>
                          <a:ea typeface="Open Sans" panose="020B0606030504020204" pitchFamily="34" charset="0"/>
                          <a:cs typeface="Open Sans" panose="020B0606030504020204" pitchFamily="34" charset="0"/>
                        </a:rPr>
                        <a:t>img</a:t>
                      </a:r>
                      <a:r>
                        <a:rPr lang="en" sz="1400" dirty="0">
                          <a:latin typeface="Open Sans" panose="020B0606030504020204" pitchFamily="34" charset="0"/>
                          <a:ea typeface="Open Sans" panose="020B0606030504020204" pitchFamily="34" charset="0"/>
                          <a:cs typeface="Open Sans" panose="020B0606030504020204" pitchFamily="34" charset="0"/>
                        </a:rPr>
                        <a:t> </a:t>
                      </a:r>
                      <a:r>
                        <a:rPr lang="en" sz="1400" dirty="0" err="1">
                          <a:latin typeface="Open Sans" panose="020B0606030504020204" pitchFamily="34" charset="0"/>
                          <a:ea typeface="Open Sans" panose="020B0606030504020204" pitchFamily="34" charset="0"/>
                          <a:cs typeface="Open Sans" panose="020B0606030504020204" pitchFamily="34" charset="0"/>
                        </a:rPr>
                        <a:t>v-bind:src</a:t>
                      </a:r>
                      <a:r>
                        <a:rPr lang="en" sz="1400" dirty="0">
                          <a:latin typeface="Open Sans" panose="020B0606030504020204" pitchFamily="34" charset="0"/>
                          <a:ea typeface="Open Sans" panose="020B0606030504020204" pitchFamily="34" charset="0"/>
                          <a:cs typeface="Open Sans" panose="020B0606030504020204" pitchFamily="34" charset="0"/>
                        </a:rPr>
                        <a:t>="</a:t>
                      </a:r>
                      <a:r>
                        <a:rPr lang="en" sz="1400" dirty="0" err="1">
                          <a:latin typeface="Open Sans" panose="020B0606030504020204" pitchFamily="34" charset="0"/>
                          <a:ea typeface="Open Sans" panose="020B0606030504020204" pitchFamily="34" charset="0"/>
                          <a:cs typeface="Open Sans" panose="020B0606030504020204" pitchFamily="34" charset="0"/>
                        </a:rPr>
                        <a:t>myImg</a:t>
                      </a:r>
                      <a:r>
                        <a:rPr lang="en" sz="1400" dirty="0">
                          <a:latin typeface="Open Sans" panose="020B0606030504020204" pitchFamily="34" charset="0"/>
                          <a:ea typeface="Open Sans" panose="020B0606030504020204" pitchFamily="34" charset="0"/>
                          <a:cs typeface="Open Sans" panose="020B0606030504020204" pitchFamily="34" charset="0"/>
                        </a:rPr>
                        <a:t>" /&gt;</a:t>
                      </a:r>
                      <a:endParaRPr sz="14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v-html</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Print a given vue variable as HTML</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&lt;div v-html="message"&gt;&lt;/div&gt;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v-on </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Listen to DOM events and run code</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&lt;button </a:t>
                      </a:r>
                      <a:r>
                        <a:rPr lang="en" sz="1400" dirty="0" err="1">
                          <a:latin typeface="Open Sans" panose="020B0606030504020204" pitchFamily="34" charset="0"/>
                          <a:ea typeface="Open Sans" panose="020B0606030504020204" pitchFamily="34" charset="0"/>
                          <a:cs typeface="Open Sans" panose="020B0606030504020204" pitchFamily="34" charset="0"/>
                        </a:rPr>
                        <a:t>v-on:click</a:t>
                      </a:r>
                      <a:r>
                        <a:rPr lang="en" sz="1400" dirty="0">
                          <a:latin typeface="Open Sans" panose="020B0606030504020204" pitchFamily="34" charset="0"/>
                          <a:ea typeface="Open Sans" panose="020B0606030504020204" pitchFamily="34" charset="0"/>
                          <a:cs typeface="Open Sans" panose="020B0606030504020204" pitchFamily="34" charset="0"/>
                        </a:rPr>
                        <a:t>=”msg = ‘hello’ "&gt;Add&lt;/button&gt;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v-for</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Loop through items in a Vue parameter – list (items)</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&lt;ul&gt;&lt;li v-for="item in items"&gt; &lt;/li&gt;&lt;/ul&gt;</a:t>
                      </a:r>
                      <a:endParaRPr sz="14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v-if</a:t>
                      </a:r>
                      <a:endParaRPr sz="140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v-else</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Remove/insert an element based on the truth value of Vue parameter</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&lt;div v-if="seen"&gt;You either see this&lt;/div&gt;</a:t>
                      </a:r>
                      <a:endParaRPr sz="14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&lt;div v-else&gt;or this!&lt;/div&gt;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v-model</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Bind Vue parameters to the values of input elements such as text, radio, and checkbox</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&lt;input v-model="msg"&gt;</a:t>
                      </a:r>
                    </a:p>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&lt;select v-model=“option”&gt;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E85844AA-3E7A-F06A-4A26-5CE788F66552}"/>
              </a:ext>
            </a:extLst>
          </p:cNvPr>
          <p:cNvSpPr txBox="1"/>
          <p:nvPr/>
        </p:nvSpPr>
        <p:spPr>
          <a:xfrm>
            <a:off x="311674" y="4582755"/>
            <a:ext cx="8520599" cy="566758"/>
          </a:xfrm>
          <a:prstGeom prst="rect">
            <a:avLst/>
          </a:prstGeom>
          <a:noFill/>
        </p:spPr>
        <p:txBody>
          <a:bodyPr wrap="square" rtlCol="0">
            <a:spAutoFit/>
          </a:bodyPr>
          <a:lstStyle/>
          <a:p>
            <a:pPr lvl="0">
              <a:lnSpc>
                <a:spcPct val="115000"/>
              </a:lnSpc>
            </a:pPr>
            <a:r>
              <a:rPr lang="en-US" dirty="0"/>
              <a:t>Directives are special attributes with the v-prefix, used to reactively apply side effects to the DOM when the value of its expression changes.</a:t>
            </a:r>
          </a:p>
        </p:txBody>
      </p:sp>
    </p:spTree>
    <p:extLst>
      <p:ext uri="{BB962C8B-B14F-4D97-AF65-F5344CB8AC3E}">
        <p14:creationId xmlns:p14="http://schemas.microsoft.com/office/powerpoint/2010/main" val="1782026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Conditional Rendering (1)</a:t>
            </a:r>
            <a:endParaRPr dirty="0"/>
          </a:p>
        </p:txBody>
      </p:sp>
      <p:sp>
        <p:nvSpPr>
          <p:cNvPr id="177" name="Google Shape;177;p29"/>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buNone/>
            </a:pPr>
            <a:r>
              <a:rPr lang="en-SG" dirty="0"/>
              <a:t>The directive </a:t>
            </a:r>
            <a:r>
              <a:rPr lang="en-SG" dirty="0">
                <a:solidFill>
                  <a:schemeClr val="accent5"/>
                </a:solidFill>
              </a:rPr>
              <a:t>v-if</a:t>
            </a:r>
            <a:r>
              <a:rPr lang="en-SG" dirty="0"/>
              <a:t>, </a:t>
            </a:r>
            <a:r>
              <a:rPr lang="en-SG" dirty="0">
                <a:solidFill>
                  <a:schemeClr val="accent5"/>
                </a:solidFill>
              </a:rPr>
              <a:t>v-else</a:t>
            </a:r>
            <a:r>
              <a:rPr lang="en-SG" dirty="0"/>
              <a:t> is used to conditionally render a block. The block will only be rendered if the directive's expression returns a truthy value.</a:t>
            </a:r>
          </a:p>
          <a:p>
            <a:pPr marL="0" indent="0">
              <a:spcBef>
                <a:spcPts val="1600"/>
              </a:spcBef>
              <a:buNone/>
            </a:pPr>
            <a:r>
              <a:rPr lang="en-US" dirty="0"/>
              <a:t>A</a:t>
            </a:r>
            <a:r>
              <a:rPr lang="en-US" dirty="0">
                <a:solidFill>
                  <a:schemeClr val="accent5"/>
                </a:solidFill>
              </a:rPr>
              <a:t> v-else </a:t>
            </a:r>
            <a:r>
              <a:rPr lang="en-US" dirty="0"/>
              <a:t>element must immediately follow a v-if or a v-else-if element - otherwise it will not be recognized.</a:t>
            </a:r>
            <a:endParaRPr lang="en" dirty="0"/>
          </a:p>
          <a:p>
            <a:pPr marL="0" marR="0" lvl="0" indent="0" algn="l" rtl="0">
              <a:lnSpc>
                <a:spcPct val="115000"/>
              </a:lnSpc>
              <a:spcBef>
                <a:spcPts val="1600"/>
              </a:spcBef>
              <a:spcAft>
                <a:spcPts val="0"/>
              </a:spcAft>
              <a:buNone/>
            </a:pPr>
            <a:endParaRPr lang="en" dirty="0"/>
          </a:p>
          <a:p>
            <a:pPr marL="0" indent="0">
              <a:spcBef>
                <a:spcPts val="1600"/>
              </a:spcBef>
              <a:buNone/>
            </a:pPr>
            <a:r>
              <a:rPr lang="en-US" dirty="0">
                <a:solidFill>
                  <a:schemeClr val="tx1"/>
                </a:solidFill>
              </a:rPr>
              <a:t>*explore </a:t>
            </a:r>
            <a:r>
              <a:rPr lang="en-US" dirty="0">
                <a:solidFill>
                  <a:schemeClr val="accent5"/>
                </a:solidFill>
              </a:rPr>
              <a:t>v-else-if </a:t>
            </a:r>
            <a:r>
              <a:rPr lang="en-US" dirty="0">
                <a:solidFill>
                  <a:schemeClr val="tx1"/>
                </a:solidFill>
              </a:rPr>
              <a:t>on your own</a:t>
            </a:r>
          </a:p>
        </p:txBody>
      </p:sp>
      <p:sp>
        <p:nvSpPr>
          <p:cNvPr id="178" name="Google Shape;178;p29"/>
          <p:cNvSpPr txBox="1">
            <a:spLocks noGrp="1"/>
          </p:cNvSpPr>
          <p:nvPr>
            <p:ph type="body" idx="2"/>
          </p:nvPr>
        </p:nvSpPr>
        <p:spPr>
          <a:xfrm>
            <a:off x="4832400" y="1225224"/>
            <a:ext cx="3999900" cy="37328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Example3.vue</a:t>
            </a:r>
            <a:endParaRPr i="1" dirty="0"/>
          </a:p>
          <a:p>
            <a:pPr marL="0" lvl="0" indent="0" algn="l" rtl="0">
              <a:spcBef>
                <a:spcPts val="1600"/>
              </a:spcBef>
              <a:spcAft>
                <a:spcPts val="0"/>
              </a:spcAft>
              <a:buClr>
                <a:schemeClr val="dk1"/>
              </a:buClr>
              <a:buSzPts val="1100"/>
              <a:buFont typeface="Arial"/>
              <a:buNone/>
            </a:pPr>
            <a:r>
              <a:rPr lang="en" dirty="0">
                <a:latin typeface="Open Sans" panose="020B0606030504020204" pitchFamily="34" charset="0"/>
                <a:ea typeface="Open Sans" panose="020B0606030504020204" pitchFamily="34" charset="0"/>
                <a:cs typeface="Open Sans" panose="020B0606030504020204" pitchFamily="34" charset="0"/>
              </a:rPr>
              <a:t>&lt;p v-if="x==1"&gt;Now you see me&lt;/p&gt;</a:t>
            </a:r>
          </a:p>
          <a:p>
            <a:pPr marL="0" lvl="0" indent="0" algn="l" rtl="0">
              <a:spcBef>
                <a:spcPts val="1600"/>
              </a:spcBef>
              <a:spcAft>
                <a:spcPts val="0"/>
              </a:spcAft>
              <a:buClr>
                <a:schemeClr val="dk1"/>
              </a:buClr>
              <a:buSzPts val="1100"/>
              <a:buFont typeface="Arial"/>
              <a:buNone/>
            </a:pPr>
            <a:r>
              <a:rPr lang="en" dirty="0">
                <a:latin typeface="Open Sans" panose="020B0606030504020204" pitchFamily="34" charset="0"/>
                <a:ea typeface="Open Sans" panose="020B0606030504020204" pitchFamily="34" charset="0"/>
                <a:cs typeface="Open Sans" panose="020B0606030504020204" pitchFamily="34" charset="0"/>
              </a:rPr>
              <a:t>&lt;p v-else&gt;You don’t see me&lt;/p&gt;</a:t>
            </a:r>
            <a:endParaRPr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1600"/>
              </a:spcBef>
              <a:spcAft>
                <a:spcPts val="0"/>
              </a:spcAft>
              <a:buNone/>
            </a:pPr>
            <a:r>
              <a:rPr lang="en" dirty="0"/>
              <a:t>Here, the v-if directive would remove/insert the different &lt;p&gt; element based on the truthiness of the expression x==1.</a:t>
            </a:r>
            <a:endParaRPr dirty="0"/>
          </a:p>
          <a:p>
            <a:pPr marL="0" lvl="0" indent="0" algn="l" rtl="0">
              <a:spcBef>
                <a:spcPts val="1600"/>
              </a:spcBef>
              <a:spcAft>
                <a:spcPts val="1600"/>
              </a:spcAft>
              <a:buNone/>
            </a:pPr>
            <a:r>
              <a:rPr lang="en" dirty="0"/>
              <a:t>Note that x should be a reactive variable.</a:t>
            </a:r>
          </a:p>
          <a:p>
            <a:pPr marL="0" indent="0">
              <a:spcBef>
                <a:spcPts val="1600"/>
              </a:spcBef>
              <a:spcAft>
                <a:spcPts val="1600"/>
              </a:spcAft>
              <a:buNone/>
            </a:pPr>
            <a:r>
              <a:rPr lang="en" dirty="0"/>
              <a:t>Directive attribute values are expected to be a single JavaScript expression.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56C6BD5-964F-1CFE-04D9-2EC7C4B29660}"/>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789EF102-92F0-8189-2D46-8BA0170F5723}"/>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Conditional Rendering (2)</a:t>
            </a:r>
            <a:endParaRPr dirty="0"/>
          </a:p>
        </p:txBody>
      </p:sp>
      <p:sp>
        <p:nvSpPr>
          <p:cNvPr id="177" name="Google Shape;177;p29">
            <a:extLst>
              <a:ext uri="{FF2B5EF4-FFF2-40B4-BE49-F238E27FC236}">
                <a16:creationId xmlns:a16="http://schemas.microsoft.com/office/drawing/2014/main" id="{764AEA0D-14DE-D927-F5BA-2627B6A6959B}"/>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buNone/>
            </a:pPr>
            <a:r>
              <a:rPr lang="en-SG" dirty="0"/>
              <a:t>To toggle more than one element, we can use v-if on a </a:t>
            </a:r>
            <a:r>
              <a:rPr lang="en-SG" dirty="0">
                <a:solidFill>
                  <a:schemeClr val="accent5"/>
                </a:solidFill>
              </a:rPr>
              <a:t>&lt;template&gt; </a:t>
            </a:r>
            <a:r>
              <a:rPr lang="en-SG" dirty="0"/>
              <a:t>element, which serves as an invisible wrapper. </a:t>
            </a:r>
          </a:p>
          <a:p>
            <a:pPr marL="0" lvl="0" indent="0">
              <a:buNone/>
            </a:pPr>
            <a:endParaRPr lang="en-SG" dirty="0"/>
          </a:p>
          <a:p>
            <a:pPr marL="0" lvl="0" indent="0">
              <a:buNone/>
            </a:pPr>
            <a:r>
              <a:rPr lang="en-SG" dirty="0"/>
              <a:t>The final rendered result will not include the </a:t>
            </a:r>
            <a:r>
              <a:rPr lang="en-SG" dirty="0">
                <a:solidFill>
                  <a:schemeClr val="accent5"/>
                </a:solidFill>
              </a:rPr>
              <a:t>&lt;template&gt; </a:t>
            </a:r>
            <a:r>
              <a:rPr lang="en-SG" dirty="0"/>
              <a:t>element.</a:t>
            </a:r>
            <a:endParaRPr lang="en-US" dirty="0">
              <a:solidFill>
                <a:schemeClr val="tx1"/>
              </a:solidFill>
            </a:endParaRPr>
          </a:p>
        </p:txBody>
      </p:sp>
      <p:sp>
        <p:nvSpPr>
          <p:cNvPr id="178" name="Google Shape;178;p29">
            <a:extLst>
              <a:ext uri="{FF2B5EF4-FFF2-40B4-BE49-F238E27FC236}">
                <a16:creationId xmlns:a16="http://schemas.microsoft.com/office/drawing/2014/main" id="{2269F879-889B-5FBF-6F41-7C969338B874}"/>
              </a:ext>
            </a:extLst>
          </p:cNvPr>
          <p:cNvSpPr txBox="1">
            <a:spLocks noGrp="1"/>
          </p:cNvSpPr>
          <p:nvPr>
            <p:ph type="body" idx="2"/>
          </p:nvPr>
        </p:nvSpPr>
        <p:spPr>
          <a:xfrm>
            <a:off x="4832400" y="1225224"/>
            <a:ext cx="3999900" cy="3732855"/>
          </a:xfrm>
          <a:prstGeom prst="rect">
            <a:avLst/>
          </a:prstGeom>
        </p:spPr>
        <p:txBody>
          <a:bodyPr spcFirstLastPara="1" wrap="square" lIns="91425" tIns="91425" rIns="91425" bIns="91425" anchor="t" anchorCtr="0">
            <a:noAutofit/>
          </a:bodyPr>
          <a:lstStyle/>
          <a:p>
            <a:pPr marL="0" lvl="0" indent="0">
              <a:buNone/>
            </a:pPr>
            <a:r>
              <a:rPr lang="en" b="1" dirty="0"/>
              <a:t>Example: </a:t>
            </a:r>
            <a:r>
              <a:rPr lang="en" i="1" dirty="0"/>
              <a:t>Example4.vue</a:t>
            </a:r>
            <a:endParaRPr i="1" dirty="0"/>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&lt;template v-if="ok"&gt;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&lt;h1&gt;Title&lt;/h1&gt;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&lt;p&gt;Paragraph 1&lt;/p&gt;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&lt;p&gt;Paragraph 2&lt;/p&gt;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&lt;/template&gt;</a:t>
            </a:r>
            <a:endParaRPr lang="en"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38407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48E9BD9-E555-1591-D3EC-25D57D190639}"/>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0D62A9BD-4498-18C6-233C-B5B8B2F54A63}"/>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Attribute Binding (1)</a:t>
            </a:r>
            <a:endParaRPr dirty="0"/>
          </a:p>
        </p:txBody>
      </p:sp>
      <p:sp>
        <p:nvSpPr>
          <p:cNvPr id="177" name="Google Shape;177;p29">
            <a:extLst>
              <a:ext uri="{FF2B5EF4-FFF2-40B4-BE49-F238E27FC236}">
                <a16:creationId xmlns:a16="http://schemas.microsoft.com/office/drawing/2014/main" id="{DE35793E-3B5C-CBF1-082E-CC232A96F104}"/>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buNone/>
            </a:pPr>
            <a:r>
              <a:rPr lang="en-US" dirty="0"/>
              <a:t>The value of HTML attributes, e.g., id, value, </a:t>
            </a:r>
            <a:r>
              <a:rPr lang="en-US" dirty="0" err="1"/>
              <a:t>src</a:t>
            </a:r>
            <a:r>
              <a:rPr lang="en-US" dirty="0"/>
              <a:t>, </a:t>
            </a:r>
            <a:r>
              <a:rPr lang="en-US" dirty="0" err="1"/>
              <a:t>href</a:t>
            </a:r>
            <a:r>
              <a:rPr lang="en-US" dirty="0"/>
              <a:t>, …, can be bound to the Vue component’s property</a:t>
            </a:r>
          </a:p>
          <a:p>
            <a:pPr marL="0" lvl="0" indent="0">
              <a:buNone/>
            </a:pPr>
            <a:endParaRPr lang="en-US" dirty="0"/>
          </a:p>
          <a:p>
            <a:pPr marL="0" lvl="0" indent="0">
              <a:buNone/>
            </a:pPr>
            <a:r>
              <a:rPr lang="en-US" dirty="0"/>
              <a:t>Note: Mustaches {{ … }} cannot be used for binding inside HTML attributes. Use v-bind directive, instead.</a:t>
            </a:r>
          </a:p>
          <a:p>
            <a:pPr marL="0" lvl="0" indent="0">
              <a:buNone/>
            </a:pPr>
            <a:endParaRPr lang="en-US" dirty="0"/>
          </a:p>
          <a:p>
            <a:pPr marL="0" marR="0" lvl="0" indent="0" algn="l" rtl="0">
              <a:lnSpc>
                <a:spcPct val="115000"/>
              </a:lnSpc>
              <a:spcBef>
                <a:spcPts val="1600"/>
              </a:spcBef>
              <a:spcAft>
                <a:spcPts val="0"/>
              </a:spcAft>
              <a:buNone/>
            </a:pPr>
            <a:endParaRPr lang="en" dirty="0"/>
          </a:p>
        </p:txBody>
      </p:sp>
      <p:sp>
        <p:nvSpPr>
          <p:cNvPr id="178" name="Google Shape;178;p29">
            <a:extLst>
              <a:ext uri="{FF2B5EF4-FFF2-40B4-BE49-F238E27FC236}">
                <a16:creationId xmlns:a16="http://schemas.microsoft.com/office/drawing/2014/main" id="{F1C24196-C50C-3390-007B-662D4728F121}"/>
              </a:ext>
            </a:extLst>
          </p:cNvPr>
          <p:cNvSpPr txBox="1">
            <a:spLocks noGrp="1"/>
          </p:cNvSpPr>
          <p:nvPr>
            <p:ph type="body" idx="2"/>
          </p:nvPr>
        </p:nvSpPr>
        <p:spPr>
          <a:xfrm>
            <a:off x="4832400" y="1225224"/>
            <a:ext cx="3999900" cy="3732855"/>
          </a:xfrm>
          <a:prstGeom prst="rect">
            <a:avLst/>
          </a:prstGeom>
        </p:spPr>
        <p:txBody>
          <a:bodyPr spcFirstLastPara="1" wrap="square" lIns="91425" tIns="91425" rIns="91425" bIns="91425" anchor="t" anchorCtr="0">
            <a:noAutofit/>
          </a:bodyPr>
          <a:lstStyle/>
          <a:p>
            <a:pPr marL="0" lvl="0" indent="0">
              <a:buNone/>
            </a:pPr>
            <a:r>
              <a:rPr lang="en" b="1" dirty="0"/>
              <a:t>Example: </a:t>
            </a:r>
            <a:r>
              <a:rPr lang="en" i="1" dirty="0"/>
              <a:t>Example5.vue</a:t>
            </a:r>
            <a:endParaRPr i="1" dirty="0"/>
          </a:p>
          <a:p>
            <a:pPr marL="0" lvl="0" indent="0">
              <a:spcBef>
                <a:spcPts val="1600"/>
              </a:spcBef>
              <a:buSzPts val="1100"/>
              <a:buNone/>
            </a:pPr>
            <a:r>
              <a:rPr lang="en" dirty="0">
                <a:latin typeface="Open Sans" panose="020B0606030504020204" pitchFamily="34" charset="0"/>
                <a:ea typeface="Open Sans" panose="020B0606030504020204" pitchFamily="34" charset="0"/>
                <a:cs typeface="Open Sans" panose="020B0606030504020204" pitchFamily="34" charset="0"/>
              </a:rPr>
              <a:t>&lt;img src="/abc.png" v-bind:width="x"&gt;</a:t>
            </a:r>
          </a:p>
          <a:p>
            <a:pPr marL="0" lvl="0" indent="0">
              <a:spcBef>
                <a:spcPts val="1600"/>
              </a:spcBef>
              <a:buNone/>
            </a:pPr>
            <a:r>
              <a:rPr lang="en-SG" dirty="0"/>
              <a:t>This directive instructs Vue to keep the image element’s width attribute in sync with the component's property x. </a:t>
            </a:r>
          </a:p>
          <a:p>
            <a:pPr marL="0" indent="0">
              <a:spcBef>
                <a:spcPts val="1600"/>
              </a:spcBef>
              <a:buNone/>
            </a:pPr>
            <a:r>
              <a:rPr lang="en-SG" b="1" dirty="0"/>
              <a:t>Shorthand</a:t>
            </a:r>
            <a:endParaRPr lang="en" dirty="0"/>
          </a:p>
          <a:p>
            <a:pPr marL="0" indent="0">
              <a:spcBef>
                <a:spcPts val="1600"/>
              </a:spcBef>
              <a:buNone/>
            </a:pPr>
            <a:r>
              <a:rPr lang="en-SG" dirty="0">
                <a:latin typeface="Open Sans" panose="020B0606030504020204" pitchFamily="34" charset="0"/>
                <a:ea typeface="Open Sans" panose="020B0606030504020204" pitchFamily="34" charset="0"/>
                <a:cs typeface="Open Sans" panose="020B0606030504020204" pitchFamily="34" charset="0"/>
              </a:rPr>
              <a:t>&lt;</a:t>
            </a:r>
            <a:r>
              <a:rPr lang="en-SG" dirty="0" err="1">
                <a:latin typeface="Open Sans" panose="020B0606030504020204" pitchFamily="34" charset="0"/>
                <a:ea typeface="Open Sans" panose="020B0606030504020204" pitchFamily="34" charset="0"/>
                <a:cs typeface="Open Sans" panose="020B0606030504020204" pitchFamily="34" charset="0"/>
              </a:rPr>
              <a:t>img</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src</a:t>
            </a:r>
            <a:r>
              <a:rPr lang="en-SG" dirty="0">
                <a:latin typeface="Open Sans" panose="020B0606030504020204" pitchFamily="34" charset="0"/>
                <a:ea typeface="Open Sans" panose="020B0606030504020204" pitchFamily="34" charset="0"/>
                <a:cs typeface="Open Sans" panose="020B0606030504020204" pitchFamily="34" charset="0"/>
              </a:rPr>
              <a:t>="/abc.png" :width="x"&gt;</a:t>
            </a:r>
          </a:p>
          <a:p>
            <a:pPr marL="0" lvl="0" indent="0">
              <a:spcBef>
                <a:spcPts val="1600"/>
              </a:spcBef>
              <a:buNone/>
            </a:pPr>
            <a:endParaRPr lang="en" dirty="0"/>
          </a:p>
        </p:txBody>
      </p:sp>
    </p:spTree>
    <p:extLst>
      <p:ext uri="{BB962C8B-B14F-4D97-AF65-F5344CB8AC3E}">
        <p14:creationId xmlns:p14="http://schemas.microsoft.com/office/powerpoint/2010/main" val="3079354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3A042E0C-CF34-5D51-0FF8-D45E9E5301E0}"/>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D6C13B5F-1414-A7B2-096C-1C7FDE6433BF}"/>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Importing an image</a:t>
            </a:r>
            <a:endParaRPr dirty="0"/>
          </a:p>
        </p:txBody>
      </p:sp>
      <p:sp>
        <p:nvSpPr>
          <p:cNvPr id="127" name="Google Shape;127;p22">
            <a:extLst>
              <a:ext uri="{FF2B5EF4-FFF2-40B4-BE49-F238E27FC236}">
                <a16:creationId xmlns:a16="http://schemas.microsoft.com/office/drawing/2014/main" id="{BBDDEEA9-D3C8-1A1C-DB18-8489CBD261F8}"/>
              </a:ext>
            </a:extLst>
          </p:cNvPr>
          <p:cNvSpPr txBox="1">
            <a:spLocks noGrp="1"/>
          </p:cNvSpPr>
          <p:nvPr>
            <p:ph type="body" idx="1"/>
          </p:nvPr>
        </p:nvSpPr>
        <p:spPr>
          <a:xfrm>
            <a:off x="311700" y="1225224"/>
            <a:ext cx="4260300" cy="38572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You can place static assets like images or text files in </a:t>
            </a:r>
            <a:r>
              <a:rPr lang="en-US" dirty="0">
                <a:solidFill>
                  <a:schemeClr val="accent5"/>
                </a:solidFill>
                <a:uFill>
                  <a:noFill/>
                </a:uFill>
              </a:rPr>
              <a:t>/public </a:t>
            </a:r>
            <a:r>
              <a:rPr lang="en-US" dirty="0">
                <a:uFill>
                  <a:noFill/>
                </a:uFill>
              </a:rPr>
              <a:t>folder or </a:t>
            </a:r>
            <a:r>
              <a:rPr lang="en-US" dirty="0">
                <a:solidFill>
                  <a:schemeClr val="accent5"/>
                </a:solidFill>
                <a:uFill>
                  <a:noFill/>
                </a:uFill>
              </a:rPr>
              <a:t>/</a:t>
            </a:r>
            <a:r>
              <a:rPr lang="en-US" dirty="0" err="1">
                <a:solidFill>
                  <a:schemeClr val="accent5"/>
                </a:solidFill>
                <a:uFill>
                  <a:noFill/>
                </a:uFill>
              </a:rPr>
              <a:t>src</a:t>
            </a:r>
            <a:r>
              <a:rPr lang="en-US" dirty="0">
                <a:solidFill>
                  <a:schemeClr val="accent5"/>
                </a:solidFill>
                <a:uFill>
                  <a:noFill/>
                </a:uFill>
              </a:rPr>
              <a:t>/assets </a:t>
            </a:r>
            <a:r>
              <a:rPr lang="en-US" dirty="0">
                <a:uFill>
                  <a:noFill/>
                </a:uFill>
              </a:rPr>
              <a:t>folder</a:t>
            </a:r>
          </a:p>
          <a:p>
            <a:pPr marL="0" lvl="0" indent="0" algn="l" rtl="0">
              <a:spcBef>
                <a:spcPts val="0"/>
              </a:spcBef>
              <a:spcAft>
                <a:spcPts val="0"/>
              </a:spcAft>
              <a:buNone/>
            </a:pPr>
            <a:endParaRPr lang="en-US" dirty="0">
              <a:uFill>
                <a:noFill/>
              </a:uFill>
            </a:endParaRPr>
          </a:p>
          <a:p>
            <a:pPr marL="0" lvl="0" indent="0">
              <a:buNone/>
            </a:pPr>
            <a:r>
              <a:rPr lang="en-US" dirty="0">
                <a:uFill>
                  <a:noFill/>
                </a:uFill>
              </a:rPr>
              <a:t>Import and use these assets: </a:t>
            </a:r>
            <a:r>
              <a:rPr lang="en" i="1" dirty="0"/>
              <a:t>Example5.vue</a:t>
            </a: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p:txBody>
      </p:sp>
      <p:pic>
        <p:nvPicPr>
          <p:cNvPr id="5" name="Picture 4">
            <a:extLst>
              <a:ext uri="{FF2B5EF4-FFF2-40B4-BE49-F238E27FC236}">
                <a16:creationId xmlns:a16="http://schemas.microsoft.com/office/drawing/2014/main" id="{2B73B2BC-1990-B776-DFA6-B11640F6B71E}"/>
              </a:ext>
            </a:extLst>
          </p:cNvPr>
          <p:cNvPicPr>
            <a:picLocks noChangeAspect="1"/>
          </p:cNvPicPr>
          <p:nvPr/>
        </p:nvPicPr>
        <p:blipFill>
          <a:blip r:embed="rId3"/>
          <a:stretch>
            <a:fillRect/>
          </a:stretch>
        </p:blipFill>
        <p:spPr>
          <a:xfrm>
            <a:off x="4832400" y="1311785"/>
            <a:ext cx="1368448" cy="831300"/>
          </a:xfrm>
          <a:prstGeom prst="rect">
            <a:avLst/>
          </a:prstGeom>
        </p:spPr>
      </p:pic>
      <p:pic>
        <p:nvPicPr>
          <p:cNvPr id="8" name="Picture 7">
            <a:extLst>
              <a:ext uri="{FF2B5EF4-FFF2-40B4-BE49-F238E27FC236}">
                <a16:creationId xmlns:a16="http://schemas.microsoft.com/office/drawing/2014/main" id="{DAC51065-B547-3948-26E9-901E01EBFD78}"/>
              </a:ext>
            </a:extLst>
          </p:cNvPr>
          <p:cNvPicPr>
            <a:picLocks noChangeAspect="1"/>
          </p:cNvPicPr>
          <p:nvPr/>
        </p:nvPicPr>
        <p:blipFill>
          <a:blip r:embed="rId4"/>
          <a:stretch>
            <a:fillRect/>
          </a:stretch>
        </p:blipFill>
        <p:spPr>
          <a:xfrm>
            <a:off x="6348341" y="1251455"/>
            <a:ext cx="1094447" cy="930792"/>
          </a:xfrm>
          <a:prstGeom prst="rect">
            <a:avLst/>
          </a:prstGeom>
        </p:spPr>
      </p:pic>
      <p:sp>
        <p:nvSpPr>
          <p:cNvPr id="10" name="TextBox 9">
            <a:extLst>
              <a:ext uri="{FF2B5EF4-FFF2-40B4-BE49-F238E27FC236}">
                <a16:creationId xmlns:a16="http://schemas.microsoft.com/office/drawing/2014/main" id="{43A91C9A-ECEC-B21E-6F6C-5353561BE043}"/>
              </a:ext>
            </a:extLst>
          </p:cNvPr>
          <p:cNvSpPr txBox="1"/>
          <p:nvPr/>
        </p:nvSpPr>
        <p:spPr>
          <a:xfrm>
            <a:off x="1297170" y="2362245"/>
            <a:ext cx="6145618" cy="2677656"/>
          </a:xfrm>
          <a:prstGeom prst="rect">
            <a:avLst/>
          </a:prstGeom>
          <a:noFill/>
          <a:ln>
            <a:solidFill>
              <a:schemeClr val="tx1"/>
            </a:solidFill>
          </a:ln>
        </p:spPr>
        <p:txBody>
          <a:bodyPr wrap="square" rtlCol="0">
            <a:spAutoFit/>
          </a:bodyPr>
          <a:lstStyle/>
          <a:p>
            <a:r>
              <a:rPr lang="en-SG" dirty="0">
                <a:latin typeface="Open Sans" panose="020B0606030504020204" pitchFamily="34" charset="0"/>
                <a:ea typeface="Open Sans" panose="020B0606030504020204" pitchFamily="34" charset="0"/>
                <a:cs typeface="Open Sans" panose="020B0606030504020204" pitchFamily="34" charset="0"/>
              </a:rPr>
              <a:t>&lt;script setup&gt;</a:t>
            </a:r>
          </a:p>
          <a:p>
            <a:r>
              <a:rPr lang="en-SG" dirty="0">
                <a:latin typeface="Open Sans" panose="020B0606030504020204" pitchFamily="34" charset="0"/>
                <a:ea typeface="Open Sans" panose="020B0606030504020204" pitchFamily="34" charset="0"/>
                <a:cs typeface="Open Sans" panose="020B0606030504020204" pitchFamily="34" charset="0"/>
              </a:rPr>
              <a:t>    import { ref } from '</a:t>
            </a:r>
            <a:r>
              <a:rPr lang="en-SG" dirty="0" err="1">
                <a:latin typeface="Open Sans" panose="020B0606030504020204" pitchFamily="34" charset="0"/>
                <a:ea typeface="Open Sans" panose="020B0606030504020204" pitchFamily="34" charset="0"/>
                <a:cs typeface="Open Sans" panose="020B0606030504020204" pitchFamily="34" charset="0"/>
              </a:rPr>
              <a:t>vue</a:t>
            </a:r>
            <a:r>
              <a:rPr lang="en-SG" dirty="0">
                <a:latin typeface="Open Sans" panose="020B0606030504020204" pitchFamily="34" charset="0"/>
                <a:ea typeface="Open Sans" panose="020B0606030504020204" pitchFamily="34" charset="0"/>
                <a:cs typeface="Open Sans" panose="020B0606030504020204" pitchFamily="34" charset="0"/>
              </a:rPr>
              <a:t>’</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    import wad from '/assets/wad.png' // public/assets/ folder</a:t>
            </a:r>
          </a:p>
          <a:p>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me = ref('/</a:t>
            </a:r>
            <a:r>
              <a:rPr lang="en-SG" dirty="0" err="1">
                <a:latin typeface="Open Sans" panose="020B0606030504020204" pitchFamily="34" charset="0"/>
                <a:ea typeface="Open Sans" panose="020B0606030504020204" pitchFamily="34" charset="0"/>
                <a:cs typeface="Open Sans" panose="020B0606030504020204" pitchFamily="34" charset="0"/>
              </a:rPr>
              <a:t>src</a:t>
            </a:r>
            <a:r>
              <a:rPr lang="en-SG" dirty="0">
                <a:latin typeface="Open Sans" panose="020B0606030504020204" pitchFamily="34" charset="0"/>
                <a:ea typeface="Open Sans" panose="020B0606030504020204" pitchFamily="34" charset="0"/>
                <a:cs typeface="Open Sans" panose="020B0606030504020204" pitchFamily="34" charset="0"/>
              </a:rPr>
              <a:t>/assets/me.png') // </a:t>
            </a:r>
            <a:r>
              <a:rPr lang="en-SG" dirty="0" err="1">
                <a:latin typeface="Open Sans" panose="020B0606030504020204" pitchFamily="34" charset="0"/>
                <a:ea typeface="Open Sans" panose="020B0606030504020204" pitchFamily="34" charset="0"/>
                <a:cs typeface="Open Sans" panose="020B0606030504020204" pitchFamily="34" charset="0"/>
              </a:rPr>
              <a:t>src</a:t>
            </a:r>
            <a:r>
              <a:rPr lang="en-SG" dirty="0">
                <a:latin typeface="Open Sans" panose="020B0606030504020204" pitchFamily="34" charset="0"/>
                <a:ea typeface="Open Sans" panose="020B0606030504020204" pitchFamily="34" charset="0"/>
                <a:cs typeface="Open Sans" panose="020B0606030504020204" pitchFamily="34" charset="0"/>
              </a:rPr>
              <a:t>/assets/ folder</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 &lt;/script&gt;</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&lt;template&gt;</a:t>
            </a:r>
          </a:p>
          <a:p>
            <a:r>
              <a:rPr lang="en-SG" dirty="0">
                <a:latin typeface="Open Sans" panose="020B0606030504020204" pitchFamily="34" charset="0"/>
                <a:ea typeface="Open Sans" panose="020B0606030504020204" pitchFamily="34" charset="0"/>
                <a:cs typeface="Open Sans" panose="020B0606030504020204" pitchFamily="34" charset="0"/>
              </a:rPr>
              <a:t>            &lt;</a:t>
            </a:r>
            <a:r>
              <a:rPr lang="en-SG" dirty="0" err="1">
                <a:latin typeface="Open Sans" panose="020B0606030504020204" pitchFamily="34" charset="0"/>
                <a:ea typeface="Open Sans" panose="020B0606030504020204" pitchFamily="34" charset="0"/>
                <a:cs typeface="Open Sans" panose="020B0606030504020204" pitchFamily="34" charset="0"/>
              </a:rPr>
              <a:t>img</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v-bind:src</a:t>
            </a:r>
            <a:r>
              <a:rPr lang="en-SG" dirty="0">
                <a:latin typeface="Open Sans" panose="020B0606030504020204" pitchFamily="34" charset="0"/>
                <a:ea typeface="Open Sans" panose="020B0606030504020204" pitchFamily="34" charset="0"/>
                <a:cs typeface="Open Sans" panose="020B0606030504020204" pitchFamily="34" charset="0"/>
              </a:rPr>
              <a:t>="wad"&gt;&lt;hr&gt;</a:t>
            </a:r>
          </a:p>
          <a:p>
            <a:r>
              <a:rPr lang="en-SG" dirty="0">
                <a:latin typeface="Open Sans" panose="020B0606030504020204" pitchFamily="34" charset="0"/>
                <a:ea typeface="Open Sans" panose="020B0606030504020204" pitchFamily="34" charset="0"/>
                <a:cs typeface="Open Sans" panose="020B0606030504020204" pitchFamily="34" charset="0"/>
              </a:rPr>
              <a:t>            &lt;</a:t>
            </a:r>
            <a:r>
              <a:rPr lang="en-SG" dirty="0" err="1">
                <a:latin typeface="Open Sans" panose="020B0606030504020204" pitchFamily="34" charset="0"/>
                <a:ea typeface="Open Sans" panose="020B0606030504020204" pitchFamily="34" charset="0"/>
                <a:cs typeface="Open Sans" panose="020B0606030504020204" pitchFamily="34" charset="0"/>
              </a:rPr>
              <a:t>img</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v-bind:src</a:t>
            </a:r>
            <a:r>
              <a:rPr lang="en-SG" dirty="0">
                <a:latin typeface="Open Sans" panose="020B0606030504020204" pitchFamily="34" charset="0"/>
                <a:ea typeface="Open Sans" panose="020B0606030504020204" pitchFamily="34" charset="0"/>
                <a:cs typeface="Open Sans" panose="020B0606030504020204" pitchFamily="34" charset="0"/>
              </a:rPr>
              <a:t>="me"&gt;&lt;hr&gt;</a:t>
            </a:r>
          </a:p>
          <a:p>
            <a:r>
              <a:rPr lang="en-SG" dirty="0">
                <a:latin typeface="Open Sans" panose="020B0606030504020204" pitchFamily="34" charset="0"/>
                <a:ea typeface="Open Sans" panose="020B0606030504020204" pitchFamily="34" charset="0"/>
                <a:cs typeface="Open Sans" panose="020B0606030504020204" pitchFamily="34" charset="0"/>
              </a:rPr>
              <a:t>&lt;/template&gt;</a:t>
            </a:r>
          </a:p>
        </p:txBody>
      </p:sp>
    </p:spTree>
    <p:extLst>
      <p:ext uri="{BB962C8B-B14F-4D97-AF65-F5344CB8AC3E}">
        <p14:creationId xmlns:p14="http://schemas.microsoft.com/office/powerpoint/2010/main" val="2315826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75898-C851-8BF3-A660-76878F008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46868-30BD-B44E-22E6-470FF770D5C4}"/>
              </a:ext>
            </a:extLst>
          </p:cNvPr>
          <p:cNvSpPr>
            <a:spLocks noGrp="1"/>
          </p:cNvSpPr>
          <p:nvPr>
            <p:ph type="title"/>
          </p:nvPr>
        </p:nvSpPr>
        <p:spPr>
          <a:xfrm>
            <a:off x="311700" y="315925"/>
            <a:ext cx="8520600" cy="831300"/>
          </a:xfrm>
        </p:spPr>
        <p:txBody>
          <a:bodyPr wrap="square" anchor="ctr">
            <a:normAutofit/>
          </a:bodyPr>
          <a:lstStyle/>
          <a:p>
            <a:r>
              <a:rPr lang="en-SG" dirty="0"/>
              <a:t>Static assets in s</a:t>
            </a:r>
            <a:r>
              <a:rPr lang="en" dirty="0"/>
              <a:t>rc/assets vs public folders</a:t>
            </a:r>
            <a:endParaRPr lang="en-US" dirty="0"/>
          </a:p>
        </p:txBody>
      </p:sp>
      <p:sp>
        <p:nvSpPr>
          <p:cNvPr id="3" name="Text Placeholder 2">
            <a:extLst>
              <a:ext uri="{FF2B5EF4-FFF2-40B4-BE49-F238E27FC236}">
                <a16:creationId xmlns:a16="http://schemas.microsoft.com/office/drawing/2014/main" id="{CD61B6E9-01B2-FD52-8A66-F6ABC5969428}"/>
              </a:ext>
            </a:extLst>
          </p:cNvPr>
          <p:cNvSpPr>
            <a:spLocks noGrp="1"/>
          </p:cNvSpPr>
          <p:nvPr>
            <p:ph type="body" idx="4294967295"/>
          </p:nvPr>
        </p:nvSpPr>
        <p:spPr>
          <a:xfrm>
            <a:off x="311699" y="1227555"/>
            <a:ext cx="7382192" cy="789967"/>
          </a:xfrm>
        </p:spPr>
        <p:txBody>
          <a:bodyPr anchor="t">
            <a:normAutofit/>
          </a:bodyPr>
          <a:lstStyle/>
          <a:p>
            <a:pPr marL="114300" indent="0">
              <a:lnSpc>
                <a:spcPct val="105000"/>
              </a:lnSpc>
              <a:spcAft>
                <a:spcPts val="600"/>
              </a:spcAft>
              <a:buClr>
                <a:srgbClr val="000000"/>
              </a:buClr>
              <a:buNone/>
            </a:pPr>
            <a:r>
              <a:rPr lang="en-US" sz="1400" dirty="0">
                <a:solidFill>
                  <a:schemeClr val="tx1"/>
                </a:solidFill>
              </a:rPr>
              <a:t>Both </a:t>
            </a:r>
            <a:r>
              <a:rPr lang="en-US" sz="1400" dirty="0" err="1">
                <a:solidFill>
                  <a:schemeClr val="accent5"/>
                </a:solidFill>
              </a:rPr>
              <a:t>src</a:t>
            </a:r>
            <a:r>
              <a:rPr lang="en-US" sz="1400" dirty="0">
                <a:solidFill>
                  <a:schemeClr val="accent5"/>
                </a:solidFill>
              </a:rPr>
              <a:t>/assets </a:t>
            </a:r>
            <a:r>
              <a:rPr lang="en-US" sz="1400" dirty="0">
                <a:solidFill>
                  <a:schemeClr val="tx1"/>
                </a:solidFill>
              </a:rPr>
              <a:t>and </a:t>
            </a:r>
            <a:r>
              <a:rPr lang="en-US" sz="1400" dirty="0">
                <a:solidFill>
                  <a:schemeClr val="accent5"/>
                </a:solidFill>
              </a:rPr>
              <a:t>public</a:t>
            </a:r>
            <a:r>
              <a:rPr lang="en-US" sz="1400" dirty="0">
                <a:solidFill>
                  <a:schemeClr val="tx1"/>
                </a:solidFill>
              </a:rPr>
              <a:t> folder can store static assets like images and text files but there are some differences:</a:t>
            </a:r>
          </a:p>
          <a:p>
            <a:pPr marL="114300" indent="0">
              <a:lnSpc>
                <a:spcPct val="105000"/>
              </a:lnSpc>
              <a:spcAft>
                <a:spcPts val="600"/>
              </a:spcAft>
              <a:buClr>
                <a:srgbClr val="000000"/>
              </a:buClr>
              <a:buNone/>
            </a:pPr>
            <a:endParaRPr lang="en-US" sz="1400" dirty="0">
              <a:solidFill>
                <a:schemeClr val="tx1"/>
              </a:solidFill>
            </a:endParaRPr>
          </a:p>
          <a:p>
            <a:pPr marL="114300" indent="0">
              <a:lnSpc>
                <a:spcPct val="105000"/>
              </a:lnSpc>
              <a:spcAft>
                <a:spcPts val="600"/>
              </a:spcAft>
              <a:buClr>
                <a:srgbClr val="000000"/>
              </a:buClr>
              <a:buNone/>
            </a:pPr>
            <a:endParaRPr lang="en-US" sz="1400" dirty="0">
              <a:solidFill>
                <a:schemeClr val="tx1"/>
              </a:solidFill>
            </a:endParaRPr>
          </a:p>
        </p:txBody>
      </p:sp>
      <p:graphicFrame>
        <p:nvGraphicFramePr>
          <p:cNvPr id="5" name="Table 4">
            <a:extLst>
              <a:ext uri="{FF2B5EF4-FFF2-40B4-BE49-F238E27FC236}">
                <a16:creationId xmlns:a16="http://schemas.microsoft.com/office/drawing/2014/main" id="{A961EB4C-FF6D-FE76-AE0F-D36896A34303}"/>
              </a:ext>
            </a:extLst>
          </p:cNvPr>
          <p:cNvGraphicFramePr>
            <a:graphicFrameLocks noGrp="1"/>
          </p:cNvGraphicFramePr>
          <p:nvPr>
            <p:extLst>
              <p:ext uri="{D42A27DB-BD31-4B8C-83A1-F6EECF244321}">
                <p14:modId xmlns:p14="http://schemas.microsoft.com/office/powerpoint/2010/main" val="2728500622"/>
              </p:ext>
            </p:extLst>
          </p:nvPr>
        </p:nvGraphicFramePr>
        <p:xfrm>
          <a:off x="438235" y="2017522"/>
          <a:ext cx="8394065" cy="2565400"/>
        </p:xfrm>
        <a:graphic>
          <a:graphicData uri="http://schemas.openxmlformats.org/drawingml/2006/table">
            <a:tbl>
              <a:tblPr firstRow="1" bandRow="1">
                <a:tableStyleId>{FD335744-63B0-49A2-8954-48F3BB1E67D2}</a:tableStyleId>
              </a:tblPr>
              <a:tblGrid>
                <a:gridCol w="1305505">
                  <a:extLst>
                    <a:ext uri="{9D8B030D-6E8A-4147-A177-3AD203B41FA5}">
                      <a16:colId xmlns:a16="http://schemas.microsoft.com/office/drawing/2014/main" val="1923255193"/>
                    </a:ext>
                  </a:extLst>
                </a:gridCol>
                <a:gridCol w="3391786">
                  <a:extLst>
                    <a:ext uri="{9D8B030D-6E8A-4147-A177-3AD203B41FA5}">
                      <a16:colId xmlns:a16="http://schemas.microsoft.com/office/drawing/2014/main" val="1121811408"/>
                    </a:ext>
                  </a:extLst>
                </a:gridCol>
                <a:gridCol w="3696774">
                  <a:extLst>
                    <a:ext uri="{9D8B030D-6E8A-4147-A177-3AD203B41FA5}">
                      <a16:colId xmlns:a16="http://schemas.microsoft.com/office/drawing/2014/main" val="3076994448"/>
                    </a:ext>
                  </a:extLst>
                </a:gridCol>
              </a:tblGrid>
              <a:tr h="370840">
                <a:tc>
                  <a:txBody>
                    <a:bodyPr/>
                    <a:lstStyle/>
                    <a:p>
                      <a:endParaRPr lang="en-SG"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SG" sz="1400" b="0" dirty="0" err="1">
                          <a:solidFill>
                            <a:schemeClr val="accent5"/>
                          </a:solidFill>
                          <a:latin typeface="Open Sans" panose="020B0606030504020204" pitchFamily="34" charset="0"/>
                          <a:ea typeface="Open Sans" panose="020B0606030504020204" pitchFamily="34" charset="0"/>
                          <a:cs typeface="Open Sans" panose="020B0606030504020204" pitchFamily="34" charset="0"/>
                        </a:rPr>
                        <a:t>src</a:t>
                      </a:r>
                      <a:r>
                        <a:rPr lang="en-SG" sz="1400" b="0" dirty="0">
                          <a:solidFill>
                            <a:schemeClr val="accent5"/>
                          </a:solidFill>
                          <a:latin typeface="Open Sans" panose="020B0606030504020204" pitchFamily="34" charset="0"/>
                          <a:ea typeface="Open Sans" panose="020B0606030504020204" pitchFamily="34" charset="0"/>
                          <a:cs typeface="Open Sans" panose="020B0606030504020204" pitchFamily="34" charset="0"/>
                        </a:rPr>
                        <a:t>/assets</a:t>
                      </a:r>
                    </a:p>
                  </a:txBody>
                  <a:tcPr/>
                </a:tc>
                <a:tc>
                  <a:txBody>
                    <a:bodyPr/>
                    <a:lstStyle/>
                    <a:p>
                      <a:r>
                        <a:rPr lang="en-SG" sz="1400" b="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public</a:t>
                      </a:r>
                    </a:p>
                  </a:txBody>
                  <a:tcPr/>
                </a:tc>
                <a:extLst>
                  <a:ext uri="{0D108BD9-81ED-4DB2-BD59-A6C34878D82A}">
                    <a16:rowId xmlns:a16="http://schemas.microsoft.com/office/drawing/2014/main" val="4293296513"/>
                  </a:ext>
                </a:extLst>
              </a:tr>
              <a:tr h="370840">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referencing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400" dirty="0">
                          <a:latin typeface="Open Sans" panose="020B0606030504020204" pitchFamily="34" charset="0"/>
                          <a:ea typeface="Open Sans" panose="020B0606030504020204" pitchFamily="34" charset="0"/>
                          <a:cs typeface="Open Sans" panose="020B0606030504020204" pitchFamily="34" charset="0"/>
                        </a:rPr>
                        <a:t>Referenced via relative paths, e.g.,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SG" sz="1400" dirty="0">
                        <a:latin typeface="Open Sans" panose="020B0606030504020204" pitchFamily="34" charset="0"/>
                        <a:ea typeface="Open Sans" panose="020B0606030504020204" pitchFamily="34" charset="0"/>
                        <a:cs typeface="Open Sans" panose="020B0606030504020204" pitchFamily="34" charset="0"/>
                      </a:endParaRPr>
                    </a:p>
                    <a:p>
                      <a:r>
                        <a:rPr lang="en-SG" sz="1400" dirty="0">
                          <a:latin typeface="Open Sans" panose="020B0606030504020204" pitchFamily="34" charset="0"/>
                          <a:ea typeface="Open Sans" panose="020B0606030504020204" pitchFamily="34" charset="0"/>
                          <a:cs typeface="Open Sans" panose="020B0606030504020204" pitchFamily="34" charset="0"/>
                        </a:rPr>
                        <a:t>&lt;</a:t>
                      </a:r>
                      <a:r>
                        <a:rPr lang="en-SG" sz="1400" dirty="0" err="1">
                          <a:latin typeface="Open Sans" panose="020B0606030504020204" pitchFamily="34" charset="0"/>
                          <a:ea typeface="Open Sans" panose="020B0606030504020204" pitchFamily="34" charset="0"/>
                          <a:cs typeface="Open Sans" panose="020B0606030504020204" pitchFamily="34" charset="0"/>
                        </a:rPr>
                        <a:t>img</a:t>
                      </a:r>
                      <a:r>
                        <a:rPr lang="en-SG" sz="1400" dirty="0">
                          <a:latin typeface="Open Sans" panose="020B0606030504020204" pitchFamily="34" charset="0"/>
                          <a:ea typeface="Open Sans" panose="020B0606030504020204" pitchFamily="34" charset="0"/>
                          <a:cs typeface="Open Sans" panose="020B0606030504020204" pitchFamily="34" charset="0"/>
                        </a:rPr>
                        <a:t> </a:t>
                      </a:r>
                      <a:r>
                        <a:rPr lang="en-SG" sz="1400" dirty="0" err="1">
                          <a:latin typeface="Open Sans" panose="020B0606030504020204" pitchFamily="34" charset="0"/>
                          <a:ea typeface="Open Sans" panose="020B0606030504020204" pitchFamily="34" charset="0"/>
                          <a:cs typeface="Open Sans" panose="020B0606030504020204" pitchFamily="34" charset="0"/>
                        </a:rPr>
                        <a:t>src</a:t>
                      </a:r>
                      <a:r>
                        <a:rPr lang="en-SG" sz="1400" dirty="0">
                          <a:latin typeface="Open Sans" panose="020B0606030504020204" pitchFamily="34" charset="0"/>
                          <a:ea typeface="Open Sans" panose="020B0606030504020204" pitchFamily="34" charset="0"/>
                          <a:cs typeface="Open Sans" panose="020B0606030504020204" pitchFamily="34" charset="0"/>
                        </a:rPr>
                        <a:t>=‘../assets/logo.png’&gt;</a:t>
                      </a:r>
                    </a:p>
                    <a:p>
                      <a:endParaRPr lang="en-SG"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Referenced relative to the web root, e.g..,</a:t>
                      </a:r>
                    </a:p>
                    <a:p>
                      <a:endParaRPr lang="en-SG" sz="1400" dirty="0">
                        <a:latin typeface="Open Sans" panose="020B0606030504020204" pitchFamily="34" charset="0"/>
                        <a:ea typeface="Open Sans" panose="020B0606030504020204" pitchFamily="34" charset="0"/>
                        <a:cs typeface="Open Sans" panose="020B0606030504020204" pitchFamily="34" charset="0"/>
                      </a:endParaRPr>
                    </a:p>
                    <a:p>
                      <a:r>
                        <a:rPr lang="en-SG" sz="1400" dirty="0">
                          <a:latin typeface="Open Sans" panose="020B0606030504020204" pitchFamily="34" charset="0"/>
                          <a:ea typeface="Open Sans" panose="020B0606030504020204" pitchFamily="34" charset="0"/>
                          <a:cs typeface="Open Sans" panose="020B0606030504020204" pitchFamily="34" charset="0"/>
                        </a:rPr>
                        <a:t>&lt;</a:t>
                      </a:r>
                      <a:r>
                        <a:rPr lang="en-SG" sz="1400" dirty="0" err="1">
                          <a:latin typeface="Open Sans" panose="020B0606030504020204" pitchFamily="34" charset="0"/>
                          <a:ea typeface="Open Sans" panose="020B0606030504020204" pitchFamily="34" charset="0"/>
                          <a:cs typeface="Open Sans" panose="020B0606030504020204" pitchFamily="34" charset="0"/>
                        </a:rPr>
                        <a:t>img</a:t>
                      </a:r>
                      <a:r>
                        <a:rPr lang="en-SG" sz="1400" dirty="0">
                          <a:latin typeface="Open Sans" panose="020B0606030504020204" pitchFamily="34" charset="0"/>
                          <a:ea typeface="Open Sans" panose="020B0606030504020204" pitchFamily="34" charset="0"/>
                          <a:cs typeface="Open Sans" panose="020B0606030504020204" pitchFamily="34" charset="0"/>
                        </a:rPr>
                        <a:t> </a:t>
                      </a:r>
                      <a:r>
                        <a:rPr lang="en-SG" sz="1400" dirty="0" err="1">
                          <a:latin typeface="Open Sans" panose="020B0606030504020204" pitchFamily="34" charset="0"/>
                          <a:ea typeface="Open Sans" panose="020B0606030504020204" pitchFamily="34" charset="0"/>
                          <a:cs typeface="Open Sans" panose="020B0606030504020204" pitchFamily="34" charset="0"/>
                        </a:rPr>
                        <a:t>src</a:t>
                      </a:r>
                      <a:r>
                        <a:rPr lang="en-SG" sz="1400" dirty="0">
                          <a:latin typeface="Open Sans" panose="020B0606030504020204" pitchFamily="34" charset="0"/>
                          <a:ea typeface="Open Sans" panose="020B0606030504020204" pitchFamily="34" charset="0"/>
                          <a:cs typeface="Open Sans" panose="020B0606030504020204" pitchFamily="34" charset="0"/>
                        </a:rPr>
                        <a:t>=‘/logo.png’&gt;</a:t>
                      </a:r>
                    </a:p>
                  </a:txBody>
                  <a:tcPr/>
                </a:tc>
                <a:extLst>
                  <a:ext uri="{0D108BD9-81ED-4DB2-BD59-A6C34878D82A}">
                    <a16:rowId xmlns:a16="http://schemas.microsoft.com/office/drawing/2014/main" val="1470701706"/>
                  </a:ext>
                </a:extLst>
              </a:tr>
              <a:tr h="370840">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Build process</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Compiled, optimized, and minified by the bundler</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Copied as-is to the output directory, e.g., </a:t>
                      </a:r>
                      <a:r>
                        <a:rPr lang="en-SG" sz="1400" dirty="0" err="1">
                          <a:latin typeface="Open Sans" panose="020B0606030504020204" pitchFamily="34" charset="0"/>
                          <a:ea typeface="Open Sans" panose="020B0606030504020204" pitchFamily="34" charset="0"/>
                          <a:cs typeface="Open Sans" panose="020B0606030504020204" pitchFamily="34" charset="0"/>
                        </a:rPr>
                        <a:t>dist</a:t>
                      </a:r>
                      <a:endParaRPr lang="en-SG" sz="1400" dirty="0">
                        <a:latin typeface="Open Sans" panose="020B0606030504020204" pitchFamily="34" charset="0"/>
                        <a:ea typeface="Open Sans" panose="020B0606030504020204" pitchFamily="34" charset="0"/>
                        <a:cs typeface="Open Sans" panose="020B0606030504020204" pitchFamily="34" charset="0"/>
                      </a:endParaRPr>
                    </a:p>
                    <a:p>
                      <a:endParaRPr lang="en-SG"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2913608589"/>
                  </a:ext>
                </a:extLst>
              </a:tr>
              <a:tr h="370840">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Dead code elimination</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Unused assets are excluded from the final build</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All files are included in the build</a:t>
                      </a:r>
                    </a:p>
                  </a:txBody>
                  <a:tcPr/>
                </a:tc>
                <a:extLst>
                  <a:ext uri="{0D108BD9-81ED-4DB2-BD59-A6C34878D82A}">
                    <a16:rowId xmlns:a16="http://schemas.microsoft.com/office/drawing/2014/main" val="743310947"/>
                  </a:ext>
                </a:extLst>
              </a:tr>
            </a:tbl>
          </a:graphicData>
        </a:graphic>
      </p:graphicFrame>
    </p:spTree>
    <p:extLst>
      <p:ext uri="{BB962C8B-B14F-4D97-AF65-F5344CB8AC3E}">
        <p14:creationId xmlns:p14="http://schemas.microsoft.com/office/powerpoint/2010/main" val="2691623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BB7DCC3C-1C5F-55D0-3357-57CDFF01DF65}"/>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F252A4BE-A25C-66AD-1057-4AB273D42DE4}"/>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Attribute Binding (2)</a:t>
            </a:r>
            <a:endParaRPr dirty="0"/>
          </a:p>
        </p:txBody>
      </p:sp>
      <p:sp>
        <p:nvSpPr>
          <p:cNvPr id="177" name="Google Shape;177;p29">
            <a:extLst>
              <a:ext uri="{FF2B5EF4-FFF2-40B4-BE49-F238E27FC236}">
                <a16:creationId xmlns:a16="http://schemas.microsoft.com/office/drawing/2014/main" id="{3816EFC5-18F8-D37F-BA20-B193D19FDB04}"/>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buNone/>
            </a:pPr>
            <a:r>
              <a:rPr lang="en-US" dirty="0"/>
              <a:t>You can also bind </a:t>
            </a:r>
            <a:r>
              <a:rPr lang="en-US" dirty="0">
                <a:solidFill>
                  <a:schemeClr val="accent5"/>
                </a:solidFill>
              </a:rPr>
              <a:t>multiple attributes </a:t>
            </a:r>
            <a:r>
              <a:rPr lang="en-US" dirty="0"/>
              <a:t>using an object</a:t>
            </a:r>
          </a:p>
          <a:p>
            <a:pPr marL="0" lvl="0" indent="0">
              <a:buNone/>
            </a:pPr>
            <a:endParaRPr lang="en-US" dirty="0"/>
          </a:p>
          <a:p>
            <a:pPr marL="0" marR="0" lvl="0" indent="0" algn="l" rtl="0">
              <a:lnSpc>
                <a:spcPct val="115000"/>
              </a:lnSpc>
              <a:spcBef>
                <a:spcPts val="1600"/>
              </a:spcBef>
              <a:spcAft>
                <a:spcPts val="0"/>
              </a:spcAft>
              <a:buNone/>
            </a:pPr>
            <a:endParaRPr lang="en" dirty="0"/>
          </a:p>
        </p:txBody>
      </p:sp>
      <p:sp>
        <p:nvSpPr>
          <p:cNvPr id="178" name="Google Shape;178;p29">
            <a:extLst>
              <a:ext uri="{FF2B5EF4-FFF2-40B4-BE49-F238E27FC236}">
                <a16:creationId xmlns:a16="http://schemas.microsoft.com/office/drawing/2014/main" id="{D8D6B1AC-E84D-126D-D346-F8E1F71B5F6E}"/>
              </a:ext>
            </a:extLst>
          </p:cNvPr>
          <p:cNvSpPr txBox="1">
            <a:spLocks noGrp="1"/>
          </p:cNvSpPr>
          <p:nvPr>
            <p:ph type="body" idx="2"/>
          </p:nvPr>
        </p:nvSpPr>
        <p:spPr>
          <a:xfrm>
            <a:off x="4832400" y="1225224"/>
            <a:ext cx="3999900" cy="3732855"/>
          </a:xfrm>
          <a:prstGeom prst="rect">
            <a:avLst/>
          </a:prstGeom>
        </p:spPr>
        <p:txBody>
          <a:bodyPr spcFirstLastPara="1" wrap="square" lIns="91425" tIns="91425" rIns="91425" bIns="91425" anchor="t" anchorCtr="0">
            <a:noAutofit/>
          </a:bodyPr>
          <a:lstStyle/>
          <a:p>
            <a:pPr marL="0" lvl="0" indent="0">
              <a:buNone/>
            </a:pPr>
            <a:r>
              <a:rPr lang="en" b="1" dirty="0"/>
              <a:t>Example</a:t>
            </a:r>
            <a:endParaRPr i="1" dirty="0"/>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const obj = {</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src</a:t>
            </a:r>
            <a:r>
              <a:rPr lang="en-US" dirty="0">
                <a:latin typeface="Open Sans" panose="020B0606030504020204" pitchFamily="34" charset="0"/>
                <a:ea typeface="Open Sans" panose="020B0606030504020204" pitchFamily="34" charset="0"/>
                <a:cs typeface="Open Sans" panose="020B0606030504020204" pitchFamily="34" charset="0"/>
              </a:rPr>
              <a:t>: ‘x’,</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width: ‘y’,</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a:t>
            </a:r>
            <a:r>
              <a:rPr lang="en-US" dirty="0" err="1">
                <a:latin typeface="Open Sans" panose="020B0606030504020204" pitchFamily="34" charset="0"/>
                <a:ea typeface="Open Sans" panose="020B0606030504020204" pitchFamily="34" charset="0"/>
                <a:cs typeface="Open Sans" panose="020B0606030504020204" pitchFamily="34" charset="0"/>
              </a:rPr>
              <a:t>img</a:t>
            </a:r>
            <a:r>
              <a:rPr lang="en-US" dirty="0">
                <a:latin typeface="Open Sans" panose="020B0606030504020204" pitchFamily="34" charset="0"/>
                <a:ea typeface="Open Sans" panose="020B0606030504020204" pitchFamily="34" charset="0"/>
                <a:cs typeface="Open Sans" panose="020B0606030504020204" pitchFamily="34" charset="0"/>
              </a:rPr>
              <a:t> v-bind=“obj” &gt;</a:t>
            </a:r>
            <a:endParaRPr lang="en-SG" dirty="0">
              <a:latin typeface="Open Sans" panose="020B0606030504020204" pitchFamily="34" charset="0"/>
              <a:ea typeface="Open Sans" panose="020B0606030504020204" pitchFamily="34" charset="0"/>
              <a:cs typeface="Open Sans" panose="020B0606030504020204" pitchFamily="34" charset="0"/>
            </a:endParaRPr>
          </a:p>
          <a:p>
            <a:pPr marL="0" lvl="0" indent="0">
              <a:spcBef>
                <a:spcPts val="1600"/>
              </a:spcBef>
              <a:buNone/>
            </a:pPr>
            <a:endParaRPr lang="en" dirty="0"/>
          </a:p>
        </p:txBody>
      </p:sp>
    </p:spTree>
    <p:extLst>
      <p:ext uri="{BB962C8B-B14F-4D97-AF65-F5344CB8AC3E}">
        <p14:creationId xmlns:p14="http://schemas.microsoft.com/office/powerpoint/2010/main" val="5663406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Exercise 2</a:t>
            </a:r>
            <a:endParaRPr/>
          </a:p>
        </p:txBody>
      </p:sp>
      <p:sp>
        <p:nvSpPr>
          <p:cNvPr id="197" name="Google Shape;197;p3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1600" dirty="0"/>
              <a:t>In Ex2.vue, the script part is given. Complete the HTML part such that the image is displayed with data defined in the script part.</a:t>
            </a: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lang="en" sz="1600" dirty="0"/>
          </a:p>
          <a:p>
            <a:pPr marL="0" marR="0" lvl="0" indent="0" algn="l" rtl="0">
              <a:lnSpc>
                <a:spcPct val="115000"/>
              </a:lnSpc>
              <a:spcBef>
                <a:spcPts val="0"/>
              </a:spcBef>
              <a:spcAft>
                <a:spcPts val="0"/>
              </a:spcAft>
              <a:buClr>
                <a:schemeClr val="dk1"/>
              </a:buClr>
              <a:buSzPts val="1100"/>
              <a:buFont typeface="Arial"/>
              <a:buNone/>
            </a:pPr>
            <a:r>
              <a:rPr lang="en" sz="1600" dirty="0"/>
              <a:t>Use the given ‘width’ and ‘height’ properties to set the image width and height. Try using both single attribute binding and multiple attribute binding</a:t>
            </a:r>
          </a:p>
        </p:txBody>
      </p:sp>
      <p:pic>
        <p:nvPicPr>
          <p:cNvPr id="198" name="Google Shape;198;p32"/>
          <p:cNvPicPr preferRelativeResize="0"/>
          <p:nvPr/>
        </p:nvPicPr>
        <p:blipFill>
          <a:blip r:embed="rId3">
            <a:alphaModFix/>
          </a:blip>
          <a:stretch>
            <a:fillRect/>
          </a:stretch>
        </p:blipFill>
        <p:spPr>
          <a:xfrm>
            <a:off x="2943225" y="2041913"/>
            <a:ext cx="3257550" cy="2143125"/>
          </a:xfrm>
          <a:prstGeom prst="rect">
            <a:avLst/>
          </a:prstGeom>
          <a:noFill/>
          <a:ln>
            <a:noFill/>
          </a:ln>
        </p:spPr>
      </p:pic>
    </p:spTree>
    <p:extLst>
      <p:ext uri="{BB962C8B-B14F-4D97-AF65-F5344CB8AC3E}">
        <p14:creationId xmlns:p14="http://schemas.microsoft.com/office/powerpoint/2010/main" val="2513075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37A153BF-ABBF-C775-08FE-D8CCAD7B4430}"/>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420D3CD8-38DC-B5C4-3D83-39FCC607D660}"/>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Attribute Binding (3)</a:t>
            </a:r>
            <a:endParaRPr dirty="0"/>
          </a:p>
        </p:txBody>
      </p:sp>
      <p:sp>
        <p:nvSpPr>
          <p:cNvPr id="177" name="Google Shape;177;p29">
            <a:extLst>
              <a:ext uri="{FF2B5EF4-FFF2-40B4-BE49-F238E27FC236}">
                <a16:creationId xmlns:a16="http://schemas.microsoft.com/office/drawing/2014/main" id="{6091CCDA-ACBE-5FC8-1155-7800D21834F8}"/>
              </a:ext>
            </a:extLst>
          </p:cNvPr>
          <p:cNvSpPr txBox="1">
            <a:spLocks noGrp="1"/>
          </p:cNvSpPr>
          <p:nvPr>
            <p:ph type="body" idx="1"/>
          </p:nvPr>
        </p:nvSpPr>
        <p:spPr>
          <a:xfrm>
            <a:off x="311700" y="1225225"/>
            <a:ext cx="3078417" cy="3354000"/>
          </a:xfrm>
          <a:prstGeom prst="rect">
            <a:avLst/>
          </a:prstGeom>
        </p:spPr>
        <p:txBody>
          <a:bodyPr spcFirstLastPara="1" wrap="square" lIns="91425" tIns="91425" rIns="91425" bIns="91425" anchor="t" anchorCtr="0">
            <a:noAutofit/>
          </a:bodyPr>
          <a:lstStyle/>
          <a:p>
            <a:pPr marL="0" lvl="0" indent="0">
              <a:buNone/>
            </a:pPr>
            <a:r>
              <a:rPr lang="en-US" dirty="0">
                <a:solidFill>
                  <a:schemeClr val="accent5"/>
                </a:solidFill>
              </a:rPr>
              <a:t>Boolean attributes </a:t>
            </a:r>
            <a:r>
              <a:rPr lang="en-US" dirty="0"/>
              <a:t>are attributes that can indicate true / false values by their presence on an element. </a:t>
            </a:r>
          </a:p>
          <a:p>
            <a:pPr marL="0" lvl="0" indent="0">
              <a:buNone/>
            </a:pPr>
            <a:endParaRPr lang="en-US" dirty="0"/>
          </a:p>
          <a:p>
            <a:pPr marL="0" lvl="0" indent="0">
              <a:buNone/>
            </a:pPr>
            <a:r>
              <a:rPr lang="en-US" dirty="0"/>
              <a:t>For example, disabled is a common Boolean attribute:</a:t>
            </a:r>
          </a:p>
          <a:p>
            <a:pPr marL="0" lvl="0" indent="0">
              <a:buNone/>
            </a:pPr>
            <a:endParaRPr lang="en-US" dirty="0"/>
          </a:p>
          <a:p>
            <a:pPr marL="0" marR="0" lvl="0" indent="0" algn="l" rtl="0">
              <a:lnSpc>
                <a:spcPct val="115000"/>
              </a:lnSpc>
              <a:spcBef>
                <a:spcPts val="1600"/>
              </a:spcBef>
              <a:spcAft>
                <a:spcPts val="0"/>
              </a:spcAft>
              <a:buNone/>
            </a:pPr>
            <a:endParaRPr lang="en" dirty="0"/>
          </a:p>
        </p:txBody>
      </p:sp>
      <p:sp>
        <p:nvSpPr>
          <p:cNvPr id="178" name="Google Shape;178;p29">
            <a:extLst>
              <a:ext uri="{FF2B5EF4-FFF2-40B4-BE49-F238E27FC236}">
                <a16:creationId xmlns:a16="http://schemas.microsoft.com/office/drawing/2014/main" id="{85A87FE6-1E2F-2465-0A3C-368C4E503657}"/>
              </a:ext>
            </a:extLst>
          </p:cNvPr>
          <p:cNvSpPr txBox="1">
            <a:spLocks noGrp="1"/>
          </p:cNvSpPr>
          <p:nvPr>
            <p:ph type="body" idx="2"/>
          </p:nvPr>
        </p:nvSpPr>
        <p:spPr>
          <a:xfrm>
            <a:off x="3435273" y="1225225"/>
            <a:ext cx="5573261" cy="3174295"/>
          </a:xfrm>
          <a:prstGeom prst="rect">
            <a:avLst/>
          </a:prstGeom>
        </p:spPr>
        <p:txBody>
          <a:bodyPr spcFirstLastPara="1" wrap="square" lIns="91425" tIns="91425" rIns="91425" bIns="91425" anchor="t" anchorCtr="0">
            <a:noAutofit/>
          </a:bodyPr>
          <a:lstStyle/>
          <a:p>
            <a:pPr marL="0" lvl="0" indent="0">
              <a:buNone/>
            </a:pPr>
            <a:r>
              <a:rPr lang="en" b="1" dirty="0"/>
              <a:t>Example: </a:t>
            </a:r>
            <a:r>
              <a:rPr lang="en" i="1" dirty="0"/>
              <a:t>Example6.vue</a:t>
            </a:r>
            <a:endParaRPr i="1" dirty="0"/>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const </a:t>
            </a:r>
            <a:r>
              <a:rPr lang="en-US" dirty="0" err="1">
                <a:latin typeface="Open Sans" panose="020B0606030504020204" pitchFamily="34" charset="0"/>
                <a:ea typeface="Open Sans" panose="020B0606030504020204" pitchFamily="34" charset="0"/>
                <a:cs typeface="Open Sans" panose="020B0606030504020204" pitchFamily="34" charset="0"/>
              </a:rPr>
              <a:t>isButtonDisabled</a:t>
            </a:r>
            <a:r>
              <a:rPr lang="en-US" dirty="0">
                <a:latin typeface="Open Sans" panose="020B0606030504020204" pitchFamily="34" charset="0"/>
                <a:ea typeface="Open Sans" panose="020B0606030504020204" pitchFamily="34" charset="0"/>
                <a:cs typeface="Open Sans" panose="020B0606030504020204" pitchFamily="34" charset="0"/>
              </a:rPr>
              <a:t> = ref(true)</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&lt;button :disabled="</a:t>
            </a:r>
            <a:r>
              <a:rPr lang="en-US" dirty="0" err="1">
                <a:latin typeface="Open Sans" panose="020B0606030504020204" pitchFamily="34" charset="0"/>
                <a:ea typeface="Open Sans" panose="020B0606030504020204" pitchFamily="34" charset="0"/>
                <a:cs typeface="Open Sans" panose="020B0606030504020204" pitchFamily="34" charset="0"/>
              </a:rPr>
              <a:t>isButtonDisabled</a:t>
            </a:r>
            <a:r>
              <a:rPr lang="en-US" dirty="0">
                <a:latin typeface="Open Sans" panose="020B0606030504020204" pitchFamily="34" charset="0"/>
                <a:ea typeface="Open Sans" panose="020B0606030504020204" pitchFamily="34" charset="0"/>
                <a:cs typeface="Open Sans" panose="020B0606030504020204" pitchFamily="34" charset="0"/>
              </a:rPr>
              <a:t>"&gt;Button&lt;/button&gt;</a:t>
            </a:r>
          </a:p>
          <a:p>
            <a:pPr marL="0" lvl="0" indent="0">
              <a:spcBef>
                <a:spcPts val="1600"/>
              </a:spcBef>
              <a:buNone/>
            </a:pPr>
            <a:endParaRPr lang="en" dirty="0"/>
          </a:p>
        </p:txBody>
      </p:sp>
    </p:spTree>
    <p:extLst>
      <p:ext uri="{BB962C8B-B14F-4D97-AF65-F5344CB8AC3E}">
        <p14:creationId xmlns:p14="http://schemas.microsoft.com/office/powerpoint/2010/main" val="3120934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Form Input Binding</a:t>
            </a:r>
            <a:endParaRPr dirty="0"/>
          </a:p>
        </p:txBody>
      </p:sp>
      <p:sp>
        <p:nvSpPr>
          <p:cNvPr id="90" name="Google Shape;90;p5"/>
          <p:cNvSpPr txBox="1">
            <a:spLocks noGrp="1"/>
          </p:cNvSpPr>
          <p:nvPr>
            <p:ph type="body" idx="1"/>
          </p:nvPr>
        </p:nvSpPr>
        <p:spPr>
          <a:xfrm>
            <a:off x="311700" y="1225225"/>
            <a:ext cx="3999900" cy="360235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Use v-model to create </a:t>
            </a:r>
            <a:r>
              <a:rPr lang="en" dirty="0">
                <a:solidFill>
                  <a:srgbClr val="3B9267"/>
                </a:solidFill>
              </a:rPr>
              <a:t>two-way data bindings </a:t>
            </a:r>
            <a:r>
              <a:rPr lang="en" dirty="0"/>
              <a:t>on form input, textarea, and select elements.</a:t>
            </a:r>
            <a:endParaRPr dirty="0"/>
          </a:p>
        </p:txBody>
      </p:sp>
      <p:sp>
        <p:nvSpPr>
          <p:cNvPr id="91" name="Google Shape;91;p5"/>
          <p:cNvSpPr txBox="1">
            <a:spLocks noGrp="1"/>
          </p:cNvSpPr>
          <p:nvPr>
            <p:ph type="body" idx="2"/>
          </p:nvPr>
        </p:nvSpPr>
        <p:spPr>
          <a:xfrm>
            <a:off x="4832400" y="1225225"/>
            <a:ext cx="4130978"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Example: </a:t>
            </a:r>
            <a:r>
              <a:rPr lang="en" i="1" dirty="0"/>
              <a:t>Example7.vue</a:t>
            </a:r>
            <a:endParaRPr b="1" i="1" dirty="0"/>
          </a:p>
          <a:p>
            <a:pPr marL="0" indent="0">
              <a:spcBef>
                <a:spcPts val="1600"/>
              </a:spcBef>
              <a:buNone/>
            </a:pPr>
            <a:r>
              <a:rPr lang="en-SG" dirty="0" err="1"/>
              <a:t>const</a:t>
            </a:r>
            <a:r>
              <a:rPr lang="en-SG" dirty="0"/>
              <a:t> username = ref(‘’)</a:t>
            </a:r>
          </a:p>
          <a:p>
            <a:pPr marL="0" marR="0" lvl="0" indent="0" algn="l" rtl="0">
              <a:lnSpc>
                <a:spcPct val="115000"/>
              </a:lnSpc>
              <a:spcBef>
                <a:spcPts val="1600"/>
              </a:spcBef>
              <a:spcAft>
                <a:spcPts val="0"/>
              </a:spcAft>
              <a:buSzPts val="1400"/>
              <a:buNone/>
            </a:pPr>
            <a:r>
              <a:rPr lang="en-US" dirty="0"/>
              <a:t>===</a:t>
            </a:r>
          </a:p>
          <a:p>
            <a:pPr marL="0" marR="0" lvl="0" indent="0" algn="l" rtl="0">
              <a:lnSpc>
                <a:spcPct val="115000"/>
              </a:lnSpc>
              <a:spcBef>
                <a:spcPts val="1600"/>
              </a:spcBef>
              <a:spcAft>
                <a:spcPts val="0"/>
              </a:spcAft>
              <a:buSzPts val="1400"/>
              <a:buNone/>
            </a:pPr>
            <a:r>
              <a:rPr lang="en-US" dirty="0"/>
              <a:t>Name: &lt;input type=‘text’ v-model=‘username’ &gt;</a:t>
            </a:r>
          </a:p>
          <a:p>
            <a:pPr marL="0" marR="0" lvl="0" indent="0" algn="l" rtl="0">
              <a:lnSpc>
                <a:spcPct val="115000"/>
              </a:lnSpc>
              <a:spcBef>
                <a:spcPts val="1600"/>
              </a:spcBef>
              <a:spcAft>
                <a:spcPts val="0"/>
              </a:spcAft>
              <a:buSzPts val="1400"/>
              <a:buNone/>
            </a:pPr>
            <a:r>
              <a:rPr lang="en-US" dirty="0"/>
              <a:t>Your name is {{ username }}</a:t>
            </a:r>
          </a:p>
          <a:p>
            <a:pPr marL="0" marR="0" lvl="0" indent="0" algn="l" rtl="0">
              <a:lnSpc>
                <a:spcPct val="115000"/>
              </a:lnSpc>
              <a:spcBef>
                <a:spcPts val="1600"/>
              </a:spcBef>
              <a:spcAft>
                <a:spcPts val="0"/>
              </a:spcAft>
              <a:buSzPts val="1400"/>
              <a:buNone/>
            </a:pPr>
            <a:endParaRPr dirty="0"/>
          </a:p>
          <a:p>
            <a:pPr marL="0" marR="0" lvl="0" indent="0" algn="l" rtl="0">
              <a:lnSpc>
                <a:spcPct val="115000"/>
              </a:lnSpc>
              <a:spcBef>
                <a:spcPts val="0"/>
              </a:spcBef>
              <a:spcAft>
                <a:spcPts val="0"/>
              </a:spcAft>
              <a:buSzPts val="1400"/>
              <a:buNone/>
            </a:pPr>
            <a:endParaRPr dirty="0"/>
          </a:p>
        </p:txBody>
      </p:sp>
      <p:sp>
        <p:nvSpPr>
          <p:cNvPr id="2" name="TextBox 1">
            <a:extLst>
              <a:ext uri="{FF2B5EF4-FFF2-40B4-BE49-F238E27FC236}">
                <a16:creationId xmlns:a16="http://schemas.microsoft.com/office/drawing/2014/main" id="{6B19AC60-4994-6249-FD06-A01F0AA930F8}"/>
              </a:ext>
            </a:extLst>
          </p:cNvPr>
          <p:cNvSpPr txBox="1"/>
          <p:nvPr/>
        </p:nvSpPr>
        <p:spPr>
          <a:xfrm>
            <a:off x="311700" y="2073551"/>
            <a:ext cx="4130978" cy="2754024"/>
          </a:xfrm>
          <a:prstGeom prst="rect">
            <a:avLst/>
          </a:prstGeom>
          <a:noFill/>
        </p:spPr>
        <p:txBody>
          <a:bodyPr wrap="square" rtlCol="0">
            <a:spAutoFit/>
          </a:bodyPr>
          <a:lstStyle/>
          <a:p>
            <a:pPr lvl="0">
              <a:lnSpc>
                <a:spcPct val="115000"/>
              </a:lnSpc>
              <a:spcBef>
                <a:spcPts val="1600"/>
              </a:spcBef>
              <a:buSzPts val="1400"/>
            </a:pPr>
            <a:r>
              <a:rPr lang="en-US" dirty="0"/>
              <a:t>Fyi (non-examinable) : v-model may use different </a:t>
            </a:r>
            <a:r>
              <a:rPr lang="en-US" dirty="0">
                <a:solidFill>
                  <a:srgbClr val="00B050"/>
                </a:solidFill>
              </a:rPr>
              <a:t>properties</a:t>
            </a:r>
            <a:r>
              <a:rPr lang="en-US" dirty="0"/>
              <a:t> and emits different </a:t>
            </a:r>
            <a:r>
              <a:rPr lang="en-US" dirty="0">
                <a:solidFill>
                  <a:srgbClr val="00B050"/>
                </a:solidFill>
              </a:rPr>
              <a:t>events</a:t>
            </a:r>
            <a:r>
              <a:rPr lang="en-US" dirty="0"/>
              <a:t> for different input elements.</a:t>
            </a:r>
          </a:p>
          <a:p>
            <a:pPr marL="457200" lvl="0" indent="-317500">
              <a:lnSpc>
                <a:spcPct val="115000"/>
              </a:lnSpc>
              <a:spcBef>
                <a:spcPts val="1600"/>
              </a:spcBef>
              <a:buSzPts val="1400"/>
              <a:buChar char="●"/>
            </a:pPr>
            <a:r>
              <a:rPr lang="en-US" dirty="0"/>
              <a:t>text and </a:t>
            </a:r>
            <a:r>
              <a:rPr lang="en-US" dirty="0" err="1"/>
              <a:t>textarea</a:t>
            </a:r>
            <a:r>
              <a:rPr lang="en-US" dirty="0"/>
              <a:t> elements use </a:t>
            </a:r>
            <a:r>
              <a:rPr lang="en-US" dirty="0">
                <a:solidFill>
                  <a:srgbClr val="00B050"/>
                </a:solidFill>
              </a:rPr>
              <a:t>value</a:t>
            </a:r>
            <a:r>
              <a:rPr lang="en-US" dirty="0"/>
              <a:t> property and </a:t>
            </a:r>
            <a:r>
              <a:rPr lang="en-US" dirty="0">
                <a:solidFill>
                  <a:srgbClr val="00B050"/>
                </a:solidFill>
              </a:rPr>
              <a:t>input</a:t>
            </a:r>
            <a:r>
              <a:rPr lang="en-US" dirty="0"/>
              <a:t> event;</a:t>
            </a:r>
          </a:p>
          <a:p>
            <a:pPr marL="457200" lvl="0" indent="-317500">
              <a:lnSpc>
                <a:spcPct val="115000"/>
              </a:lnSpc>
              <a:buSzPts val="1400"/>
              <a:buChar char="●"/>
            </a:pPr>
            <a:r>
              <a:rPr lang="en-US" dirty="0"/>
              <a:t>checkboxes and radio buttons use </a:t>
            </a:r>
            <a:r>
              <a:rPr lang="en-US" dirty="0">
                <a:solidFill>
                  <a:srgbClr val="00B050"/>
                </a:solidFill>
              </a:rPr>
              <a:t>value</a:t>
            </a:r>
            <a:r>
              <a:rPr lang="en-US" dirty="0"/>
              <a:t> (or </a:t>
            </a:r>
            <a:r>
              <a:rPr lang="en-US" dirty="0">
                <a:solidFill>
                  <a:srgbClr val="00B050"/>
                </a:solidFill>
              </a:rPr>
              <a:t>checked</a:t>
            </a:r>
            <a:r>
              <a:rPr lang="en-US" dirty="0"/>
              <a:t> property if value is not defined) and </a:t>
            </a:r>
            <a:r>
              <a:rPr lang="en-US" dirty="0">
                <a:solidFill>
                  <a:srgbClr val="00B050"/>
                </a:solidFill>
              </a:rPr>
              <a:t>change</a:t>
            </a:r>
            <a:r>
              <a:rPr lang="en-US" dirty="0"/>
              <a:t> event;</a:t>
            </a:r>
          </a:p>
          <a:p>
            <a:pPr marL="457200" lvl="0" indent="-317500">
              <a:lnSpc>
                <a:spcPct val="115000"/>
              </a:lnSpc>
              <a:buSzPts val="1400"/>
              <a:buChar char="●"/>
            </a:pPr>
            <a:r>
              <a:rPr lang="en-US" dirty="0"/>
              <a:t>select fields use </a:t>
            </a:r>
            <a:r>
              <a:rPr lang="en-US" dirty="0">
                <a:solidFill>
                  <a:srgbClr val="00B050"/>
                </a:solidFill>
              </a:rPr>
              <a:t>value</a:t>
            </a:r>
            <a:r>
              <a:rPr lang="en-US" dirty="0"/>
              <a:t> as a prop and </a:t>
            </a:r>
            <a:r>
              <a:rPr lang="en-US" dirty="0">
                <a:solidFill>
                  <a:srgbClr val="00B050"/>
                </a:solidFill>
              </a:rPr>
              <a:t>change</a:t>
            </a:r>
            <a:r>
              <a:rPr lang="en-US" dirty="0"/>
              <a:t> as an event.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Exercise 3</a:t>
            </a:r>
            <a:endParaRPr/>
          </a:p>
        </p:txBody>
      </p:sp>
      <p:sp>
        <p:nvSpPr>
          <p:cNvPr id="211" name="Google Shape;211;p34"/>
          <p:cNvSpPr txBox="1">
            <a:spLocks noGrp="1"/>
          </p:cNvSpPr>
          <p:nvPr>
            <p:ph type="body" idx="1"/>
          </p:nvPr>
        </p:nvSpPr>
        <p:spPr>
          <a:xfrm>
            <a:off x="311700" y="1225225"/>
            <a:ext cx="8520600" cy="1832935"/>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In Ex3.vue, a dropdown list is provided to allow users to login with either username or email. Render the page different depending on the selection, i.e., show an input for an email or a username accordingly.  </a:t>
            </a:r>
            <a:endParaRPr dirty="0"/>
          </a:p>
          <a:p>
            <a:pPr marL="0" marR="0" lvl="0" indent="0" algn="l" rtl="0">
              <a:lnSpc>
                <a:spcPct val="115000"/>
              </a:lnSpc>
              <a:spcBef>
                <a:spcPts val="1600"/>
              </a:spcBef>
              <a:spcAft>
                <a:spcPts val="1600"/>
              </a:spcAft>
              <a:buNone/>
            </a:pPr>
            <a:r>
              <a:rPr lang="en" dirty="0"/>
              <a:t>Hint: use v-model, v-if, and v-else to accomplish the task.</a:t>
            </a:r>
            <a:endParaRPr b="1" dirty="0"/>
          </a:p>
        </p:txBody>
      </p:sp>
      <p:pic>
        <p:nvPicPr>
          <p:cNvPr id="3" name="Picture 2" descr="Graphical user interface&#10;&#10;Description automatically generated">
            <a:extLst>
              <a:ext uri="{FF2B5EF4-FFF2-40B4-BE49-F238E27FC236}">
                <a16:creationId xmlns:a16="http://schemas.microsoft.com/office/drawing/2014/main" id="{9D6ED5D1-7710-9B43-A149-84F5591D4559}"/>
              </a:ext>
            </a:extLst>
          </p:cNvPr>
          <p:cNvPicPr>
            <a:picLocks noChangeAspect="1"/>
          </p:cNvPicPr>
          <p:nvPr/>
        </p:nvPicPr>
        <p:blipFill>
          <a:blip r:embed="rId3"/>
          <a:stretch>
            <a:fillRect/>
          </a:stretch>
        </p:blipFill>
        <p:spPr>
          <a:xfrm>
            <a:off x="436880" y="3474720"/>
            <a:ext cx="3400938" cy="1002635"/>
          </a:xfrm>
          <a:prstGeom prst="rect">
            <a:avLst/>
          </a:prstGeom>
        </p:spPr>
      </p:pic>
      <p:pic>
        <p:nvPicPr>
          <p:cNvPr id="5" name="Picture 4" descr="Graphical user interface, text&#10;&#10;Description automatically generated">
            <a:extLst>
              <a:ext uri="{FF2B5EF4-FFF2-40B4-BE49-F238E27FC236}">
                <a16:creationId xmlns:a16="http://schemas.microsoft.com/office/drawing/2014/main" id="{20333146-BCFD-2847-BF21-C0FDFD4E4D69}"/>
              </a:ext>
            </a:extLst>
          </p:cNvPr>
          <p:cNvPicPr>
            <a:picLocks noChangeAspect="1"/>
          </p:cNvPicPr>
          <p:nvPr/>
        </p:nvPicPr>
        <p:blipFill>
          <a:blip r:embed="rId4"/>
          <a:stretch>
            <a:fillRect/>
          </a:stretch>
        </p:blipFill>
        <p:spPr>
          <a:xfrm>
            <a:off x="4963160" y="3545840"/>
            <a:ext cx="3286760" cy="89848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(1)</a:t>
            </a:r>
            <a:endParaRPr dirty="0"/>
          </a:p>
        </p:txBody>
      </p:sp>
      <p:sp>
        <p:nvSpPr>
          <p:cNvPr id="217" name="Google Shape;217;p35"/>
          <p:cNvSpPr txBox="1">
            <a:spLocks noGrp="1"/>
          </p:cNvSpPr>
          <p:nvPr>
            <p:ph type="body" idx="1"/>
          </p:nvPr>
        </p:nvSpPr>
        <p:spPr>
          <a:xfrm>
            <a:off x="311699" y="1225225"/>
            <a:ext cx="419063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A common need for data binding is manipulating an element’s class and its inline styles, to control CSS</a:t>
            </a:r>
            <a:endParaRPr dirty="0"/>
          </a:p>
          <a:p>
            <a:pPr marL="0" marR="0" lvl="0" indent="0" algn="l" rtl="0">
              <a:lnSpc>
                <a:spcPct val="115000"/>
              </a:lnSpc>
              <a:spcBef>
                <a:spcPts val="1600"/>
              </a:spcBef>
              <a:spcAft>
                <a:spcPts val="0"/>
              </a:spcAft>
              <a:buNone/>
            </a:pPr>
            <a:r>
              <a:rPr lang="en" dirty="0"/>
              <a:t>Use </a:t>
            </a:r>
            <a:r>
              <a:rPr lang="en" dirty="0">
                <a:solidFill>
                  <a:schemeClr val="accent5"/>
                </a:solidFill>
              </a:rPr>
              <a:t>v-bind</a:t>
            </a:r>
            <a:r>
              <a:rPr lang="en" dirty="0"/>
              <a:t> to bind </a:t>
            </a:r>
            <a:r>
              <a:rPr lang="en" dirty="0">
                <a:solidFill>
                  <a:schemeClr val="accent5"/>
                </a:solidFill>
              </a:rPr>
              <a:t>class</a:t>
            </a:r>
            <a:r>
              <a:rPr lang="en" dirty="0"/>
              <a:t> and </a:t>
            </a:r>
            <a:r>
              <a:rPr lang="en" dirty="0">
                <a:solidFill>
                  <a:schemeClr val="accent5"/>
                </a:solidFill>
              </a:rPr>
              <a:t>style</a:t>
            </a:r>
            <a:r>
              <a:rPr lang="en" dirty="0"/>
              <a:t> attributes</a:t>
            </a:r>
            <a:endParaRPr dirty="0"/>
          </a:p>
          <a:p>
            <a:pPr marL="0" marR="0" lvl="0" indent="0" algn="l" rtl="0">
              <a:lnSpc>
                <a:spcPct val="115000"/>
              </a:lnSpc>
              <a:spcBef>
                <a:spcPts val="1600"/>
              </a:spcBef>
              <a:spcAft>
                <a:spcPts val="0"/>
              </a:spcAft>
              <a:buNone/>
            </a:pPr>
            <a:r>
              <a:rPr lang="en" dirty="0"/>
              <a:t>Syntax: </a:t>
            </a:r>
            <a:endParaRPr dirty="0"/>
          </a:p>
          <a:p>
            <a:pPr marL="0" marR="0" lvl="0" indent="457200" algn="l" rtl="0">
              <a:lnSpc>
                <a:spcPct val="115000"/>
              </a:lnSpc>
              <a:spcBef>
                <a:spcPts val="1600"/>
              </a:spcBef>
              <a:spcAft>
                <a:spcPts val="0"/>
              </a:spcAft>
              <a:buNone/>
            </a:pPr>
            <a:r>
              <a:rPr lang="en" dirty="0" err="1"/>
              <a:t>v-bind:class</a:t>
            </a:r>
            <a:r>
              <a:rPr lang="en" dirty="0"/>
              <a:t>="{'</a:t>
            </a:r>
            <a:r>
              <a:rPr lang="en" dirty="0" err="1"/>
              <a:t>className</a:t>
            </a:r>
            <a:r>
              <a:rPr lang="en" dirty="0"/>
              <a:t>' : </a:t>
            </a:r>
            <a:r>
              <a:rPr lang="en" dirty="0" err="1"/>
              <a:t>isActive</a:t>
            </a:r>
            <a:r>
              <a:rPr lang="en" dirty="0"/>
              <a:t>}”</a:t>
            </a:r>
          </a:p>
          <a:p>
            <a:pPr marL="0" lvl="0" indent="457200">
              <a:spcBef>
                <a:spcPts val="1600"/>
              </a:spcBef>
              <a:buNone/>
            </a:pPr>
            <a:r>
              <a:rPr lang="en" dirty="0" err="1"/>
              <a:t>v-bind:class</a:t>
            </a:r>
            <a:r>
              <a:rPr lang="en" dirty="0"/>
              <a:t> = ”[prop1, prop2]"</a:t>
            </a:r>
            <a:endParaRPr dirty="0"/>
          </a:p>
          <a:p>
            <a:pPr marL="0" marR="0" lvl="0" indent="457200" algn="l" rtl="0">
              <a:lnSpc>
                <a:spcPct val="115000"/>
              </a:lnSpc>
              <a:spcBef>
                <a:spcPts val="1600"/>
              </a:spcBef>
              <a:spcAft>
                <a:spcPts val="0"/>
              </a:spcAft>
              <a:buNone/>
            </a:pPr>
            <a:r>
              <a:rPr lang="en" dirty="0" err="1"/>
              <a:t>v-bind:style</a:t>
            </a:r>
            <a:r>
              <a:rPr lang="en" dirty="0"/>
              <a:t>="{‘</a:t>
            </a:r>
            <a:r>
              <a:rPr lang="en" dirty="0" err="1"/>
              <a:t>css</a:t>
            </a:r>
            <a:r>
              <a:rPr lang="en" dirty="0"/>
              <a:t>-property’ : prop}"</a:t>
            </a:r>
            <a:endParaRPr dirty="0"/>
          </a:p>
          <a:p>
            <a:pPr marL="0" lvl="0" indent="0" algn="l" rtl="0">
              <a:spcBef>
                <a:spcPts val="1600"/>
              </a:spcBef>
              <a:spcAft>
                <a:spcPts val="1600"/>
              </a:spcAft>
              <a:buNone/>
            </a:pPr>
            <a:r>
              <a:rPr lang="en" dirty="0"/>
              <a:t> </a:t>
            </a:r>
            <a:endParaRPr dirty="0"/>
          </a:p>
        </p:txBody>
      </p:sp>
      <p:sp>
        <p:nvSpPr>
          <p:cNvPr id="218" name="Google Shape;218;p35"/>
          <p:cNvSpPr txBox="1">
            <a:spLocks noGrp="1"/>
          </p:cNvSpPr>
          <p:nvPr>
            <p:ph type="body" idx="2"/>
          </p:nvPr>
        </p:nvSpPr>
        <p:spPr>
          <a:xfrm>
            <a:off x="4832400" y="1225225"/>
            <a:ext cx="3999900" cy="1449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Example8.vue and Example9.vue </a:t>
            </a:r>
            <a:endParaRPr i="1" dirty="0"/>
          </a:p>
          <a:p>
            <a:pPr marL="0" lvl="0" indent="0" algn="l" rtl="0">
              <a:spcBef>
                <a:spcPts val="1600"/>
              </a:spcBef>
              <a:spcAft>
                <a:spcPts val="1600"/>
              </a:spcAft>
              <a:buNone/>
            </a:pPr>
            <a:r>
              <a:rPr lang="en" dirty="0"/>
              <a:t>Notice the CSS code written in &lt;style scoped&gt; in </a:t>
            </a:r>
            <a:r>
              <a:rPr lang="en" i="1" dirty="0"/>
              <a:t>Example8.vue </a:t>
            </a:r>
            <a:r>
              <a:rPr lang="en" dirty="0"/>
              <a:t>(internal styling) and the absence of it in </a:t>
            </a:r>
            <a:r>
              <a:rPr lang="en" i="1" dirty="0"/>
              <a:t>Example9.vue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B5319BB0-77ED-D017-D31F-85DCE3BE0750}"/>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7021D368-CC19-2BCF-04FF-85BF4A74D1C7}"/>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(2)</a:t>
            </a:r>
            <a:endParaRPr dirty="0"/>
          </a:p>
        </p:txBody>
      </p:sp>
      <p:sp>
        <p:nvSpPr>
          <p:cNvPr id="217" name="Google Shape;217;p35">
            <a:extLst>
              <a:ext uri="{FF2B5EF4-FFF2-40B4-BE49-F238E27FC236}">
                <a16:creationId xmlns:a16="http://schemas.microsoft.com/office/drawing/2014/main" id="{483EFC08-EC34-DEF0-4E3C-602AECD86D3F}"/>
              </a:ext>
            </a:extLst>
          </p:cNvPr>
          <p:cNvSpPr txBox="1">
            <a:spLocks noGrp="1"/>
          </p:cNvSpPr>
          <p:nvPr>
            <p:ph type="body" idx="1"/>
          </p:nvPr>
        </p:nvSpPr>
        <p:spPr>
          <a:xfrm>
            <a:off x="311699" y="1225225"/>
            <a:ext cx="452070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US" b="1" dirty="0"/>
              <a:t>Binding to Objects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We can pass an object to</a:t>
            </a:r>
            <a:r>
              <a:rPr lang="en-US" dirty="0">
                <a:solidFill>
                  <a:schemeClr val="accent5"/>
                </a:solidFill>
              </a:rPr>
              <a:t> :class </a:t>
            </a:r>
            <a:r>
              <a:rPr lang="en-US" dirty="0"/>
              <a:t>to dynamically toggle classes: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 dirty="0"/>
              <a:t>&lt;div v-bind:class="{'className' : isActive}”&gt;&lt;/div&gt;</a:t>
            </a:r>
          </a:p>
          <a:p>
            <a:pPr marL="0" marR="0" lvl="0" indent="0" algn="l" rtl="0">
              <a:lnSpc>
                <a:spcPct val="115000"/>
              </a:lnSpc>
              <a:spcBef>
                <a:spcPts val="0"/>
              </a:spcBef>
              <a:spcAft>
                <a:spcPts val="0"/>
              </a:spcAft>
              <a:buNone/>
            </a:pPr>
            <a:endParaRPr lang="en" dirty="0"/>
          </a:p>
          <a:p>
            <a:pPr marL="0" marR="0" lvl="0" indent="0" algn="l" rtl="0">
              <a:lnSpc>
                <a:spcPct val="115000"/>
              </a:lnSpc>
              <a:spcBef>
                <a:spcPts val="0"/>
              </a:spcBef>
              <a:spcAft>
                <a:spcPts val="0"/>
              </a:spcAft>
              <a:buNone/>
            </a:pPr>
            <a:r>
              <a:rPr lang="en" dirty="0"/>
              <a:t>You can have multiple classes:</a:t>
            </a:r>
          </a:p>
          <a:p>
            <a:pPr marL="0" marR="0" lvl="0" indent="0" algn="l" rtl="0">
              <a:lnSpc>
                <a:spcPct val="115000"/>
              </a:lnSpc>
              <a:spcBef>
                <a:spcPts val="0"/>
              </a:spcBef>
              <a:spcAft>
                <a:spcPts val="0"/>
              </a:spcAft>
              <a:buNone/>
            </a:pPr>
            <a:endParaRPr lang="en" dirty="0"/>
          </a:p>
          <a:p>
            <a:pPr marL="0" lvl="0" indent="0">
              <a:buNone/>
            </a:pPr>
            <a:r>
              <a:rPr lang="en-US" dirty="0"/>
              <a:t>&lt;div</a:t>
            </a:r>
          </a:p>
          <a:p>
            <a:pPr marL="0" lvl="0" indent="0">
              <a:buNone/>
            </a:pPr>
            <a:r>
              <a:rPr lang="en-US" dirty="0"/>
              <a:t>  class="static"</a:t>
            </a:r>
          </a:p>
          <a:p>
            <a:pPr marL="0" lvl="0" indent="0">
              <a:buNone/>
            </a:pPr>
            <a:r>
              <a:rPr lang="en-US" dirty="0"/>
              <a:t>  :class="{ ‘demo’: </a:t>
            </a:r>
            <a:r>
              <a:rPr lang="en-US" dirty="0" err="1"/>
              <a:t>isActive</a:t>
            </a:r>
            <a:r>
              <a:rPr lang="en-US" dirty="0"/>
              <a:t>, 'text-danger': </a:t>
            </a:r>
            <a:r>
              <a:rPr lang="en-US" dirty="0" err="1"/>
              <a:t>hasError</a:t>
            </a:r>
            <a:r>
              <a:rPr lang="en-US" dirty="0"/>
              <a:t> }"</a:t>
            </a:r>
          </a:p>
          <a:p>
            <a:pPr marL="0" lvl="0" indent="0">
              <a:buNone/>
            </a:pPr>
            <a:r>
              <a:rPr lang="en-US" dirty="0"/>
              <a:t>&gt;&lt;/div&gt;</a:t>
            </a:r>
            <a:endParaRPr lang="en" dirty="0"/>
          </a:p>
          <a:p>
            <a:pPr marL="0" lvl="0" indent="0" algn="l" rtl="0">
              <a:spcBef>
                <a:spcPts val="1600"/>
              </a:spcBef>
              <a:spcAft>
                <a:spcPts val="1600"/>
              </a:spcAft>
              <a:buNone/>
            </a:pPr>
            <a:r>
              <a:rPr lang="en" dirty="0"/>
              <a:t> </a:t>
            </a:r>
            <a:endParaRPr dirty="0"/>
          </a:p>
        </p:txBody>
      </p:sp>
      <p:sp>
        <p:nvSpPr>
          <p:cNvPr id="218" name="Google Shape;218;p35">
            <a:extLst>
              <a:ext uri="{FF2B5EF4-FFF2-40B4-BE49-F238E27FC236}">
                <a16:creationId xmlns:a16="http://schemas.microsoft.com/office/drawing/2014/main" id="{62544DB3-17B9-FE4B-A26A-7FD74600841A}"/>
              </a:ext>
            </a:extLst>
          </p:cNvPr>
          <p:cNvSpPr txBox="1">
            <a:spLocks noGrp="1"/>
          </p:cNvSpPr>
          <p:nvPr>
            <p:ph type="body" idx="2"/>
          </p:nvPr>
        </p:nvSpPr>
        <p:spPr>
          <a:xfrm>
            <a:off x="4832400" y="1225225"/>
            <a:ext cx="3999900" cy="1449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Example8.vue </a:t>
            </a:r>
            <a:endParaRPr i="1" dirty="0"/>
          </a:p>
        </p:txBody>
      </p:sp>
      <p:sp>
        <p:nvSpPr>
          <p:cNvPr id="219" name="Google Shape;219;p35">
            <a:extLst>
              <a:ext uri="{FF2B5EF4-FFF2-40B4-BE49-F238E27FC236}">
                <a16:creationId xmlns:a16="http://schemas.microsoft.com/office/drawing/2014/main" id="{8668739C-0842-6DD7-64C7-18A52D3EA467}"/>
              </a:ext>
            </a:extLst>
          </p:cNvPr>
          <p:cNvSpPr/>
          <p:nvPr/>
        </p:nvSpPr>
        <p:spPr>
          <a:xfrm>
            <a:off x="5156036" y="2013397"/>
            <a:ext cx="2361178" cy="660950"/>
          </a:xfrm>
          <a:prstGeom prst="wedgeRoundRectCallout">
            <a:avLst>
              <a:gd name="adj1" fmla="val -36962"/>
              <a:gd name="adj2" fmla="val 6012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dirty="0"/>
              <a:t>Don’t forget the quotes.</a:t>
            </a:r>
          </a:p>
        </p:txBody>
      </p:sp>
      <p:sp>
        <p:nvSpPr>
          <p:cNvPr id="2" name="Google Shape;219;p35">
            <a:extLst>
              <a:ext uri="{FF2B5EF4-FFF2-40B4-BE49-F238E27FC236}">
                <a16:creationId xmlns:a16="http://schemas.microsoft.com/office/drawing/2014/main" id="{1659BA1E-7D83-558C-3E3C-5F59937472E0}"/>
              </a:ext>
            </a:extLst>
          </p:cNvPr>
          <p:cNvSpPr/>
          <p:nvPr/>
        </p:nvSpPr>
        <p:spPr>
          <a:xfrm>
            <a:off x="5118196" y="3045199"/>
            <a:ext cx="2361178" cy="1210712"/>
          </a:xfrm>
          <a:prstGeom prst="wedgeRoundRectCallout">
            <a:avLst>
              <a:gd name="adj1" fmla="val -36962"/>
              <a:gd name="adj2" fmla="val 6012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dirty="0"/>
              <a:t>isActive and hasError are the Vue component’s properties</a:t>
            </a:r>
          </a:p>
        </p:txBody>
      </p:sp>
    </p:spTree>
    <p:extLst>
      <p:ext uri="{BB962C8B-B14F-4D97-AF65-F5344CB8AC3E}">
        <p14:creationId xmlns:p14="http://schemas.microsoft.com/office/powerpoint/2010/main" val="1884520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468595E0-AE92-AA71-C933-07B8AE016763}"/>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009EAA3D-9825-DBD0-04EC-FB38F206A551}"/>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(3)</a:t>
            </a:r>
            <a:endParaRPr dirty="0"/>
          </a:p>
        </p:txBody>
      </p:sp>
      <p:sp>
        <p:nvSpPr>
          <p:cNvPr id="217" name="Google Shape;217;p35">
            <a:extLst>
              <a:ext uri="{FF2B5EF4-FFF2-40B4-BE49-F238E27FC236}">
                <a16:creationId xmlns:a16="http://schemas.microsoft.com/office/drawing/2014/main" id="{B01E0048-40F9-C11D-E3F9-A73857BB777C}"/>
              </a:ext>
            </a:extLst>
          </p:cNvPr>
          <p:cNvSpPr txBox="1">
            <a:spLocks noGrp="1"/>
          </p:cNvSpPr>
          <p:nvPr>
            <p:ph type="body" idx="1"/>
          </p:nvPr>
        </p:nvSpPr>
        <p:spPr>
          <a:xfrm>
            <a:off x="311699" y="1225225"/>
            <a:ext cx="452070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US" b="1" dirty="0"/>
              <a:t>Binding to Arrays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We can pass an array to</a:t>
            </a:r>
            <a:r>
              <a:rPr lang="en-US" dirty="0">
                <a:solidFill>
                  <a:schemeClr val="accent5"/>
                </a:solidFill>
              </a:rPr>
              <a:t> :class </a:t>
            </a:r>
            <a:r>
              <a:rPr lang="en-US" dirty="0"/>
              <a:t>to apply a list of classes:</a:t>
            </a:r>
          </a:p>
          <a:p>
            <a:pPr marL="0" marR="0" lvl="0" indent="0" algn="l" rtl="0">
              <a:lnSpc>
                <a:spcPct val="115000"/>
              </a:lnSpc>
              <a:spcBef>
                <a:spcPts val="0"/>
              </a:spcBef>
              <a:spcAft>
                <a:spcPts val="0"/>
              </a:spcAft>
              <a:buNone/>
            </a:pPr>
            <a:endParaRPr lang="en-US" dirty="0"/>
          </a:p>
          <a:p>
            <a:pPr marL="0" lvl="0" indent="0" algn="l" rtl="0">
              <a:spcBef>
                <a:spcPts val="1600"/>
              </a:spcBef>
              <a:spcAft>
                <a:spcPts val="1600"/>
              </a:spcAft>
              <a:buNone/>
            </a:pPr>
            <a:r>
              <a:rPr lang="en" dirty="0"/>
              <a:t> </a:t>
            </a:r>
            <a:endParaRPr dirty="0"/>
          </a:p>
        </p:txBody>
      </p:sp>
      <p:sp>
        <p:nvSpPr>
          <p:cNvPr id="218" name="Google Shape;218;p35">
            <a:extLst>
              <a:ext uri="{FF2B5EF4-FFF2-40B4-BE49-F238E27FC236}">
                <a16:creationId xmlns:a16="http://schemas.microsoft.com/office/drawing/2014/main" id="{A19B685A-0EA9-DCEB-2E8B-235A15B069EE}"/>
              </a:ext>
            </a:extLst>
          </p:cNvPr>
          <p:cNvSpPr txBox="1">
            <a:spLocks noGrp="1"/>
          </p:cNvSpPr>
          <p:nvPr>
            <p:ph type="body" idx="2"/>
          </p:nvPr>
        </p:nvSpPr>
        <p:spPr>
          <a:xfrm>
            <a:off x="4832400" y="1225224"/>
            <a:ext cx="3999900" cy="3245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Example8.vue</a:t>
            </a:r>
          </a:p>
          <a:p>
            <a:pPr marL="0" lvl="0" indent="0" algn="l" rtl="0">
              <a:spcBef>
                <a:spcPts val="0"/>
              </a:spcBef>
              <a:spcAft>
                <a:spcPts val="0"/>
              </a:spcAft>
              <a:buNone/>
            </a:pPr>
            <a:endParaRPr lang="en" i="1" dirty="0"/>
          </a:p>
          <a:p>
            <a:pPr marL="0" lvl="0" indent="0">
              <a:buNone/>
            </a:pPr>
            <a:r>
              <a:rPr lang="en-SG" dirty="0" err="1"/>
              <a:t>const</a:t>
            </a:r>
            <a:r>
              <a:rPr lang="en-SG" dirty="0"/>
              <a:t> </a:t>
            </a:r>
            <a:r>
              <a:rPr lang="en-SG" dirty="0" err="1"/>
              <a:t>activeClass</a:t>
            </a:r>
            <a:r>
              <a:rPr lang="en-SG" dirty="0"/>
              <a:t> = ref('active')</a:t>
            </a:r>
          </a:p>
          <a:p>
            <a:pPr marL="0" lvl="0" indent="0">
              <a:buNone/>
            </a:pPr>
            <a:r>
              <a:rPr lang="en-SG" dirty="0" err="1"/>
              <a:t>const</a:t>
            </a:r>
            <a:r>
              <a:rPr lang="en-SG" dirty="0"/>
              <a:t> </a:t>
            </a:r>
            <a:r>
              <a:rPr lang="en-SG" dirty="0" err="1"/>
              <a:t>errorClass</a:t>
            </a:r>
            <a:r>
              <a:rPr lang="en-SG" dirty="0"/>
              <a:t> = ref('text-danger’)</a:t>
            </a:r>
          </a:p>
          <a:p>
            <a:pPr marL="0" lvl="0" indent="0">
              <a:buNone/>
            </a:pPr>
            <a:endParaRPr lang="en-SG" i="1" dirty="0"/>
          </a:p>
          <a:p>
            <a:pPr marL="0" lvl="0" indent="0">
              <a:buNone/>
            </a:pPr>
            <a:r>
              <a:rPr lang="en-SG" i="1" dirty="0"/>
              <a:t>===</a:t>
            </a:r>
          </a:p>
          <a:p>
            <a:pPr marL="0" lvl="0" indent="0">
              <a:buNone/>
            </a:pPr>
            <a:endParaRPr lang="en-SG" i="1" dirty="0"/>
          </a:p>
          <a:p>
            <a:pPr marL="0" indent="0">
              <a:buNone/>
            </a:pPr>
            <a:r>
              <a:rPr lang="en-US" dirty="0"/>
              <a:t>&lt;div :class="[</a:t>
            </a:r>
            <a:r>
              <a:rPr lang="en-US" dirty="0" err="1"/>
              <a:t>activeClass</a:t>
            </a:r>
            <a:r>
              <a:rPr lang="en-US" dirty="0"/>
              <a:t>, </a:t>
            </a:r>
            <a:r>
              <a:rPr lang="en-US" dirty="0" err="1"/>
              <a:t>errorClass</a:t>
            </a:r>
            <a:r>
              <a:rPr lang="en-US" dirty="0"/>
              <a:t>]"&gt;&lt;/div&gt;</a:t>
            </a:r>
          </a:p>
          <a:p>
            <a:pPr marL="0" lvl="0" indent="0">
              <a:buNone/>
            </a:pPr>
            <a:endParaRPr lang="en-SG" i="1" dirty="0"/>
          </a:p>
          <a:p>
            <a:pPr marL="0" lvl="0" indent="0">
              <a:buNone/>
            </a:pPr>
            <a:r>
              <a:rPr lang="en" i="1" dirty="0"/>
              <a:t> </a:t>
            </a:r>
            <a:endParaRPr i="1" dirty="0"/>
          </a:p>
        </p:txBody>
      </p:sp>
    </p:spTree>
    <p:extLst>
      <p:ext uri="{BB962C8B-B14F-4D97-AF65-F5344CB8AC3E}">
        <p14:creationId xmlns:p14="http://schemas.microsoft.com/office/powerpoint/2010/main" val="1722754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2B5A147C-73B4-CAA7-B9FE-B0870CF28316}"/>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D7DCA2E7-1729-4AF3-BB61-8F61CD6CE580}"/>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(4)</a:t>
            </a:r>
            <a:endParaRPr dirty="0"/>
          </a:p>
        </p:txBody>
      </p:sp>
      <p:sp>
        <p:nvSpPr>
          <p:cNvPr id="217" name="Google Shape;217;p35">
            <a:extLst>
              <a:ext uri="{FF2B5EF4-FFF2-40B4-BE49-F238E27FC236}">
                <a16:creationId xmlns:a16="http://schemas.microsoft.com/office/drawing/2014/main" id="{3B6115E3-0D83-5FC4-94DB-49A8A0F41361}"/>
              </a:ext>
            </a:extLst>
          </p:cNvPr>
          <p:cNvSpPr txBox="1">
            <a:spLocks noGrp="1"/>
          </p:cNvSpPr>
          <p:nvPr>
            <p:ph type="body" idx="1"/>
          </p:nvPr>
        </p:nvSpPr>
        <p:spPr>
          <a:xfrm>
            <a:off x="311699" y="1225225"/>
            <a:ext cx="452070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US" b="1" dirty="0"/>
              <a:t>Binding Inline Styles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Similar to class attribute, we can also bind to style attribute with an object</a:t>
            </a:r>
          </a:p>
          <a:p>
            <a:pPr marL="0" marR="0" lvl="0" indent="0" algn="l" rtl="0">
              <a:lnSpc>
                <a:spcPct val="115000"/>
              </a:lnSpc>
              <a:spcBef>
                <a:spcPts val="0"/>
              </a:spcBef>
              <a:spcAft>
                <a:spcPts val="0"/>
              </a:spcAft>
              <a:buNone/>
            </a:pPr>
            <a:endParaRPr lang="en-US" dirty="0"/>
          </a:p>
          <a:p>
            <a:pPr marL="0" lvl="0" indent="0" algn="l" rtl="0">
              <a:spcBef>
                <a:spcPts val="1600"/>
              </a:spcBef>
              <a:spcAft>
                <a:spcPts val="1600"/>
              </a:spcAft>
              <a:buNone/>
            </a:pPr>
            <a:r>
              <a:rPr lang="en" dirty="0"/>
              <a:t> </a:t>
            </a:r>
            <a:endParaRPr dirty="0"/>
          </a:p>
        </p:txBody>
      </p:sp>
      <p:sp>
        <p:nvSpPr>
          <p:cNvPr id="218" name="Google Shape;218;p35">
            <a:extLst>
              <a:ext uri="{FF2B5EF4-FFF2-40B4-BE49-F238E27FC236}">
                <a16:creationId xmlns:a16="http://schemas.microsoft.com/office/drawing/2014/main" id="{772F4213-6E2D-3575-9681-2CEB4FA14272}"/>
              </a:ext>
            </a:extLst>
          </p:cNvPr>
          <p:cNvSpPr txBox="1">
            <a:spLocks noGrp="1"/>
          </p:cNvSpPr>
          <p:nvPr>
            <p:ph type="body" idx="2"/>
          </p:nvPr>
        </p:nvSpPr>
        <p:spPr>
          <a:xfrm>
            <a:off x="4832400" y="1225224"/>
            <a:ext cx="3999900" cy="3245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Example9.vue</a:t>
            </a:r>
          </a:p>
          <a:p>
            <a:pPr marL="0" lvl="0" indent="0" algn="l" rtl="0">
              <a:spcBef>
                <a:spcPts val="0"/>
              </a:spcBef>
              <a:spcAft>
                <a:spcPts val="0"/>
              </a:spcAft>
              <a:buNone/>
            </a:pPr>
            <a:endParaRPr lang="en" i="1" dirty="0"/>
          </a:p>
          <a:p>
            <a:pPr marL="0" lvl="0" indent="0">
              <a:buNone/>
            </a:pPr>
            <a:r>
              <a:rPr lang="en-SG" dirty="0" err="1"/>
              <a:t>const</a:t>
            </a:r>
            <a:r>
              <a:rPr lang="en-SG" dirty="0"/>
              <a:t> </a:t>
            </a:r>
            <a:r>
              <a:rPr lang="en-SG" dirty="0" err="1"/>
              <a:t>activeColor</a:t>
            </a:r>
            <a:r>
              <a:rPr lang="en-SG" dirty="0"/>
              <a:t> = ref('red')</a:t>
            </a:r>
          </a:p>
          <a:p>
            <a:pPr marL="0" lvl="0" indent="0">
              <a:buNone/>
            </a:pPr>
            <a:r>
              <a:rPr lang="en-SG" dirty="0" err="1"/>
              <a:t>const</a:t>
            </a:r>
            <a:r>
              <a:rPr lang="en-SG" dirty="0"/>
              <a:t> </a:t>
            </a:r>
            <a:r>
              <a:rPr lang="en-SG" dirty="0" err="1"/>
              <a:t>fontSize</a:t>
            </a:r>
            <a:r>
              <a:rPr lang="en-SG" dirty="0"/>
              <a:t> = ref(30)</a:t>
            </a:r>
          </a:p>
          <a:p>
            <a:pPr marL="0" lvl="0" indent="0">
              <a:buNone/>
            </a:pPr>
            <a:endParaRPr lang="en-SG" i="1" dirty="0"/>
          </a:p>
          <a:p>
            <a:pPr marL="0" lvl="0" indent="0">
              <a:buNone/>
            </a:pPr>
            <a:r>
              <a:rPr lang="en-SG" i="1" dirty="0"/>
              <a:t>===</a:t>
            </a:r>
          </a:p>
          <a:p>
            <a:pPr marL="0" lvl="0" indent="0">
              <a:buNone/>
            </a:pPr>
            <a:endParaRPr lang="en-SG" i="1" dirty="0"/>
          </a:p>
          <a:p>
            <a:pPr marL="0" indent="0">
              <a:buNone/>
            </a:pPr>
            <a:r>
              <a:rPr lang="en-US" dirty="0"/>
              <a:t>&lt;div :style="{ </a:t>
            </a:r>
          </a:p>
          <a:p>
            <a:pPr marL="0" indent="0">
              <a:buNone/>
            </a:pPr>
            <a:r>
              <a:rPr lang="en-US" dirty="0"/>
              <a:t>	color: </a:t>
            </a:r>
            <a:r>
              <a:rPr lang="en-US" dirty="0" err="1"/>
              <a:t>activeColor</a:t>
            </a:r>
            <a:r>
              <a:rPr lang="en-US" dirty="0"/>
              <a:t>, </a:t>
            </a:r>
          </a:p>
          <a:p>
            <a:pPr marL="0" indent="0">
              <a:buNone/>
            </a:pPr>
            <a:endParaRPr lang="en-US" dirty="0"/>
          </a:p>
          <a:p>
            <a:pPr marL="0" indent="0">
              <a:buNone/>
            </a:pPr>
            <a:r>
              <a:rPr lang="en-US" dirty="0"/>
              <a:t>	</a:t>
            </a:r>
            <a:r>
              <a:rPr lang="en-US" dirty="0" err="1"/>
              <a:t>fontSize</a:t>
            </a:r>
            <a:r>
              <a:rPr lang="en-US" dirty="0"/>
              <a:t>: </a:t>
            </a:r>
            <a:r>
              <a:rPr lang="en-US" dirty="0" err="1"/>
              <a:t>fontSize</a:t>
            </a:r>
            <a:r>
              <a:rPr lang="en-US" dirty="0"/>
              <a:t> + '</a:t>
            </a:r>
            <a:r>
              <a:rPr lang="en-US" dirty="0" err="1"/>
              <a:t>px</a:t>
            </a:r>
            <a:r>
              <a:rPr lang="en-US" dirty="0"/>
              <a:t>’</a:t>
            </a:r>
          </a:p>
          <a:p>
            <a:pPr marL="0" indent="0">
              <a:buNone/>
            </a:pPr>
            <a:r>
              <a:rPr lang="en-US" dirty="0"/>
              <a:t>	 }"&gt;</a:t>
            </a:r>
          </a:p>
          <a:p>
            <a:pPr marL="0" indent="0">
              <a:buNone/>
            </a:pPr>
            <a:r>
              <a:rPr lang="en-US" dirty="0"/>
              <a:t>&lt;/div&gt;</a:t>
            </a:r>
            <a:endParaRPr lang="en-SG" i="1" dirty="0"/>
          </a:p>
          <a:p>
            <a:pPr marL="0" lvl="0" indent="0">
              <a:buNone/>
            </a:pPr>
            <a:r>
              <a:rPr lang="en" i="1" dirty="0"/>
              <a:t> </a:t>
            </a:r>
            <a:endParaRPr i="1" dirty="0"/>
          </a:p>
        </p:txBody>
      </p:sp>
    </p:spTree>
    <p:extLst>
      <p:ext uri="{BB962C8B-B14F-4D97-AF65-F5344CB8AC3E}">
        <p14:creationId xmlns:p14="http://schemas.microsoft.com/office/powerpoint/2010/main" val="11603585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Exercise 4</a:t>
            </a:r>
            <a:endParaRPr dirty="0"/>
          </a:p>
        </p:txBody>
      </p:sp>
      <p:sp>
        <p:nvSpPr>
          <p:cNvPr id="240" name="Google Shape;240;p38"/>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dirty="0"/>
              <a:t>Part 1:</a:t>
            </a:r>
          </a:p>
          <a:p>
            <a:pPr marL="0" lvl="0" indent="0" algn="l" rtl="0">
              <a:spcBef>
                <a:spcPts val="600"/>
              </a:spcBef>
              <a:spcAft>
                <a:spcPts val="0"/>
              </a:spcAft>
              <a:buClr>
                <a:schemeClr val="dk1"/>
              </a:buClr>
              <a:buSzPts val="1100"/>
              <a:buFont typeface="Arial"/>
              <a:buNone/>
            </a:pPr>
            <a:r>
              <a:rPr lang="en" dirty="0"/>
              <a:t>Add code in Ex4.vue such that when you click “Change Color”, it changes to red from blue or to blue for red alternately. </a:t>
            </a:r>
          </a:p>
          <a:p>
            <a:pPr marL="0" lvl="0" indent="0" algn="l" rtl="0">
              <a:spcBef>
                <a:spcPts val="600"/>
              </a:spcBef>
              <a:spcAft>
                <a:spcPts val="0"/>
              </a:spcAft>
              <a:buClr>
                <a:schemeClr val="dk1"/>
              </a:buClr>
              <a:buSzPts val="1100"/>
              <a:buFont typeface="Arial"/>
              <a:buNone/>
            </a:pPr>
            <a:endParaRPr lang="en" dirty="0"/>
          </a:p>
          <a:p>
            <a:pPr marL="0" lvl="0" indent="0" algn="l" rtl="0">
              <a:spcBef>
                <a:spcPts val="600"/>
              </a:spcBef>
              <a:spcAft>
                <a:spcPts val="0"/>
              </a:spcAft>
              <a:buClr>
                <a:schemeClr val="dk1"/>
              </a:buClr>
              <a:buSzPts val="1100"/>
              <a:buFont typeface="Arial"/>
              <a:buNone/>
            </a:pPr>
            <a:r>
              <a:rPr lang="en" dirty="0"/>
              <a:t>Part 2: </a:t>
            </a:r>
          </a:p>
          <a:p>
            <a:pPr marL="0" indent="0">
              <a:spcBef>
                <a:spcPts val="600"/>
              </a:spcBef>
              <a:buSzPts val="1100"/>
              <a:buNone/>
            </a:pPr>
            <a:r>
              <a:rPr lang="en" dirty="0"/>
              <a:t>Add code in Ex4.vue such that when you click “Change Text Color”, it changes to red from blue or to blue for red alternately. </a:t>
            </a:r>
          </a:p>
          <a:p>
            <a:pPr marL="0" lvl="0" indent="0" algn="l" rtl="0">
              <a:spcBef>
                <a:spcPts val="600"/>
              </a:spcBef>
              <a:spcAft>
                <a:spcPts val="0"/>
              </a:spcAft>
              <a:buClr>
                <a:schemeClr val="dk1"/>
              </a:buClr>
              <a:buSzPts val="1100"/>
              <a:buFont typeface="Arial"/>
              <a:buNone/>
            </a:pPr>
            <a:endParaRPr lang="en" dirty="0"/>
          </a:p>
          <a:p>
            <a:pPr marL="0" lvl="0" indent="0" algn="l" rtl="0">
              <a:spcBef>
                <a:spcPts val="600"/>
              </a:spcBef>
              <a:spcAft>
                <a:spcPts val="0"/>
              </a:spcAft>
              <a:buClr>
                <a:schemeClr val="dk1"/>
              </a:buClr>
              <a:buSzPts val="1100"/>
              <a:buFont typeface="Arial"/>
              <a:buNone/>
            </a:pPr>
            <a:r>
              <a:rPr lang="en" dirty="0"/>
              <a:t>Use v-bind with class and style bindings</a:t>
            </a:r>
            <a:endParaRPr dirty="0"/>
          </a:p>
          <a:p>
            <a:pPr marL="0" lvl="0" indent="0" algn="l" rtl="0">
              <a:spcBef>
                <a:spcPts val="600"/>
              </a:spcBef>
              <a:spcAft>
                <a:spcPts val="0"/>
              </a:spcAft>
              <a:buClr>
                <a:schemeClr val="dk1"/>
              </a:buClr>
              <a:buSzPts val="1100"/>
              <a:buFont typeface="Arial"/>
              <a:buNone/>
            </a:pPr>
            <a:endParaRPr dirty="0"/>
          </a:p>
          <a:p>
            <a:pPr marL="0" marR="0" lvl="0" indent="0" algn="l" rtl="0">
              <a:lnSpc>
                <a:spcPct val="115000"/>
              </a:lnSpc>
              <a:spcBef>
                <a:spcPts val="1600"/>
              </a:spcBef>
              <a:spcAft>
                <a:spcPts val="0"/>
              </a:spcAft>
              <a:buNone/>
            </a:pPr>
            <a:endParaRPr b="1" dirty="0"/>
          </a:p>
          <a:p>
            <a:pPr marL="0" marR="0" lvl="0" indent="0" algn="l" rtl="0">
              <a:lnSpc>
                <a:spcPct val="115000"/>
              </a:lnSpc>
              <a:spcBef>
                <a:spcPts val="1600"/>
              </a:spcBef>
              <a:spcAft>
                <a:spcPts val="1600"/>
              </a:spcAft>
              <a:buNone/>
            </a:pPr>
            <a:endParaRPr dirty="0"/>
          </a:p>
        </p:txBody>
      </p:sp>
      <p:sp>
        <p:nvSpPr>
          <p:cNvPr id="2" name="TextBox 1">
            <a:extLst>
              <a:ext uri="{FF2B5EF4-FFF2-40B4-BE49-F238E27FC236}">
                <a16:creationId xmlns:a16="http://schemas.microsoft.com/office/drawing/2014/main" id="{1017E0EC-B995-C237-CCB9-F6D5C185682E}"/>
              </a:ext>
            </a:extLst>
          </p:cNvPr>
          <p:cNvSpPr txBox="1"/>
          <p:nvPr/>
        </p:nvSpPr>
        <p:spPr>
          <a:xfrm>
            <a:off x="4715219" y="3955055"/>
            <a:ext cx="3712685" cy="523220"/>
          </a:xfrm>
          <a:prstGeom prst="rect">
            <a:avLst/>
          </a:prstGeom>
          <a:noFill/>
        </p:spPr>
        <p:txBody>
          <a:bodyPr wrap="square" rtlCol="0">
            <a:spAutoFit/>
          </a:bodyPr>
          <a:lstStyle/>
          <a:p>
            <a:r>
              <a:rPr lang="en-US" dirty="0"/>
              <a:t>Challenge: you will notice that </a:t>
            </a:r>
            <a:r>
              <a:rPr lang="en-US" b="1" dirty="0">
                <a:solidFill>
                  <a:srgbClr val="002060"/>
                </a:solidFill>
              </a:rPr>
              <a:t>your buttons</a:t>
            </a:r>
            <a:r>
              <a:rPr lang="en-US" dirty="0"/>
              <a:t> does not have colors. Debug!!!</a:t>
            </a:r>
          </a:p>
        </p:txBody>
      </p:sp>
      <p:pic>
        <p:nvPicPr>
          <p:cNvPr id="6" name="Picture 5">
            <a:extLst>
              <a:ext uri="{FF2B5EF4-FFF2-40B4-BE49-F238E27FC236}">
                <a16:creationId xmlns:a16="http://schemas.microsoft.com/office/drawing/2014/main" id="{ABE0B4B5-744E-FA04-026F-1A36850182C5}"/>
              </a:ext>
            </a:extLst>
          </p:cNvPr>
          <p:cNvPicPr>
            <a:picLocks noChangeAspect="1"/>
          </p:cNvPicPr>
          <p:nvPr/>
        </p:nvPicPr>
        <p:blipFill>
          <a:blip r:embed="rId3"/>
          <a:stretch>
            <a:fillRect/>
          </a:stretch>
        </p:blipFill>
        <p:spPr>
          <a:xfrm>
            <a:off x="6740638" y="1721508"/>
            <a:ext cx="1162212" cy="466790"/>
          </a:xfrm>
          <a:prstGeom prst="rect">
            <a:avLst/>
          </a:prstGeom>
        </p:spPr>
      </p:pic>
      <p:pic>
        <p:nvPicPr>
          <p:cNvPr id="8" name="Picture 7">
            <a:extLst>
              <a:ext uri="{FF2B5EF4-FFF2-40B4-BE49-F238E27FC236}">
                <a16:creationId xmlns:a16="http://schemas.microsoft.com/office/drawing/2014/main" id="{165817B3-E25E-36B5-9500-D3D247B1B8CD}"/>
              </a:ext>
            </a:extLst>
          </p:cNvPr>
          <p:cNvPicPr>
            <a:picLocks noChangeAspect="1"/>
          </p:cNvPicPr>
          <p:nvPr/>
        </p:nvPicPr>
        <p:blipFill>
          <a:blip r:embed="rId4"/>
          <a:stretch>
            <a:fillRect/>
          </a:stretch>
        </p:blipFill>
        <p:spPr>
          <a:xfrm>
            <a:off x="5041028" y="1735798"/>
            <a:ext cx="1190791" cy="438211"/>
          </a:xfrm>
          <a:prstGeom prst="rect">
            <a:avLst/>
          </a:prstGeom>
        </p:spPr>
      </p:pic>
      <p:pic>
        <p:nvPicPr>
          <p:cNvPr id="10" name="Picture 9">
            <a:extLst>
              <a:ext uri="{FF2B5EF4-FFF2-40B4-BE49-F238E27FC236}">
                <a16:creationId xmlns:a16="http://schemas.microsoft.com/office/drawing/2014/main" id="{1C9974EB-5172-A707-0417-2AEECEC56621}"/>
              </a:ext>
            </a:extLst>
          </p:cNvPr>
          <p:cNvPicPr>
            <a:picLocks noChangeAspect="1"/>
          </p:cNvPicPr>
          <p:nvPr/>
        </p:nvPicPr>
        <p:blipFill>
          <a:blip r:embed="rId5"/>
          <a:stretch>
            <a:fillRect/>
          </a:stretch>
        </p:blipFill>
        <p:spPr>
          <a:xfrm>
            <a:off x="4952280" y="3111405"/>
            <a:ext cx="1428949" cy="419158"/>
          </a:xfrm>
          <a:prstGeom prst="rect">
            <a:avLst/>
          </a:prstGeom>
        </p:spPr>
      </p:pic>
      <p:pic>
        <p:nvPicPr>
          <p:cNvPr id="12" name="Picture 11">
            <a:extLst>
              <a:ext uri="{FF2B5EF4-FFF2-40B4-BE49-F238E27FC236}">
                <a16:creationId xmlns:a16="http://schemas.microsoft.com/office/drawing/2014/main" id="{2CACCF2E-CD2D-1A3E-AC38-AED098632F55}"/>
              </a:ext>
            </a:extLst>
          </p:cNvPr>
          <p:cNvPicPr>
            <a:picLocks noChangeAspect="1"/>
          </p:cNvPicPr>
          <p:nvPr/>
        </p:nvPicPr>
        <p:blipFill>
          <a:blip r:embed="rId6"/>
          <a:stretch>
            <a:fillRect/>
          </a:stretch>
        </p:blipFill>
        <p:spPr>
          <a:xfrm>
            <a:off x="6740638" y="3111405"/>
            <a:ext cx="1333686" cy="381053"/>
          </a:xfrm>
          <a:prstGeom prst="rect">
            <a:avLst/>
          </a:prstGeom>
        </p:spPr>
      </p:pic>
      <p:sp>
        <p:nvSpPr>
          <p:cNvPr id="13" name="Arrow: Right 12">
            <a:extLst>
              <a:ext uri="{FF2B5EF4-FFF2-40B4-BE49-F238E27FC236}">
                <a16:creationId xmlns:a16="http://schemas.microsoft.com/office/drawing/2014/main" id="{67EDD0DE-7186-D425-0EC6-13BADE6E6BD3}"/>
              </a:ext>
            </a:extLst>
          </p:cNvPr>
          <p:cNvSpPr/>
          <p:nvPr/>
        </p:nvSpPr>
        <p:spPr>
          <a:xfrm>
            <a:off x="6381229" y="1862667"/>
            <a:ext cx="234060" cy="169428"/>
          </a:xfrm>
          <a:prstGeom prst="righ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Arrow: Right 13">
            <a:extLst>
              <a:ext uri="{FF2B5EF4-FFF2-40B4-BE49-F238E27FC236}">
                <a16:creationId xmlns:a16="http://schemas.microsoft.com/office/drawing/2014/main" id="{ECE17213-B74A-5E4A-FA87-7E46AC32EE23}"/>
              </a:ext>
            </a:extLst>
          </p:cNvPr>
          <p:cNvSpPr/>
          <p:nvPr/>
        </p:nvSpPr>
        <p:spPr>
          <a:xfrm>
            <a:off x="6381229" y="3217217"/>
            <a:ext cx="234060" cy="169428"/>
          </a:xfrm>
          <a:prstGeom prst="righ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5751F90D-41AB-AFC7-DB4A-0DE5A27E33E6}"/>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74529147-6F57-73BD-346A-62CD5F68DC16}"/>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with Parameter</a:t>
            </a:r>
            <a:endParaRPr dirty="0"/>
          </a:p>
        </p:txBody>
      </p:sp>
      <p:sp>
        <p:nvSpPr>
          <p:cNvPr id="127" name="Google Shape;127;p22">
            <a:extLst>
              <a:ext uri="{FF2B5EF4-FFF2-40B4-BE49-F238E27FC236}">
                <a16:creationId xmlns:a16="http://schemas.microsoft.com/office/drawing/2014/main" id="{B4E066FF-F48C-210E-D6ED-BD20E5939DBF}"/>
              </a:ext>
            </a:extLst>
          </p:cNvPr>
          <p:cNvSpPr txBox="1">
            <a:spLocks noGrp="1"/>
          </p:cNvSpPr>
          <p:nvPr>
            <p:ph type="body" idx="1"/>
          </p:nvPr>
        </p:nvSpPr>
        <p:spPr>
          <a:xfrm>
            <a:off x="311700" y="1225224"/>
            <a:ext cx="4451686" cy="3857209"/>
          </a:xfrm>
          <a:prstGeom prst="rect">
            <a:avLst/>
          </a:prstGeom>
        </p:spPr>
        <p:txBody>
          <a:bodyPr spcFirstLastPara="1" wrap="square" lIns="91425" tIns="91425" rIns="91425" bIns="91425" anchor="t" anchorCtr="0">
            <a:noAutofit/>
          </a:bodyPr>
          <a:lstStyle/>
          <a:p>
            <a:pPr marL="0" lvl="0" indent="0">
              <a:buNone/>
            </a:pPr>
            <a:r>
              <a:rPr lang="en-US" dirty="0">
                <a:uFill>
                  <a:noFill/>
                </a:uFill>
              </a:rPr>
              <a:t>In the routes, we can pass a parameter. </a:t>
            </a:r>
          </a:p>
          <a:p>
            <a:pPr marL="0" lvl="0" indent="0">
              <a:buNone/>
            </a:pPr>
            <a:endParaRPr lang="en-US" dirty="0">
              <a:uFill>
                <a:noFill/>
              </a:uFill>
            </a:endParaRPr>
          </a:p>
          <a:p>
            <a:pPr marL="0" lvl="0" indent="0">
              <a:buNone/>
            </a:pPr>
            <a:r>
              <a:rPr lang="en-US" dirty="0">
                <a:uFill>
                  <a:noFill/>
                </a:uFill>
              </a:rPr>
              <a:t>For example,</a:t>
            </a:r>
          </a:p>
          <a:p>
            <a:pPr marL="457200" lvl="1" indent="0">
              <a:spcBef>
                <a:spcPts val="600"/>
              </a:spcBef>
              <a:buNone/>
            </a:pPr>
            <a:r>
              <a:rPr lang="en-US" sz="1400" dirty="0">
                <a:uFill>
                  <a:noFill/>
                </a:uFill>
              </a:rPr>
              <a:t>{path: "/products/:id", component: ”</a:t>
            </a:r>
            <a:r>
              <a:rPr lang="en-US" sz="1400" dirty="0" err="1">
                <a:uFill>
                  <a:noFill/>
                </a:uFill>
              </a:rPr>
              <a:t>ProductsView</a:t>
            </a:r>
            <a:r>
              <a:rPr lang="en-US" sz="1400" dirty="0">
                <a:uFill>
                  <a:noFill/>
                </a:uFill>
              </a:rPr>
              <a:t>" }</a:t>
            </a:r>
          </a:p>
          <a:p>
            <a:pPr marL="457200" lvl="1" indent="0">
              <a:spcBef>
                <a:spcPts val="600"/>
              </a:spcBef>
              <a:buNone/>
            </a:pPr>
            <a:endParaRPr lang="en-US" sz="1400" dirty="0">
              <a:uFill>
                <a:noFill/>
              </a:uFill>
            </a:endParaRPr>
          </a:p>
          <a:p>
            <a:pPr marL="0" lvl="0" indent="0">
              <a:spcBef>
                <a:spcPts val="600"/>
              </a:spcBef>
              <a:buNone/>
            </a:pPr>
            <a:r>
              <a:rPr lang="en-US" dirty="0">
                <a:uFill>
                  <a:noFill/>
                </a:uFill>
              </a:rPr>
              <a:t>When the user visits the path, e.g., </a:t>
            </a:r>
            <a:r>
              <a:rPr lang="en-US" dirty="0">
                <a:uFill>
                  <a:noFill/>
                </a:uFill>
                <a:hlinkClick r:id="rId3"/>
              </a:rPr>
              <a:t>http://localhost:5173/products/1</a:t>
            </a:r>
            <a:r>
              <a:rPr lang="en-US" dirty="0">
                <a:uFill>
                  <a:noFill/>
                </a:uFill>
              </a:rPr>
              <a:t>, the router launches </a:t>
            </a:r>
            <a:r>
              <a:rPr lang="en-US" dirty="0" err="1">
                <a:highlight>
                  <a:srgbClr val="C0C0C0"/>
                </a:highlight>
                <a:uFill>
                  <a:noFill/>
                </a:uFill>
              </a:rPr>
              <a:t>ProductsView</a:t>
            </a:r>
            <a:r>
              <a:rPr lang="en-US" dirty="0">
                <a:uFill>
                  <a:noFill/>
                </a:uFill>
              </a:rPr>
              <a:t> component, passing it the parameter </a:t>
            </a:r>
            <a:r>
              <a:rPr lang="en-US" dirty="0">
                <a:highlight>
                  <a:srgbClr val="C0C0C0"/>
                </a:highlight>
                <a:uFill>
                  <a:noFill/>
                </a:uFill>
              </a:rPr>
              <a:t>id</a:t>
            </a:r>
            <a:r>
              <a:rPr lang="en-US" dirty="0">
                <a:uFill>
                  <a:noFill/>
                </a:uFill>
              </a:rPr>
              <a:t> with the value of </a:t>
            </a:r>
            <a:r>
              <a:rPr lang="en-US" dirty="0">
                <a:highlight>
                  <a:srgbClr val="C0C0C0"/>
                </a:highlight>
                <a:uFill>
                  <a:noFill/>
                </a:uFill>
              </a:rPr>
              <a:t>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is, in </a:t>
            </a:r>
            <a:r>
              <a:rPr lang="en-US" dirty="0" err="1"/>
              <a:t>ProductsView</a:t>
            </a:r>
            <a:r>
              <a:rPr lang="en-US" dirty="0"/>
              <a:t> component, the parameter can be accessed via </a:t>
            </a:r>
            <a:r>
              <a:rPr lang="en-US" dirty="0" err="1">
                <a:highlight>
                  <a:srgbClr val="C0C0C0"/>
                </a:highlight>
              </a:rPr>
              <a:t>route.params.xx</a:t>
            </a:r>
            <a:endParaRPr lang="en-US" dirty="0">
              <a:highlight>
                <a:srgbClr val="C0C0C0"/>
              </a:highlight>
            </a:endParaRPr>
          </a:p>
        </p:txBody>
      </p:sp>
      <p:sp>
        <p:nvSpPr>
          <p:cNvPr id="4" name="Text Placeholder 3">
            <a:extLst>
              <a:ext uri="{FF2B5EF4-FFF2-40B4-BE49-F238E27FC236}">
                <a16:creationId xmlns:a16="http://schemas.microsoft.com/office/drawing/2014/main" id="{1FF0D8EB-7F71-EECF-5FC3-116FB4A8539B}"/>
              </a:ext>
            </a:extLst>
          </p:cNvPr>
          <p:cNvSpPr>
            <a:spLocks noGrp="1"/>
          </p:cNvSpPr>
          <p:nvPr>
            <p:ph type="body" idx="2"/>
          </p:nvPr>
        </p:nvSpPr>
        <p:spPr/>
        <p:txBody>
          <a:bodyPr/>
          <a:lstStyle/>
          <a:p>
            <a:pPr marL="139700" indent="0">
              <a:buNone/>
            </a:pPr>
            <a:r>
              <a:rPr lang="en-US" b="1" dirty="0"/>
              <a:t>Example </a:t>
            </a:r>
            <a:r>
              <a:rPr lang="en-US" i="1" dirty="0"/>
              <a:t>Example10.vue</a:t>
            </a:r>
          </a:p>
          <a:p>
            <a:pPr marL="139700" indent="0">
              <a:buNone/>
            </a:pPr>
            <a:endParaRPr lang="en-US" dirty="0"/>
          </a:p>
          <a:p>
            <a:pPr marL="139700" indent="0">
              <a:buNone/>
            </a:pPr>
            <a:r>
              <a:rPr lang="en-SG" dirty="0"/>
              <a:t>import { </a:t>
            </a:r>
            <a:r>
              <a:rPr lang="en-SG" dirty="0" err="1"/>
              <a:t>useRoute</a:t>
            </a:r>
            <a:r>
              <a:rPr lang="en-SG" dirty="0"/>
              <a:t> } from '</a:t>
            </a:r>
            <a:r>
              <a:rPr lang="en-SG" dirty="0" err="1"/>
              <a:t>vue</a:t>
            </a:r>
            <a:r>
              <a:rPr lang="en-SG" dirty="0"/>
              <a:t>-router’</a:t>
            </a:r>
          </a:p>
          <a:p>
            <a:pPr marL="139700" indent="0">
              <a:buNone/>
            </a:pPr>
            <a:endParaRPr lang="en-SG" dirty="0"/>
          </a:p>
          <a:p>
            <a:pPr marL="139700" indent="0">
              <a:buNone/>
            </a:pPr>
            <a:r>
              <a:rPr lang="en-SG" dirty="0"/>
              <a:t>// 1. Initialize the route hook </a:t>
            </a:r>
          </a:p>
          <a:p>
            <a:pPr marL="139700" indent="0">
              <a:buNone/>
            </a:pPr>
            <a:r>
              <a:rPr lang="en-SG" dirty="0" err="1"/>
              <a:t>const</a:t>
            </a:r>
            <a:r>
              <a:rPr lang="en-SG" dirty="0"/>
              <a:t> route = </a:t>
            </a:r>
            <a:r>
              <a:rPr lang="en-SG" dirty="0" err="1"/>
              <a:t>useRoute</a:t>
            </a:r>
            <a:r>
              <a:rPr lang="en-SG" dirty="0"/>
              <a:t>() </a:t>
            </a:r>
          </a:p>
          <a:p>
            <a:pPr marL="139700" indent="0">
              <a:buNone/>
            </a:pPr>
            <a:endParaRPr lang="en-SG" dirty="0"/>
          </a:p>
          <a:p>
            <a:pPr marL="139700" indent="0">
              <a:buNone/>
            </a:pPr>
            <a:r>
              <a:rPr lang="en-SG" dirty="0"/>
              <a:t>// 2. Read the parameter (Note: route params are always strings) </a:t>
            </a:r>
          </a:p>
          <a:p>
            <a:pPr marL="139700" indent="0">
              <a:buNone/>
            </a:pPr>
            <a:r>
              <a:rPr lang="en-SG" dirty="0" err="1"/>
              <a:t>const</a:t>
            </a:r>
            <a:r>
              <a:rPr lang="en-SG" dirty="0"/>
              <a:t> </a:t>
            </a:r>
            <a:r>
              <a:rPr lang="en-SG" dirty="0" err="1"/>
              <a:t>productId</a:t>
            </a:r>
            <a:r>
              <a:rPr lang="en-SG" dirty="0"/>
              <a:t> = </a:t>
            </a:r>
            <a:r>
              <a:rPr lang="en-SG" dirty="0" err="1"/>
              <a:t>route.params.id</a:t>
            </a:r>
            <a:r>
              <a:rPr lang="en-SG" dirty="0"/>
              <a:t> </a:t>
            </a:r>
            <a:endParaRPr lang="en-US" dirty="0"/>
          </a:p>
        </p:txBody>
      </p:sp>
    </p:spTree>
    <p:extLst>
      <p:ext uri="{BB962C8B-B14F-4D97-AF65-F5344CB8AC3E}">
        <p14:creationId xmlns:p14="http://schemas.microsoft.com/office/powerpoint/2010/main" val="11057872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A25077B3-FA16-4C3F-3DBE-5A5B2523BFE6}"/>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3CE61C40-B6BD-6165-BB3B-ECEDA8AA3711}"/>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Redirect (1)</a:t>
            </a:r>
            <a:endParaRPr dirty="0"/>
          </a:p>
        </p:txBody>
      </p:sp>
      <p:sp>
        <p:nvSpPr>
          <p:cNvPr id="127" name="Google Shape;127;p22">
            <a:extLst>
              <a:ext uri="{FF2B5EF4-FFF2-40B4-BE49-F238E27FC236}">
                <a16:creationId xmlns:a16="http://schemas.microsoft.com/office/drawing/2014/main" id="{0637F8D2-059D-7CED-0DD9-63856181C414}"/>
              </a:ext>
            </a:extLst>
          </p:cNvPr>
          <p:cNvSpPr txBox="1">
            <a:spLocks noGrp="1"/>
          </p:cNvSpPr>
          <p:nvPr>
            <p:ph type="body" idx="1"/>
          </p:nvPr>
        </p:nvSpPr>
        <p:spPr>
          <a:xfrm>
            <a:off x="311700" y="1225224"/>
            <a:ext cx="4451686" cy="3857209"/>
          </a:xfrm>
          <a:prstGeom prst="rect">
            <a:avLst/>
          </a:prstGeom>
        </p:spPr>
        <p:txBody>
          <a:bodyPr spcFirstLastPara="1" wrap="square" lIns="91425" tIns="91425" rIns="91425" bIns="91425" anchor="t" anchorCtr="0">
            <a:noAutofit/>
          </a:bodyPr>
          <a:lstStyle/>
          <a:p>
            <a:pPr marL="0" lvl="0" indent="0">
              <a:buNone/>
            </a:pPr>
            <a:r>
              <a:rPr lang="en-US" dirty="0">
                <a:uFill>
                  <a:noFill/>
                </a:uFill>
              </a:rPr>
              <a:t>In routing, we can redirect a given URL to another URL. </a:t>
            </a:r>
          </a:p>
          <a:p>
            <a:pPr marL="0" lvl="0" indent="0">
              <a:buNone/>
            </a:pPr>
            <a:endParaRPr lang="en-US" dirty="0">
              <a:uFill>
                <a:noFill/>
              </a:uFill>
            </a:endParaRPr>
          </a:p>
          <a:p>
            <a:pPr marL="0" lvl="0" indent="0">
              <a:buNone/>
            </a:pPr>
            <a:r>
              <a:rPr lang="en-US" dirty="0">
                <a:uFill>
                  <a:noFill/>
                </a:uFill>
              </a:rPr>
              <a:t>For example,</a:t>
            </a:r>
          </a:p>
          <a:p>
            <a:pPr marL="457200" lvl="1" indent="0">
              <a:buNone/>
            </a:pPr>
            <a:r>
              <a:rPr lang="en-US" sz="1400" dirty="0">
                <a:uFill>
                  <a:noFill/>
                </a:uFill>
              </a:rPr>
              <a:t>{ path: "/invalid", redirect: "/Example1" }</a:t>
            </a:r>
          </a:p>
          <a:p>
            <a:pPr marL="0" lvl="0" indent="0">
              <a:buNone/>
            </a:pPr>
            <a:endParaRPr lang="en-US" dirty="0">
              <a:uFill>
                <a:noFill/>
              </a:uFill>
            </a:endParaRPr>
          </a:p>
          <a:p>
            <a:pPr marL="0" lvl="0" indent="0">
              <a:buNone/>
            </a:pPr>
            <a:r>
              <a:rPr lang="en-US" dirty="0">
                <a:uFill>
                  <a:noFill/>
                </a:uFill>
              </a:rPr>
              <a:t>When the user visits an invalid URL </a:t>
            </a:r>
            <a:r>
              <a:rPr lang="en-US" dirty="0">
                <a:highlight>
                  <a:srgbClr val="C0C0C0"/>
                </a:highlight>
                <a:uFill>
                  <a:noFill/>
                </a:uFill>
              </a:rPr>
              <a:t>/invalid</a:t>
            </a:r>
            <a:r>
              <a:rPr lang="en-US" dirty="0">
                <a:uFill>
                  <a:noFill/>
                </a:uFill>
              </a:rPr>
              <a:t> (e.g., </a:t>
            </a:r>
            <a:r>
              <a:rPr lang="en-US" dirty="0">
                <a:uFill>
                  <a:noFill/>
                </a:uFill>
                <a:hlinkClick r:id="rId3"/>
              </a:rPr>
              <a:t>http://localhost:5173/invalid</a:t>
            </a:r>
            <a:r>
              <a:rPr lang="en-US" dirty="0">
                <a:uFill>
                  <a:noFill/>
                </a:uFill>
              </a:rPr>
              <a:t>), the router automatically redirects to </a:t>
            </a:r>
            <a:r>
              <a:rPr lang="en-US" dirty="0">
                <a:highlight>
                  <a:srgbClr val="C0C0C0"/>
                </a:highlight>
                <a:uFill>
                  <a:noFill/>
                </a:uFill>
              </a:rPr>
              <a:t>/Example1</a:t>
            </a:r>
          </a:p>
          <a:p>
            <a:pPr marL="0" lvl="0" indent="0" algn="l" rtl="0">
              <a:spcBef>
                <a:spcPts val="0"/>
              </a:spcBef>
              <a:spcAft>
                <a:spcPts val="0"/>
              </a:spcAft>
              <a:buNone/>
            </a:pPr>
            <a:endParaRPr lang="en-US" dirty="0"/>
          </a:p>
          <a:p>
            <a:pPr marL="0" lvl="0" indent="0">
              <a:buNone/>
            </a:pPr>
            <a:r>
              <a:rPr lang="en-US" dirty="0"/>
              <a:t>Use case</a:t>
            </a:r>
            <a:r>
              <a:rPr lang="en-SG" dirty="0"/>
              <a:t>: </a:t>
            </a:r>
          </a:p>
          <a:p>
            <a:pPr marL="285750" indent="-285750"/>
            <a:r>
              <a:rPr lang="en-SG" dirty="0"/>
              <a:t>Redirect to a default landing page when the user visits the site</a:t>
            </a:r>
          </a:p>
          <a:p>
            <a:pPr marL="285750" indent="-285750"/>
            <a:r>
              <a:rPr lang="en-SG" dirty="0"/>
              <a:t>Redirect to a login page after user registration</a:t>
            </a:r>
            <a:endParaRPr dirty="0"/>
          </a:p>
        </p:txBody>
      </p:sp>
      <p:sp>
        <p:nvSpPr>
          <p:cNvPr id="4" name="Text Placeholder 3">
            <a:extLst>
              <a:ext uri="{FF2B5EF4-FFF2-40B4-BE49-F238E27FC236}">
                <a16:creationId xmlns:a16="http://schemas.microsoft.com/office/drawing/2014/main" id="{1DA38E3D-83E8-DBF7-A11D-5DF8F8C4BE22}"/>
              </a:ext>
            </a:extLst>
          </p:cNvPr>
          <p:cNvSpPr>
            <a:spLocks noGrp="1"/>
          </p:cNvSpPr>
          <p:nvPr>
            <p:ph type="body" idx="2"/>
          </p:nvPr>
        </p:nvSpPr>
        <p:spPr/>
        <p:txBody>
          <a:bodyPr/>
          <a:lstStyle/>
          <a:p>
            <a:pPr marL="139700" indent="0">
              <a:buNone/>
            </a:pPr>
            <a:r>
              <a:rPr lang="en-US" b="1" dirty="0"/>
              <a:t>Example</a:t>
            </a:r>
            <a:r>
              <a:rPr lang="en-US" dirty="0"/>
              <a:t> router/</a:t>
            </a:r>
            <a:r>
              <a:rPr lang="en-US" dirty="0" err="1"/>
              <a:t>index.js</a:t>
            </a:r>
            <a:endParaRPr lang="en-US" dirty="0"/>
          </a:p>
        </p:txBody>
      </p:sp>
    </p:spTree>
    <p:extLst>
      <p:ext uri="{BB962C8B-B14F-4D97-AF65-F5344CB8AC3E}">
        <p14:creationId xmlns:p14="http://schemas.microsoft.com/office/powerpoint/2010/main" val="1945451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68BF14EF-4A18-58E4-D203-B909DF8AE0E3}"/>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4EC34589-13B6-5796-F686-EF07AD18ACA0}"/>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Redirect (2)</a:t>
            </a:r>
            <a:endParaRPr dirty="0"/>
          </a:p>
        </p:txBody>
      </p:sp>
      <p:sp>
        <p:nvSpPr>
          <p:cNvPr id="127" name="Google Shape;127;p22">
            <a:extLst>
              <a:ext uri="{FF2B5EF4-FFF2-40B4-BE49-F238E27FC236}">
                <a16:creationId xmlns:a16="http://schemas.microsoft.com/office/drawing/2014/main" id="{998B9F0C-482D-B50C-8088-F37324B09BB2}"/>
              </a:ext>
            </a:extLst>
          </p:cNvPr>
          <p:cNvSpPr txBox="1">
            <a:spLocks noGrp="1"/>
          </p:cNvSpPr>
          <p:nvPr>
            <p:ph type="body" idx="1"/>
          </p:nvPr>
        </p:nvSpPr>
        <p:spPr>
          <a:xfrm>
            <a:off x="311700" y="1225224"/>
            <a:ext cx="4451686" cy="3857209"/>
          </a:xfrm>
          <a:prstGeom prst="rect">
            <a:avLst/>
          </a:prstGeom>
        </p:spPr>
        <p:txBody>
          <a:bodyPr spcFirstLastPara="1" wrap="square" lIns="91425" tIns="91425" rIns="91425" bIns="91425" anchor="t" anchorCtr="0">
            <a:noAutofit/>
          </a:bodyPr>
          <a:lstStyle/>
          <a:p>
            <a:pPr marL="0" lvl="0" indent="0">
              <a:buNone/>
            </a:pPr>
            <a:r>
              <a:rPr lang="en-US" dirty="0">
                <a:uFill>
                  <a:noFill/>
                </a:uFill>
              </a:rPr>
              <a:t>Redirect can also be implemented programmatically using </a:t>
            </a:r>
            <a:r>
              <a:rPr lang="en-US" i="1" dirty="0" err="1">
                <a:uFill>
                  <a:noFill/>
                </a:uFill>
              </a:rPr>
              <a:t>router.push</a:t>
            </a:r>
            <a:r>
              <a:rPr lang="en-US" i="1" dirty="0">
                <a:uFill>
                  <a:noFill/>
                </a:uFill>
              </a:rPr>
              <a:t>(/</a:t>
            </a:r>
            <a:r>
              <a:rPr lang="en-US" i="1" dirty="0" err="1">
                <a:uFill>
                  <a:noFill/>
                </a:uFill>
              </a:rPr>
              <a:t>new_url</a:t>
            </a:r>
            <a:r>
              <a:rPr lang="en-US" i="1" dirty="0">
                <a:uFill>
                  <a:noFill/>
                </a:uFill>
              </a:rPr>
              <a:t>)</a:t>
            </a:r>
          </a:p>
          <a:p>
            <a:pPr marL="0" lvl="0" indent="0">
              <a:buNone/>
            </a:pPr>
            <a:endParaRPr lang="en-US" dirty="0">
              <a:uFill>
                <a:noFill/>
              </a:uFill>
            </a:endParaRPr>
          </a:p>
          <a:p>
            <a:pPr marL="0" lvl="0" indent="0">
              <a:buNone/>
            </a:pPr>
            <a:r>
              <a:rPr lang="en-SG" dirty="0"/>
              <a:t>When </a:t>
            </a:r>
            <a:r>
              <a:rPr lang="en-SG" i="1" dirty="0" err="1"/>
              <a:t>router.push</a:t>
            </a:r>
            <a:r>
              <a:rPr lang="en-SG" dirty="0"/>
              <a:t> executes, Vue Router changes the browser's current address path to /</a:t>
            </a:r>
            <a:r>
              <a:rPr lang="en-SG" dirty="0" err="1"/>
              <a:t>new_url</a:t>
            </a:r>
            <a:r>
              <a:rPr lang="en-SG" dirty="0"/>
              <a:t> and loads the component mapped to that route.</a:t>
            </a:r>
          </a:p>
          <a:p>
            <a:pPr marL="0" lvl="0" indent="0">
              <a:buNone/>
            </a:pPr>
            <a:endParaRPr lang="en-US" dirty="0">
              <a:uFill>
                <a:noFill/>
              </a:uFill>
            </a:endParaRPr>
          </a:p>
          <a:p>
            <a:pPr marL="0" lvl="0" indent="0">
              <a:buNone/>
            </a:pPr>
            <a:endParaRPr lang="en-US" dirty="0">
              <a:uFill>
                <a:noFill/>
              </a:uFill>
            </a:endParaRPr>
          </a:p>
          <a:p>
            <a:pPr marL="0" lvl="0" indent="0">
              <a:buNone/>
            </a:pPr>
            <a:endParaRPr dirty="0"/>
          </a:p>
        </p:txBody>
      </p:sp>
      <p:sp>
        <p:nvSpPr>
          <p:cNvPr id="4" name="Text Placeholder 3">
            <a:extLst>
              <a:ext uri="{FF2B5EF4-FFF2-40B4-BE49-F238E27FC236}">
                <a16:creationId xmlns:a16="http://schemas.microsoft.com/office/drawing/2014/main" id="{A6CA9478-889D-21BC-1745-05DEA9729E33}"/>
              </a:ext>
            </a:extLst>
          </p:cNvPr>
          <p:cNvSpPr>
            <a:spLocks noGrp="1"/>
          </p:cNvSpPr>
          <p:nvPr>
            <p:ph type="body" idx="2"/>
          </p:nvPr>
        </p:nvSpPr>
        <p:spPr/>
        <p:txBody>
          <a:bodyPr/>
          <a:lstStyle/>
          <a:p>
            <a:pPr marL="139700" indent="0">
              <a:buNone/>
            </a:pPr>
            <a:r>
              <a:rPr lang="en-US" b="1" dirty="0"/>
              <a:t>Example </a:t>
            </a:r>
            <a:r>
              <a:rPr lang="en-US" i="1" dirty="0"/>
              <a:t>Example11.vue</a:t>
            </a:r>
            <a:endParaRPr lang="en-US" dirty="0"/>
          </a:p>
          <a:p>
            <a:pPr marL="139700" indent="0">
              <a:buNone/>
            </a:pPr>
            <a:endParaRPr lang="en-US" dirty="0"/>
          </a:p>
          <a:p>
            <a:pPr marL="139700" indent="0">
              <a:buNone/>
            </a:pPr>
            <a:r>
              <a:rPr lang="en-US" dirty="0"/>
              <a:t>import { </a:t>
            </a:r>
            <a:r>
              <a:rPr lang="en-US" dirty="0" err="1"/>
              <a:t>useRouter</a:t>
            </a:r>
            <a:r>
              <a:rPr lang="en-US" dirty="0"/>
              <a:t> } from "</a:t>
            </a:r>
            <a:r>
              <a:rPr lang="en-US" dirty="0" err="1"/>
              <a:t>vue</a:t>
            </a:r>
            <a:r>
              <a:rPr lang="en-US" dirty="0"/>
              <a:t>-router"</a:t>
            </a:r>
          </a:p>
          <a:p>
            <a:pPr marL="139700" indent="0">
              <a:buNone/>
            </a:pPr>
            <a:r>
              <a:rPr lang="en-US" dirty="0"/>
              <a:t>const router = </a:t>
            </a:r>
            <a:r>
              <a:rPr lang="en-US" dirty="0" err="1"/>
              <a:t>useRouter</a:t>
            </a:r>
            <a:r>
              <a:rPr lang="en-US" dirty="0"/>
              <a:t>()</a:t>
            </a:r>
          </a:p>
          <a:p>
            <a:pPr marL="139700" indent="0">
              <a:buNone/>
            </a:pPr>
            <a:endParaRPr lang="en-US" dirty="0"/>
          </a:p>
          <a:p>
            <a:pPr marL="139700" indent="0">
              <a:buNone/>
            </a:pPr>
            <a:r>
              <a:rPr lang="en-US" dirty="0"/>
              <a:t>function logout() {</a:t>
            </a:r>
          </a:p>
          <a:p>
            <a:pPr marL="139700" indent="0">
              <a:buNone/>
            </a:pPr>
            <a:r>
              <a:rPr lang="en-US" dirty="0"/>
              <a:t>   … // logout logic</a:t>
            </a:r>
          </a:p>
          <a:p>
            <a:pPr marL="139700" indent="0">
              <a:buNone/>
            </a:pPr>
            <a:endParaRPr lang="en-US" dirty="0"/>
          </a:p>
          <a:p>
            <a:pPr marL="139700" indent="0">
              <a:buNone/>
            </a:pPr>
            <a:r>
              <a:rPr lang="en-US" dirty="0"/>
              <a:t>   </a:t>
            </a:r>
            <a:r>
              <a:rPr lang="en-US" dirty="0" err="1"/>
              <a:t>router.push</a:t>
            </a:r>
            <a:r>
              <a:rPr lang="en-US" dirty="0"/>
              <a:t>("/Example1");</a:t>
            </a:r>
          </a:p>
          <a:p>
            <a:pPr marL="139700" indent="0">
              <a:buNone/>
            </a:pPr>
            <a:r>
              <a:rPr lang="en-US" dirty="0"/>
              <a:t>}</a:t>
            </a:r>
          </a:p>
          <a:p>
            <a:pPr marL="139700" indent="0">
              <a:buNone/>
            </a:pPr>
            <a:endParaRPr lang="en-US" dirty="0"/>
          </a:p>
        </p:txBody>
      </p:sp>
      <p:sp>
        <p:nvSpPr>
          <p:cNvPr id="2" name="Google Shape;219;p35">
            <a:extLst>
              <a:ext uri="{FF2B5EF4-FFF2-40B4-BE49-F238E27FC236}">
                <a16:creationId xmlns:a16="http://schemas.microsoft.com/office/drawing/2014/main" id="{9BFA6F56-4420-376B-56C1-E75E6DB5F6B5}"/>
              </a:ext>
            </a:extLst>
          </p:cNvPr>
          <p:cNvSpPr/>
          <p:nvPr/>
        </p:nvSpPr>
        <p:spPr>
          <a:xfrm>
            <a:off x="1356954" y="3918276"/>
            <a:ext cx="2361178" cy="660949"/>
          </a:xfrm>
          <a:prstGeom prst="wedgeRoundRectCallout">
            <a:avLst>
              <a:gd name="adj1" fmla="val 107840"/>
              <a:gd name="adj2" fmla="val -12746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dirty="0"/>
              <a:t>After log out, redirect to /products</a:t>
            </a:r>
          </a:p>
        </p:txBody>
      </p:sp>
    </p:spTree>
    <p:extLst>
      <p:ext uri="{BB962C8B-B14F-4D97-AF65-F5344CB8AC3E}">
        <p14:creationId xmlns:p14="http://schemas.microsoft.com/office/powerpoint/2010/main" val="37164358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Take Away Message</a:t>
            </a:r>
            <a:endParaRPr/>
          </a:p>
        </p:txBody>
      </p:sp>
      <p:sp>
        <p:nvSpPr>
          <p:cNvPr id="248" name="Google Shape;248;p3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buNone/>
            </a:pPr>
            <a:r>
              <a:rPr lang="en" dirty="0"/>
              <a:t>With vanilla </a:t>
            </a:r>
            <a:r>
              <a:rPr lang="en" dirty="0" err="1"/>
              <a:t>Javascript</a:t>
            </a:r>
            <a:r>
              <a:rPr lang="en" dirty="0"/>
              <a:t>, you will constantly go from HTML to Script and back (via DOM, search from the root of the DOM tree, using </a:t>
            </a:r>
            <a:r>
              <a:rPr lang="en-SG" i="1" dirty="0" err="1"/>
              <a:t>document.getElement</a:t>
            </a:r>
            <a:r>
              <a:rPr lang="en-SG" i="1"/>
              <a:t>...</a:t>
            </a:r>
            <a:r>
              <a:rPr lang="en"/>
              <a:t>).</a:t>
            </a:r>
            <a:endParaRPr dirty="0"/>
          </a:p>
          <a:p>
            <a:pPr marL="0" marR="0" lvl="0" indent="0" algn="l" rtl="0">
              <a:lnSpc>
                <a:spcPct val="115000"/>
              </a:lnSpc>
              <a:spcBef>
                <a:spcPts val="1600"/>
              </a:spcBef>
              <a:spcAft>
                <a:spcPts val="0"/>
              </a:spcAft>
              <a:buNone/>
            </a:pPr>
            <a:r>
              <a:rPr lang="en" dirty="0"/>
              <a:t>With </a:t>
            </a:r>
            <a:r>
              <a:rPr lang="en" dirty="0" err="1"/>
              <a:t>Vue.js</a:t>
            </a:r>
            <a:r>
              <a:rPr lang="en" dirty="0"/>
              <a:t>, you declare the connection between HTML and Script and focus more on the logic in Vue.  </a:t>
            </a:r>
          </a:p>
          <a:p>
            <a:pPr marL="0" marR="0" lvl="0" indent="0" algn="l" rtl="0">
              <a:lnSpc>
                <a:spcPct val="115000"/>
              </a:lnSpc>
              <a:spcBef>
                <a:spcPts val="1600"/>
              </a:spcBef>
              <a:spcAft>
                <a:spcPts val="1600"/>
              </a:spcAft>
              <a:buNone/>
            </a:pPr>
            <a:r>
              <a:rPr lang="en-SG" dirty="0"/>
              <a:t>Put it simply: no more </a:t>
            </a:r>
            <a:r>
              <a:rPr lang="en-SG" i="1" dirty="0" err="1"/>
              <a:t>document.getElement</a:t>
            </a:r>
            <a:r>
              <a:rPr lang="en-SG" i="1" dirty="0"/>
              <a:t>...</a:t>
            </a: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22" ma:contentTypeDescription="Create a new document." ma:contentTypeScope="" ma:versionID="bde758018527673dec61c043b0c1aa53">
  <xsd:schema xmlns:xsd="http://www.w3.org/2001/XMLSchema" xmlns:xs="http://www.w3.org/2001/XMLSchema" xmlns:p="http://schemas.microsoft.com/office/2006/metadata/properties" xmlns:ns1="http://schemas.microsoft.com/sharepoint/v3" xmlns:ns2="1b6a39ee-1380-4096-9882-8248104ba7f7" xmlns:ns3="4604cec2-e769-4190-9d56-5d48f74b6442" targetNamespace="http://schemas.microsoft.com/office/2006/metadata/properties" ma:root="true" ma:fieldsID="1b7d64c108a8f78d9a38448273c78380" ns1:_="" ns2:_="" ns3:_="">
    <xsd:import namespace="http://schemas.microsoft.com/sharepoint/v3"/>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Comment xmlns="1b6a39ee-1380-4096-9882-8248104ba7f7" xsi:nil="true"/>
    <_Flow_SignoffStatus xmlns="1b6a39ee-1380-4096-9882-8248104ba7f7" xsi:nil="true"/>
    <_ip_UnifiedCompliancePolicyProperties xmlns="http://schemas.microsoft.com/sharepoint/v3" xsi:nil="true"/>
    <TaxCatchAll xmlns="4604cec2-e769-4190-9d56-5d48f74b6442" xsi:nil="true"/>
    <lcf76f155ced4ddcb4097134ff3c332f xmlns="1b6a39ee-1380-4096-9882-8248104ba7f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90F50C1-7792-4D77-9B85-9333D6411F94}">
  <ds:schemaRefs>
    <ds:schemaRef ds:uri="http://schemas.microsoft.com/sharepoint/v3/contenttype/forms"/>
  </ds:schemaRefs>
</ds:datastoreItem>
</file>

<file path=customXml/itemProps2.xml><?xml version="1.0" encoding="utf-8"?>
<ds:datastoreItem xmlns:ds="http://schemas.openxmlformats.org/officeDocument/2006/customXml" ds:itemID="{41E5364C-13B9-49B8-828B-0474A03302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b6a39ee-1380-4096-9882-8248104ba7f7"/>
    <ds:schemaRef ds:uri="4604cec2-e769-4190-9d56-5d48f74b6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B6F270-59C3-4CBB-986C-3509DEDF06E9}">
  <ds:schemaRefs>
    <ds:schemaRef ds:uri="http://schemas.microsoft.com/office/2006/metadata/properties"/>
    <ds:schemaRef ds:uri="http://schemas.microsoft.com/sharepoint/v3"/>
    <ds:schemaRef ds:uri="http://purl.org/dc/term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4604cec2-e769-4190-9d56-5d48f74b6442"/>
    <ds:schemaRef ds:uri="http://purl.org/dc/elements/1.1/"/>
    <ds:schemaRef ds:uri="1b6a39ee-1380-4096-9882-8248104ba7f7"/>
    <ds:schemaRef ds:uri="http://www.w3.org/XML/1998/namespace"/>
  </ds:schemaRefs>
</ds:datastoreItem>
</file>

<file path=docMetadata/LabelInfo.xml><?xml version="1.0" encoding="utf-8"?>
<clbl:labelList xmlns:clbl="http://schemas.microsoft.com/office/2020/mipLabelMetadata">
  <clbl:label id="{6951d41b-6b8e-4636-984f-012bff14ba18}"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otalTime>5127</TotalTime>
  <Words>4486</Words>
  <Application>Microsoft Macintosh PowerPoint</Application>
  <PresentationFormat>On-screen Show (16:9)</PresentationFormat>
  <Paragraphs>566</Paragraphs>
  <Slides>51</Slides>
  <Notes>38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Courier New</vt:lpstr>
      <vt:lpstr>Menlo</vt:lpstr>
      <vt:lpstr>Symbol</vt:lpstr>
      <vt:lpstr>Arial</vt:lpstr>
      <vt:lpstr>ui-monospace</vt:lpstr>
      <vt:lpstr>Helvetica</vt:lpstr>
      <vt:lpstr>Open Sans</vt:lpstr>
      <vt:lpstr>Economica</vt:lpstr>
      <vt:lpstr>Calibri</vt:lpstr>
      <vt:lpstr>Wingdings</vt:lpstr>
      <vt:lpstr>Luxe</vt:lpstr>
      <vt:lpstr>Web Application Development II</vt:lpstr>
      <vt:lpstr>Agenda</vt:lpstr>
      <vt:lpstr>What is DOM?</vt:lpstr>
      <vt:lpstr>DOM Manipulation</vt:lpstr>
      <vt:lpstr>What is a Reactive Application?</vt:lpstr>
      <vt:lpstr>What is Vue.js</vt:lpstr>
      <vt:lpstr>Why Vue.js</vt:lpstr>
      <vt:lpstr>Why Vue.js</vt:lpstr>
      <vt:lpstr>Vue.js Features</vt:lpstr>
      <vt:lpstr>Vue Components</vt:lpstr>
      <vt:lpstr>Vue – Official Extension for VS Code</vt:lpstr>
      <vt:lpstr>Vue.js devtools for Chrome</vt:lpstr>
      <vt:lpstr>Install Node.js</vt:lpstr>
      <vt:lpstr>Install pnpm</vt:lpstr>
      <vt:lpstr>Quick Start (1)</vt:lpstr>
      <vt:lpstr>Quick Start (2)</vt:lpstr>
      <vt:lpstr>Quick Start (3)</vt:lpstr>
      <vt:lpstr>Structure of a Vue App (1)</vt:lpstr>
      <vt:lpstr>Structure of a Vue App (2)</vt:lpstr>
      <vt:lpstr>Structure of a Vue App (3)</vt:lpstr>
      <vt:lpstr>Routing (1)</vt:lpstr>
      <vt:lpstr>Routing (2)</vt:lpstr>
      <vt:lpstr>Routing (3)</vt:lpstr>
      <vt:lpstr>Hello World</vt:lpstr>
      <vt:lpstr>DevTools</vt:lpstr>
      <vt:lpstr>Component: Syntax</vt:lpstr>
      <vt:lpstr>Component: Syntax</vt:lpstr>
      <vt:lpstr>Data Binding (1)</vt:lpstr>
      <vt:lpstr>Data Binding (2)</vt:lpstr>
      <vt:lpstr>Vue Debugging 101</vt:lpstr>
      <vt:lpstr>Exercise 1</vt:lpstr>
      <vt:lpstr>Vue Directives</vt:lpstr>
      <vt:lpstr>Conditional Rendering (1)</vt:lpstr>
      <vt:lpstr>Conditional Rendering (2)</vt:lpstr>
      <vt:lpstr>Attribute Binding (1)</vt:lpstr>
      <vt:lpstr>Importing an image</vt:lpstr>
      <vt:lpstr>Static assets in src/assets vs public folders</vt:lpstr>
      <vt:lpstr>Attribute Binding (2)</vt:lpstr>
      <vt:lpstr>Exercise 2</vt:lpstr>
      <vt:lpstr>Attribute Binding (3)</vt:lpstr>
      <vt:lpstr>Form Input Binding</vt:lpstr>
      <vt:lpstr>Exercise 3</vt:lpstr>
      <vt:lpstr>Class and Style Binding (1)</vt:lpstr>
      <vt:lpstr>Class and Style Binding (2)</vt:lpstr>
      <vt:lpstr>Class and Style Binding (3)</vt:lpstr>
      <vt:lpstr>Class and Style Binding (4)</vt:lpstr>
      <vt:lpstr>Exercise 4</vt:lpstr>
      <vt:lpstr>Routing: with Parameter</vt:lpstr>
      <vt:lpstr>Routing: Redirect (1)</vt:lpstr>
      <vt:lpstr>Routing: Redirect (2)</vt:lpstr>
      <vt:lpstr>Take Away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SHAR Lwin Khin</cp:lastModifiedBy>
  <cp:revision>104</cp:revision>
  <dcterms:modified xsi:type="dcterms:W3CDTF">2026-09-03T03:08:50Z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2022-06-26T14:24:51Z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db22c2e7-2ccc-4d4e-9b34-85c5900ac40e</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y fmtid="{D5CDD505-2E9C-101B-9397-08002B2CF9AE}" pid="11" name="ContentTypeId">
    <vt:lpwstr>0x0101000C6AD1B51FFACD45B62528B91A79C429</vt:lpwstr>
  </property>
  <property fmtid="{D5CDD505-2E9C-101B-9397-08002B2CF9AE}" pid="12" name="MediaServiceImageTags">
    <vt:lpwstr/>
  </property>
</Properties>
</file>